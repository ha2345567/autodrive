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7c37c9b12c3b4874" /><Relationship Type="http://schemas.openxmlformats.org/officeDocument/2006/relationships/extended-properties" Target="/docProps/app.xml" Id="R5076bf071eb0401b" /><Relationship Type="http://schemas.openxmlformats.org/officeDocument/2006/relationships/officeDocument" Target="/ppt/presentation.xml" Id="Ra69276be00a4438d" /></Relationships>
</file>

<file path=ppt/presentation.xml><?xml version="1.0" encoding="utf-8"?>
<p:presentation xmlns:p="http://schemas.openxmlformats.org/presentationml/2006/main">
  <p:sldMasterIdLst>
    <p:sldMasterId xmlns:r="http://schemas.openxmlformats.org/officeDocument/2006/relationships" id="2147483648" r:id="R1e8de98e1aa34ccf"/>
  </p:sldMasterIdLst>
  <p:notesMasterIdLst>
    <p:notesMasterId xmlns:r="http://schemas.openxmlformats.org/officeDocument/2006/relationships" r:id="R3def8601384c4308"/>
  </p:notesMasterIdLst>
  <p:sldIdLst>
    <p:sldId xmlns:r="http://schemas.openxmlformats.org/officeDocument/2006/relationships" id="256" r:id="R4d9c7504e58a469e"/>
    <p:sldId xmlns:r="http://schemas.openxmlformats.org/officeDocument/2006/relationships" id="257" r:id="Rd7ad40f154804101"/>
    <p:sldId xmlns:r="http://schemas.openxmlformats.org/officeDocument/2006/relationships" id="258" r:id="R544d0ba1837c45a1"/>
    <p:sldId xmlns:r="http://schemas.openxmlformats.org/officeDocument/2006/relationships" id="259" r:id="R32e27c6cc1af4e30"/>
    <p:sldId xmlns:r="http://schemas.openxmlformats.org/officeDocument/2006/relationships" id="260" r:id="R29ba6392cda34370"/>
    <p:sldId xmlns:r="http://schemas.openxmlformats.org/officeDocument/2006/relationships" id="261" r:id="R12cd11220fb74276"/>
    <p:sldId xmlns:r="http://schemas.openxmlformats.org/officeDocument/2006/relationships" id="262" r:id="Re26f53a35eb944f2"/>
    <p:sldId xmlns:r="http://schemas.openxmlformats.org/officeDocument/2006/relationships" id="263" r:id="R6457ec6faf814925"/>
    <p:sldId xmlns:r="http://schemas.openxmlformats.org/officeDocument/2006/relationships" id="264" r:id="R5470dcbe601d4273"/>
    <p:sldId xmlns:r="http://schemas.openxmlformats.org/officeDocument/2006/relationships" id="265" r:id="Rb0353d2a23e54bc1"/>
    <p:sldId xmlns:r="http://schemas.openxmlformats.org/officeDocument/2006/relationships" id="266" r:id="R8917ea9c750a43cf"/>
    <p:sldId xmlns:r="http://schemas.openxmlformats.org/officeDocument/2006/relationships" id="267" r:id="R13d222203c8f4885"/>
    <p:sldId xmlns:r="http://schemas.openxmlformats.org/officeDocument/2006/relationships" id="268" r:id="R956b9ed98c604754"/>
    <p:sldId xmlns:r="http://schemas.openxmlformats.org/officeDocument/2006/relationships" id="269" r:id="Rdda58f33b1bf4fea"/>
    <p:sldId xmlns:r="http://schemas.openxmlformats.org/officeDocument/2006/relationships" id="270" r:id="R87eb22a746c748f9"/>
    <p:sldId xmlns:r="http://schemas.openxmlformats.org/officeDocument/2006/relationships" id="271" r:id="R84bb8d4c1fea4ba2"/>
    <p:sldId xmlns:r="http://schemas.openxmlformats.org/officeDocument/2006/relationships" id="272" r:id="Rb1e0da01687142d4"/>
    <p:sldId xmlns:r="http://schemas.openxmlformats.org/officeDocument/2006/relationships" id="273" r:id="Re0e8a1e9791d467e"/>
    <p:sldId xmlns:r="http://schemas.openxmlformats.org/officeDocument/2006/relationships" id="274" r:id="R0852313d296b45f8"/>
    <p:sldId xmlns:r="http://schemas.openxmlformats.org/officeDocument/2006/relationships" id="275" r:id="R2fae3b8848634950"/>
    <p:sldId xmlns:r="http://schemas.openxmlformats.org/officeDocument/2006/relationships" id="276" r:id="R6db53043ef964e28"/>
    <p:sldId xmlns:r="http://schemas.openxmlformats.org/officeDocument/2006/relationships" id="277" r:id="R3cd75e863bb7439d"/>
    <p:sldId xmlns:r="http://schemas.openxmlformats.org/officeDocument/2006/relationships" id="278" r:id="R44539088cad64b49"/>
    <p:sldId xmlns:r="http://schemas.openxmlformats.org/officeDocument/2006/relationships" id="279" r:id="R851b07d3f8dc4116"/>
    <p:sldId xmlns:r="http://schemas.openxmlformats.org/officeDocument/2006/relationships" id="280" r:id="Rcb8da83d5c0445f6"/>
    <p:sldId xmlns:r="http://schemas.openxmlformats.org/officeDocument/2006/relationships" id="281" r:id="R1989e1714f0d4971"/>
    <p:sldId xmlns:r="http://schemas.openxmlformats.org/officeDocument/2006/relationships" id="282" r:id="Re7f7176880864c8f"/>
    <p:sldId xmlns:r="http://schemas.openxmlformats.org/officeDocument/2006/relationships" id="283" r:id="R0f91e569c1a74265"/>
    <p:sldId xmlns:r="http://schemas.openxmlformats.org/officeDocument/2006/relationships" id="284" r:id="Rd5f8df8d7a654705"/>
    <p:sldId xmlns:r="http://schemas.openxmlformats.org/officeDocument/2006/relationships" id="285" r:id="R3fa6f1f3ba814c73"/>
    <p:sldId xmlns:r="http://schemas.openxmlformats.org/officeDocument/2006/relationships" id="286" r:id="Rd258d5a6032b47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fa02150a7924533" /><Relationship Type="http://schemas.openxmlformats.org/officeDocument/2006/relationships/slideMaster" Target="/ppt/slideMasters/slideMaster1.xml" Id="R1e8de98e1aa34ccf" /><Relationship Type="http://schemas.openxmlformats.org/officeDocument/2006/relationships/notesMaster" Target="/ppt/notesMasters/notesMaster1.xml" Id="R3def8601384c4308" /><Relationship Type="http://schemas.openxmlformats.org/officeDocument/2006/relationships/presProps" Target="/ppt/presProps.xml" Id="R334be31e732a4413" /><Relationship Type="http://schemas.openxmlformats.org/officeDocument/2006/relationships/tableStyles" Target="/ppt/tableStyles.xml" Id="Rc817f931dfd84de7" /><Relationship Type="http://schemas.openxmlformats.org/officeDocument/2006/relationships/slide" Target="/ppt/slides/slide1.xml" Id="R4d9c7504e58a469e" /><Relationship Type="http://schemas.openxmlformats.org/officeDocument/2006/relationships/slide" Target="/ppt/slides/slide2.xml" Id="Rd7ad40f154804101" /><Relationship Type="http://schemas.openxmlformats.org/officeDocument/2006/relationships/slide" Target="/ppt/slides/slide3.xml" Id="R544d0ba1837c45a1" /><Relationship Type="http://schemas.openxmlformats.org/officeDocument/2006/relationships/slide" Target="/ppt/slides/slide4.xml" Id="R32e27c6cc1af4e30" /><Relationship Type="http://schemas.openxmlformats.org/officeDocument/2006/relationships/slide" Target="/ppt/slides/slide5.xml" Id="R29ba6392cda34370" /><Relationship Type="http://schemas.openxmlformats.org/officeDocument/2006/relationships/slide" Target="/ppt/slides/slide6.xml" Id="R12cd11220fb74276" /><Relationship Type="http://schemas.openxmlformats.org/officeDocument/2006/relationships/slide" Target="/ppt/slides/slide7.xml" Id="Re26f53a35eb944f2" /><Relationship Type="http://schemas.openxmlformats.org/officeDocument/2006/relationships/slide" Target="/ppt/slides/slide8.xml" Id="R6457ec6faf814925" /><Relationship Type="http://schemas.openxmlformats.org/officeDocument/2006/relationships/slide" Target="/ppt/slides/slide9.xml" Id="R5470dcbe601d4273" /><Relationship Type="http://schemas.openxmlformats.org/officeDocument/2006/relationships/slide" Target="/ppt/slides/slide10.xml" Id="Rb0353d2a23e54bc1" /><Relationship Type="http://schemas.openxmlformats.org/officeDocument/2006/relationships/slide" Target="/ppt/slides/slide11.xml" Id="R8917ea9c750a43cf" /><Relationship Type="http://schemas.openxmlformats.org/officeDocument/2006/relationships/slide" Target="/ppt/slides/slide12.xml" Id="R13d222203c8f4885" /><Relationship Type="http://schemas.openxmlformats.org/officeDocument/2006/relationships/slide" Target="/ppt/slides/slide13.xml" Id="R956b9ed98c604754" /><Relationship Type="http://schemas.openxmlformats.org/officeDocument/2006/relationships/slide" Target="/ppt/slides/slide14.xml" Id="Rdda58f33b1bf4fea" /><Relationship Type="http://schemas.openxmlformats.org/officeDocument/2006/relationships/slide" Target="/ppt/slides/slide15.xml" Id="R87eb22a746c748f9" /><Relationship Type="http://schemas.openxmlformats.org/officeDocument/2006/relationships/slide" Target="/ppt/slides/slide16.xml" Id="R84bb8d4c1fea4ba2" /><Relationship Type="http://schemas.openxmlformats.org/officeDocument/2006/relationships/slide" Target="/ppt/slides/slide17.xml" Id="Rb1e0da01687142d4" /><Relationship Type="http://schemas.openxmlformats.org/officeDocument/2006/relationships/slide" Target="/ppt/slides/slide18.xml" Id="Re0e8a1e9791d467e" /><Relationship Type="http://schemas.openxmlformats.org/officeDocument/2006/relationships/slide" Target="/ppt/slides/slide19.xml" Id="R0852313d296b45f8" /><Relationship Type="http://schemas.openxmlformats.org/officeDocument/2006/relationships/slide" Target="/ppt/slides/slide20.xml" Id="R2fae3b8848634950" /><Relationship Type="http://schemas.openxmlformats.org/officeDocument/2006/relationships/slide" Target="/ppt/slides/slide21.xml" Id="R6db53043ef964e28" /><Relationship Type="http://schemas.openxmlformats.org/officeDocument/2006/relationships/slide" Target="/ppt/slides/slide22.xml" Id="R3cd75e863bb7439d" /><Relationship Type="http://schemas.openxmlformats.org/officeDocument/2006/relationships/slide" Target="/ppt/slides/slide23.xml" Id="R44539088cad64b49" /><Relationship Type="http://schemas.openxmlformats.org/officeDocument/2006/relationships/slide" Target="/ppt/slides/slide24.xml" Id="R851b07d3f8dc4116" /><Relationship Type="http://schemas.openxmlformats.org/officeDocument/2006/relationships/slide" Target="/ppt/slides/slide25.xml" Id="Rcb8da83d5c0445f6" /><Relationship Type="http://schemas.openxmlformats.org/officeDocument/2006/relationships/slide" Target="/ppt/slides/slide26.xml" Id="R1989e1714f0d4971" /><Relationship Type="http://schemas.openxmlformats.org/officeDocument/2006/relationships/slide" Target="/ppt/slides/slide27.xml" Id="Re7f7176880864c8f" /><Relationship Type="http://schemas.openxmlformats.org/officeDocument/2006/relationships/slide" Target="/ppt/slides/slide28.xml" Id="R0f91e569c1a74265" /><Relationship Type="http://schemas.openxmlformats.org/officeDocument/2006/relationships/slide" Target="/ppt/slides/slide29.xml" Id="Rd5f8df8d7a654705" /><Relationship Type="http://schemas.openxmlformats.org/officeDocument/2006/relationships/slide" Target="/ppt/slides/slide30.xml" Id="R3fa6f1f3ba814c73" /><Relationship Type="http://schemas.openxmlformats.org/officeDocument/2006/relationships/slide" Target="/ppt/slides/slide31.xml" Id="Rd258d5a6032b47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431101161c448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b18af300b44f64" /><Relationship Type="http://schemas.openxmlformats.org/officeDocument/2006/relationships/notesMaster" Target="/ppt/notesMasters/notesMaster1.xml" Id="R643702fc351c4f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35ded493b24117" /><Relationship Type="http://schemas.openxmlformats.org/officeDocument/2006/relationships/notesMaster" Target="/ppt/notesMasters/notesMaster1.xml" Id="R996ee020e18148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e51fb0648c34ca8" /><Relationship Type="http://schemas.openxmlformats.org/officeDocument/2006/relationships/notesMaster" Target="/ppt/notesMasters/notesMaster1.xml" Id="R4fdb459efe2a40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731078c1774aa4" /><Relationship Type="http://schemas.openxmlformats.org/officeDocument/2006/relationships/notesMaster" Target="/ppt/notesMasters/notesMaster1.xml" Id="Re6a856592a934c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9acdf45881f414d" /><Relationship Type="http://schemas.openxmlformats.org/officeDocument/2006/relationships/notesMaster" Target="/ppt/notesMasters/notesMaster1.xml" Id="R26afced3a1144d22"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667b981b1e408a" /><Relationship Type="http://schemas.openxmlformats.org/officeDocument/2006/relationships/notesMaster" Target="/ppt/notesMasters/notesMaster1.xml" Id="R03c0630fd0a149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6df35af29f416c" /><Relationship Type="http://schemas.openxmlformats.org/officeDocument/2006/relationships/notesMaster" Target="/ppt/notesMasters/notesMaster1.xml" Id="Rc6fdf8996cac4a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2bfad3b6ac4a37" /><Relationship Type="http://schemas.openxmlformats.org/officeDocument/2006/relationships/notesMaster" Target="/ppt/notesMasters/notesMaster1.xml" Id="Rca843f90cba84d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e18477f7ce4337" /><Relationship Type="http://schemas.openxmlformats.org/officeDocument/2006/relationships/notesMaster" Target="/ppt/notesMasters/notesMaster1.xml" Id="Rf30725cee4cb45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b97dfc1f4a46bc" /><Relationship Type="http://schemas.openxmlformats.org/officeDocument/2006/relationships/notesMaster" Target="/ppt/notesMasters/notesMaster1.xml" Id="Rf7c76a1814c24a2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88bef6248a456d" /><Relationship Type="http://schemas.openxmlformats.org/officeDocument/2006/relationships/notesMaster" Target="/ppt/notesMasters/notesMaster1.xml" Id="R104597bae91c49f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5cee377a39c42d3" /><Relationship Type="http://schemas.openxmlformats.org/officeDocument/2006/relationships/notesMaster" Target="/ppt/notesMasters/notesMaster1.xml" Id="R7dbc416ace3b408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e35e5b6e9d84ae5" /><Relationship Type="http://schemas.openxmlformats.org/officeDocument/2006/relationships/notesMaster" Target="/ppt/notesMasters/notesMaster1.xml" Id="Rf369f052b51e43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900c2537ac471c" /><Relationship Type="http://schemas.openxmlformats.org/officeDocument/2006/relationships/notesMaster" Target="/ppt/notesMasters/notesMaster1.xml" Id="R3f4859cb60ef4a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16354ab05a41ce" /><Relationship Type="http://schemas.openxmlformats.org/officeDocument/2006/relationships/notesMaster" Target="/ppt/notesMasters/notesMaster1.xml" Id="Rd28d602185a649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a9426b3e494684" /><Relationship Type="http://schemas.openxmlformats.org/officeDocument/2006/relationships/notesMaster" Target="/ppt/notesMasters/notesMaster1.xml" Id="R5a0fe7e13d6c4cd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971e3438a81475b" /><Relationship Type="http://schemas.openxmlformats.org/officeDocument/2006/relationships/notesMaster" Target="/ppt/notesMasters/notesMaster1.xml" Id="Rc4b7cc2387114f2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2695d1aff3249c6" /><Relationship Type="http://schemas.openxmlformats.org/officeDocument/2006/relationships/notesMaster" Target="/ppt/notesMasters/notesMaster1.xml" Id="R0f746b2e0e40491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6f13983d24a447b" /><Relationship Type="http://schemas.openxmlformats.org/officeDocument/2006/relationships/notesMaster" Target="/ppt/notesMasters/notesMaster1.xml" Id="R52145148d94d49d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6f64552e3fe4fd2" /><Relationship Type="http://schemas.openxmlformats.org/officeDocument/2006/relationships/notesMaster" Target="/ppt/notesMasters/notesMaster1.xml" Id="Rf71d2dbe214a4b7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d9687a95bcc4131" /><Relationship Type="http://schemas.openxmlformats.org/officeDocument/2006/relationships/notesMaster" Target="/ppt/notesMasters/notesMaster1.xml" Id="R150b9af349d94d7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61c7f7e2a1949ce" /><Relationship Type="http://schemas.openxmlformats.org/officeDocument/2006/relationships/notesMaster" Target="/ppt/notesMasters/notesMaster1.xml" Id="R78c44c3b13e94b2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b6765b408974156" /><Relationship Type="http://schemas.openxmlformats.org/officeDocument/2006/relationships/notesMaster" Target="/ppt/notesMasters/notesMaster1.xml" Id="Rb886eb7a4b56450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5ce614f051a459a" /><Relationship Type="http://schemas.openxmlformats.org/officeDocument/2006/relationships/notesMaster" Target="/ppt/notesMasters/notesMaster1.xml" Id="Rbbb61accff3946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f62fee94e704224" /><Relationship Type="http://schemas.openxmlformats.org/officeDocument/2006/relationships/notesMaster" Target="/ppt/notesMasters/notesMaster1.xml" Id="R621510bb8965491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ea86c1a71084291" /><Relationship Type="http://schemas.openxmlformats.org/officeDocument/2006/relationships/notesMaster" Target="/ppt/notesMasters/notesMaster1.xml" Id="R967bcbf9b0ca42e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5ff1d7c8db64931" /><Relationship Type="http://schemas.openxmlformats.org/officeDocument/2006/relationships/notesMaster" Target="/ppt/notesMasters/notesMaster1.xml" Id="R242be0f185cc433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796aa2148164a17" /><Relationship Type="http://schemas.openxmlformats.org/officeDocument/2006/relationships/notesMaster" Target="/ppt/notesMasters/notesMaster1.xml" Id="Rc0e51f0ab4444d6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79a5200e7a043c0" /><Relationship Type="http://schemas.openxmlformats.org/officeDocument/2006/relationships/notesMaster" Target="/ppt/notesMasters/notesMaster1.xml" Id="R4d4e7f007bbd4c7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b10dd7a69e24602" /><Relationship Type="http://schemas.openxmlformats.org/officeDocument/2006/relationships/notesMaster" Target="/ppt/notesMasters/notesMaster1.xml" Id="R3ecd70e418584f7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cd0ad1681e44595" /><Relationship Type="http://schemas.openxmlformats.org/officeDocument/2006/relationships/notesMaster" Target="/ppt/notesMasters/notesMaster1.xml" Id="R4aa0402bcdde40c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Good morning everyone. I am Harsh Bhardwaj, with Shrishti Singh and Rajat Kandpal. AutoDrive explores how a camera frame can support object detection, lane segmentation and steering prediction. Aaj hum architecture, measured results aur limitations explain karenge.</a:t>
            </a:r>
          </a:p>
          <a:p xmlns:a="http://schemas.openxmlformats.org/drawingml/2006/main">
            <a:r>
              <a:t/>
            </a:r>
          </a:p>
          <a:p xmlns:a="http://schemas.openxmlformats.org/drawingml/2006/main">
            <a:r>
              <a:t>SOURCE</a:t>
            </a:r>
          </a:p>
          <a:p xmlns:a="http://schemas.openxmlformats.org/drawingml/2006/main">
            <a:r>
              <a:t>Supplied synopsis, page 1. Research paper, page 1.</a:t>
            </a:r>
          </a:p>
          <a:p xmlns:a="http://schemas.openxmlformats.org/drawingml/2006/main">
            <a:r>
              <a:t>C:/Users/Harsh/Documents/AutoDrive_Research_Paper.pdf</a:t>
            </a:r>
          </a:p>
          <a:p xmlns:a="http://schemas.openxmlformats.org/drawingml/2006/main">
            <a:r>
              <a:t>Cover image is conceptual artwork from the supplied presentation, not a photograph of an AutoDrive vehicle trial.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Our team has three members. Ms. Jasmine is the mentor listed in our synopsis. Department aur college ka naam briefly introduce karo, phir project ki story par move karo.</a:t>
            </a:r>
          </a:p>
          <a:p xmlns:a="http://schemas.openxmlformats.org/drawingml/2006/main">
            <a:r>
              <a:t/>
            </a:r>
          </a:p>
          <a:p xmlns:a="http://schemas.openxmlformats.org/drawingml/2006/main">
            <a:r>
              <a:t>SOURCE</a:t>
            </a:r>
          </a:p>
          <a:p xmlns:a="http://schemas.openxmlformats.org/drawingml/2006/main">
            <a:r>
              <a:t>Supplied synopsis, page 2. Research paper author block, page 1.</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We will first explain the problem, then the implementation and measured results. Detailed numerical tables are in the appendix for questions. Outline ko sirf 15 seconds mein cover karo.</a:t>
            </a:r>
          </a:p>
          <a:p xmlns:a="http://schemas.openxmlformats.org/drawingml/2006/main">
            <a:r>
              <a:t/>
            </a:r>
          </a:p>
          <a:p xmlns:a="http://schemas.openxmlformats.org/drawingml/2006/main">
            <a:r>
              <a:t>SOURCE</a:t>
            </a:r>
          </a:p>
          <a:p xmlns:a="http://schemas.openxmlformats.org/drawingml/2006/main">
            <a:r>
              <a:t>Presentation structure adapted from supplied synopsis, page 3.</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Driving ke time hum objects dekhte hain, lane samajhte hain, aur steering choose karte hain. Our pipeline explores the same perception tasks. Detection gives boxes and labels, segmentation gives masks, and regression gives an angle. Outputs visual display mein combine hote hain.</a:t>
            </a:r>
          </a:p>
          <a:p xmlns:a="http://schemas.openxmlformats.org/drawingml/2006/main">
            <a:r>
              <a:t/>
            </a:r>
          </a:p>
          <a:p xmlns:a="http://schemas.openxmlformats.org/drawingml/2006/main">
            <a:r>
              <a:t>SOURCE</a:t>
            </a:r>
          </a:p>
          <a:p xmlns:a="http://schemas.openxmlformats.org/drawingml/2006/main">
            <a:r>
              <a:t>Research paper, Sections I and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Our objective is a reproducible engineering prototype. Lane annotation conversion is an important part of the work because sparse points cannot directly supervise instance masks. We also evaluate steering honestly and compare it with simple baselines.</a:t>
            </a:r>
          </a:p>
          <a:p xmlns:a="http://schemas.openxmlformats.org/drawingml/2006/main">
            <a:r>
              <a:t/>
            </a:r>
          </a:p>
          <a:p xmlns:a="http://schemas.openxmlformats.org/drawingml/2006/main">
            <a:r>
              <a:t>SOURCE</a:t>
            </a:r>
          </a:p>
          <a:p xmlns:a="http://schemas.openxmlformats.org/drawingml/2006/main">
            <a:r>
              <a:t>Research paper, Section I, Objectives and Contributions.</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DAVE-2 inspired our steering branch. Lane research shows why thin structures need careful supervision. We implement YOLO11s and YOLO11s-seg. We do not claim a new neural architecture. Earlier synopsis drawings used YOLOv4 and ConvLSTM, while this deck describes the actual implementation.</a:t>
            </a:r>
          </a:p>
          <a:p xmlns:a="http://schemas.openxmlformats.org/drawingml/2006/main">
            <a:r>
              <a:t/>
            </a:r>
          </a:p>
          <a:p xmlns:a="http://schemas.openxmlformats.org/drawingml/2006/main">
            <a:r>
              <a:t>SOURCE</a:t>
            </a:r>
          </a:p>
          <a:p xmlns:a="http://schemas.openxmlformats.org/drawingml/2006/main">
            <a:r>
              <a:t>Research paper, Section II and references [4], [8], [11], [21], [22].</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Diagram ko left to right explain karo. A camera frame feeds three branches. Detection returns boxes and classes, lane segmentation returns masks, and steering returns an angle. The display brings the outputs together. This diagram represents visual integration, not a validated planner or vehicle controller.</a:t>
            </a:r>
          </a:p>
          <a:p xmlns:a="http://schemas.openxmlformats.org/drawingml/2006/main">
            <a:r>
              <a:t/>
            </a:r>
          </a:p>
          <a:p xmlns:a="http://schemas.openxmlformats.org/drawingml/2006/main">
            <a:r>
              <a:t>SOURCE</a:t>
            </a:r>
          </a:p>
          <a:p xmlns:a="http://schemas.openxmlformats.org/drawingml/2006/main">
            <a:r>
              <a:t>Research paper, Fig. 1 and Section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Detection has a held-out test split. Lanes use a random 80/20 split with seed 42, while steering uses the existing ordered 80/20 split. Steering collection provenance is not established. We should not attribute it to a named public dataset without evidence.</a:t>
            </a:r>
          </a:p>
          <a:p xmlns:a="http://schemas.openxmlformats.org/drawingml/2006/main">
            <a:r>
              <a:t/>
            </a:r>
          </a:p>
          <a:p xmlns:a="http://schemas.openxmlformats.org/drawingml/2006/main">
            <a:r>
              <a:t>SOURCE</a:t>
            </a:r>
          </a:p>
          <a:p xmlns:a="http://schemas.openxmlformats.org/drawingml/2006/main">
            <a:r>
              <a:t>Research paper, Section III and Tables II(a), II(b).</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YOLO models use a backbone to extract features, a neck to aggregate them, and a task-specific prediction head. Both perception modules use 640-pixel inputs. The object model has ten classes, while the lane model has one lane class.</a:t>
            </a:r>
          </a:p>
          <a:p xmlns:a="http://schemas.openxmlformats.org/drawingml/2006/main">
            <a:r>
              <a:t/>
            </a:r>
          </a:p>
          <a:p xmlns:a="http://schemas.openxmlformats.org/drawingml/2006/main">
            <a:r>
              <a:t>SOURCE</a:t>
            </a:r>
          </a:p>
          <a:p xmlns:a="http://schemas.openxmlformats.org/drawingml/2006/main">
            <a:r>
              <a:t>Research paper, Table III and Section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reference DAVE-2 and the saved checkpoint have different parameter counts. Our local saved CNN includes an extra dense layer. In the new experiment, convolutional weights stay fixed and a regularized linear readout learns the angle in degrees. Explain this distinction clearly if faculty asks about the diagram.</a:t>
            </a:r>
          </a:p>
          <a:p xmlns:a="http://schemas.openxmlformats.org/drawingml/2006/main">
            <a:r>
              <a:t/>
            </a:r>
          </a:p>
          <a:p xmlns:a="http://schemas.openxmlformats.org/drawingml/2006/main">
            <a:r>
              <a:t>SOURCE</a:t>
            </a:r>
          </a:p>
          <a:p xmlns:a="http://schemas.openxmlformats.org/drawingml/2006/main">
            <a:r>
              <a:t>Research paper, Sections IV and XVII, Table III and Fig. 11.</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perception runs use a T4. The new steering readout experiment runs locally on a CPU, so do not describe it as a GPU training run. We use PyTorch and TensorFlow, not Torch 7. We do not claim use of NVIDIA DRIVE PX hardware.</a:t>
            </a:r>
          </a:p>
          <a:p xmlns:a="http://schemas.openxmlformats.org/drawingml/2006/main">
            <a:r>
              <a:t/>
            </a:r>
          </a:p>
          <a:p xmlns:a="http://schemas.openxmlformats.org/drawingml/2006/main">
            <a:r>
              <a:t>SOURCE</a:t>
            </a:r>
          </a:p>
          <a:p xmlns:a="http://schemas.openxmlformats.org/drawingml/2006/main">
            <a:r>
              <a:t>Research paper, Sections III, V and XVII, Table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On the held-out test split, precision is 71.2 percent and recall is 61.4 percent. mAP50 is 67.2 percent and mAP50-95 is 47.1 percent. Precision tells us how often detections are correct. Recall tells us how many true objects we find. mAP ko accuracy mat bolo.</a:t>
            </a:r>
          </a:p>
          <a:p xmlns:a="http://schemas.openxmlformats.org/drawingml/2006/main">
            <a:r>
              <a:t/>
            </a:r>
          </a:p>
          <a:p xmlns:a="http://schemas.openxmlformats.org/drawingml/2006/main">
            <a:r>
              <a:t>SOURCE</a:t>
            </a:r>
          </a:p>
          <a:p xmlns:a="http://schemas.openxmlformats.org/drawingml/2006/main">
            <a:r>
              <a:t>Research paper, Table VI(a), page 13.</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Lane boxes achieve high scores, but thin masks are sensitive to one- or two-pixel offsets. Standalone re-evaluation gives mask mAP50-95 of 0.389, while end-of-training gives 0.363. These scores evaluate synthetic lane ribbons, not the official TuSimple point-wise metric.</a:t>
            </a:r>
          </a:p>
          <a:p xmlns:a="http://schemas.openxmlformats.org/drawingml/2006/main">
            <a:r>
              <a:t/>
            </a:r>
          </a:p>
          <a:p xmlns:a="http://schemas.openxmlformats.org/drawingml/2006/main">
            <a:r>
              <a:t>SOURCE</a:t>
            </a:r>
          </a:p>
          <a:p xmlns:a="http://schemas.openxmlformats.org/drawingml/2006/main">
            <a:r>
              <a:t>Research paper, Table VI(b), Section VIII and Eq. 6.</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validation curve improves from 0.331 after the first epoch to 0.482 at epoch 50. The losses decrease. These are recorded training outputs. This is a progress comparison and does not isolate the effect of one architecture or augmentation choice.</a:t>
            </a:r>
          </a:p>
          <a:p xmlns:a="http://schemas.openxmlformats.org/drawingml/2006/main">
            <a:r>
              <a:t/>
            </a:r>
          </a:p>
          <a:p xmlns:a="http://schemas.openxmlformats.org/drawingml/2006/main">
            <a:r>
              <a:t>SOURCE</a:t>
            </a:r>
          </a:p>
          <a:p xmlns:a="http://schemas.openxmlformats.org/drawingml/2006/main">
            <a:r>
              <a:t>Research paper, Fig. 5 and Table 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lane model improves across training. Box metrics converge early, while mask metrics remain lower because lane ribbons are thin. End-of-training mask mAP50-95 reaches 0.363. Re-evaluation of the same checkpoint gives 0.389.</a:t>
            </a:r>
          </a:p>
          <a:p xmlns:a="http://schemas.openxmlformats.org/drawingml/2006/main">
            <a:r>
              <a:t/>
            </a:r>
          </a:p>
          <a:p xmlns:a="http://schemas.openxmlformats.org/drawingml/2006/main">
            <a:r>
              <a:t>SOURCE</a:t>
            </a:r>
          </a:p>
          <a:p xmlns:a="http://schemas.openxmlformats.org/drawingml/2006/main">
            <a:r>
              <a:t>Research paper, Fig. 6 and Table 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All four models use the same 9,082 frames. The new readout reduces MAE from 23.2570 to 14.6822 degrees, a 36.9 percent reduction. But training-mean and training-median constants still give lower MAE, and R-squared remains negative. Improvement ko strong or reliable steering ka proof mat bolo.</a:t>
            </a:r>
          </a:p>
          <a:p xmlns:a="http://schemas.openxmlformats.org/drawingml/2006/main">
            <a:r>
              <a:t/>
            </a:r>
          </a:p>
          <a:p xmlns:a="http://schemas.openxmlformats.org/drawingml/2006/main">
            <a:r>
              <a:t>SOURCE</a:t>
            </a:r>
          </a:p>
          <a:p xmlns:a="http://schemas.openxmlformats.org/drawingml/2006/main">
            <a:r>
              <a:t>Research paper, Table IX and Section XVII, page 20.</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Point to the predicted lane masks and explain how they follow painted markings. Some boxes are large because diagonal lanes create large bounding rectangles. These are examples, so do not generalize from six images alone.</a:t>
            </a:r>
          </a:p>
          <a:p xmlns:a="http://schemas.openxmlformats.org/drawingml/2006/main">
            <a:r>
              <a:t/>
            </a:r>
          </a:p>
          <a:p xmlns:a="http://schemas.openxmlformats.org/drawingml/2006/main">
            <a:r>
              <a:t>SOURCE</a:t>
            </a:r>
          </a:p>
          <a:p xmlns:a="http://schemas.openxmlformats.org/drawingml/2006/main">
            <a:r>
              <a:t>Research paper, Fig. 9.</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Explain boxes, labels and confidence. The test metrics show that recall remains limited even when selected images look good. These examples include six held-out test frames.</a:t>
            </a:r>
          </a:p>
          <a:p xmlns:a="http://schemas.openxmlformats.org/drawingml/2006/main">
            <a:r>
              <a:t/>
            </a:r>
          </a:p>
          <a:p xmlns:a="http://schemas.openxmlformats.org/drawingml/2006/main">
            <a:r>
              <a:t>SOURCE</a:t>
            </a:r>
          </a:p>
          <a:p xmlns:a="http://schemas.openxmlformats.org/drawingml/2006/main">
            <a:r>
              <a:t>Research paper, Fig. 10.</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Ab yeh 20-second recorded demo dekhiye. Road view par lane masks aur object boxes dikh rahe hain. Right side ka wheel CNN plus Huber AI prediction ko follow karta hai, aur movement par original cockpit smoothing lagi hai. Numeric AI angle raw prediction hai. Recorded angle aur error comparison ke liye dikhte hain. Yeh offline rendered playback 20 FPS par hai. Source frames 2400-2799 steering ke original training partition mein hain, isliye ise held-out evaluation ya live inference speed ka result nahi kahenge.
Source: output/video/AutoDrive_20s_Demo_Smooth_Steering.mp4 and its prediction cache, manifest and per-frame CSV. Video duration 20 seconds, 400 source frames, 1280 by 720 pixels, 20 FPS. The presentation embeds the MP4 and starts playback on entering this slide.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 combined timings are sums of separately measured modules. They suggest around 32 to 44 FPS for the two perception modules. This is a projection, not an end-to-end benchmark. Steering, frame capture, display and I/O are excluded.</a:t>
            </a:r>
          </a:p>
          <a:p xmlns:a="http://schemas.openxmlformats.org/drawingml/2006/main">
            <a:r>
              <a:t/>
            </a:r>
          </a:p>
          <a:p xmlns:a="http://schemas.openxmlformats.org/drawingml/2006/main">
            <a:r>
              <a:t>SOURCE</a:t>
            </a:r>
          </a:p>
          <a:p xmlns:a="http://schemas.openxmlformats.org/drawingml/2006/main">
            <a:r>
              <a:t>Research paper, Table VIII and Section VIII.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This is useful as an academic research framework. We can compare modules, inspect errors and study annotation conversion. We have not demonstrated lane-keeping control or sensor fusion. Future work includes independent drives, official lane evaluation and closed-loop simulation.</a:t>
            </a:r>
          </a:p>
          <a:p xmlns:a="http://schemas.openxmlformats.org/drawingml/2006/main">
            <a:r>
              <a:t/>
            </a:r>
          </a:p>
          <a:p xmlns:a="http://schemas.openxmlformats.org/drawingml/2006/main">
            <a:r>
              <a:t>SOURCE</a:t>
            </a:r>
          </a:p>
          <a:p xmlns:a="http://schemas.openxmlformats.org/drawingml/2006/main">
            <a:r>
              <a:t>Research paper, Sections IX, XI and XII.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To conclude, we built an integrated research prototype and documented its component results. Perception shows useful capabilities, while steering requires further work. Our repository contains the implementation. Thank you. Questions are welcome.</a:t>
            </a:r>
          </a:p>
          <a:p xmlns:a="http://schemas.openxmlformats.org/drawingml/2006/main">
            <a:r>
              <a:t/>
            </a:r>
          </a:p>
          <a:p xmlns:a="http://schemas.openxmlformats.org/drawingml/2006/main">
            <a:r>
              <a:t>SOURCE</a:t>
            </a:r>
          </a:p>
          <a:p xmlns:a="http://schemas.openxmlformats.org/drawingml/2006/main">
            <a:r>
              <a:t>Research paper, Sections XII and XIV. GitHub repository: https://github.com/HA2345567/Autodrive</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These are the principal references used for the model families, datasets and evaluation. The research paper contains the full bibliography. Appendix slides follow for detailed numerical questions.</a:t>
            </a:r>
          </a:p>
          <a:p xmlns:a="http://schemas.openxmlformats.org/drawingml/2006/main">
            <a:r>
              <a:t/>
            </a:r>
          </a:p>
          <a:p xmlns:a="http://schemas.openxmlformats.org/drawingml/2006/main">
            <a:r>
              <a:t>SOURCE</a:t>
            </a:r>
          </a:p>
          <a:p xmlns:a="http://schemas.openxmlformats.org/drawingml/2006/main">
            <a:r>
              <a:t>Research paper references [4], [8], [11], [22], [27], [36].</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These are instance counts, not image counts. Images can contain multiple annotations. The largest-to-smallest training instance ratio is about 24 to 1.</a:t>
            </a:r>
          </a:p>
          <a:p xmlns:a="http://schemas.openxmlformats.org/drawingml/2006/main">
            <a:r>
              <a:t/>
            </a:r>
          </a:p>
          <a:p xmlns:a="http://schemas.openxmlformats.org/drawingml/2006/main">
            <a:r>
              <a:t>SOURCE</a:t>
            </a:r>
          </a:p>
          <a:p xmlns:a="http://schemas.openxmlformats.org/drawingml/2006/main">
            <a:r>
              <a:t>Research paper, Table II(a).</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Traffic lights and bicycles have low AP, while buses, cats and dogs score higher. Stop sign estimates are unstable because the test set contains only 22 instances.</a:t>
            </a:r>
          </a:p>
          <a:p xmlns:a="http://schemas.openxmlformats.org/drawingml/2006/main">
            <a:r>
              <a:t/>
            </a:r>
          </a:p>
          <a:p xmlns:a="http://schemas.openxmlformats.org/drawingml/2006/main">
            <a:r>
              <a:t>SOURCE</a:t>
            </a:r>
          </a:p>
          <a:p xmlns:a="http://schemas.openxmlformats.org/drawingml/2006/main">
            <a:r>
              <a:t>Research paper, Table VII.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This preserves the full reported perception metrics. End-of-training and standalone lane results differ because evaluation conditions vary. These comparisons are not official TuSimple benchmark scores.</a:t>
            </a:r>
          </a:p>
          <a:p xmlns:a="http://schemas.openxmlformats.org/drawingml/2006/main">
            <a:r>
              <a:t/>
            </a:r>
          </a:p>
          <a:p xmlns:a="http://schemas.openxmlformats.org/drawingml/2006/main">
            <a:r>
              <a:t>SOURCE</a:t>
            </a:r>
          </a:p>
          <a:p xmlns:a="http://schemas.openxmlformats.org/drawingml/2006/main">
            <a:r>
              <a:t>Research paper, Tables VI(a) and VI(b).</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Keep the 505-frame BGR audit separate from the 9,082-frame RGB and readout comparisons. Pearson correlation is undefined for constant predictions. R-squared remains negative for the selected readout.</a:t>
            </a:r>
          </a:p>
          <a:p xmlns:a="http://schemas.openxmlformats.org/drawingml/2006/main">
            <a:r>
              <a:t/>
            </a:r>
          </a:p>
          <a:p xmlns:a="http://schemas.openxmlformats.org/drawingml/2006/main">
            <a:r>
              <a:t>SOURCE</a:t>
            </a:r>
          </a:p>
          <a:p xmlns:a="http://schemas.openxmlformats.org/drawingml/2006/main">
            <a:r>
              <a:t>Research paper, Tables VI(c), IX and Section XVII.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These are actual saved notebook comparisons. They show training progress, re-evaluation variation and the validation-to-test gap. They do not isolate effects of architecture, mosaic or ribbon width.</a:t>
            </a:r>
          </a:p>
          <a:p xmlns:a="http://schemas.openxmlformats.org/drawingml/2006/main">
            <a:r>
              <a:t/>
            </a:r>
          </a:p>
          <a:p xmlns:a="http://schemas.openxmlformats.org/drawingml/2006/main">
            <a:r>
              <a:t>SOURCE</a:t>
            </a:r>
          </a:p>
          <a:p xmlns:a="http://schemas.openxmlformats.org/drawingml/2006/main">
            <a:r>
              <a:t>Research paper, Table V. research_paper/recorded_comparisons.json</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Detection and lane runs use batch 16 and 640-pixel images. Original steering uses a different training setup. The Huber readout experiment follows its own protocol, described on the next backup slide.</a:t>
            </a:r>
          </a:p>
          <a:p xmlns:a="http://schemas.openxmlformats.org/drawingml/2006/main">
            <a:r>
              <a:t/>
            </a:r>
          </a:p>
          <a:p xmlns:a="http://schemas.openxmlformats.org/drawingml/2006/main">
            <a:r>
              <a:t>SOURCE</a:t>
            </a:r>
          </a:p>
          <a:p xmlns:a="http://schemas.openxmlformats.org/drawingml/2006/main">
            <a:r>
              <a:t>Research paper, Table IV.</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 mean and scale use training features. Development MAE chooses the loss and penalty. Validation labels do not fit the readout. The existing validation partition was inspected previously and backbone training exposure is unknown, so it is not an independent test drive. Training labels range from minus 152.87 to plus 501.78 degrees, with 219 beyond plus or minus 180. Validation has no labels outside that bound. Runtime: Python 3.13.1, TensorFlow 2.20.0, NumPy 2.5.1, SciPy 1.18.0, OpenCV 5.0.0, local Pentium 4415U CPU.</a:t>
            </a:r>
          </a:p>
          <a:p xmlns:a="http://schemas.openxmlformats.org/drawingml/2006/main">
            <a:r>
              <a:t/>
            </a:r>
          </a:p>
          <a:p xmlns:a="http://schemas.openxmlformats.org/drawingml/2006/main">
            <a:r>
              <a:t>SOURCE</a:t>
            </a:r>
          </a:p>
          <a:p xmlns:a="http://schemas.openxmlformats.org/drawingml/2006/main">
            <a:r>
              <a:t>Research paper, Section XVII. output/steering_audit/comparison_summary.json</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PRESENTATION NOTES</a:t>
            </a:r>
          </a:p>
          <a:p xmlns:a="http://schemas.openxmlformats.org/drawingml/2006/main">
            <a:r>
              <a:t>Backup slide. The table reproduces the canonical reference layer counts. It is not the exact saved local graph, which includes an additional 1,164-unit dense layer. This distinction explains the difference between 252,219 reference parameters and 1,595,511 actual checkpoint parameters.</a:t>
            </a:r>
          </a:p>
          <a:p xmlns:a="http://schemas.openxmlformats.org/drawingml/2006/main">
            <a:r>
              <a:t/>
            </a:r>
          </a:p>
          <a:p xmlns:a="http://schemas.openxmlformats.org/drawingml/2006/main">
            <a:r>
              <a:t>SOURCE</a:t>
            </a:r>
          </a:p>
          <a:p xmlns:a="http://schemas.openxmlformats.org/drawingml/2006/main">
            <a:r>
              <a:t>Research paper, Table III and Sections IV, XVII.</a:t>
            </a:r>
          </a:p>
          <a:p xmlns:a="http://schemas.openxmlformats.org/drawingml/2006/main">
            <a:r>
              <a:t>C:/Users/Harsh/Documents/AutoDrive_Research_Paper.pdf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a982862b1740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8cced36cf5645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a3dd5aee6f41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c8772fe2a74b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e4bcd859764f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d8ad7df0ba44a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1E9BE7B-09E6-4B89-B1F6-86957FEAE8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697A25A-26F5-42F5-9749-9CDB0F777C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7A7B6F-1680-4B00-8D2D-EF938EF6FE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E25D85-A491-4311-A45F-1B6EE39E3F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A621DFD-2C86-4047-9D0F-BAC747B5E71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BD0AD3A-09D7-4D9D-8E23-A68E4E1A4B2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ED771D-0A54-4E72-A030-6E6EE511ADF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CE0204-0097-48BD-9B11-C148E0AD61A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966B07-DF7A-49F1-B952-83EA2AE67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A36D20-2302-49B0-B536-5B39A86D1D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01aaef2bac54639" /><Relationship Type="http://schemas.openxmlformats.org/officeDocument/2006/relationships/slideLayout" Target="/ppt/slideLayouts/slideLayout1.xml" Id="R08ec2f2687c04d95" /><Relationship Type="http://schemas.openxmlformats.org/officeDocument/2006/relationships/slideLayout" Target="/ppt/slideLayouts/slideLayout2.xml" Id="Rd2f400940aef4987" /><Relationship Type="http://schemas.openxmlformats.org/officeDocument/2006/relationships/slideLayout" Target="/ppt/slideLayouts/slideLayout3.xml" Id="Rd3ce1464e07d43cb" /><Relationship Type="http://schemas.openxmlformats.org/officeDocument/2006/relationships/slideLayout" Target="/ppt/slideLayouts/slideLayout4.xml" Id="Ra6ed09fd00974ffb" /><Relationship Type="http://schemas.openxmlformats.org/officeDocument/2006/relationships/slideLayout" Target="/ppt/slideLayouts/slideLayout5.xml" Id="R4bb2f21e6a00496e" /><Relationship Type="http://schemas.openxmlformats.org/officeDocument/2006/relationships/slideLayout" Target="/ppt/slideLayouts/slideLayout6.xml" Id="R936e0d60348e41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8ec2f2687c04d95"/>
    <p:sldLayoutId xmlns:r="http://schemas.openxmlformats.org/officeDocument/2006/relationships" id="2147483650" r:id="Rd2f400940aef4987"/>
    <p:sldLayoutId xmlns:r="http://schemas.openxmlformats.org/officeDocument/2006/relationships" id="2147483651" r:id="Rd3ce1464e07d43cb"/>
    <p:sldLayoutId xmlns:r="http://schemas.openxmlformats.org/officeDocument/2006/relationships" id="2147483652" r:id="Ra6ed09fd00974ffb"/>
    <p:sldLayoutId xmlns:r="http://schemas.openxmlformats.org/officeDocument/2006/relationships" id="2147483653" r:id="R4bb2f21e6a00496e"/>
    <p:sldLayoutId xmlns:r="http://schemas.openxmlformats.org/officeDocument/2006/relationships" id="2147483654" r:id="R936e0d60348e41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a180f8a8cc14d7e" /><Relationship Type="http://schemas.openxmlformats.org/officeDocument/2006/relationships/image" Target="/ppt/media/image.jpeg" Id="R645260b61c95480c" /><Relationship Type="http://schemas.openxmlformats.org/officeDocument/2006/relationships/hyperlink" Target="https://github.com/HA2345567/Autodrive" TargetMode="External" Id="R9133278d81754bbc" /><Relationship Type="http://schemas.openxmlformats.org/officeDocument/2006/relationships/notesSlide" Target="/ppt/notesSlides/notesSlide1.xml" Id="R2d6abf268ab946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cb6cdce2ba846f8" /><Relationship Type="http://schemas.openxmlformats.org/officeDocument/2006/relationships/notesSlide" Target="/ppt/notesSlides/notesSlide2.xml" Id="Rba234f62f54b49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0e88047a41d4374" /><Relationship Type="http://schemas.openxmlformats.org/officeDocument/2006/relationships/image" Target="/ppt/media/image2.jpeg" Id="R4bc4570f228547f4" /><Relationship Type="http://schemas.openxmlformats.org/officeDocument/2006/relationships/notesSlide" Target="/ppt/notesSlides/notesSlide3.xml" Id="Rdf8597e65b8541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075c37659374740" /><Relationship Type="http://schemas.openxmlformats.org/officeDocument/2006/relationships/notesSlide" Target="/ppt/notesSlides/notesSlide4.xml" Id="Rb16f47f16a374e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37f9c039d594daa" /><Relationship Type="http://schemas.openxmlformats.org/officeDocument/2006/relationships/notesSlide" Target="/ppt/notesSlides/notesSlide5.xml" Id="R12711e5a658a47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5f7c88de2f46c5" /><Relationship Type="http://schemas.openxmlformats.org/officeDocument/2006/relationships/notesSlide" Target="/ppt/notesSlides/notesSlide6.xml" Id="Rb767d375e3c54a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c12aef4edf64f27" /><Relationship Type="http://schemas.openxmlformats.org/officeDocument/2006/relationships/notesSlide" Target="/ppt/notesSlides/notesSlide7.xml" Id="R11af68d653c44a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c4446190ff4c1d" /><Relationship Type="http://schemas.openxmlformats.org/officeDocument/2006/relationships/notesSlide" Target="/ppt/notesSlides/notesSlide8.xml" Id="R3e4c4a072292482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a3d641e03f14251" /><Relationship Type="http://schemas.openxmlformats.org/officeDocument/2006/relationships/notesSlide" Target="/ppt/notesSlides/notesSlide9.xml" Id="R5239fc4a935d47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1d555a80ac342e8" /><Relationship Type="http://schemas.openxmlformats.org/officeDocument/2006/relationships/notesSlide" Target="/ppt/notesSlides/notesSlide10.xml" Id="R4b6f926f579a452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f8a8492852f4950" /><Relationship Type="http://schemas.openxmlformats.org/officeDocument/2006/relationships/notesSlide" Target="/ppt/notesSlides/notesSlide11.xml" Id="R7552252b2d1741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4586c2064e4434e" /><Relationship Type="http://schemas.openxmlformats.org/officeDocument/2006/relationships/chart" Target="/ppt/slides/charts/chart1.xml" Id="Rd4f03e7210cd4d47" /><Relationship Type="http://schemas.openxmlformats.org/officeDocument/2006/relationships/notesSlide" Target="/ppt/notesSlides/notesSlide12.xml" Id="Rf07a8d4b29374b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38e774345cb4656" /><Relationship Type="http://schemas.openxmlformats.org/officeDocument/2006/relationships/chart" Target="/ppt/slides/charts/chart2.xml" Id="R3f8ec3c670b8449f" /><Relationship Type="http://schemas.openxmlformats.org/officeDocument/2006/relationships/notesSlide" Target="/ppt/notesSlides/notesSlide13.xml" Id="Rdb1dcb0d4cf940d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14895528bd44013" /><Relationship Type="http://schemas.openxmlformats.org/officeDocument/2006/relationships/image" Target="/ppt/media/image.png" Id="R2c76b2c2573d4159" /><Relationship Type="http://schemas.openxmlformats.org/officeDocument/2006/relationships/notesSlide" Target="/ppt/notesSlides/notesSlide14.xml" Id="Rf8c97d1859e84d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d50687abd3d4e7f" /><Relationship Type="http://schemas.openxmlformats.org/officeDocument/2006/relationships/image" Target="/ppt/media/image2.png" Id="R4faf78988e884d05" /><Relationship Type="http://schemas.openxmlformats.org/officeDocument/2006/relationships/notesSlide" Target="/ppt/notesSlides/notesSlide15.xml" Id="R50ae6554019f4a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2f676ae1d714803" /><Relationship Type="http://schemas.openxmlformats.org/officeDocument/2006/relationships/chart" Target="/ppt/slides/charts/chart3.xml" Id="Rcabc1d2eab214a7c" /><Relationship Type="http://schemas.openxmlformats.org/officeDocument/2006/relationships/notesSlide" Target="/ppt/notesSlides/notesSlide16.xml" Id="Rbd311462201849f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d1f775e48c54c79" /><Relationship Type="http://schemas.openxmlformats.org/officeDocument/2006/relationships/image" Target="/ppt/media/image3.jpeg" Id="R471ddeeadb7f425c" /><Relationship Type="http://schemas.openxmlformats.org/officeDocument/2006/relationships/notesSlide" Target="/ppt/notesSlides/notesSlide17.xml" Id="R342a4b3eb9424ba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97ff2db82db4183" /><Relationship Type="http://schemas.openxmlformats.org/officeDocument/2006/relationships/image" Target="/ppt/media/image4.jpeg" Id="R5178064521974d39" /><Relationship Type="http://schemas.openxmlformats.org/officeDocument/2006/relationships/notesSlide" Target="/ppt/notesSlides/notesSlide18.xml" Id="R9fbd7a25821c4fe8" /></Relationships>
</file>

<file path=ppt/slides/_rels/slide19.xml.rels><?xml version='1.0' encoding='utf-8'?>
<Relationships xmlns="http://schemas.openxmlformats.org/package/2006/relationships"><Relationship Id="rId3" Type="http://schemas.openxmlformats.org/officeDocument/2006/relationships/slideLayout" Target="/ppt/slideLayouts/slideLayout6.xml" /><Relationship Id="rId2" Type="http://schemas.openxmlformats.org/officeDocument/2006/relationships/video" Target="../media/autodrive_smooth_steering.mp4" /><Relationship Id="rId1" Type="http://schemas.microsoft.com/office/2007/relationships/media" Target="../media/autodrive_smooth_steering.mp4" /><Relationship Id="rId5" Type="http://schemas.openxmlformats.org/officeDocument/2006/relationships/image" Target="../media/autodrive_smooth_steering_poster.png" /><Relationship Id="rId4" Type="http://schemas.openxmlformats.org/officeDocument/2006/relationships/notesSlide" Target="/ppt/notesSlides/notesSlide19.xml"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2fa7d701fce42eb" /><Relationship Type="http://schemas.openxmlformats.org/officeDocument/2006/relationships/notesSlide" Target="/ppt/notesSlides/notesSlide20.xml" Id="Rc2650f8a6b7c408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062cdd4eecb4d01" /><Relationship Type="http://schemas.openxmlformats.org/officeDocument/2006/relationships/notesSlide" Target="/ppt/notesSlides/notesSlide21.xml" Id="R5c45ef10f2c5496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ac89f42cf7049c4" /><Relationship Type="http://schemas.openxmlformats.org/officeDocument/2006/relationships/hyperlink" Target="https://github.com/HA2345567/Autodrive" TargetMode="External" Id="R479e723a214b4292" /><Relationship Type="http://schemas.openxmlformats.org/officeDocument/2006/relationships/notesSlide" Target="/ppt/notesSlides/notesSlide22.xml" Id="R8675bd91d9ce4da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68c356163844b34" /><Relationship Type="http://schemas.openxmlformats.org/officeDocument/2006/relationships/notesSlide" Target="/ppt/notesSlides/notesSlide23.xml" Id="R2b6bad786a50429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fc97889919d947c3" /><Relationship Type="http://schemas.openxmlformats.org/officeDocument/2006/relationships/notesSlide" Target="/ppt/notesSlides/notesSlide24.xml" Id="Re65896c6d8d5448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e715e9c405c42dd" /><Relationship Type="http://schemas.openxmlformats.org/officeDocument/2006/relationships/notesSlide" Target="/ppt/notesSlides/notesSlide25.xml" Id="R21d9dbf5dfc9436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9abcec0b53c4f94" /><Relationship Type="http://schemas.openxmlformats.org/officeDocument/2006/relationships/notesSlide" Target="/ppt/notesSlides/notesSlide26.xml" Id="R2b879452cc244da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2844974afa484126" /><Relationship Type="http://schemas.openxmlformats.org/officeDocument/2006/relationships/notesSlide" Target="/ppt/notesSlides/notesSlide27.xml" Id="Rca02b553e386476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2438902313f84066" /><Relationship Type="http://schemas.openxmlformats.org/officeDocument/2006/relationships/notesSlide" Target="/ppt/notesSlides/notesSlide28.xml" Id="R92f9d576f586463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a3e103738264d4f" /><Relationship Type="http://schemas.openxmlformats.org/officeDocument/2006/relationships/notesSlide" Target="/ppt/notesSlides/notesSlide29.xml" Id="R1a0c919ed3d0480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c689a6433ce04591" /><Relationship Type="http://schemas.openxmlformats.org/officeDocument/2006/relationships/notesSlide" Target="/ppt/notesSlides/notesSlide30.xml" Id="R7977ba4e89d6420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3932e617a814bd3" /><Relationship Type="http://schemas.openxmlformats.org/officeDocument/2006/relationships/notesSlide" Target="/ppt/notesSlides/notesSlide31.xml" Id="Rafc54ef0279243e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Test result</c:v>
          </c:tx>
          <c:spPr>
            <a:solidFill xmlns:a="http://schemas.openxmlformats.org/drawingml/2006/main">
              <a:srgbClr val="2878B5"/>
            </a:solidFill>
          </c:spPr>
          <c:invertIfNegative val="0"/>
          <c:dPt>
            <c:idx val="0"/>
            <c:invertIfNegative val="0"/>
            <c:spPr>
              <a:solidFill xmlns:a="http://schemas.openxmlformats.org/drawingml/2006/main">
                <a:srgbClr val="2878B5"/>
              </a:solidFill>
            </c:spPr>
          </c:dPt>
          <c:dPt>
            <c:idx val="1"/>
            <c:invertIfNegative val="0"/>
            <c:spPr>
              <a:solidFill xmlns:a="http://schemas.openxmlformats.org/drawingml/2006/main">
                <a:srgbClr val="B95827"/>
              </a:solidFill>
            </c:spPr>
          </c:dPt>
          <c:dPt>
            <c:idx val="2"/>
            <c:invertIfNegative val="0"/>
            <c:spPr>
              <a:solidFill xmlns:a="http://schemas.openxmlformats.org/drawingml/2006/main">
                <a:srgbClr val="478B68"/>
              </a:solidFill>
            </c:spPr>
          </c:dPt>
          <c:dPt>
            <c:idx val="3"/>
            <c:invertIfNegative val="0"/>
            <c:spPr>
              <a:solidFill xmlns:a="http://schemas.openxmlformats.org/drawingml/2006/main">
                <a:srgbClr val="7857A3"/>
              </a:solidFill>
            </c:spPr>
          </c:dPt>
          <c:cat>
            <c:strRef>
              <c:f>'Chart Data'!$A$2:$A$5</c:f>
              <c:strCache>
                <c:ptCount val="4"/>
                <c:pt idx="0">
                  <c:v>Precision</c:v>
                </c:pt>
                <c:pt idx="1">
                  <c:v>Recall</c:v>
                </c:pt>
                <c:pt idx="2">
                  <c:v>mAP50</c:v>
                </c:pt>
                <c:pt idx="3">
                  <c:v>mAP50–95</c:v>
                </c:pt>
              </c:strCache>
            </c:strRef>
          </c:cat>
          <c:val>
            <c:numRef>
              <c:f>'Chart Data'!$B$2:$B$5</c:f>
              <c:numCache>
                <c:formatCode>0%</c:formatCode>
                <c:ptCount val="4"/>
                <c:pt idx="0">
                  <c:v>0.712</c:v>
                </c:pt>
                <c:pt idx="1">
                  <c:v>0.614</c:v>
                </c:pt>
                <c:pt idx="2">
                  <c:v>0.672</c:v>
                </c:pt>
                <c:pt idx="3">
                  <c:v>0.471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a:solidFill>
                  <a:srgbClr val="000000"/>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9525">
              <a:solidFill>
                <a:srgbClr val="D9D9D9"/>
              </a:solidFill>
            </a:ln>
          </c:spPr>
        </c:majorGridlines>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425">
                <a:solidFill>
                  <a:srgbClr val="000000"/>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Boxes</c:v>
          </c:tx>
          <c:spPr>
            <a:solidFill xmlns:a="http://schemas.openxmlformats.org/drawingml/2006/main">
              <a:srgbClr val="2878B5"/>
            </a:solidFill>
          </c:spPr>
          <c:invertIfNegative val="0"/>
          <c:cat>
            <c:strRef>
              <c:f>'Chart Data'!$A$2:$A$3</c:f>
              <c:strCache>
                <c:ptCount val="2"/>
                <c:pt idx="0">
                  <c:v>mAP50</c:v>
                </c:pt>
                <c:pt idx="1">
                  <c:v>mAP50–95</c:v>
                </c:pt>
              </c:strCache>
            </c:strRef>
          </c:cat>
          <c:val>
            <c:numRef>
              <c:f>'Chart Data'!$B$2:$B$3</c:f>
              <c:numCache>
                <c:formatCode>0%</c:formatCode>
                <c:ptCount val="2"/>
                <c:pt idx="0">
                  <c:v>0.992</c:v>
                </c:pt>
                <c:pt idx="1">
                  <c:v>0.831</c:v>
                </c:pt>
              </c:numCache>
            </c:numRef>
          </c:val>
        </c:ser>
        <c:ser>
          <c:idx val="1"/>
          <c:order val="1"/>
          <c:tx>
            <c:v>Masks</c:v>
          </c:tx>
          <c:spPr>
            <a:solidFill xmlns:a="http://schemas.openxmlformats.org/drawingml/2006/main">
              <a:srgbClr val="B95827"/>
            </a:solidFill>
          </c:spPr>
          <c:invertIfNegative val="0"/>
          <c:cat>
            <c:strRef>
              <c:f>'Chart Data'!$C$2:$C$3</c:f>
              <c:strCache>
                <c:ptCount val="2"/>
                <c:pt idx="0">
                  <c:v>mAP50</c:v>
                </c:pt>
                <c:pt idx="1">
                  <c:v>mAP50–95</c:v>
                </c:pt>
              </c:strCache>
            </c:strRef>
          </c:cat>
          <c:val>
            <c:numRef>
              <c:f>'Chart Data'!$D$2:$D$3</c:f>
              <c:numCache>
                <c:formatCode>0%</c:formatCode>
                <c:ptCount val="2"/>
                <c:pt idx="0">
                  <c:v>0.89</c:v>
                </c:pt>
                <c:pt idx="1">
                  <c:v>0.389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b="1">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a:solidFill>
                  <a:srgbClr val="000000"/>
                </a:solidFill>
                <a:latin typeface="Calibri"/>
                <a:ea typeface="Calibri"/>
                <a:cs typeface="Calibri"/>
              </a:defRPr>
            </a:pPr>
          </a:p>
        </c:txPr>
        <c:crossAx val="48672768"/>
      </c:catAx>
      <c:valAx>
        <c:axId val="48672768"/>
        <c:scaling>
          <c:orientation val="minMax"/>
          <c:max val="1"/>
          <c:min val="0"/>
        </c:scaling>
        <c:delete val="0"/>
        <c:axPos val="l"/>
        <c:majorGridlines>
          <c:spPr>
            <a:ln xmlns:a="http://schemas.openxmlformats.org/drawingml/2006/main" w="9525">
              <a:solidFill>
                <a:srgbClr val="D9D9D9"/>
              </a:solidFill>
            </a:ln>
          </c:spPr>
        </c:majorGridlines>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425">
                <a:solidFill>
                  <a:srgbClr val="000000"/>
                </a:solidFill>
                <a:latin typeface="Calibri"/>
                <a:ea typeface="Calibri"/>
                <a:cs typeface="Calibri"/>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MAE in degrees</c:v>
          </c:tx>
          <c:spPr>
            <a:solidFill xmlns:a="http://schemas.openxmlformats.org/drawingml/2006/main">
              <a:srgbClr val="2878B5"/>
            </a:solidFill>
          </c:spPr>
          <c:invertIfNegative val="0"/>
          <c:dPt>
            <c:idx val="0"/>
            <c:invertIfNegative val="0"/>
            <c:spPr>
              <a:solidFill xmlns:a="http://schemas.openxmlformats.org/drawingml/2006/main">
                <a:srgbClr val="B95827"/>
              </a:solidFill>
            </c:spPr>
          </c:dPt>
          <c:dPt>
            <c:idx val="1"/>
            <c:invertIfNegative val="0"/>
            <c:spPr>
              <a:solidFill xmlns:a="http://schemas.openxmlformats.org/drawingml/2006/main">
                <a:srgbClr val="2878B5"/>
              </a:solidFill>
            </c:spPr>
          </c:dPt>
          <c:dPt>
            <c:idx val="2"/>
            <c:invertIfNegative val="0"/>
            <c:spPr>
              <a:solidFill xmlns:a="http://schemas.openxmlformats.org/drawingml/2006/main">
                <a:srgbClr val="478B68"/>
              </a:solidFill>
            </c:spPr>
          </c:dPt>
          <c:dPt>
            <c:idx val="3"/>
            <c:invertIfNegative val="0"/>
            <c:spPr>
              <a:solidFill xmlns:a="http://schemas.openxmlformats.org/drawingml/2006/main">
                <a:srgbClr val="555555"/>
              </a:solidFill>
            </c:spPr>
          </c:dPt>
          <c:cat>
            <c:strRef>
              <c:f>'Chart Data'!$A$2:$A$5</c:f>
              <c:strCache>
                <c:ptCount val="4"/>
                <c:pt idx="0">
                  <c:v>Original RGB</c:v>
                </c:pt>
                <c:pt idx="1">
                  <c:v>CNN + Huber</c:v>
                </c:pt>
                <c:pt idx="2">
                  <c:v>Train mean</c:v>
                </c:pt>
                <c:pt idx="3">
                  <c:v>Train median</c:v>
                </c:pt>
              </c:strCache>
            </c:strRef>
          </c:cat>
          <c:val>
            <c:numRef>
              <c:f>'Chart Data'!$B$2:$B$5</c:f>
              <c:numCache>
                <c:formatCode>0</c:formatCode>
                <c:ptCount val="4"/>
                <c:pt idx="0">
                  <c:v>23.257</c:v>
                </c:pt>
                <c:pt idx="1">
                  <c:v>14.6822</c:v>
                </c:pt>
                <c:pt idx="2">
                  <c:v>12.4793</c:v>
                </c:pt>
                <c:pt idx="3">
                  <c:v>12.69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000000"/>
                  </a:solidFill>
                  <a:latin typeface="Calibri"/>
                  <a:ea typeface="Calibri"/>
                  <a:cs typeface="Calibri"/>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575">
                <a:solidFill>
                  <a:srgbClr val="000000"/>
                </a:solidFill>
                <a:latin typeface="Calibri"/>
                <a:ea typeface="Calibri"/>
                <a:cs typeface="Calibri"/>
              </a:defRPr>
            </a:pPr>
          </a:p>
        </c:txPr>
        <c:crossAx val="48672768"/>
      </c:catAx>
      <c:valAx>
        <c:axId val="48672768"/>
        <c:scaling>
          <c:orientation val="minMax"/>
          <c:max val="30"/>
          <c:min val="0"/>
        </c:scaling>
        <c:delete val="0"/>
        <c:axPos val="l"/>
        <c:majorGridlines>
          <c:spPr>
            <a:ln xmlns:a="http://schemas.openxmlformats.org/drawingml/2006/main" w="9525">
              <a:solidFill>
                <a:srgbClr val="D9D9D9"/>
              </a:solidFill>
            </a:ln>
          </c:spPr>
        </c:majorGridlines>
        <c:title>
          <c:tx>
            <c:rich>
              <a:bodyPr xmlns:a="http://schemas.openxmlformats.org/drawingml/2006/main"/>
              <a:lstStyle xmlns:a="http://schemas.openxmlformats.org/drawingml/2006/main"/>
              <a:p xmlns:a="http://schemas.openxmlformats.org/drawingml/2006/main">
                <a:r>
                  <a:rPr sz="1500">
                    <a:solidFill>
                      <a:srgbClr val="000000"/>
                    </a:solidFill>
                    <a:latin typeface="Calibri"/>
                    <a:ea typeface="Calibri"/>
                    <a:cs typeface="Calibri"/>
                  </a:rPr>
                  <a:t>MAE (degrees)</a:t>
                </a:r>
              </a:p>
            </c:rich>
          </c:tx>
          <c:overlay val="0"/>
          <c:txPr>
            <a:bodyPr xmlns:a="http://schemas.openxmlformats.org/drawingml/2006/main" anchorCtr="1"/>
            <a:lstStyle xmlns:a="http://schemas.openxmlformats.org/drawingml/2006/main"/>
            <a:p xmlns:a="http://schemas.openxmlformats.org/drawingml/2006/main">
              <a:pPr>
                <a:defRPr sz="1500">
                  <a:solidFill>
                    <a:srgbClr val="000000"/>
                  </a:solidFill>
                  <a:latin typeface="Calibri"/>
                  <a:ea typeface="Calibri"/>
                  <a:cs typeface="Calibri"/>
                </a:defRPr>
              </a:pPr>
            </a:p>
          </c:txPr>
        </c:title>
        <c:numFmt formatCode="0"/>
        <c:majorTickMark val="none"/>
        <c:minorTickMark val="none"/>
        <c:spPr>
          <a:ln xmlns:a="http://schemas.openxmlformats.org/drawingml/2006/main" w="9525">
            <a:solidFill>
              <a:srgbClr val="555555"/>
            </a:solidFill>
          </a:ln>
        </c:spPr>
        <c:txPr>
          <a:bodyPr xmlns:a="http://schemas.openxmlformats.org/drawingml/2006/main" anchorCtr="1"/>
          <a:lstStyle xmlns:a="http://schemas.openxmlformats.org/drawingml/2006/main"/>
          <a:p xmlns:a="http://schemas.openxmlformats.org/drawingml/2006/main">
            <a:pPr>
              <a:defRPr sz="1425">
                <a:solidFill>
                  <a:srgbClr val="000000"/>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36D0B9D-9AEA-457F-BFB6-F89FD0093CDE}"/>
              </a:ext>
            </a:extLst>
          </p:cNvPr>
          <p:cNvPicPr>
            <a:picLocks xmlns:a="http://schemas.openxmlformats.org/drawingml/2006/main" noChangeAspect="1"/>
          </p:cNvPicPr>
          <p:nvPr/>
        </p:nvPicPr>
        <p:blipFill>
          <a:blip xmlns:r="http://schemas.openxmlformats.org/officeDocument/2006/relationships" xmlns:a="http://schemas.openxmlformats.org/drawingml/2006/main" r:embed="R645260b61c95480c"/>
          <a:srcRect xmlns:a="http://schemas.openxmlformats.org/drawingml/2006/main" l="87" t="0" r="87"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object-1">
            <a:extLst xmlns:a="http://schemas.openxmlformats.org/drawingml/2006/main">
              <a:ext uri="{FF2B5EF4-FFF2-40B4-BE49-F238E27FC236}">
                <a16:creationId xmlns:a16="http://schemas.microsoft.com/office/drawing/2014/main" id="{3EC20D62-49D8-4D51-9273-FA407B2EFA66}"/>
              </a:ext>
            </a:extLst>
          </p:cNvPr>
          <p:cNvSpPr>
            <a:spLocks xmlns:a="http://schemas.openxmlformats.org/drawingml/2006/main" noGrp="1"/>
          </p:cNvSpPr>
          <p:nvPr/>
        </p:nvSpPr>
        <p:spPr>
          <a:xfrm xmlns:a="http://schemas.openxmlformats.org/drawingml/2006/main">
            <a:off x="0" y="0"/>
            <a:ext cx="12192000" cy="2381250"/>
          </a:xfrm>
          <a:prstGeom xmlns:a="http://schemas.openxmlformats.org/drawingml/2006/main" prst="rect">
            <a:avLst/>
          </a:prstGeom>
          <a:solidFill xmlns:a="http://schemas.openxmlformats.org/drawingml/2006/main">
            <a:srgbClr val="000000">
              <a:alpha val="65000"/>
            </a:srgbClr>
          </a:solidFill>
          <a:ln xmlns:a="http://schemas.openxmlformats.org/drawingml/2006/main" w="0">
            <a:noFill/>
            <a:prstDash val="solid"/>
          </a:ln>
        </p:spPr>
      </p:sp>
      <p:sp>
        <p:nvSpPr>
          <p:cNvPr id="3" name="object-2">
            <a:extLst xmlns:a="http://schemas.openxmlformats.org/drawingml/2006/main">
              <a:ext uri="{FF2B5EF4-FFF2-40B4-BE49-F238E27FC236}">
                <a16:creationId xmlns:a16="http://schemas.microsoft.com/office/drawing/2014/main" id="{B5220061-6544-4BC0-A2B1-ED91E13EF6AD}"/>
              </a:ext>
            </a:extLst>
          </p:cNvPr>
          <p:cNvSpPr>
            <a:spLocks xmlns:a="http://schemas.openxmlformats.org/drawingml/2006/main" noGrp="1"/>
          </p:cNvSpPr>
          <p:nvPr/>
        </p:nvSpPr>
        <p:spPr>
          <a:xfrm xmlns:a="http://schemas.openxmlformats.org/drawingml/2006/main">
            <a:off x="609600" y="4286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5100" b="0">
                <a:solidFill>
                  <a:srgbClr val="FFFFFF"/>
                </a:solidFill>
                <a:latin typeface="Calibri Light"/>
                <a:ea typeface="Calibri Light"/>
                <a:cs typeface="Calibri Light"/>
              </a:defRPr>
            </a:defPPr>
            <a:lvl1pPr algn="l">
              <a:defRPr sz="5100" b="0">
                <a:solidFill>
                  <a:srgbClr val="FFFFFF"/>
                </a:solidFill>
                <a:latin typeface="Calibri Light"/>
                <a:ea typeface="Calibri Light"/>
                <a:cs typeface="Calibri Light"/>
              </a:defRPr>
            </a:lvl1pPr>
            <a:lvl2pPr algn="l">
              <a:defRPr sz="5100" b="0">
                <a:solidFill>
                  <a:srgbClr val="FFFFFF"/>
                </a:solidFill>
                <a:latin typeface="Calibri Light"/>
                <a:ea typeface="Calibri Light"/>
                <a:cs typeface="Calibri Light"/>
              </a:defRPr>
            </a:lvl2pPr>
            <a:lvl3pPr algn="l">
              <a:defRPr sz="5100" b="0">
                <a:solidFill>
                  <a:srgbClr val="FFFFFF"/>
                </a:solidFill>
                <a:latin typeface="Calibri Light"/>
                <a:ea typeface="Calibri Light"/>
                <a:cs typeface="Calibri Light"/>
              </a:defRPr>
            </a:lvl3pPr>
            <a:lvl4pPr algn="l">
              <a:defRPr sz="5100" b="0">
                <a:solidFill>
                  <a:srgbClr val="FFFFFF"/>
                </a:solidFill>
                <a:latin typeface="Calibri Light"/>
                <a:ea typeface="Calibri Light"/>
                <a:cs typeface="Calibri Light"/>
              </a:defRPr>
            </a:lvl4pPr>
            <a:lvl5pPr algn="l">
              <a:defRPr sz="5100" b="0">
                <a:solidFill>
                  <a:srgbClr val="FFFFFF"/>
                </a:solidFill>
                <a:latin typeface="Calibri Light"/>
                <a:ea typeface="Calibri Light"/>
                <a:cs typeface="Calibri Light"/>
              </a:defRPr>
            </a:lvl5pPr>
            <a:lvl6pPr algn="l">
              <a:defRPr sz="5100" b="0">
                <a:solidFill>
                  <a:srgbClr val="FFFFFF"/>
                </a:solidFill>
                <a:latin typeface="Calibri Light"/>
                <a:ea typeface="Calibri Light"/>
                <a:cs typeface="Calibri Light"/>
              </a:defRPr>
            </a:lvl6pPr>
            <a:lvl7pPr algn="l">
              <a:defRPr sz="5100" b="0">
                <a:solidFill>
                  <a:srgbClr val="FFFFFF"/>
                </a:solidFill>
                <a:latin typeface="Calibri Light"/>
                <a:ea typeface="Calibri Light"/>
                <a:cs typeface="Calibri Light"/>
              </a:defRPr>
            </a:lvl7pPr>
            <a:lvl8pPr algn="l">
              <a:defRPr sz="5100" b="0">
                <a:solidFill>
                  <a:srgbClr val="FFFFFF"/>
                </a:solidFill>
                <a:latin typeface="Calibri Light"/>
                <a:ea typeface="Calibri Light"/>
                <a:cs typeface="Calibri Light"/>
              </a:defRPr>
            </a:lvl8pPr>
            <a:lvl9pPr algn="l">
              <a:defRPr sz="5100" b="0">
                <a:solidFill>
                  <a:srgbClr val="FFFFFF"/>
                </a:solidFill>
                <a:latin typeface="Calibri Light"/>
                <a:ea typeface="Calibri Light"/>
                <a:cs typeface="Calibri Light"/>
              </a:defRPr>
            </a:lvl9pPr>
          </a:lstStyle>
          <a:p xmlns:a="http://schemas.openxmlformats.org/drawingml/2006/main">
            <a:pPr algn="l">
              <a:defRPr sz="5100" b="0">
                <a:solidFill>
                  <a:srgbClr val="FFFFFF"/>
                </a:solidFill>
                <a:latin typeface="Calibri Light"/>
                <a:ea typeface="Calibri Light"/>
                <a:cs typeface="Calibri Light"/>
              </a:defRPr>
            </a:pPr>
            <a:r>
              <a:rPr sz="5100" b="0">
                <a:solidFill>
                  <a:srgbClr val="FFFFFF"/>
                </a:solidFill>
                <a:latin typeface="Calibri Light"/>
                <a:ea typeface="Calibri Light"/>
                <a:cs typeface="Calibri Light"/>
              </a:rPr>
              <a:t>AutoDrive</a:t>
            </a:r>
          </a:p>
        </p:txBody>
      </p:sp>
      <p:sp>
        <p:nvSpPr>
          <p:cNvPr id="4" name="object-3">
            <a:extLst xmlns:a="http://schemas.openxmlformats.org/drawingml/2006/main">
              <a:ext uri="{FF2B5EF4-FFF2-40B4-BE49-F238E27FC236}">
                <a16:creationId xmlns:a16="http://schemas.microsoft.com/office/drawing/2014/main" id="{37EB48E5-60CE-474D-9265-F9FAAF46F391}"/>
              </a:ext>
            </a:extLst>
          </p:cNvPr>
          <p:cNvSpPr>
            <a:spLocks xmlns:a="http://schemas.openxmlformats.org/drawingml/2006/main" noGrp="1"/>
          </p:cNvSpPr>
          <p:nvPr/>
        </p:nvSpPr>
        <p:spPr>
          <a:xfrm xmlns:a="http://schemas.openxmlformats.org/drawingml/2006/main">
            <a:off x="609600" y="1314450"/>
            <a:ext cx="10953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150" b="0">
                <a:solidFill>
                  <a:srgbClr val="FFFFFF"/>
                </a:solidFill>
                <a:latin typeface="Calibri Light"/>
                <a:ea typeface="Calibri Light"/>
                <a:cs typeface="Calibri Light"/>
              </a:defRPr>
            </a:defPPr>
            <a:lvl1pPr algn="l">
              <a:defRPr sz="3150" b="0">
                <a:solidFill>
                  <a:srgbClr val="FFFFFF"/>
                </a:solidFill>
                <a:latin typeface="Calibri Light"/>
                <a:ea typeface="Calibri Light"/>
                <a:cs typeface="Calibri Light"/>
              </a:defRPr>
            </a:lvl1pPr>
            <a:lvl2pPr algn="l">
              <a:defRPr sz="3150" b="0">
                <a:solidFill>
                  <a:srgbClr val="FFFFFF"/>
                </a:solidFill>
                <a:latin typeface="Calibri Light"/>
                <a:ea typeface="Calibri Light"/>
                <a:cs typeface="Calibri Light"/>
              </a:defRPr>
            </a:lvl2pPr>
            <a:lvl3pPr algn="l">
              <a:defRPr sz="3150" b="0">
                <a:solidFill>
                  <a:srgbClr val="FFFFFF"/>
                </a:solidFill>
                <a:latin typeface="Calibri Light"/>
                <a:ea typeface="Calibri Light"/>
                <a:cs typeface="Calibri Light"/>
              </a:defRPr>
            </a:lvl3pPr>
            <a:lvl4pPr algn="l">
              <a:defRPr sz="3150" b="0">
                <a:solidFill>
                  <a:srgbClr val="FFFFFF"/>
                </a:solidFill>
                <a:latin typeface="Calibri Light"/>
                <a:ea typeface="Calibri Light"/>
                <a:cs typeface="Calibri Light"/>
              </a:defRPr>
            </a:lvl4pPr>
            <a:lvl5pPr algn="l">
              <a:defRPr sz="3150" b="0">
                <a:solidFill>
                  <a:srgbClr val="FFFFFF"/>
                </a:solidFill>
                <a:latin typeface="Calibri Light"/>
                <a:ea typeface="Calibri Light"/>
                <a:cs typeface="Calibri Light"/>
              </a:defRPr>
            </a:lvl5pPr>
            <a:lvl6pPr algn="l">
              <a:defRPr sz="3150" b="0">
                <a:solidFill>
                  <a:srgbClr val="FFFFFF"/>
                </a:solidFill>
                <a:latin typeface="Calibri Light"/>
                <a:ea typeface="Calibri Light"/>
                <a:cs typeface="Calibri Light"/>
              </a:defRPr>
            </a:lvl6pPr>
            <a:lvl7pPr algn="l">
              <a:defRPr sz="3150" b="0">
                <a:solidFill>
                  <a:srgbClr val="FFFFFF"/>
                </a:solidFill>
                <a:latin typeface="Calibri Light"/>
                <a:ea typeface="Calibri Light"/>
                <a:cs typeface="Calibri Light"/>
              </a:defRPr>
            </a:lvl7pPr>
            <a:lvl8pPr algn="l">
              <a:defRPr sz="3150" b="0">
                <a:solidFill>
                  <a:srgbClr val="FFFFFF"/>
                </a:solidFill>
                <a:latin typeface="Calibri Light"/>
                <a:ea typeface="Calibri Light"/>
                <a:cs typeface="Calibri Light"/>
              </a:defRPr>
            </a:lvl8pPr>
            <a:lvl9pPr algn="l">
              <a:defRPr sz="3150" b="0">
                <a:solidFill>
                  <a:srgbClr val="FFFFFF"/>
                </a:solidFill>
                <a:latin typeface="Calibri Light"/>
                <a:ea typeface="Calibri Light"/>
                <a:cs typeface="Calibri Light"/>
              </a:defRPr>
            </a:lvl9pPr>
          </a:lstStyle>
          <a:p xmlns:a="http://schemas.openxmlformats.org/drawingml/2006/main">
            <a:pPr algn="l">
              <a:defRPr sz="3150" b="0">
                <a:solidFill>
                  <a:srgbClr val="FFFFFF"/>
                </a:solidFill>
                <a:latin typeface="Calibri Light"/>
                <a:ea typeface="Calibri Light"/>
                <a:cs typeface="Calibri Light"/>
              </a:defRPr>
            </a:pPr>
            <a:r>
              <a:rPr sz="3150" b="0">
                <a:solidFill>
                  <a:srgbClr val="FFFFFF"/>
                </a:solidFill>
                <a:latin typeface="Calibri Light"/>
                <a:ea typeface="Calibri Light"/>
                <a:cs typeface="Calibri Light"/>
              </a:rPr>
              <a:t>Autonomous Driving Research Prototype</a:t>
            </a:r>
          </a:p>
        </p:txBody>
      </p:sp>
      <p:sp>
        <p:nvSpPr>
          <p:cNvPr id="5" name="object-4">
            <a:extLst xmlns:a="http://schemas.openxmlformats.org/drawingml/2006/main">
              <a:ext uri="{FF2B5EF4-FFF2-40B4-BE49-F238E27FC236}">
                <a16:creationId xmlns:a16="http://schemas.microsoft.com/office/drawing/2014/main" id="{D1781314-D312-4F6A-83D3-10E651EB921F}"/>
              </a:ext>
            </a:extLst>
          </p:cNvPr>
          <p:cNvSpPr>
            <a:spLocks xmlns:a="http://schemas.openxmlformats.org/drawingml/2006/main" noGrp="1"/>
          </p:cNvSpPr>
          <p:nvPr/>
        </p:nvSpPr>
        <p:spPr>
          <a:xfrm xmlns:a="http://schemas.openxmlformats.org/drawingml/2006/main">
            <a:off x="628650" y="204787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FFFFF"/>
                </a:solidFill>
                <a:latin typeface="Calibri"/>
                <a:ea typeface="Calibri"/>
                <a:cs typeface="Calibri"/>
              </a:defRPr>
            </a:defPPr>
            <a:lvl1pPr algn="l">
              <a:defRPr sz="2025" b="0">
                <a:solidFill>
                  <a:srgbClr val="FFFFFF"/>
                </a:solidFill>
                <a:latin typeface="Calibri"/>
                <a:ea typeface="Calibri"/>
                <a:cs typeface="Calibri"/>
              </a:defRPr>
            </a:lvl1pPr>
            <a:lvl2pPr algn="l">
              <a:defRPr sz="2025" b="0">
                <a:solidFill>
                  <a:srgbClr val="FFFFFF"/>
                </a:solidFill>
                <a:latin typeface="Calibri"/>
                <a:ea typeface="Calibri"/>
                <a:cs typeface="Calibri"/>
              </a:defRPr>
            </a:lvl2pPr>
            <a:lvl3pPr algn="l">
              <a:defRPr sz="2025" b="0">
                <a:solidFill>
                  <a:srgbClr val="FFFFFF"/>
                </a:solidFill>
                <a:latin typeface="Calibri"/>
                <a:ea typeface="Calibri"/>
                <a:cs typeface="Calibri"/>
              </a:defRPr>
            </a:lvl3pPr>
            <a:lvl4pPr algn="l">
              <a:defRPr sz="2025" b="0">
                <a:solidFill>
                  <a:srgbClr val="FFFFFF"/>
                </a:solidFill>
                <a:latin typeface="Calibri"/>
                <a:ea typeface="Calibri"/>
                <a:cs typeface="Calibri"/>
              </a:defRPr>
            </a:lvl4pPr>
            <a:lvl5pPr algn="l">
              <a:defRPr sz="2025" b="0">
                <a:solidFill>
                  <a:srgbClr val="FFFFFF"/>
                </a:solidFill>
                <a:latin typeface="Calibri"/>
                <a:ea typeface="Calibri"/>
                <a:cs typeface="Calibri"/>
              </a:defRPr>
            </a:lvl5pPr>
            <a:lvl6pPr algn="l">
              <a:defRPr sz="2025" b="0">
                <a:solidFill>
                  <a:srgbClr val="FFFFFF"/>
                </a:solidFill>
                <a:latin typeface="Calibri"/>
                <a:ea typeface="Calibri"/>
                <a:cs typeface="Calibri"/>
              </a:defRPr>
            </a:lvl6pPr>
            <a:lvl7pPr algn="l">
              <a:defRPr sz="2025" b="0">
                <a:solidFill>
                  <a:srgbClr val="FFFFFF"/>
                </a:solidFill>
                <a:latin typeface="Calibri"/>
                <a:ea typeface="Calibri"/>
                <a:cs typeface="Calibri"/>
              </a:defRPr>
            </a:lvl7pPr>
            <a:lvl8pPr algn="l">
              <a:defRPr sz="2025" b="0">
                <a:solidFill>
                  <a:srgbClr val="FFFFFF"/>
                </a:solidFill>
                <a:latin typeface="Calibri"/>
                <a:ea typeface="Calibri"/>
                <a:cs typeface="Calibri"/>
              </a:defRPr>
            </a:lvl8pPr>
            <a:lvl9pPr algn="l">
              <a:defRPr sz="2025" b="0">
                <a:solidFill>
                  <a:srgbClr val="FFFFFF"/>
                </a:solidFill>
                <a:latin typeface="Calibri"/>
                <a:ea typeface="Calibri"/>
                <a:cs typeface="Calibri"/>
              </a:defRPr>
            </a:lvl9pPr>
          </a:lstStyle>
          <a:p xmlns:a="http://schemas.openxmlformats.org/drawingml/2006/main">
            <a:pPr algn="l">
              <a:defRPr sz="2025" b="0">
                <a:solidFill>
                  <a:srgbClr val="FFFFFF"/>
                </a:solidFill>
                <a:latin typeface="Calibri"/>
                <a:ea typeface="Calibri"/>
                <a:cs typeface="Calibri"/>
              </a:defRPr>
            </a:pPr>
            <a:r>
              <a:rPr sz="2025" b="0">
                <a:solidFill>
                  <a:srgbClr val="FFFFFF"/>
                </a:solidFill>
                <a:latin typeface="Calibri"/>
                <a:ea typeface="Calibri"/>
                <a:cs typeface="Calibri"/>
              </a:rPr>
              <a:t>Computer vision, lane segmentation and steering prediction</a:t>
            </a:r>
          </a:p>
        </p:txBody>
      </p:sp>
      <p:sp>
        <p:nvSpPr>
          <p:cNvPr id="6" name="object-5">
            <a:extLst xmlns:a="http://schemas.openxmlformats.org/drawingml/2006/main">
              <a:ext uri="{FF2B5EF4-FFF2-40B4-BE49-F238E27FC236}">
                <a16:creationId xmlns:a16="http://schemas.microsoft.com/office/drawing/2014/main" id="{9FB177ED-9415-4D4C-9AF3-5DD4F5120E3A}"/>
              </a:ext>
            </a:extLst>
          </p:cNvPr>
          <p:cNvSpPr>
            <a:spLocks xmlns:a="http://schemas.openxmlformats.org/drawingml/2006/main" noGrp="1"/>
          </p:cNvSpPr>
          <p:nvPr/>
        </p:nvSpPr>
        <p:spPr>
          <a:xfrm xmlns:a="http://schemas.openxmlformats.org/drawingml/2006/main">
            <a:off x="0" y="6067425"/>
            <a:ext cx="12192000" cy="7905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7" name="object-6">
            <a:extLst xmlns:a="http://schemas.openxmlformats.org/drawingml/2006/main">
              <a:ext uri="{FF2B5EF4-FFF2-40B4-BE49-F238E27FC236}">
                <a16:creationId xmlns:a16="http://schemas.microsoft.com/office/drawing/2014/main" id="{4339CCD8-0214-45A1-91FD-0A819BA73D1C}"/>
              </a:ext>
            </a:extLst>
          </p:cNvPr>
          <p:cNvSpPr>
            <a:spLocks xmlns:a="http://schemas.openxmlformats.org/drawingml/2006/main" noGrp="1"/>
          </p:cNvSpPr>
          <p:nvPr/>
        </p:nvSpPr>
        <p:spPr>
          <a:xfrm xmlns:a="http://schemas.openxmlformats.org/drawingml/2006/main">
            <a:off x="609600" y="621982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Calibri"/>
                <a:ea typeface="Calibri"/>
                <a:cs typeface="Calibri"/>
              </a:defRPr>
            </a:defPPr>
            <a:lvl1pPr algn="l">
              <a:defRPr sz="2100" b="0">
                <a:solidFill>
                  <a:srgbClr val="FFFFFF"/>
                </a:solidFill>
                <a:latin typeface="Calibri"/>
                <a:ea typeface="Calibri"/>
                <a:cs typeface="Calibri"/>
              </a:defRPr>
            </a:lvl1pPr>
            <a:lvl2pPr algn="l">
              <a:defRPr sz="2100" b="0">
                <a:solidFill>
                  <a:srgbClr val="FFFFFF"/>
                </a:solidFill>
                <a:latin typeface="Calibri"/>
                <a:ea typeface="Calibri"/>
                <a:cs typeface="Calibri"/>
              </a:defRPr>
            </a:lvl2pPr>
            <a:lvl3pPr algn="l">
              <a:defRPr sz="2100" b="0">
                <a:solidFill>
                  <a:srgbClr val="FFFFFF"/>
                </a:solidFill>
                <a:latin typeface="Calibri"/>
                <a:ea typeface="Calibri"/>
                <a:cs typeface="Calibri"/>
              </a:defRPr>
            </a:lvl3pPr>
            <a:lvl4pPr algn="l">
              <a:defRPr sz="2100" b="0">
                <a:solidFill>
                  <a:srgbClr val="FFFFFF"/>
                </a:solidFill>
                <a:latin typeface="Calibri"/>
                <a:ea typeface="Calibri"/>
                <a:cs typeface="Calibri"/>
              </a:defRPr>
            </a:lvl4pPr>
            <a:lvl5pPr algn="l">
              <a:defRPr sz="2100" b="0">
                <a:solidFill>
                  <a:srgbClr val="FFFFFF"/>
                </a:solidFill>
                <a:latin typeface="Calibri"/>
                <a:ea typeface="Calibri"/>
                <a:cs typeface="Calibri"/>
              </a:defRPr>
            </a:lvl5pPr>
            <a:lvl6pPr algn="l">
              <a:defRPr sz="2100" b="0">
                <a:solidFill>
                  <a:srgbClr val="FFFFFF"/>
                </a:solidFill>
                <a:latin typeface="Calibri"/>
                <a:ea typeface="Calibri"/>
                <a:cs typeface="Calibri"/>
              </a:defRPr>
            </a:lvl6pPr>
            <a:lvl7pPr algn="l">
              <a:defRPr sz="2100" b="0">
                <a:solidFill>
                  <a:srgbClr val="FFFFFF"/>
                </a:solidFill>
                <a:latin typeface="Calibri"/>
                <a:ea typeface="Calibri"/>
                <a:cs typeface="Calibri"/>
              </a:defRPr>
            </a:lvl7pPr>
            <a:lvl8pPr algn="l">
              <a:defRPr sz="2100" b="0">
                <a:solidFill>
                  <a:srgbClr val="FFFFFF"/>
                </a:solidFill>
                <a:latin typeface="Calibri"/>
                <a:ea typeface="Calibri"/>
                <a:cs typeface="Calibri"/>
              </a:defRPr>
            </a:lvl8pPr>
            <a:lvl9pPr algn="l">
              <a:defRPr sz="2100" b="0">
                <a:solidFill>
                  <a:srgbClr val="FFFFFF"/>
                </a:solidFill>
                <a:latin typeface="Calibri"/>
                <a:ea typeface="Calibri"/>
                <a:cs typeface="Calibri"/>
              </a:defRPr>
            </a:lvl9pPr>
          </a:lstStyle>
          <a:p xmlns:a="http://schemas.openxmlformats.org/drawingml/2006/main">
            <a:pPr algn="l">
              <a:defRPr sz="2100" b="0">
                <a:solidFill>
                  <a:srgbClr val="FFFFFF"/>
                </a:solidFill>
                <a:latin typeface="Calibri"/>
                <a:ea typeface="Calibri"/>
                <a:cs typeface="Calibri"/>
              </a:defRPr>
            </a:pPr>
            <a:r>
              <a:rPr sz="2100" b="0">
                <a:solidFill>
                  <a:srgbClr val="FFFFFF"/>
                </a:solidFill>
                <a:latin typeface="Calibri"/>
                <a:ea typeface="Calibri"/>
                <a:cs typeface="Calibri"/>
              </a:rPr>
              <a:t>AutoDrive Research Team</a:t>
            </a:r>
          </a:p>
        </p:txBody>
      </p:sp>
      <p:sp>
        <p:nvSpPr>
          <p:cNvPr id="8" name="object-7">
            <a:extLst xmlns:a="http://schemas.openxmlformats.org/drawingml/2006/main">
              <a:ext uri="{FF2B5EF4-FFF2-40B4-BE49-F238E27FC236}">
                <a16:creationId xmlns:a16="http://schemas.microsoft.com/office/drawing/2014/main" id="{AF20FFAF-8D78-4D4B-8332-8152C9C023FB}"/>
              </a:ext>
            </a:extLst>
          </p:cNvPr>
          <p:cNvSpPr>
            <a:spLocks xmlns:a="http://schemas.openxmlformats.org/drawingml/2006/main" noGrp="1"/>
          </p:cNvSpPr>
          <p:nvPr/>
        </p:nvSpPr>
        <p:spPr>
          <a:xfrm xmlns:a="http://schemas.openxmlformats.org/drawingml/2006/main">
            <a:off x="6267450" y="6238875"/>
            <a:ext cx="53149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950" b="0">
                <a:solidFill>
                  <a:srgbClr val="FFFFFF"/>
                </a:solidFill>
                <a:latin typeface="Calibri"/>
                <a:ea typeface="Calibri"/>
                <a:cs typeface="Calibri"/>
              </a:defRPr>
            </a:defPPr>
            <a:lvl1pPr algn="r">
              <a:defRPr sz="1950" b="0">
                <a:solidFill>
                  <a:srgbClr val="FFFFFF"/>
                </a:solidFill>
                <a:latin typeface="Calibri"/>
                <a:ea typeface="Calibri"/>
                <a:cs typeface="Calibri"/>
              </a:defRPr>
            </a:lvl1pPr>
            <a:lvl2pPr algn="r">
              <a:defRPr sz="1950" b="0">
                <a:solidFill>
                  <a:srgbClr val="FFFFFF"/>
                </a:solidFill>
                <a:latin typeface="Calibri"/>
                <a:ea typeface="Calibri"/>
                <a:cs typeface="Calibri"/>
              </a:defRPr>
            </a:lvl2pPr>
            <a:lvl3pPr algn="r">
              <a:defRPr sz="1950" b="0">
                <a:solidFill>
                  <a:srgbClr val="FFFFFF"/>
                </a:solidFill>
                <a:latin typeface="Calibri"/>
                <a:ea typeface="Calibri"/>
                <a:cs typeface="Calibri"/>
              </a:defRPr>
            </a:lvl3pPr>
            <a:lvl4pPr algn="r">
              <a:defRPr sz="1950" b="0">
                <a:solidFill>
                  <a:srgbClr val="FFFFFF"/>
                </a:solidFill>
                <a:latin typeface="Calibri"/>
                <a:ea typeface="Calibri"/>
                <a:cs typeface="Calibri"/>
              </a:defRPr>
            </a:lvl4pPr>
            <a:lvl5pPr algn="r">
              <a:defRPr sz="1950" b="0">
                <a:solidFill>
                  <a:srgbClr val="FFFFFF"/>
                </a:solidFill>
                <a:latin typeface="Calibri"/>
                <a:ea typeface="Calibri"/>
                <a:cs typeface="Calibri"/>
              </a:defRPr>
            </a:lvl5pPr>
            <a:lvl6pPr algn="r">
              <a:defRPr sz="1950" b="0">
                <a:solidFill>
                  <a:srgbClr val="FFFFFF"/>
                </a:solidFill>
                <a:latin typeface="Calibri"/>
                <a:ea typeface="Calibri"/>
                <a:cs typeface="Calibri"/>
              </a:defRPr>
            </a:lvl6pPr>
            <a:lvl7pPr algn="r">
              <a:defRPr sz="1950" b="0">
                <a:solidFill>
                  <a:srgbClr val="FFFFFF"/>
                </a:solidFill>
                <a:latin typeface="Calibri"/>
                <a:ea typeface="Calibri"/>
                <a:cs typeface="Calibri"/>
              </a:defRPr>
            </a:lvl7pPr>
            <a:lvl8pPr algn="r">
              <a:defRPr sz="1950" b="0">
                <a:solidFill>
                  <a:srgbClr val="FFFFFF"/>
                </a:solidFill>
                <a:latin typeface="Calibri"/>
                <a:ea typeface="Calibri"/>
                <a:cs typeface="Calibri"/>
              </a:defRPr>
            </a:lvl8pPr>
            <a:lvl9pPr algn="r">
              <a:defRPr sz="1950" b="0">
                <a:solidFill>
                  <a:srgbClr val="FFFFFF"/>
                </a:solidFill>
                <a:latin typeface="Calibri"/>
                <a:ea typeface="Calibri"/>
                <a:cs typeface="Calibri"/>
              </a:defRPr>
            </a:lvl9pPr>
          </a:lstStyle>
          <a:p xmlns:a="http://schemas.openxmlformats.org/drawingml/2006/main">
            <a:pPr algn="r">
              <a:defRPr sz="1950" b="0">
                <a:solidFill>
                  <a:srgbClr val="FFFFFF"/>
                </a:solidFill>
                <a:latin typeface="Calibri"/>
                <a:ea typeface="Calibri"/>
                <a:cs typeface="Calibri"/>
              </a:defRPr>
            </a:pPr>
            <a:r>
              <a:rPr sz="1950" b="0">
                <a:solidFill>
                  <a:srgbClr val="FFFFFF"/>
                </a:solidFill>
                <a:latin typeface="Calibri"/>
                <a:ea typeface="Calibri"/>
                <a:cs typeface="Calibri"/>
                <a:hlinkClick xmlns:r="http://schemas.openxmlformats.org/officeDocument/2006/relationships" r:id="R9133278d81754bbc"/>
              </a:rPr>
              <a:t>github.com/HA2345567/Autodrive</a:t>
            </a:r>
          </a:p>
        </p:txBody>
      </p:sp>
    </p:spTree>
    <p:extLst>
      <p:ext uri="{BB962C8B-B14F-4D97-AF65-F5344CB8AC3E}">
        <p14:creationId xmlns:p14="http://schemas.microsoft.com/office/powerpoint/2010/main" val="115452130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8">
            <a:extLst xmlns:a="http://schemas.openxmlformats.org/drawingml/2006/main">
              <a:ext uri="{FF2B5EF4-FFF2-40B4-BE49-F238E27FC236}">
                <a16:creationId xmlns:a16="http://schemas.microsoft.com/office/drawing/2014/main" id="{138B6F79-89A3-4A16-8F7F-6DB897C8AD01}"/>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9">
            <a:extLst xmlns:a="http://schemas.openxmlformats.org/drawingml/2006/main">
              <a:ext uri="{FF2B5EF4-FFF2-40B4-BE49-F238E27FC236}">
                <a16:creationId xmlns:a16="http://schemas.microsoft.com/office/drawing/2014/main" id="{E1CF7A22-ADD7-4ABB-8361-F06FA5D05370}"/>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0">
            <a:extLst xmlns:a="http://schemas.openxmlformats.org/drawingml/2006/main">
              <a:ext uri="{FF2B5EF4-FFF2-40B4-BE49-F238E27FC236}">
                <a16:creationId xmlns:a16="http://schemas.microsoft.com/office/drawing/2014/main" id="{83402E58-3142-4784-9944-7F0CC584CEC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Project team and academic guidance</a:t>
            </a:r>
          </a:p>
        </p:txBody>
      </p:sp>
      <p:sp>
        <p:nvSpPr>
          <p:cNvPr id="4" name="object-11">
            <a:extLst xmlns:a="http://schemas.openxmlformats.org/drawingml/2006/main">
              <a:ext uri="{FF2B5EF4-FFF2-40B4-BE49-F238E27FC236}">
                <a16:creationId xmlns:a16="http://schemas.microsoft.com/office/drawing/2014/main" id="{04D5EBF6-8797-448C-948B-38E015F3623E}"/>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2">
            <a:extLst xmlns:a="http://schemas.openxmlformats.org/drawingml/2006/main">
              <a:ext uri="{FF2B5EF4-FFF2-40B4-BE49-F238E27FC236}">
                <a16:creationId xmlns:a16="http://schemas.microsoft.com/office/drawing/2014/main" id="{2A7A982A-4925-4F08-B895-D7D4748ED85D}"/>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a:t>
            </a:r>
          </a:p>
        </p:txBody>
      </p:sp>
      <p:sp>
        <p:nvSpPr>
          <p:cNvPr id="6" name="object-13">
            <a:extLst xmlns:a="http://schemas.openxmlformats.org/drawingml/2006/main">
              <a:ext uri="{FF2B5EF4-FFF2-40B4-BE49-F238E27FC236}">
                <a16:creationId xmlns:a16="http://schemas.microsoft.com/office/drawing/2014/main" id="{94263E23-12F3-40A8-B84D-B68CA62ADEB4}"/>
              </a:ext>
            </a:extLst>
          </p:cNvPr>
          <p:cNvSpPr>
            <a:spLocks xmlns:a="http://schemas.openxmlformats.org/drawingml/2006/main" noGrp="1"/>
          </p:cNvSpPr>
          <p:nvPr/>
        </p:nvSpPr>
        <p:spPr>
          <a:xfrm xmlns:a="http://schemas.openxmlformats.org/drawingml/2006/main">
            <a:off x="685800" y="1514475"/>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Department of Electronics and Communication Engineering</a:t>
            </a:r>
          </a:p>
        </p:txBody>
      </p:sp>
      <p:sp>
        <p:nvSpPr>
          <p:cNvPr id="7" name="object-14">
            <a:extLst xmlns:a="http://schemas.openxmlformats.org/drawingml/2006/main">
              <a:ext uri="{FF2B5EF4-FFF2-40B4-BE49-F238E27FC236}">
                <a16:creationId xmlns:a16="http://schemas.microsoft.com/office/drawing/2014/main" id="{DF6A83BE-D39E-48F4-83DC-9AD0758BB1F3}"/>
              </a:ext>
            </a:extLst>
          </p:cNvPr>
          <p:cNvSpPr>
            <a:spLocks xmlns:a="http://schemas.openxmlformats.org/drawingml/2006/main" noGrp="1"/>
          </p:cNvSpPr>
          <p:nvPr/>
        </p:nvSpPr>
        <p:spPr>
          <a:xfrm xmlns:a="http://schemas.openxmlformats.org/drawingml/2006/main">
            <a:off x="685800" y="197167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Maharaja Surajmal Institute of Technology, New Delhi, India</a:t>
            </a:r>
          </a:p>
        </p:txBody>
      </p:sp>
      <p:graphicFrame>
        <p:nvGraphicFramePr>
          <p:cNvPr id="8" name="">
            <a:extLst xmlns:a="http://schemas.openxmlformats.org/drawingml/2006/main">
              <a:ext uri="{FF2B5EF4-FFF2-40B4-BE49-F238E27FC236}">
                <a16:creationId xmlns:a16="http://schemas.microsoft.com/office/drawing/2014/main" id="{6D4A2E48-4820-4C78-BF86-CB961FA273A9}"/>
              </a:ext>
            </a:extLst>
          </p:cNvPr>
          <p:cNvGraphicFramePr/>
          <p:nvPr/>
        </p:nvGraphicFramePr>
        <p:xfrm>
          <a:off xmlns:a="http://schemas.openxmlformats.org/drawingml/2006/main" x="685800" y="2676525"/>
          <a:ext xmlns:a="http://schemas.openxmlformats.org/drawingml/2006/main" cx="10820400" cy="2266950"/>
        </p:xfrm>
        <a:graphic xmlns:a="http://schemas.openxmlformats.org/drawingml/2006/main">
          <a:graphicData uri="http://schemas.openxmlformats.org/drawingml/2006/table">
            <a:tbl>
              <a:tblPr/>
              <a:tblGrid>
                <a:gridCol w="2596896"/>
                <a:gridCol w="2488692"/>
                <a:gridCol w="5734812"/>
              </a:tblGrid>
              <a:tr h="566738">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Team member</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Enrolment number</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Email</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566738">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Harsh Bhardwaj</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03696302823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bhardwajharsh0312@gmail.com</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566738">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Shrishti Singh</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03996302823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shrisht2723@gmail.com</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566738">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Rajat Kandpal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04496302823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rajatkandpal12@gmail.com</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9" name="object-15">
            <a:extLst xmlns:a="http://schemas.openxmlformats.org/drawingml/2006/main">
              <a:ext uri="{FF2B5EF4-FFF2-40B4-BE49-F238E27FC236}">
                <a16:creationId xmlns:a16="http://schemas.microsoft.com/office/drawing/2014/main" id="{CC64D85D-E6E1-4E65-BD09-CEC323A628EF}"/>
              </a:ext>
            </a:extLst>
          </p:cNvPr>
          <p:cNvSpPr>
            <a:spLocks xmlns:a="http://schemas.openxmlformats.org/drawingml/2006/main" noGrp="1"/>
          </p:cNvSpPr>
          <p:nvPr/>
        </p:nvSpPr>
        <p:spPr>
          <a:xfrm xmlns:a="http://schemas.openxmlformats.org/drawingml/2006/main">
            <a:off x="685800" y="5257800"/>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Mentor: Ms. Jasmine, Assistant Professor</a:t>
            </a:r>
          </a:p>
        </p:txBody>
      </p:sp>
    </p:spTree>
    <p:extLst>
      <p:ext uri="{BB962C8B-B14F-4D97-AF65-F5344CB8AC3E}">
        <p14:creationId xmlns:p14="http://schemas.microsoft.com/office/powerpoint/2010/main" val="4445714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bject-16">
            <a:extLst xmlns:a="http://schemas.openxmlformats.org/drawingml/2006/main">
              <a:ext uri="{FF2B5EF4-FFF2-40B4-BE49-F238E27FC236}">
                <a16:creationId xmlns:a16="http://schemas.microsoft.com/office/drawing/2014/main" id="{E4F4B322-D2DD-4137-83F2-B2523F4C6F0E}"/>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7">
            <a:extLst xmlns:a="http://schemas.openxmlformats.org/drawingml/2006/main">
              <a:ext uri="{FF2B5EF4-FFF2-40B4-BE49-F238E27FC236}">
                <a16:creationId xmlns:a16="http://schemas.microsoft.com/office/drawing/2014/main" id="{B9EBFC8D-38B7-443A-BFDC-DAB6A355E7FE}"/>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8">
            <a:extLst xmlns:a="http://schemas.openxmlformats.org/drawingml/2006/main">
              <a:ext uri="{FF2B5EF4-FFF2-40B4-BE49-F238E27FC236}">
                <a16:creationId xmlns:a16="http://schemas.microsoft.com/office/drawing/2014/main" id="{793EF717-6971-42C3-85B3-D3BEA133D02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Presentation outline</a:t>
            </a:r>
          </a:p>
        </p:txBody>
      </p:sp>
      <p:sp>
        <p:nvSpPr>
          <p:cNvPr id="4" name="object-19">
            <a:extLst xmlns:a="http://schemas.openxmlformats.org/drawingml/2006/main">
              <a:ext uri="{FF2B5EF4-FFF2-40B4-BE49-F238E27FC236}">
                <a16:creationId xmlns:a16="http://schemas.microsoft.com/office/drawing/2014/main" id="{E51D79B5-037F-4497-B546-7D5CD6E72E7B}"/>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0">
            <a:extLst xmlns:a="http://schemas.openxmlformats.org/drawingml/2006/main">
              <a:ext uri="{FF2B5EF4-FFF2-40B4-BE49-F238E27FC236}">
                <a16:creationId xmlns:a16="http://schemas.microsoft.com/office/drawing/2014/main" id="{71B227F5-859B-427D-85BE-9936D0185A1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3</a:t>
            </a:r>
          </a:p>
        </p:txBody>
      </p:sp>
      <p:pic>
        <p:nvPicPr>
          <p:cNvPr id="6" name="">
            <a:extLst xmlns:a="http://schemas.openxmlformats.org/drawingml/2006/main">
              <a:ext uri="{FF2B5EF4-FFF2-40B4-BE49-F238E27FC236}">
                <a16:creationId xmlns:a16="http://schemas.microsoft.com/office/drawing/2014/main" id="{531EA9D2-7E88-46CB-A0A8-30CC64DE0B85}"/>
              </a:ext>
            </a:extLst>
          </p:cNvPr>
          <p:cNvPicPr>
            <a:picLocks xmlns:a="http://schemas.openxmlformats.org/drawingml/2006/main" noChangeAspect="1"/>
          </p:cNvPicPr>
          <p:nvPr/>
        </p:nvPicPr>
        <p:blipFill>
          <a:blip xmlns:r="http://schemas.openxmlformats.org/officeDocument/2006/relationships" xmlns:a="http://schemas.openxmlformats.org/drawingml/2006/main" r:embed="R4bc4570f228547f4"/>
          <a:stretch xmlns:a="http://schemas.openxmlformats.org/drawingml/2006/main"/>
        </p:blipFill>
        <p:spPr>
          <a:xfrm xmlns:a="http://schemas.openxmlformats.org/drawingml/2006/main">
            <a:off x="1219073" y="1619250"/>
            <a:ext cx="2838704" cy="4191000"/>
          </a:xfrm>
          <a:prstGeom xmlns:a="http://schemas.openxmlformats.org/drawingml/2006/main" prst="rect">
            <a:avLst/>
          </a:prstGeom>
        </p:spPr>
      </p:pic>
      <p:sp>
        <p:nvSpPr>
          <p:cNvPr id="7" name="object-21">
            <a:extLst xmlns:a="http://schemas.openxmlformats.org/drawingml/2006/main">
              <a:ext uri="{FF2B5EF4-FFF2-40B4-BE49-F238E27FC236}">
                <a16:creationId xmlns:a16="http://schemas.microsoft.com/office/drawing/2014/main" id="{6C7CF100-6AF1-432E-87CE-3E6A7E83A1A7}"/>
              </a:ext>
            </a:extLst>
          </p:cNvPr>
          <p:cNvSpPr>
            <a:spLocks xmlns:a="http://schemas.openxmlformats.org/drawingml/2006/main" noGrp="1"/>
          </p:cNvSpPr>
          <p:nvPr/>
        </p:nvSpPr>
        <p:spPr>
          <a:xfrm xmlns:a="http://schemas.openxmlformats.org/drawingml/2006/main">
            <a:off x="5219700" y="18192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01</a:t>
            </a:r>
          </a:p>
        </p:txBody>
      </p:sp>
      <p:sp>
        <p:nvSpPr>
          <p:cNvPr id="8" name="object-22">
            <a:extLst xmlns:a="http://schemas.openxmlformats.org/drawingml/2006/main">
              <a:ext uri="{FF2B5EF4-FFF2-40B4-BE49-F238E27FC236}">
                <a16:creationId xmlns:a16="http://schemas.microsoft.com/office/drawing/2014/main" id="{3D3A1921-6060-4D0C-8337-CFEAC9C1E2CC}"/>
              </a:ext>
            </a:extLst>
          </p:cNvPr>
          <p:cNvSpPr>
            <a:spLocks xmlns:a="http://schemas.openxmlformats.org/drawingml/2006/main" noGrp="1"/>
          </p:cNvSpPr>
          <p:nvPr/>
        </p:nvSpPr>
        <p:spPr>
          <a:xfrm xmlns:a="http://schemas.openxmlformats.org/drawingml/2006/main">
            <a:off x="5943600" y="18192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Problem and project objectives</a:t>
            </a:r>
          </a:p>
        </p:txBody>
      </p:sp>
      <p:sp>
        <p:nvSpPr>
          <p:cNvPr id="9" name="object-23">
            <a:extLst xmlns:a="http://schemas.openxmlformats.org/drawingml/2006/main">
              <a:ext uri="{FF2B5EF4-FFF2-40B4-BE49-F238E27FC236}">
                <a16:creationId xmlns:a16="http://schemas.microsoft.com/office/drawing/2014/main" id="{71AB9615-56FB-4F45-926F-582A4F46EFAB}"/>
              </a:ext>
            </a:extLst>
          </p:cNvPr>
          <p:cNvSpPr>
            <a:spLocks xmlns:a="http://schemas.openxmlformats.org/drawingml/2006/main" noGrp="1"/>
          </p:cNvSpPr>
          <p:nvPr/>
        </p:nvSpPr>
        <p:spPr>
          <a:xfrm xmlns:a="http://schemas.openxmlformats.org/drawingml/2006/main">
            <a:off x="5219700" y="28098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02</a:t>
            </a:r>
          </a:p>
        </p:txBody>
      </p:sp>
      <p:sp>
        <p:nvSpPr>
          <p:cNvPr id="10" name="object-24">
            <a:extLst xmlns:a="http://schemas.openxmlformats.org/drawingml/2006/main">
              <a:ext uri="{FF2B5EF4-FFF2-40B4-BE49-F238E27FC236}">
                <a16:creationId xmlns:a16="http://schemas.microsoft.com/office/drawing/2014/main" id="{035D8E7F-77DE-4E81-AB7C-5DEA9BBB155D}"/>
              </a:ext>
            </a:extLst>
          </p:cNvPr>
          <p:cNvSpPr>
            <a:spLocks xmlns:a="http://schemas.openxmlformats.org/drawingml/2006/main" noGrp="1"/>
          </p:cNvSpPr>
          <p:nvPr/>
        </p:nvSpPr>
        <p:spPr>
          <a:xfrm xmlns:a="http://schemas.openxmlformats.org/drawingml/2006/main">
            <a:off x="5943600" y="28098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Architecture, data and training</a:t>
            </a:r>
          </a:p>
        </p:txBody>
      </p:sp>
      <p:sp>
        <p:nvSpPr>
          <p:cNvPr id="11" name="object-25">
            <a:extLst xmlns:a="http://schemas.openxmlformats.org/drawingml/2006/main">
              <a:ext uri="{FF2B5EF4-FFF2-40B4-BE49-F238E27FC236}">
                <a16:creationId xmlns:a16="http://schemas.microsoft.com/office/drawing/2014/main" id="{8840084B-DE28-4CDB-A3B0-6CFD2903707A}"/>
              </a:ext>
            </a:extLst>
          </p:cNvPr>
          <p:cNvSpPr>
            <a:spLocks xmlns:a="http://schemas.openxmlformats.org/drawingml/2006/main" noGrp="1"/>
          </p:cNvSpPr>
          <p:nvPr/>
        </p:nvSpPr>
        <p:spPr>
          <a:xfrm xmlns:a="http://schemas.openxmlformats.org/drawingml/2006/main">
            <a:off x="5219700" y="38004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03</a:t>
            </a:r>
          </a:p>
        </p:txBody>
      </p:sp>
      <p:sp>
        <p:nvSpPr>
          <p:cNvPr id="12" name="object-26">
            <a:extLst xmlns:a="http://schemas.openxmlformats.org/drawingml/2006/main">
              <a:ext uri="{FF2B5EF4-FFF2-40B4-BE49-F238E27FC236}">
                <a16:creationId xmlns:a16="http://schemas.microsoft.com/office/drawing/2014/main" id="{19682BA4-0912-4541-88F0-66D530B3D9C7}"/>
              </a:ext>
            </a:extLst>
          </p:cNvPr>
          <p:cNvSpPr>
            <a:spLocks xmlns:a="http://schemas.openxmlformats.org/drawingml/2006/main" noGrp="1"/>
          </p:cNvSpPr>
          <p:nvPr/>
        </p:nvSpPr>
        <p:spPr>
          <a:xfrm xmlns:a="http://schemas.openxmlformats.org/drawingml/2006/main">
            <a:off x="5943600" y="38004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Detection, lane and steering results</a:t>
            </a:r>
          </a:p>
        </p:txBody>
      </p:sp>
      <p:sp>
        <p:nvSpPr>
          <p:cNvPr id="13" name="object-27">
            <a:extLst xmlns:a="http://schemas.openxmlformats.org/drawingml/2006/main">
              <a:ext uri="{FF2B5EF4-FFF2-40B4-BE49-F238E27FC236}">
                <a16:creationId xmlns:a16="http://schemas.microsoft.com/office/drawing/2014/main" id="{CB7DACF0-110F-4424-92A5-110DBC47DA55}"/>
              </a:ext>
            </a:extLst>
          </p:cNvPr>
          <p:cNvSpPr>
            <a:spLocks xmlns:a="http://schemas.openxmlformats.org/drawingml/2006/main" noGrp="1"/>
          </p:cNvSpPr>
          <p:nvPr/>
        </p:nvSpPr>
        <p:spPr>
          <a:xfrm xmlns:a="http://schemas.openxmlformats.org/drawingml/2006/main">
            <a:off x="5219700" y="47910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B95827"/>
                </a:solidFill>
                <a:latin typeface="Calibri"/>
                <a:ea typeface="Calibri"/>
                <a:cs typeface="Calibri"/>
              </a:defRPr>
            </a:defPPr>
            <a:lvl1pPr algn="l">
              <a:defRPr sz="2100" b="1">
                <a:solidFill>
                  <a:srgbClr val="B95827"/>
                </a:solidFill>
                <a:latin typeface="Calibri"/>
                <a:ea typeface="Calibri"/>
                <a:cs typeface="Calibri"/>
              </a:defRPr>
            </a:lvl1pPr>
            <a:lvl2pPr algn="l">
              <a:defRPr sz="2100" b="1">
                <a:solidFill>
                  <a:srgbClr val="B95827"/>
                </a:solidFill>
                <a:latin typeface="Calibri"/>
                <a:ea typeface="Calibri"/>
                <a:cs typeface="Calibri"/>
              </a:defRPr>
            </a:lvl2pPr>
            <a:lvl3pPr algn="l">
              <a:defRPr sz="2100" b="1">
                <a:solidFill>
                  <a:srgbClr val="B95827"/>
                </a:solidFill>
                <a:latin typeface="Calibri"/>
                <a:ea typeface="Calibri"/>
                <a:cs typeface="Calibri"/>
              </a:defRPr>
            </a:lvl3pPr>
            <a:lvl4pPr algn="l">
              <a:defRPr sz="2100" b="1">
                <a:solidFill>
                  <a:srgbClr val="B95827"/>
                </a:solidFill>
                <a:latin typeface="Calibri"/>
                <a:ea typeface="Calibri"/>
                <a:cs typeface="Calibri"/>
              </a:defRPr>
            </a:lvl4pPr>
            <a:lvl5pPr algn="l">
              <a:defRPr sz="2100" b="1">
                <a:solidFill>
                  <a:srgbClr val="B95827"/>
                </a:solidFill>
                <a:latin typeface="Calibri"/>
                <a:ea typeface="Calibri"/>
                <a:cs typeface="Calibri"/>
              </a:defRPr>
            </a:lvl5pPr>
            <a:lvl6pPr algn="l">
              <a:defRPr sz="2100" b="1">
                <a:solidFill>
                  <a:srgbClr val="B95827"/>
                </a:solidFill>
                <a:latin typeface="Calibri"/>
                <a:ea typeface="Calibri"/>
                <a:cs typeface="Calibri"/>
              </a:defRPr>
            </a:lvl6pPr>
            <a:lvl7pPr algn="l">
              <a:defRPr sz="2100" b="1">
                <a:solidFill>
                  <a:srgbClr val="B95827"/>
                </a:solidFill>
                <a:latin typeface="Calibri"/>
                <a:ea typeface="Calibri"/>
                <a:cs typeface="Calibri"/>
              </a:defRPr>
            </a:lvl7pPr>
            <a:lvl8pPr algn="l">
              <a:defRPr sz="2100" b="1">
                <a:solidFill>
                  <a:srgbClr val="B95827"/>
                </a:solidFill>
                <a:latin typeface="Calibri"/>
                <a:ea typeface="Calibri"/>
                <a:cs typeface="Calibri"/>
              </a:defRPr>
            </a:lvl8pPr>
            <a:lvl9pPr algn="l">
              <a:defRPr sz="2100" b="1">
                <a:solidFill>
                  <a:srgbClr val="B95827"/>
                </a:solidFill>
                <a:latin typeface="Calibri"/>
                <a:ea typeface="Calibri"/>
                <a:cs typeface="Calibri"/>
              </a:defRPr>
            </a:lvl9pPr>
          </a:lstStyle>
          <a:p xmlns:a="http://schemas.openxmlformats.org/drawingml/2006/main">
            <a:pPr algn="l">
              <a:defRPr sz="2100" b="1">
                <a:solidFill>
                  <a:srgbClr val="B95827"/>
                </a:solidFill>
                <a:latin typeface="Calibri"/>
                <a:ea typeface="Calibri"/>
                <a:cs typeface="Calibri"/>
              </a:defRPr>
            </a:pPr>
            <a:r>
              <a:rPr sz="2100" b="1">
                <a:solidFill>
                  <a:srgbClr val="B95827"/>
                </a:solidFill>
                <a:latin typeface="Calibri"/>
                <a:ea typeface="Calibri"/>
                <a:cs typeface="Calibri"/>
              </a:rPr>
              <a:t>04</a:t>
            </a:r>
          </a:p>
        </p:txBody>
      </p:sp>
      <p:sp>
        <p:nvSpPr>
          <p:cNvPr id="14" name="object-28">
            <a:extLst xmlns:a="http://schemas.openxmlformats.org/drawingml/2006/main">
              <a:ext uri="{FF2B5EF4-FFF2-40B4-BE49-F238E27FC236}">
                <a16:creationId xmlns:a16="http://schemas.microsoft.com/office/drawing/2014/main" id="{55915FBF-5E3A-40A0-A31C-9940DFE57FF1}"/>
              </a:ext>
            </a:extLst>
          </p:cNvPr>
          <p:cNvSpPr>
            <a:spLocks xmlns:a="http://schemas.openxmlformats.org/drawingml/2006/main" noGrp="1"/>
          </p:cNvSpPr>
          <p:nvPr/>
        </p:nvSpPr>
        <p:spPr>
          <a:xfrm xmlns:a="http://schemas.openxmlformats.org/drawingml/2006/main">
            <a:off x="5943600" y="4791075"/>
            <a:ext cx="53721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Limitations, applications and next steps</a:t>
            </a:r>
          </a:p>
        </p:txBody>
      </p:sp>
    </p:spTree>
    <p:extLst>
      <p:ext uri="{BB962C8B-B14F-4D97-AF65-F5344CB8AC3E}">
        <p14:creationId xmlns:p14="http://schemas.microsoft.com/office/powerpoint/2010/main" val="17452573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object-29">
            <a:extLst xmlns:a="http://schemas.openxmlformats.org/drawingml/2006/main">
              <a:ext uri="{FF2B5EF4-FFF2-40B4-BE49-F238E27FC236}">
                <a16:creationId xmlns:a16="http://schemas.microsoft.com/office/drawing/2014/main" id="{A688C37E-FC98-44BA-A226-D9B0E4CEAD94}"/>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30">
            <a:extLst xmlns:a="http://schemas.openxmlformats.org/drawingml/2006/main">
              <a:ext uri="{FF2B5EF4-FFF2-40B4-BE49-F238E27FC236}">
                <a16:creationId xmlns:a16="http://schemas.microsoft.com/office/drawing/2014/main" id="{B17752B0-A5B9-4B35-91E9-1E9B19200330}"/>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31">
            <a:extLst xmlns:a="http://schemas.openxmlformats.org/drawingml/2006/main">
              <a:ext uri="{FF2B5EF4-FFF2-40B4-BE49-F238E27FC236}">
                <a16:creationId xmlns:a16="http://schemas.microsoft.com/office/drawing/2014/main" id="{FE793A1E-5626-418E-A70F-6DF6020A258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Introduction</a:t>
            </a:r>
          </a:p>
        </p:txBody>
      </p:sp>
      <p:sp>
        <p:nvSpPr>
          <p:cNvPr id="4" name="object-32">
            <a:extLst xmlns:a="http://schemas.openxmlformats.org/drawingml/2006/main">
              <a:ext uri="{FF2B5EF4-FFF2-40B4-BE49-F238E27FC236}">
                <a16:creationId xmlns:a16="http://schemas.microsoft.com/office/drawing/2014/main" id="{1AB22F47-0A19-4FE4-83F1-70C438498DA7}"/>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33">
            <a:extLst xmlns:a="http://schemas.openxmlformats.org/drawingml/2006/main">
              <a:ext uri="{FF2B5EF4-FFF2-40B4-BE49-F238E27FC236}">
                <a16:creationId xmlns:a16="http://schemas.microsoft.com/office/drawing/2014/main" id="{01B29B52-34BB-40C0-A721-2398444DB94C}"/>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One front-camera frame supports three separately evaluated tasks</a:t>
            </a:r>
          </a:p>
        </p:txBody>
      </p:sp>
      <p:sp>
        <p:nvSpPr>
          <p:cNvPr id="6" name="object-34">
            <a:extLst xmlns:a="http://schemas.openxmlformats.org/drawingml/2006/main">
              <a:ext uri="{FF2B5EF4-FFF2-40B4-BE49-F238E27FC236}">
                <a16:creationId xmlns:a16="http://schemas.microsoft.com/office/drawing/2014/main" id="{725514CE-6652-4833-A2BC-FD00022A1BF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4</a:t>
            </a:r>
          </a:p>
        </p:txBody>
      </p:sp>
      <p:sp>
        <p:nvSpPr>
          <p:cNvPr id="7" name="object-35">
            <a:extLst xmlns:a="http://schemas.openxmlformats.org/drawingml/2006/main">
              <a:ext uri="{FF2B5EF4-FFF2-40B4-BE49-F238E27FC236}">
                <a16:creationId xmlns:a16="http://schemas.microsoft.com/office/drawing/2014/main" id="{755FF616-A918-4D6C-8D20-CB6AA7B90609}"/>
              </a:ext>
            </a:extLst>
          </p:cNvPr>
          <p:cNvSpPr>
            <a:spLocks xmlns:a="http://schemas.openxmlformats.org/drawingml/2006/main" noGrp="1"/>
          </p:cNvSpPr>
          <p:nvPr/>
        </p:nvSpPr>
        <p:spPr>
          <a:xfrm xmlns:a="http://schemas.openxmlformats.org/drawingml/2006/main">
            <a:off x="800100" y="19716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01</a:t>
            </a:r>
          </a:p>
        </p:txBody>
      </p:sp>
      <p:sp>
        <p:nvSpPr>
          <p:cNvPr id="8" name="object-36">
            <a:extLst xmlns:a="http://schemas.openxmlformats.org/drawingml/2006/main">
              <a:ext uri="{FF2B5EF4-FFF2-40B4-BE49-F238E27FC236}">
                <a16:creationId xmlns:a16="http://schemas.microsoft.com/office/drawing/2014/main" id="{54DF4F53-F64D-42A3-A46C-A61B93F6939A}"/>
              </a:ext>
            </a:extLst>
          </p:cNvPr>
          <p:cNvSpPr>
            <a:spLocks xmlns:a="http://schemas.openxmlformats.org/drawingml/2006/main" noGrp="1"/>
          </p:cNvSpPr>
          <p:nvPr/>
        </p:nvSpPr>
        <p:spPr>
          <a:xfrm xmlns:a="http://schemas.openxmlformats.org/drawingml/2006/main">
            <a:off x="1524000" y="1971675"/>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Object detection identifies road users and traffic infrastructure.</a:t>
            </a:r>
          </a:p>
        </p:txBody>
      </p:sp>
      <p:sp>
        <p:nvSpPr>
          <p:cNvPr id="9" name="object-37">
            <a:extLst xmlns:a="http://schemas.openxmlformats.org/drawingml/2006/main">
              <a:ext uri="{FF2B5EF4-FFF2-40B4-BE49-F238E27FC236}">
                <a16:creationId xmlns:a16="http://schemas.microsoft.com/office/drawing/2014/main" id="{4C6DEC7C-861E-4E3A-9EF8-10147BCCFFA7}"/>
              </a:ext>
            </a:extLst>
          </p:cNvPr>
          <p:cNvSpPr>
            <a:spLocks xmlns:a="http://schemas.openxmlformats.org/drawingml/2006/main" noGrp="1"/>
          </p:cNvSpPr>
          <p:nvPr/>
        </p:nvSpPr>
        <p:spPr>
          <a:xfrm xmlns:a="http://schemas.openxmlformats.org/drawingml/2006/main">
            <a:off x="800100" y="29527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02</a:t>
            </a:r>
          </a:p>
        </p:txBody>
      </p:sp>
      <p:sp>
        <p:nvSpPr>
          <p:cNvPr id="10" name="object-38">
            <a:extLst xmlns:a="http://schemas.openxmlformats.org/drawingml/2006/main">
              <a:ext uri="{FF2B5EF4-FFF2-40B4-BE49-F238E27FC236}">
                <a16:creationId xmlns:a16="http://schemas.microsoft.com/office/drawing/2014/main" id="{268A8586-9C23-4D0F-897F-B1D70EFD44D7}"/>
              </a:ext>
            </a:extLst>
          </p:cNvPr>
          <p:cNvSpPr>
            <a:spLocks xmlns:a="http://schemas.openxmlformats.org/drawingml/2006/main" noGrp="1"/>
          </p:cNvSpPr>
          <p:nvPr/>
        </p:nvSpPr>
        <p:spPr>
          <a:xfrm xmlns:a="http://schemas.openxmlformats.org/drawingml/2006/main">
            <a:off x="1524000" y="2952750"/>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Lane segmentation estimates the pixels belonging to lane markings.</a:t>
            </a:r>
          </a:p>
        </p:txBody>
      </p:sp>
      <p:sp>
        <p:nvSpPr>
          <p:cNvPr id="11" name="object-39">
            <a:extLst xmlns:a="http://schemas.openxmlformats.org/drawingml/2006/main">
              <a:ext uri="{FF2B5EF4-FFF2-40B4-BE49-F238E27FC236}">
                <a16:creationId xmlns:a16="http://schemas.microsoft.com/office/drawing/2014/main" id="{96729D1D-344D-4526-A98F-410D9BE94310}"/>
              </a:ext>
            </a:extLst>
          </p:cNvPr>
          <p:cNvSpPr>
            <a:spLocks xmlns:a="http://schemas.openxmlformats.org/drawingml/2006/main" noGrp="1"/>
          </p:cNvSpPr>
          <p:nvPr/>
        </p:nvSpPr>
        <p:spPr>
          <a:xfrm xmlns:a="http://schemas.openxmlformats.org/drawingml/2006/main">
            <a:off x="800100" y="39338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03</a:t>
            </a:r>
          </a:p>
        </p:txBody>
      </p:sp>
      <p:sp>
        <p:nvSpPr>
          <p:cNvPr id="12" name="object-40">
            <a:extLst xmlns:a="http://schemas.openxmlformats.org/drawingml/2006/main">
              <a:ext uri="{FF2B5EF4-FFF2-40B4-BE49-F238E27FC236}">
                <a16:creationId xmlns:a16="http://schemas.microsoft.com/office/drawing/2014/main" id="{E36A6708-6EDB-41A8-AB4B-6F4202733C38}"/>
              </a:ext>
            </a:extLst>
          </p:cNvPr>
          <p:cNvSpPr>
            <a:spLocks xmlns:a="http://schemas.openxmlformats.org/drawingml/2006/main" noGrp="1"/>
          </p:cNvSpPr>
          <p:nvPr/>
        </p:nvSpPr>
        <p:spPr>
          <a:xfrm xmlns:a="http://schemas.openxmlformats.org/drawingml/2006/main">
            <a:off x="1524000" y="3933825"/>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Steering regression estimates a continuous steering angle.</a:t>
            </a:r>
          </a:p>
        </p:txBody>
      </p:sp>
      <p:sp>
        <p:nvSpPr>
          <p:cNvPr id="13" name="object-41">
            <a:extLst xmlns:a="http://schemas.openxmlformats.org/drawingml/2006/main">
              <a:ext uri="{FF2B5EF4-FFF2-40B4-BE49-F238E27FC236}">
                <a16:creationId xmlns:a16="http://schemas.microsoft.com/office/drawing/2014/main" id="{C54829C1-74C0-42CB-8770-0E7FF42B00E1}"/>
              </a:ext>
            </a:extLst>
          </p:cNvPr>
          <p:cNvSpPr>
            <a:spLocks xmlns:a="http://schemas.openxmlformats.org/drawingml/2006/main" noGrp="1"/>
          </p:cNvSpPr>
          <p:nvPr/>
        </p:nvSpPr>
        <p:spPr>
          <a:xfrm xmlns:a="http://schemas.openxmlformats.org/drawingml/2006/main">
            <a:off x="800100" y="4914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04</a:t>
            </a:r>
          </a:p>
        </p:txBody>
      </p:sp>
      <p:sp>
        <p:nvSpPr>
          <p:cNvPr id="14" name="object-42">
            <a:extLst xmlns:a="http://schemas.openxmlformats.org/drawingml/2006/main">
              <a:ext uri="{FF2B5EF4-FFF2-40B4-BE49-F238E27FC236}">
                <a16:creationId xmlns:a16="http://schemas.microsoft.com/office/drawing/2014/main" id="{0B397B27-B741-46E6-A2BD-1111DAD288EF}"/>
              </a:ext>
            </a:extLst>
          </p:cNvPr>
          <p:cNvSpPr>
            <a:spLocks xmlns:a="http://schemas.openxmlformats.org/drawingml/2006/main" noGrp="1"/>
          </p:cNvSpPr>
          <p:nvPr/>
        </p:nvSpPr>
        <p:spPr>
          <a:xfrm xmlns:a="http://schemas.openxmlformats.org/drawingml/2006/main">
            <a:off x="1524000" y="4914900"/>
            <a:ext cx="98488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A visual display combines the outputs for inspection.</a:t>
            </a:r>
          </a:p>
        </p:txBody>
      </p:sp>
    </p:spTree>
    <p:extLst>
      <p:ext uri="{BB962C8B-B14F-4D97-AF65-F5344CB8AC3E}">
        <p14:creationId xmlns:p14="http://schemas.microsoft.com/office/powerpoint/2010/main" val="14752505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bject-43">
            <a:extLst xmlns:a="http://schemas.openxmlformats.org/drawingml/2006/main">
              <a:ext uri="{FF2B5EF4-FFF2-40B4-BE49-F238E27FC236}">
                <a16:creationId xmlns:a16="http://schemas.microsoft.com/office/drawing/2014/main" id="{3FB844A3-4E47-4C2D-B4BA-38A3DC7D005C}"/>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44">
            <a:extLst xmlns:a="http://schemas.openxmlformats.org/drawingml/2006/main">
              <a:ext uri="{FF2B5EF4-FFF2-40B4-BE49-F238E27FC236}">
                <a16:creationId xmlns:a16="http://schemas.microsoft.com/office/drawing/2014/main" id="{D2D0D8AB-8285-4132-B982-E7C3B5AC1607}"/>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45">
            <a:extLst xmlns:a="http://schemas.openxmlformats.org/drawingml/2006/main">
              <a:ext uri="{FF2B5EF4-FFF2-40B4-BE49-F238E27FC236}">
                <a16:creationId xmlns:a16="http://schemas.microsoft.com/office/drawing/2014/main" id="{F46C0438-7463-47B1-B07B-5D33D65B6153}"/>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Project objectives</a:t>
            </a:r>
          </a:p>
        </p:txBody>
      </p:sp>
      <p:sp>
        <p:nvSpPr>
          <p:cNvPr id="4" name="object-46">
            <a:extLst xmlns:a="http://schemas.openxmlformats.org/drawingml/2006/main">
              <a:ext uri="{FF2B5EF4-FFF2-40B4-BE49-F238E27FC236}">
                <a16:creationId xmlns:a16="http://schemas.microsoft.com/office/drawing/2014/main" id="{BBCD3D12-D77F-468F-A401-B72F5E4FB9A8}"/>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47">
            <a:extLst xmlns:a="http://schemas.openxmlformats.org/drawingml/2006/main">
              <a:ext uri="{FF2B5EF4-FFF2-40B4-BE49-F238E27FC236}">
                <a16:creationId xmlns:a16="http://schemas.microsoft.com/office/drawing/2014/main" id="{FC213825-9E47-4833-B4A0-66CE4E1DC6A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5</a:t>
            </a:r>
          </a:p>
        </p:txBody>
      </p:sp>
      <p:sp>
        <p:nvSpPr>
          <p:cNvPr id="6" name="object-48">
            <a:extLst xmlns:a="http://schemas.openxmlformats.org/drawingml/2006/main">
              <a:ext uri="{FF2B5EF4-FFF2-40B4-BE49-F238E27FC236}">
                <a16:creationId xmlns:a16="http://schemas.microsoft.com/office/drawing/2014/main" id="{3D8B6D8F-C072-4515-A1E2-2389D387D541}"/>
              </a:ext>
            </a:extLst>
          </p:cNvPr>
          <p:cNvSpPr>
            <a:spLocks xmlns:a="http://schemas.openxmlformats.org/drawingml/2006/main" noGrp="1"/>
          </p:cNvSpPr>
          <p:nvPr/>
        </p:nvSpPr>
        <p:spPr>
          <a:xfrm xmlns:a="http://schemas.openxmlformats.org/drawingml/2006/main">
            <a:off x="800100" y="18573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01</a:t>
            </a:r>
          </a:p>
        </p:txBody>
      </p:sp>
      <p:sp>
        <p:nvSpPr>
          <p:cNvPr id="7" name="object-49">
            <a:extLst xmlns:a="http://schemas.openxmlformats.org/drawingml/2006/main">
              <a:ext uri="{FF2B5EF4-FFF2-40B4-BE49-F238E27FC236}">
                <a16:creationId xmlns:a16="http://schemas.microsoft.com/office/drawing/2014/main" id="{952912A8-9469-458B-B85B-69553CAD675B}"/>
              </a:ext>
            </a:extLst>
          </p:cNvPr>
          <p:cNvSpPr>
            <a:spLocks xmlns:a="http://schemas.openxmlformats.org/drawingml/2006/main" noGrp="1"/>
          </p:cNvSpPr>
          <p:nvPr/>
        </p:nvSpPr>
        <p:spPr>
          <a:xfrm xmlns:a="http://schemas.openxmlformats.org/drawingml/2006/main">
            <a:off x="1524000" y="18573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Train a compact detector for ten road-relevant COCO categories.</a:t>
            </a:r>
          </a:p>
        </p:txBody>
      </p:sp>
      <p:sp>
        <p:nvSpPr>
          <p:cNvPr id="8" name="object-50">
            <a:extLst xmlns:a="http://schemas.openxmlformats.org/drawingml/2006/main">
              <a:ext uri="{FF2B5EF4-FFF2-40B4-BE49-F238E27FC236}">
                <a16:creationId xmlns:a16="http://schemas.microsoft.com/office/drawing/2014/main" id="{24053AB0-F6A3-4A11-9F17-1CE18E7DCC7F}"/>
              </a:ext>
            </a:extLst>
          </p:cNvPr>
          <p:cNvSpPr>
            <a:spLocks xmlns:a="http://schemas.openxmlformats.org/drawingml/2006/main" noGrp="1"/>
          </p:cNvSpPr>
          <p:nvPr/>
        </p:nvSpPr>
        <p:spPr>
          <a:xfrm xmlns:a="http://schemas.openxmlformats.org/drawingml/2006/main">
            <a:off x="800100" y="28860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02</a:t>
            </a:r>
          </a:p>
        </p:txBody>
      </p:sp>
      <p:sp>
        <p:nvSpPr>
          <p:cNvPr id="9" name="object-51">
            <a:extLst xmlns:a="http://schemas.openxmlformats.org/drawingml/2006/main">
              <a:ext uri="{FF2B5EF4-FFF2-40B4-BE49-F238E27FC236}">
                <a16:creationId xmlns:a16="http://schemas.microsoft.com/office/drawing/2014/main" id="{AAD86764-B2D2-4AA4-9900-6C7D85ED69D5}"/>
              </a:ext>
            </a:extLst>
          </p:cNvPr>
          <p:cNvSpPr>
            <a:spLocks xmlns:a="http://schemas.openxmlformats.org/drawingml/2006/main" noGrp="1"/>
          </p:cNvSpPr>
          <p:nvPr/>
        </p:nvSpPr>
        <p:spPr>
          <a:xfrm xmlns:a="http://schemas.openxmlformats.org/drawingml/2006/main">
            <a:off x="1524000" y="28860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Convert TuSimple lane points into polygons for YOLO segmentation.</a:t>
            </a:r>
          </a:p>
        </p:txBody>
      </p:sp>
      <p:sp>
        <p:nvSpPr>
          <p:cNvPr id="10" name="object-52">
            <a:extLst xmlns:a="http://schemas.openxmlformats.org/drawingml/2006/main">
              <a:ext uri="{FF2B5EF4-FFF2-40B4-BE49-F238E27FC236}">
                <a16:creationId xmlns:a16="http://schemas.microsoft.com/office/drawing/2014/main" id="{0FB154FF-0FD8-4441-9D07-B80C34812CBA}"/>
              </a:ext>
            </a:extLst>
          </p:cNvPr>
          <p:cNvSpPr>
            <a:spLocks xmlns:a="http://schemas.openxmlformats.org/drawingml/2006/main" noGrp="1"/>
          </p:cNvSpPr>
          <p:nvPr/>
        </p:nvSpPr>
        <p:spPr>
          <a:xfrm xmlns:a="http://schemas.openxmlformats.org/drawingml/2006/main">
            <a:off x="800100" y="39147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03</a:t>
            </a:r>
          </a:p>
        </p:txBody>
      </p:sp>
      <p:sp>
        <p:nvSpPr>
          <p:cNvPr id="11" name="object-53">
            <a:extLst xmlns:a="http://schemas.openxmlformats.org/drawingml/2006/main">
              <a:ext uri="{FF2B5EF4-FFF2-40B4-BE49-F238E27FC236}">
                <a16:creationId xmlns:a16="http://schemas.microsoft.com/office/drawing/2014/main" id="{34ACE4BE-9F71-4802-A357-9818947EDB08}"/>
              </a:ext>
            </a:extLst>
          </p:cNvPr>
          <p:cNvSpPr>
            <a:spLocks xmlns:a="http://schemas.openxmlformats.org/drawingml/2006/main" noGrp="1"/>
          </p:cNvSpPr>
          <p:nvPr/>
        </p:nvSpPr>
        <p:spPr>
          <a:xfrm xmlns:a="http://schemas.openxmlformats.org/drawingml/2006/main">
            <a:off x="1524000" y="39147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Audit the steering checkpoint and evaluate a new frozen-CNN readout.</a:t>
            </a:r>
          </a:p>
        </p:txBody>
      </p:sp>
      <p:sp>
        <p:nvSpPr>
          <p:cNvPr id="12" name="object-54">
            <a:extLst xmlns:a="http://schemas.openxmlformats.org/drawingml/2006/main">
              <a:ext uri="{FF2B5EF4-FFF2-40B4-BE49-F238E27FC236}">
                <a16:creationId xmlns:a16="http://schemas.microsoft.com/office/drawing/2014/main" id="{21502335-F13A-4F1F-91DD-ACBC739A68A5}"/>
              </a:ext>
            </a:extLst>
          </p:cNvPr>
          <p:cNvSpPr>
            <a:spLocks xmlns:a="http://schemas.openxmlformats.org/drawingml/2006/main" noGrp="1"/>
          </p:cNvSpPr>
          <p:nvPr/>
        </p:nvSpPr>
        <p:spPr>
          <a:xfrm xmlns:a="http://schemas.openxmlformats.org/drawingml/2006/main">
            <a:off x="800100" y="49434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95827"/>
                </a:solidFill>
                <a:latin typeface="Calibri"/>
                <a:ea typeface="Calibri"/>
                <a:cs typeface="Calibri"/>
              </a:defRPr>
            </a:defPPr>
            <a:lvl1pPr algn="l">
              <a:defRPr sz="2175" b="1">
                <a:solidFill>
                  <a:srgbClr val="B95827"/>
                </a:solidFill>
                <a:latin typeface="Calibri"/>
                <a:ea typeface="Calibri"/>
                <a:cs typeface="Calibri"/>
              </a:defRPr>
            </a:lvl1pPr>
            <a:lvl2pPr algn="l">
              <a:defRPr sz="2175" b="1">
                <a:solidFill>
                  <a:srgbClr val="B95827"/>
                </a:solidFill>
                <a:latin typeface="Calibri"/>
                <a:ea typeface="Calibri"/>
                <a:cs typeface="Calibri"/>
              </a:defRPr>
            </a:lvl2pPr>
            <a:lvl3pPr algn="l">
              <a:defRPr sz="2175" b="1">
                <a:solidFill>
                  <a:srgbClr val="B95827"/>
                </a:solidFill>
                <a:latin typeface="Calibri"/>
                <a:ea typeface="Calibri"/>
                <a:cs typeface="Calibri"/>
              </a:defRPr>
            </a:lvl3pPr>
            <a:lvl4pPr algn="l">
              <a:defRPr sz="2175" b="1">
                <a:solidFill>
                  <a:srgbClr val="B95827"/>
                </a:solidFill>
                <a:latin typeface="Calibri"/>
                <a:ea typeface="Calibri"/>
                <a:cs typeface="Calibri"/>
              </a:defRPr>
            </a:lvl4pPr>
            <a:lvl5pPr algn="l">
              <a:defRPr sz="2175" b="1">
                <a:solidFill>
                  <a:srgbClr val="B95827"/>
                </a:solidFill>
                <a:latin typeface="Calibri"/>
                <a:ea typeface="Calibri"/>
                <a:cs typeface="Calibri"/>
              </a:defRPr>
            </a:lvl5pPr>
            <a:lvl6pPr algn="l">
              <a:defRPr sz="2175" b="1">
                <a:solidFill>
                  <a:srgbClr val="B95827"/>
                </a:solidFill>
                <a:latin typeface="Calibri"/>
                <a:ea typeface="Calibri"/>
                <a:cs typeface="Calibri"/>
              </a:defRPr>
            </a:lvl6pPr>
            <a:lvl7pPr algn="l">
              <a:defRPr sz="2175" b="1">
                <a:solidFill>
                  <a:srgbClr val="B95827"/>
                </a:solidFill>
                <a:latin typeface="Calibri"/>
                <a:ea typeface="Calibri"/>
                <a:cs typeface="Calibri"/>
              </a:defRPr>
            </a:lvl7pPr>
            <a:lvl8pPr algn="l">
              <a:defRPr sz="2175" b="1">
                <a:solidFill>
                  <a:srgbClr val="B95827"/>
                </a:solidFill>
                <a:latin typeface="Calibri"/>
                <a:ea typeface="Calibri"/>
                <a:cs typeface="Calibri"/>
              </a:defRPr>
            </a:lvl8pPr>
            <a:lvl9pPr algn="l">
              <a:defRPr sz="2175" b="1">
                <a:solidFill>
                  <a:srgbClr val="B95827"/>
                </a:solidFill>
                <a:latin typeface="Calibri"/>
                <a:ea typeface="Calibri"/>
                <a:cs typeface="Calibri"/>
              </a:defRPr>
            </a:lvl9pPr>
          </a:lstStyle>
          <a:p xmlns:a="http://schemas.openxmlformats.org/drawingml/2006/main">
            <a:pPr algn="l">
              <a:defRPr sz="2175" b="1">
                <a:solidFill>
                  <a:srgbClr val="B95827"/>
                </a:solidFill>
                <a:latin typeface="Calibri"/>
                <a:ea typeface="Calibri"/>
                <a:cs typeface="Calibri"/>
              </a:defRPr>
            </a:pPr>
            <a:r>
              <a:rPr sz="2175" b="1">
                <a:solidFill>
                  <a:srgbClr val="B95827"/>
                </a:solidFill>
                <a:latin typeface="Calibri"/>
                <a:ea typeface="Calibri"/>
                <a:cs typeface="Calibri"/>
              </a:rPr>
              <a:t>04</a:t>
            </a:r>
          </a:p>
        </p:txBody>
      </p:sp>
      <p:sp>
        <p:nvSpPr>
          <p:cNvPr id="13" name="object-55">
            <a:extLst xmlns:a="http://schemas.openxmlformats.org/drawingml/2006/main">
              <a:ext uri="{FF2B5EF4-FFF2-40B4-BE49-F238E27FC236}">
                <a16:creationId xmlns:a16="http://schemas.microsoft.com/office/drawing/2014/main" id="{630727C4-4223-45AB-A5FD-9A0F7DCAE588}"/>
              </a:ext>
            </a:extLst>
          </p:cNvPr>
          <p:cNvSpPr>
            <a:spLocks xmlns:a="http://schemas.openxmlformats.org/drawingml/2006/main" noGrp="1"/>
          </p:cNvSpPr>
          <p:nvPr/>
        </p:nvSpPr>
        <p:spPr>
          <a:xfrm xmlns:a="http://schemas.openxmlformats.org/drawingml/2006/main">
            <a:off x="1524000" y="4943475"/>
            <a:ext cx="98488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Document each module’s accuracy, timing and evaluation limits.</a:t>
            </a:r>
          </a:p>
        </p:txBody>
      </p:sp>
    </p:spTree>
    <p:extLst>
      <p:ext uri="{BB962C8B-B14F-4D97-AF65-F5344CB8AC3E}">
        <p14:creationId xmlns:p14="http://schemas.microsoft.com/office/powerpoint/2010/main" val="127890711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56">
            <a:extLst xmlns:a="http://schemas.openxmlformats.org/drawingml/2006/main">
              <a:ext uri="{FF2B5EF4-FFF2-40B4-BE49-F238E27FC236}">
                <a16:creationId xmlns:a16="http://schemas.microsoft.com/office/drawing/2014/main" id="{EF9E8276-B404-4F14-8A2B-3E500F21FD5E}"/>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57">
            <a:extLst xmlns:a="http://schemas.openxmlformats.org/drawingml/2006/main">
              <a:ext uri="{FF2B5EF4-FFF2-40B4-BE49-F238E27FC236}">
                <a16:creationId xmlns:a16="http://schemas.microsoft.com/office/drawing/2014/main" id="{E846DE41-9F9B-401B-84DB-AE499BDBCDE5}"/>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58">
            <a:extLst xmlns:a="http://schemas.openxmlformats.org/drawingml/2006/main">
              <a:ext uri="{FF2B5EF4-FFF2-40B4-BE49-F238E27FC236}">
                <a16:creationId xmlns:a16="http://schemas.microsoft.com/office/drawing/2014/main" id="{3A50D55D-A0EA-4624-9576-36A3224A781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Literature review</a:t>
            </a:r>
          </a:p>
        </p:txBody>
      </p:sp>
      <p:sp>
        <p:nvSpPr>
          <p:cNvPr id="4" name="object-59">
            <a:extLst xmlns:a="http://schemas.openxmlformats.org/drawingml/2006/main">
              <a:ext uri="{FF2B5EF4-FFF2-40B4-BE49-F238E27FC236}">
                <a16:creationId xmlns:a16="http://schemas.microsoft.com/office/drawing/2014/main" id="{1704D58F-1485-49CD-86CA-3E9916CABD80}"/>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60">
            <a:extLst xmlns:a="http://schemas.openxmlformats.org/drawingml/2006/main">
              <a:ext uri="{FF2B5EF4-FFF2-40B4-BE49-F238E27FC236}">
                <a16:creationId xmlns:a16="http://schemas.microsoft.com/office/drawing/2014/main" id="{076D5DEA-8129-4B7B-A5A3-65B8FD2863CE}"/>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6</a:t>
            </a:r>
          </a:p>
        </p:txBody>
      </p:sp>
      <p:graphicFrame>
        <p:nvGraphicFramePr>
          <p:cNvPr id="6" name="">
            <a:extLst xmlns:a="http://schemas.openxmlformats.org/drawingml/2006/main">
              <a:ext uri="{FF2B5EF4-FFF2-40B4-BE49-F238E27FC236}">
                <a16:creationId xmlns:a16="http://schemas.microsoft.com/office/drawing/2014/main" id="{9DA7AE4A-3534-4FAF-B203-813E0E7412DF}"/>
              </a:ext>
            </a:extLst>
          </p:cNvPr>
          <p:cNvGraphicFramePr/>
          <p:nvPr/>
        </p:nvGraphicFramePr>
        <p:xfrm>
          <a:off xmlns:a="http://schemas.openxmlformats.org/drawingml/2006/main" x="685800" y="1619250"/>
          <a:ext xmlns:a="http://schemas.openxmlformats.org/drawingml/2006/main" cx="10820400" cy="3476625"/>
        </p:xfrm>
        <a:graphic xmlns:a="http://schemas.openxmlformats.org/drawingml/2006/main">
          <a:graphicData uri="http://schemas.openxmlformats.org/drawingml/2006/table">
            <a:tbl>
              <a:tblPr/>
              <a:tblGrid>
                <a:gridCol w="2921508"/>
                <a:gridCol w="3895344"/>
                <a:gridCol w="4003548"/>
              </a:tblGrid>
              <a:tr h="695325">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Work</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Contribution</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Relevance to AutoDrive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95325">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DAVE-2, Bojarski et al. (2016)</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Camera images to steering angle</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Reference architecture for steering regression</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95325">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SCNN and LaneNet (2018)</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structure and instance segmentation</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Context for learning lane markings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695325">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Ultralytics YOLO11 (2024)</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Object detection and instance segmentation</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Implemented perception models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95325">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TuSimple benchmark (2017)</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annotations and evaluation protocol</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dataset and metric caveats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7" name="object-61">
            <a:extLst xmlns:a="http://schemas.openxmlformats.org/drawingml/2006/main">
              <a:ext uri="{FF2B5EF4-FFF2-40B4-BE49-F238E27FC236}">
                <a16:creationId xmlns:a16="http://schemas.microsoft.com/office/drawing/2014/main" id="{F2DB02E4-CE6C-4E57-AF7A-79F96286826E}"/>
              </a:ext>
            </a:extLst>
          </p:cNvPr>
          <p:cNvSpPr>
            <a:spLocks xmlns:a="http://schemas.openxmlformats.org/drawingml/2006/main" noGrp="1"/>
          </p:cNvSpPr>
          <p:nvPr/>
        </p:nvSpPr>
        <p:spPr>
          <a:xfrm xmlns:a="http://schemas.openxmlformats.org/drawingml/2006/main">
            <a:off x="685800" y="5400675"/>
            <a:ext cx="1082040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Calibri"/>
                <a:ea typeface="Calibri"/>
                <a:cs typeface="Calibri"/>
              </a:defRPr>
            </a:defPPr>
            <a:lvl1pPr algn="l">
              <a:defRPr sz="2100" b="1">
                <a:solidFill>
                  <a:srgbClr val="000000"/>
                </a:solidFill>
                <a:latin typeface="Calibri"/>
                <a:ea typeface="Calibri"/>
                <a:cs typeface="Calibri"/>
              </a:defRPr>
            </a:lvl1pPr>
            <a:lvl2pPr algn="l">
              <a:defRPr sz="2100" b="1">
                <a:solidFill>
                  <a:srgbClr val="000000"/>
                </a:solidFill>
                <a:latin typeface="Calibri"/>
                <a:ea typeface="Calibri"/>
                <a:cs typeface="Calibri"/>
              </a:defRPr>
            </a:lvl2pPr>
            <a:lvl3pPr algn="l">
              <a:defRPr sz="2100" b="1">
                <a:solidFill>
                  <a:srgbClr val="000000"/>
                </a:solidFill>
                <a:latin typeface="Calibri"/>
                <a:ea typeface="Calibri"/>
                <a:cs typeface="Calibri"/>
              </a:defRPr>
            </a:lvl3pPr>
            <a:lvl4pPr algn="l">
              <a:defRPr sz="2100" b="1">
                <a:solidFill>
                  <a:srgbClr val="000000"/>
                </a:solidFill>
                <a:latin typeface="Calibri"/>
                <a:ea typeface="Calibri"/>
                <a:cs typeface="Calibri"/>
              </a:defRPr>
            </a:lvl4pPr>
            <a:lvl5pPr algn="l">
              <a:defRPr sz="2100" b="1">
                <a:solidFill>
                  <a:srgbClr val="000000"/>
                </a:solidFill>
                <a:latin typeface="Calibri"/>
                <a:ea typeface="Calibri"/>
                <a:cs typeface="Calibri"/>
              </a:defRPr>
            </a:lvl5pPr>
            <a:lvl6pPr algn="l">
              <a:defRPr sz="2100" b="1">
                <a:solidFill>
                  <a:srgbClr val="000000"/>
                </a:solidFill>
                <a:latin typeface="Calibri"/>
                <a:ea typeface="Calibri"/>
                <a:cs typeface="Calibri"/>
              </a:defRPr>
            </a:lvl6pPr>
            <a:lvl7pPr algn="l">
              <a:defRPr sz="2100" b="1">
                <a:solidFill>
                  <a:srgbClr val="000000"/>
                </a:solidFill>
                <a:latin typeface="Calibri"/>
                <a:ea typeface="Calibri"/>
                <a:cs typeface="Calibri"/>
              </a:defRPr>
            </a:lvl7pPr>
            <a:lvl8pPr algn="l">
              <a:defRPr sz="2100" b="1">
                <a:solidFill>
                  <a:srgbClr val="000000"/>
                </a:solidFill>
                <a:latin typeface="Calibri"/>
                <a:ea typeface="Calibri"/>
                <a:cs typeface="Calibri"/>
              </a:defRPr>
            </a:lvl8pPr>
            <a:lvl9pPr algn="l">
              <a:defRPr sz="2100" b="1">
                <a:solidFill>
                  <a:srgbClr val="000000"/>
                </a:solidFill>
                <a:latin typeface="Calibri"/>
                <a:ea typeface="Calibri"/>
                <a:cs typeface="Calibri"/>
              </a:defRPr>
            </a:lvl9pPr>
          </a:lstStyle>
          <a:p xmlns:a="http://schemas.openxmlformats.org/drawingml/2006/main">
            <a:pPr algn="l">
              <a:defRPr sz="2100" b="1">
                <a:solidFill>
                  <a:srgbClr val="000000"/>
                </a:solidFill>
                <a:latin typeface="Calibri"/>
                <a:ea typeface="Calibri"/>
                <a:cs typeface="Calibri"/>
              </a:defRPr>
            </a:pPr>
            <a:r>
              <a:rPr sz="2100" b="1">
                <a:solidFill>
                  <a:srgbClr val="000000"/>
                </a:solidFill>
                <a:latin typeface="Calibri"/>
                <a:ea typeface="Calibri"/>
                <a:cs typeface="Calibri"/>
              </a:rPr>
              <a:t>Contribution: integration, annotation conversion and component evaluation</a:t>
            </a:r>
          </a:p>
        </p:txBody>
      </p:sp>
    </p:spTree>
    <p:extLst>
      <p:ext uri="{BB962C8B-B14F-4D97-AF65-F5344CB8AC3E}">
        <p14:creationId xmlns:p14="http://schemas.microsoft.com/office/powerpoint/2010/main" val="4465689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7077202B-2BD0-4EDD-8E26-FCE3F7C8FCE6}"/>
              </a:ext>
            </a:extLst>
          </p:cNvPr>
          <p:cNvCxnSpPr>
            <a:stCxn xmlns:a="http://schemas.openxmlformats.org/drawingml/2006/main" id="13" idx="3"/>
            <a:endCxn xmlns:a="http://schemas.openxmlformats.org/drawingml/2006/main" id="14" idx="1"/>
          </p:cNvCxnSpPr>
          <p:nvPr/>
        </p:nvCxnSpPr>
        <p:spPr>
          <a:xfrm xmlns:a="http://schemas.openxmlformats.org/drawingml/2006/main" flipV="1">
            <a:off x="9477375" y="3671888"/>
            <a:ext cx="828675" cy="140970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22" name="">
            <a:extLst xmlns:a="http://schemas.openxmlformats.org/drawingml/2006/main">
              <a:ext uri="{FF2B5EF4-FFF2-40B4-BE49-F238E27FC236}">
                <a16:creationId xmlns:a16="http://schemas.microsoft.com/office/drawing/2014/main" id="{A52E66CF-86F1-4827-83A4-F6BA80530F0E}"/>
              </a:ext>
            </a:extLst>
          </p:cNvPr>
          <p:cNvCxnSpPr>
            <a:stCxn xmlns:a="http://schemas.openxmlformats.org/drawingml/2006/main" id="12" idx="3"/>
            <a:endCxn xmlns:a="http://schemas.openxmlformats.org/drawingml/2006/main" id="14" idx="1"/>
          </p:cNvCxnSpPr>
          <p:nvPr/>
        </p:nvCxnSpPr>
        <p:spPr>
          <a:xfrm xmlns:a="http://schemas.openxmlformats.org/drawingml/2006/main" flipV="1">
            <a:off x="9477375" y="3671888"/>
            <a:ext cx="828675" cy="1905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21" name="">
            <a:extLst xmlns:a="http://schemas.openxmlformats.org/drawingml/2006/main">
              <a:ext uri="{FF2B5EF4-FFF2-40B4-BE49-F238E27FC236}">
                <a16:creationId xmlns:a16="http://schemas.microsoft.com/office/drawing/2014/main" id="{85C5E273-1BF1-4FA1-8FD8-D868026C1BE6}"/>
              </a:ext>
            </a:extLst>
          </p:cNvPr>
          <p:cNvCxnSpPr>
            <a:stCxn xmlns:a="http://schemas.openxmlformats.org/drawingml/2006/main" id="11" idx="3"/>
            <a:endCxn xmlns:a="http://schemas.openxmlformats.org/drawingml/2006/main" id="14" idx="1"/>
          </p:cNvCxnSpPr>
          <p:nvPr/>
        </p:nvCxnSpPr>
        <p:spPr>
          <a:xfrm xmlns:a="http://schemas.openxmlformats.org/drawingml/2006/main">
            <a:off x="9477375" y="2300288"/>
            <a:ext cx="828675" cy="137160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20" name="">
            <a:extLst xmlns:a="http://schemas.openxmlformats.org/drawingml/2006/main">
              <a:ext uri="{FF2B5EF4-FFF2-40B4-BE49-F238E27FC236}">
                <a16:creationId xmlns:a16="http://schemas.microsoft.com/office/drawing/2014/main" id="{32DD46BC-12E0-4246-8B10-764A9BAC0F7B}"/>
              </a:ext>
            </a:extLst>
          </p:cNvPr>
          <p:cNvCxnSpPr>
            <a:stCxn xmlns:a="http://schemas.openxmlformats.org/drawingml/2006/main" id="10" idx="3"/>
            <a:endCxn xmlns:a="http://schemas.openxmlformats.org/drawingml/2006/main" id="13" idx="1"/>
          </p:cNvCxnSpPr>
          <p:nvPr/>
        </p:nvCxnSpPr>
        <p:spPr>
          <a:xfrm xmlns:a="http://schemas.openxmlformats.org/drawingml/2006/main">
            <a:off x="6238875" y="5081588"/>
            <a:ext cx="9525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9" name="">
            <a:extLst xmlns:a="http://schemas.openxmlformats.org/drawingml/2006/main">
              <a:ext uri="{FF2B5EF4-FFF2-40B4-BE49-F238E27FC236}">
                <a16:creationId xmlns:a16="http://schemas.microsoft.com/office/drawing/2014/main" id="{9EDC9CE2-C51C-4043-9540-69C04B52BB87}"/>
              </a:ext>
            </a:extLst>
          </p:cNvPr>
          <p:cNvCxnSpPr>
            <a:stCxn xmlns:a="http://schemas.openxmlformats.org/drawingml/2006/main" id="9" idx="3"/>
            <a:endCxn xmlns:a="http://schemas.openxmlformats.org/drawingml/2006/main" id="12" idx="1"/>
          </p:cNvCxnSpPr>
          <p:nvPr/>
        </p:nvCxnSpPr>
        <p:spPr>
          <a:xfrm xmlns:a="http://schemas.openxmlformats.org/drawingml/2006/main">
            <a:off x="6238875" y="3690938"/>
            <a:ext cx="9525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8" name="">
            <a:extLst xmlns:a="http://schemas.openxmlformats.org/drawingml/2006/main">
              <a:ext uri="{FF2B5EF4-FFF2-40B4-BE49-F238E27FC236}">
                <a16:creationId xmlns:a16="http://schemas.microsoft.com/office/drawing/2014/main" id="{D43AA69A-358A-4C51-A538-D1DC9A57C851}"/>
              </a:ext>
            </a:extLst>
          </p:cNvPr>
          <p:cNvCxnSpPr>
            <a:stCxn xmlns:a="http://schemas.openxmlformats.org/drawingml/2006/main" id="8" idx="3"/>
            <a:endCxn xmlns:a="http://schemas.openxmlformats.org/drawingml/2006/main" id="11" idx="1"/>
          </p:cNvCxnSpPr>
          <p:nvPr/>
        </p:nvCxnSpPr>
        <p:spPr>
          <a:xfrm xmlns:a="http://schemas.openxmlformats.org/drawingml/2006/main">
            <a:off x="6238875" y="2300288"/>
            <a:ext cx="9525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7" name="">
            <a:extLst xmlns:a="http://schemas.openxmlformats.org/drawingml/2006/main">
              <a:ext uri="{FF2B5EF4-FFF2-40B4-BE49-F238E27FC236}">
                <a16:creationId xmlns:a16="http://schemas.microsoft.com/office/drawing/2014/main" id="{BFC39DC2-6E1E-45FC-BD20-112CE98DF083}"/>
              </a:ext>
            </a:extLst>
          </p:cNvPr>
          <p:cNvCxnSpPr>
            <a:stCxn xmlns:a="http://schemas.openxmlformats.org/drawingml/2006/main" id="7" idx="3"/>
            <a:endCxn xmlns:a="http://schemas.openxmlformats.org/drawingml/2006/main" id="10" idx="1"/>
          </p:cNvCxnSpPr>
          <p:nvPr/>
        </p:nvCxnSpPr>
        <p:spPr>
          <a:xfrm xmlns:a="http://schemas.openxmlformats.org/drawingml/2006/main">
            <a:off x="2686050" y="3671888"/>
            <a:ext cx="1076325" cy="140970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16" name="">
            <a:extLst xmlns:a="http://schemas.openxmlformats.org/drawingml/2006/main">
              <a:ext uri="{FF2B5EF4-FFF2-40B4-BE49-F238E27FC236}">
                <a16:creationId xmlns:a16="http://schemas.microsoft.com/office/drawing/2014/main" id="{4534B299-7CEB-460A-BC06-13AA6946C37E}"/>
              </a:ext>
            </a:extLst>
          </p:cNvPr>
          <p:cNvCxnSpPr>
            <a:stCxn xmlns:a="http://schemas.openxmlformats.org/drawingml/2006/main" id="7" idx="3"/>
            <a:endCxn xmlns:a="http://schemas.openxmlformats.org/drawingml/2006/main" id="9" idx="1"/>
          </p:cNvCxnSpPr>
          <p:nvPr/>
        </p:nvCxnSpPr>
        <p:spPr>
          <a:xfrm xmlns:a="http://schemas.openxmlformats.org/drawingml/2006/main">
            <a:off x="2686050" y="3671888"/>
            <a:ext cx="1076325" cy="1905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cxnSp>
        <p:nvCxnSpPr>
          <p:cNvPr id="15" name="">
            <a:extLst xmlns:a="http://schemas.openxmlformats.org/drawingml/2006/main">
              <a:ext uri="{FF2B5EF4-FFF2-40B4-BE49-F238E27FC236}">
                <a16:creationId xmlns:a16="http://schemas.microsoft.com/office/drawing/2014/main" id="{7150B25C-6A7B-4E15-8FA4-4DFB5E715855}"/>
              </a:ext>
            </a:extLst>
          </p:cNvPr>
          <p:cNvCxnSpPr>
            <a:stCxn xmlns:a="http://schemas.openxmlformats.org/drawingml/2006/main" id="7" idx="3"/>
            <a:endCxn xmlns:a="http://schemas.openxmlformats.org/drawingml/2006/main" id="8" idx="1"/>
          </p:cNvCxnSpPr>
          <p:nvPr/>
        </p:nvCxnSpPr>
        <p:spPr>
          <a:xfrm xmlns:a="http://schemas.openxmlformats.org/drawingml/2006/main" flipV="1">
            <a:off x="2686050" y="2300288"/>
            <a:ext cx="1076325" cy="1371600"/>
          </a:xfrm>
          <a:prstGeom xmlns:a="http://schemas.openxmlformats.org/drawingml/2006/main" prst="bentConnector3">
            <a:avLst>
              <a:gd name="adj1" fmla="val 50000"/>
            </a:avLst>
          </a:prstGeom>
          <a:ln xmlns:a="http://schemas.openxmlformats.org/drawingml/2006/main" w="19050">
            <a:solidFill>
              <a:srgbClr val="000000"/>
            </a:solidFill>
            <a:prstDash val="solid"/>
            <a:headEnd type="none"/>
            <a:tailEnd type="triangle" w="med" len="med"/>
          </a:ln>
        </p:spPr>
      </p:cxnSp>
      <p:sp>
        <p:nvSpPr>
          <p:cNvPr id="25" name="object-62">
            <a:extLst xmlns:a="http://schemas.openxmlformats.org/drawingml/2006/main">
              <a:ext uri="{FF2B5EF4-FFF2-40B4-BE49-F238E27FC236}">
                <a16:creationId xmlns:a16="http://schemas.microsoft.com/office/drawing/2014/main" id="{8F32028D-FD46-45FF-9BA0-EE1032BC1FF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63">
            <a:extLst xmlns:a="http://schemas.openxmlformats.org/drawingml/2006/main">
              <a:ext uri="{FF2B5EF4-FFF2-40B4-BE49-F238E27FC236}">
                <a16:creationId xmlns:a16="http://schemas.microsoft.com/office/drawing/2014/main" id="{5119CB90-5128-4A82-9AC2-29C490243E71}"/>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64">
            <a:extLst xmlns:a="http://schemas.openxmlformats.org/drawingml/2006/main">
              <a:ext uri="{FF2B5EF4-FFF2-40B4-BE49-F238E27FC236}">
                <a16:creationId xmlns:a16="http://schemas.microsoft.com/office/drawing/2014/main" id="{0AFBA054-09BB-45E5-97E7-BD767DB5C58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Integrated AutoDrive architecture</a:t>
            </a:r>
          </a:p>
        </p:txBody>
      </p:sp>
      <p:sp>
        <p:nvSpPr>
          <p:cNvPr id="4" name="object-65">
            <a:extLst xmlns:a="http://schemas.openxmlformats.org/drawingml/2006/main">
              <a:ext uri="{FF2B5EF4-FFF2-40B4-BE49-F238E27FC236}">
                <a16:creationId xmlns:a16="http://schemas.microsoft.com/office/drawing/2014/main" id="{4D27CC48-0797-4EBE-9BDF-F1FE729192A9}"/>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66">
            <a:extLst xmlns:a="http://schemas.openxmlformats.org/drawingml/2006/main">
              <a:ext uri="{FF2B5EF4-FFF2-40B4-BE49-F238E27FC236}">
                <a16:creationId xmlns:a16="http://schemas.microsoft.com/office/drawing/2014/main" id="{52FF1786-5EEA-4DEE-8E7B-666FB824DD21}"/>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Parallel branches process the same camera frame</a:t>
            </a:r>
          </a:p>
        </p:txBody>
      </p:sp>
      <p:sp>
        <p:nvSpPr>
          <p:cNvPr id="6" name="object-67">
            <a:extLst xmlns:a="http://schemas.openxmlformats.org/drawingml/2006/main">
              <a:ext uri="{FF2B5EF4-FFF2-40B4-BE49-F238E27FC236}">
                <a16:creationId xmlns:a16="http://schemas.microsoft.com/office/drawing/2014/main" id="{A5037D96-86B8-4902-A57C-E8A112054D34}"/>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7</a:t>
            </a:r>
          </a:p>
        </p:txBody>
      </p:sp>
      <p:sp>
        <p:nvSpPr>
          <p:cNvPr id="7" name="object-68">
            <a:extLst xmlns:a="http://schemas.openxmlformats.org/drawingml/2006/main">
              <a:ext uri="{FF2B5EF4-FFF2-40B4-BE49-F238E27FC236}">
                <a16:creationId xmlns:a16="http://schemas.microsoft.com/office/drawing/2014/main" id="{5A60F1AE-3562-46F9-B206-2B7E5BA6041F}"/>
              </a:ext>
            </a:extLst>
          </p:cNvPr>
          <p:cNvSpPr>
            <a:spLocks xmlns:a="http://schemas.openxmlformats.org/drawingml/2006/main" noGrp="1"/>
          </p:cNvSpPr>
          <p:nvPr/>
        </p:nvSpPr>
        <p:spPr>
          <a:xfrm xmlns:a="http://schemas.openxmlformats.org/drawingml/2006/main">
            <a:off x="685800" y="3133725"/>
            <a:ext cx="2000250" cy="10763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100">
                <a:solidFill>
                  <a:srgbClr val="000000"/>
                </a:solidFill>
                <a:latin typeface="Calibri"/>
                <a:ea typeface="Calibri"/>
                <a:cs typeface="Calibri"/>
              </a:defRPr>
            </a:defPPr>
            <a:lvl1pPr algn="ctr">
              <a:defRPr sz="2100">
                <a:solidFill>
                  <a:srgbClr val="000000"/>
                </a:solidFill>
                <a:latin typeface="Calibri"/>
                <a:ea typeface="Calibri"/>
                <a:cs typeface="Calibri"/>
              </a:defRPr>
            </a:lvl1pPr>
            <a:lvl2pPr algn="ctr">
              <a:defRPr sz="2100">
                <a:solidFill>
                  <a:srgbClr val="000000"/>
                </a:solidFill>
                <a:latin typeface="Calibri"/>
                <a:ea typeface="Calibri"/>
                <a:cs typeface="Calibri"/>
              </a:defRPr>
            </a:lvl2pPr>
            <a:lvl3pPr algn="ctr">
              <a:defRPr sz="2100">
                <a:solidFill>
                  <a:srgbClr val="000000"/>
                </a:solidFill>
                <a:latin typeface="Calibri"/>
                <a:ea typeface="Calibri"/>
                <a:cs typeface="Calibri"/>
              </a:defRPr>
            </a:lvl3pPr>
            <a:lvl4pPr algn="ctr">
              <a:defRPr sz="2100">
                <a:solidFill>
                  <a:srgbClr val="000000"/>
                </a:solidFill>
                <a:latin typeface="Calibri"/>
                <a:ea typeface="Calibri"/>
                <a:cs typeface="Calibri"/>
              </a:defRPr>
            </a:lvl4pPr>
            <a:lvl5pPr algn="ctr">
              <a:defRPr sz="2100">
                <a:solidFill>
                  <a:srgbClr val="000000"/>
                </a:solidFill>
                <a:latin typeface="Calibri"/>
                <a:ea typeface="Calibri"/>
                <a:cs typeface="Calibri"/>
              </a:defRPr>
            </a:lvl5pPr>
            <a:lvl6pPr algn="ctr">
              <a:defRPr sz="2100">
                <a:solidFill>
                  <a:srgbClr val="000000"/>
                </a:solidFill>
                <a:latin typeface="Calibri"/>
                <a:ea typeface="Calibri"/>
                <a:cs typeface="Calibri"/>
              </a:defRPr>
            </a:lvl6pPr>
            <a:lvl7pPr algn="ctr">
              <a:defRPr sz="2100">
                <a:solidFill>
                  <a:srgbClr val="000000"/>
                </a:solidFill>
                <a:latin typeface="Calibri"/>
                <a:ea typeface="Calibri"/>
                <a:cs typeface="Calibri"/>
              </a:defRPr>
            </a:lvl7pPr>
            <a:lvl8pPr algn="ctr">
              <a:defRPr sz="2100">
                <a:solidFill>
                  <a:srgbClr val="000000"/>
                </a:solidFill>
                <a:latin typeface="Calibri"/>
                <a:ea typeface="Calibri"/>
                <a:cs typeface="Calibri"/>
              </a:defRPr>
            </a:lvl8pPr>
            <a:lvl9pPr algn="ctr">
              <a:defRPr sz="2100">
                <a:solidFill>
                  <a:srgbClr val="000000"/>
                </a:solidFill>
                <a:latin typeface="Calibri"/>
                <a:ea typeface="Calibri"/>
                <a:cs typeface="Calibri"/>
              </a:defRPr>
            </a:lvl9pPr>
          </a:lstStyle>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Front camera</a:t>
            </a:r>
          </a:p>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RGB frame</a:t>
            </a:r>
          </a:p>
        </p:txBody>
      </p:sp>
      <p:sp>
        <p:nvSpPr>
          <p:cNvPr id="8" name="object-69">
            <a:extLst xmlns:a="http://schemas.openxmlformats.org/drawingml/2006/main">
              <a:ext uri="{FF2B5EF4-FFF2-40B4-BE49-F238E27FC236}">
                <a16:creationId xmlns:a16="http://schemas.microsoft.com/office/drawing/2014/main" id="{2644584D-0BDB-46CC-9B37-F73A2DB0275E}"/>
              </a:ext>
            </a:extLst>
          </p:cNvPr>
          <p:cNvSpPr>
            <a:spLocks xmlns:a="http://schemas.openxmlformats.org/drawingml/2006/main" noGrp="1"/>
          </p:cNvSpPr>
          <p:nvPr/>
        </p:nvSpPr>
        <p:spPr>
          <a:xfrm xmlns:a="http://schemas.openxmlformats.org/drawingml/2006/main">
            <a:off x="3762375" y="1866900"/>
            <a:ext cx="24765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025">
                <a:solidFill>
                  <a:srgbClr val="000000"/>
                </a:solidFill>
                <a:latin typeface="Calibri"/>
                <a:ea typeface="Calibri"/>
                <a:cs typeface="Calibri"/>
              </a:defRPr>
            </a:defPPr>
            <a:lvl1pPr algn="ctr">
              <a:defRPr sz="2025">
                <a:solidFill>
                  <a:srgbClr val="000000"/>
                </a:solidFill>
                <a:latin typeface="Calibri"/>
                <a:ea typeface="Calibri"/>
                <a:cs typeface="Calibri"/>
              </a:defRPr>
            </a:lvl1pPr>
            <a:lvl2pPr algn="ctr">
              <a:defRPr sz="2025">
                <a:solidFill>
                  <a:srgbClr val="000000"/>
                </a:solidFill>
                <a:latin typeface="Calibri"/>
                <a:ea typeface="Calibri"/>
                <a:cs typeface="Calibri"/>
              </a:defRPr>
            </a:lvl2pPr>
            <a:lvl3pPr algn="ctr">
              <a:defRPr sz="2025">
                <a:solidFill>
                  <a:srgbClr val="000000"/>
                </a:solidFill>
                <a:latin typeface="Calibri"/>
                <a:ea typeface="Calibri"/>
                <a:cs typeface="Calibri"/>
              </a:defRPr>
            </a:lvl3pPr>
            <a:lvl4pPr algn="ctr">
              <a:defRPr sz="2025">
                <a:solidFill>
                  <a:srgbClr val="000000"/>
                </a:solidFill>
                <a:latin typeface="Calibri"/>
                <a:ea typeface="Calibri"/>
                <a:cs typeface="Calibri"/>
              </a:defRPr>
            </a:lvl4pPr>
            <a:lvl5pPr algn="ctr">
              <a:defRPr sz="2025">
                <a:solidFill>
                  <a:srgbClr val="000000"/>
                </a:solidFill>
                <a:latin typeface="Calibri"/>
                <a:ea typeface="Calibri"/>
                <a:cs typeface="Calibri"/>
              </a:defRPr>
            </a:lvl5pPr>
            <a:lvl6pPr algn="ctr">
              <a:defRPr sz="2025">
                <a:solidFill>
                  <a:srgbClr val="000000"/>
                </a:solidFill>
                <a:latin typeface="Calibri"/>
                <a:ea typeface="Calibri"/>
                <a:cs typeface="Calibri"/>
              </a:defRPr>
            </a:lvl6pPr>
            <a:lvl7pPr algn="ctr">
              <a:defRPr sz="2025">
                <a:solidFill>
                  <a:srgbClr val="000000"/>
                </a:solidFill>
                <a:latin typeface="Calibri"/>
                <a:ea typeface="Calibri"/>
                <a:cs typeface="Calibri"/>
              </a:defRPr>
            </a:lvl7pPr>
            <a:lvl8pPr algn="ctr">
              <a:defRPr sz="2025">
                <a:solidFill>
                  <a:srgbClr val="000000"/>
                </a:solidFill>
                <a:latin typeface="Calibri"/>
                <a:ea typeface="Calibri"/>
                <a:cs typeface="Calibri"/>
              </a:defRPr>
            </a:lvl8pPr>
            <a:lvl9pPr algn="ctr">
              <a:defRPr sz="2025">
                <a:solidFill>
                  <a:srgbClr val="000000"/>
                </a:solidFill>
                <a:latin typeface="Calibri"/>
                <a:ea typeface="Calibri"/>
                <a:cs typeface="Calibri"/>
              </a:defRPr>
            </a:lvl9pPr>
          </a:lstStyle>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YOLO11s</a:t>
            </a:r>
          </a:p>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Object detection</a:t>
            </a:r>
          </a:p>
        </p:txBody>
      </p:sp>
      <p:sp>
        <p:nvSpPr>
          <p:cNvPr id="9" name="object-70">
            <a:extLst xmlns:a="http://schemas.openxmlformats.org/drawingml/2006/main">
              <a:ext uri="{FF2B5EF4-FFF2-40B4-BE49-F238E27FC236}">
                <a16:creationId xmlns:a16="http://schemas.microsoft.com/office/drawing/2014/main" id="{CD8E2488-C48A-43E0-BB60-7381504BF25D}"/>
              </a:ext>
            </a:extLst>
          </p:cNvPr>
          <p:cNvSpPr>
            <a:spLocks xmlns:a="http://schemas.openxmlformats.org/drawingml/2006/main" noGrp="1"/>
          </p:cNvSpPr>
          <p:nvPr/>
        </p:nvSpPr>
        <p:spPr>
          <a:xfrm xmlns:a="http://schemas.openxmlformats.org/drawingml/2006/main">
            <a:off x="3762375" y="3257550"/>
            <a:ext cx="24765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025">
                <a:solidFill>
                  <a:srgbClr val="000000"/>
                </a:solidFill>
                <a:latin typeface="Calibri"/>
                <a:ea typeface="Calibri"/>
                <a:cs typeface="Calibri"/>
              </a:defRPr>
            </a:defPPr>
            <a:lvl1pPr algn="ctr">
              <a:defRPr sz="2025">
                <a:solidFill>
                  <a:srgbClr val="000000"/>
                </a:solidFill>
                <a:latin typeface="Calibri"/>
                <a:ea typeface="Calibri"/>
                <a:cs typeface="Calibri"/>
              </a:defRPr>
            </a:lvl1pPr>
            <a:lvl2pPr algn="ctr">
              <a:defRPr sz="2025">
                <a:solidFill>
                  <a:srgbClr val="000000"/>
                </a:solidFill>
                <a:latin typeface="Calibri"/>
                <a:ea typeface="Calibri"/>
                <a:cs typeface="Calibri"/>
              </a:defRPr>
            </a:lvl2pPr>
            <a:lvl3pPr algn="ctr">
              <a:defRPr sz="2025">
                <a:solidFill>
                  <a:srgbClr val="000000"/>
                </a:solidFill>
                <a:latin typeface="Calibri"/>
                <a:ea typeface="Calibri"/>
                <a:cs typeface="Calibri"/>
              </a:defRPr>
            </a:lvl3pPr>
            <a:lvl4pPr algn="ctr">
              <a:defRPr sz="2025">
                <a:solidFill>
                  <a:srgbClr val="000000"/>
                </a:solidFill>
                <a:latin typeface="Calibri"/>
                <a:ea typeface="Calibri"/>
                <a:cs typeface="Calibri"/>
              </a:defRPr>
            </a:lvl4pPr>
            <a:lvl5pPr algn="ctr">
              <a:defRPr sz="2025">
                <a:solidFill>
                  <a:srgbClr val="000000"/>
                </a:solidFill>
                <a:latin typeface="Calibri"/>
                <a:ea typeface="Calibri"/>
                <a:cs typeface="Calibri"/>
              </a:defRPr>
            </a:lvl5pPr>
            <a:lvl6pPr algn="ctr">
              <a:defRPr sz="2025">
                <a:solidFill>
                  <a:srgbClr val="000000"/>
                </a:solidFill>
                <a:latin typeface="Calibri"/>
                <a:ea typeface="Calibri"/>
                <a:cs typeface="Calibri"/>
              </a:defRPr>
            </a:lvl6pPr>
            <a:lvl7pPr algn="ctr">
              <a:defRPr sz="2025">
                <a:solidFill>
                  <a:srgbClr val="000000"/>
                </a:solidFill>
                <a:latin typeface="Calibri"/>
                <a:ea typeface="Calibri"/>
                <a:cs typeface="Calibri"/>
              </a:defRPr>
            </a:lvl7pPr>
            <a:lvl8pPr algn="ctr">
              <a:defRPr sz="2025">
                <a:solidFill>
                  <a:srgbClr val="000000"/>
                </a:solidFill>
                <a:latin typeface="Calibri"/>
                <a:ea typeface="Calibri"/>
                <a:cs typeface="Calibri"/>
              </a:defRPr>
            </a:lvl8pPr>
            <a:lvl9pPr algn="ctr">
              <a:defRPr sz="2025">
                <a:solidFill>
                  <a:srgbClr val="000000"/>
                </a:solidFill>
                <a:latin typeface="Calibri"/>
                <a:ea typeface="Calibri"/>
                <a:cs typeface="Calibri"/>
              </a:defRPr>
            </a:lvl9pPr>
          </a:lstStyle>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YOLO11s-seg</a:t>
            </a:r>
          </a:p>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Lane segmentation</a:t>
            </a:r>
          </a:p>
        </p:txBody>
      </p:sp>
      <p:sp>
        <p:nvSpPr>
          <p:cNvPr id="10" name="object-71">
            <a:extLst xmlns:a="http://schemas.openxmlformats.org/drawingml/2006/main">
              <a:ext uri="{FF2B5EF4-FFF2-40B4-BE49-F238E27FC236}">
                <a16:creationId xmlns:a16="http://schemas.microsoft.com/office/drawing/2014/main" id="{7D41EF58-F877-47F1-8EAD-0D7688A124D3}"/>
              </a:ext>
            </a:extLst>
          </p:cNvPr>
          <p:cNvSpPr>
            <a:spLocks xmlns:a="http://schemas.openxmlformats.org/drawingml/2006/main" noGrp="1"/>
          </p:cNvSpPr>
          <p:nvPr/>
        </p:nvSpPr>
        <p:spPr>
          <a:xfrm xmlns:a="http://schemas.openxmlformats.org/drawingml/2006/main">
            <a:off x="3762375" y="4648200"/>
            <a:ext cx="24765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025">
                <a:solidFill>
                  <a:srgbClr val="000000"/>
                </a:solidFill>
                <a:latin typeface="Calibri"/>
                <a:ea typeface="Calibri"/>
                <a:cs typeface="Calibri"/>
              </a:defRPr>
            </a:defPPr>
            <a:lvl1pPr algn="ctr">
              <a:defRPr sz="2025">
                <a:solidFill>
                  <a:srgbClr val="000000"/>
                </a:solidFill>
                <a:latin typeface="Calibri"/>
                <a:ea typeface="Calibri"/>
                <a:cs typeface="Calibri"/>
              </a:defRPr>
            </a:lvl1pPr>
            <a:lvl2pPr algn="ctr">
              <a:defRPr sz="2025">
                <a:solidFill>
                  <a:srgbClr val="000000"/>
                </a:solidFill>
                <a:latin typeface="Calibri"/>
                <a:ea typeface="Calibri"/>
                <a:cs typeface="Calibri"/>
              </a:defRPr>
            </a:lvl2pPr>
            <a:lvl3pPr algn="ctr">
              <a:defRPr sz="2025">
                <a:solidFill>
                  <a:srgbClr val="000000"/>
                </a:solidFill>
                <a:latin typeface="Calibri"/>
                <a:ea typeface="Calibri"/>
                <a:cs typeface="Calibri"/>
              </a:defRPr>
            </a:lvl3pPr>
            <a:lvl4pPr algn="ctr">
              <a:defRPr sz="2025">
                <a:solidFill>
                  <a:srgbClr val="000000"/>
                </a:solidFill>
                <a:latin typeface="Calibri"/>
                <a:ea typeface="Calibri"/>
                <a:cs typeface="Calibri"/>
              </a:defRPr>
            </a:lvl4pPr>
            <a:lvl5pPr algn="ctr">
              <a:defRPr sz="2025">
                <a:solidFill>
                  <a:srgbClr val="000000"/>
                </a:solidFill>
                <a:latin typeface="Calibri"/>
                <a:ea typeface="Calibri"/>
                <a:cs typeface="Calibri"/>
              </a:defRPr>
            </a:lvl5pPr>
            <a:lvl6pPr algn="ctr">
              <a:defRPr sz="2025">
                <a:solidFill>
                  <a:srgbClr val="000000"/>
                </a:solidFill>
                <a:latin typeface="Calibri"/>
                <a:ea typeface="Calibri"/>
                <a:cs typeface="Calibri"/>
              </a:defRPr>
            </a:lvl6pPr>
            <a:lvl7pPr algn="ctr">
              <a:defRPr sz="2025">
                <a:solidFill>
                  <a:srgbClr val="000000"/>
                </a:solidFill>
                <a:latin typeface="Calibri"/>
                <a:ea typeface="Calibri"/>
                <a:cs typeface="Calibri"/>
              </a:defRPr>
            </a:lvl7pPr>
            <a:lvl8pPr algn="ctr">
              <a:defRPr sz="2025">
                <a:solidFill>
                  <a:srgbClr val="000000"/>
                </a:solidFill>
                <a:latin typeface="Calibri"/>
                <a:ea typeface="Calibri"/>
                <a:cs typeface="Calibri"/>
              </a:defRPr>
            </a:lvl8pPr>
            <a:lvl9pPr algn="ctr">
              <a:defRPr sz="2025">
                <a:solidFill>
                  <a:srgbClr val="000000"/>
                </a:solidFill>
                <a:latin typeface="Calibri"/>
                <a:ea typeface="Calibri"/>
                <a:cs typeface="Calibri"/>
              </a:defRPr>
            </a:lvl9pPr>
          </a:lstStyle>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CNN</a:t>
            </a:r>
          </a:p>
          <a:p xmlns:a="http://schemas.openxmlformats.org/drawingml/2006/main">
            <a:pPr algn="ctr">
              <a:defRPr sz="2025">
                <a:solidFill>
                  <a:srgbClr val="000000"/>
                </a:solidFill>
                <a:latin typeface="Calibri"/>
                <a:ea typeface="Calibri"/>
                <a:cs typeface="Calibri"/>
              </a:defRPr>
            </a:pPr>
            <a:r>
              <a:rPr sz="2025">
                <a:solidFill>
                  <a:srgbClr val="000000"/>
                </a:solidFill>
                <a:latin typeface="Calibri"/>
                <a:ea typeface="Calibri"/>
                <a:cs typeface="Calibri"/>
              </a:rPr>
              <a:t>Steering regression</a:t>
            </a:r>
          </a:p>
        </p:txBody>
      </p:sp>
      <p:sp>
        <p:nvSpPr>
          <p:cNvPr id="11" name="object-72">
            <a:extLst xmlns:a="http://schemas.openxmlformats.org/drawingml/2006/main">
              <a:ext uri="{FF2B5EF4-FFF2-40B4-BE49-F238E27FC236}">
                <a16:creationId xmlns:a16="http://schemas.microsoft.com/office/drawing/2014/main" id="{6029CDEF-1FA2-4312-BF1C-7DC8737F3247}"/>
              </a:ext>
            </a:extLst>
          </p:cNvPr>
          <p:cNvSpPr>
            <a:spLocks xmlns:a="http://schemas.openxmlformats.org/drawingml/2006/main" noGrp="1"/>
          </p:cNvSpPr>
          <p:nvPr/>
        </p:nvSpPr>
        <p:spPr>
          <a:xfrm xmlns:a="http://schemas.openxmlformats.org/drawingml/2006/main">
            <a:off x="7191375" y="1866900"/>
            <a:ext cx="22860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Bounding boxes</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and class labels</a:t>
            </a:r>
          </a:p>
        </p:txBody>
      </p:sp>
      <p:sp>
        <p:nvSpPr>
          <p:cNvPr id="12" name="object-73">
            <a:extLst xmlns:a="http://schemas.openxmlformats.org/drawingml/2006/main">
              <a:ext uri="{FF2B5EF4-FFF2-40B4-BE49-F238E27FC236}">
                <a16:creationId xmlns:a16="http://schemas.microsoft.com/office/drawing/2014/main" id="{D8BCCF09-9F00-40D1-A7BC-E82C48BBF241}"/>
              </a:ext>
            </a:extLst>
          </p:cNvPr>
          <p:cNvSpPr>
            <a:spLocks xmlns:a="http://schemas.openxmlformats.org/drawingml/2006/main" noGrp="1"/>
          </p:cNvSpPr>
          <p:nvPr/>
        </p:nvSpPr>
        <p:spPr>
          <a:xfrm xmlns:a="http://schemas.openxmlformats.org/drawingml/2006/main">
            <a:off x="7191375" y="3257550"/>
            <a:ext cx="22860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Lane masks</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and geometry cues</a:t>
            </a:r>
          </a:p>
        </p:txBody>
      </p:sp>
      <p:sp>
        <p:nvSpPr>
          <p:cNvPr id="13" name="object-74">
            <a:extLst xmlns:a="http://schemas.openxmlformats.org/drawingml/2006/main">
              <a:ext uri="{FF2B5EF4-FFF2-40B4-BE49-F238E27FC236}">
                <a16:creationId xmlns:a16="http://schemas.microsoft.com/office/drawing/2014/main" id="{3C554033-4383-41B6-9969-0135AA99520E}"/>
              </a:ext>
            </a:extLst>
          </p:cNvPr>
          <p:cNvSpPr>
            <a:spLocks xmlns:a="http://schemas.openxmlformats.org/drawingml/2006/main" noGrp="1"/>
          </p:cNvSpPr>
          <p:nvPr/>
        </p:nvSpPr>
        <p:spPr>
          <a:xfrm xmlns:a="http://schemas.openxmlformats.org/drawingml/2006/main">
            <a:off x="7191375" y="4648200"/>
            <a:ext cx="2286000" cy="8667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Estimated</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steering angle</a:t>
            </a:r>
          </a:p>
        </p:txBody>
      </p:sp>
      <p:sp>
        <p:nvSpPr>
          <p:cNvPr id="14" name="object-75">
            <a:extLst xmlns:a="http://schemas.openxmlformats.org/drawingml/2006/main">
              <a:ext uri="{FF2B5EF4-FFF2-40B4-BE49-F238E27FC236}">
                <a16:creationId xmlns:a16="http://schemas.microsoft.com/office/drawing/2014/main" id="{C8372673-F188-4274-A83E-56D39C206E18}"/>
              </a:ext>
            </a:extLst>
          </p:cNvPr>
          <p:cNvSpPr>
            <a:spLocks xmlns:a="http://schemas.openxmlformats.org/drawingml/2006/main" noGrp="1"/>
          </p:cNvSpPr>
          <p:nvPr/>
        </p:nvSpPr>
        <p:spPr>
          <a:xfrm xmlns:a="http://schemas.openxmlformats.org/drawingml/2006/main">
            <a:off x="10306050" y="3124200"/>
            <a:ext cx="13525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Visual</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display</a:t>
            </a:r>
          </a:p>
        </p:txBody>
      </p:sp>
      <p:sp>
        <p:nvSpPr>
          <p:cNvPr id="24" name="object-76">
            <a:extLst xmlns:a="http://schemas.openxmlformats.org/drawingml/2006/main">
              <a:ext uri="{FF2B5EF4-FFF2-40B4-BE49-F238E27FC236}">
                <a16:creationId xmlns:a16="http://schemas.microsoft.com/office/drawing/2014/main" id="{7E8B9C8D-F546-484B-B5FF-B0F1AA6991BA}"/>
              </a:ext>
            </a:extLst>
          </p:cNvPr>
          <p:cNvSpPr>
            <a:spLocks xmlns:a="http://schemas.openxmlformats.org/drawingml/2006/main" noGrp="1"/>
          </p:cNvSpPr>
          <p:nvPr/>
        </p:nvSpPr>
        <p:spPr>
          <a:xfrm xmlns:a="http://schemas.openxmlformats.org/drawingml/2006/main">
            <a:off x="685800" y="5934075"/>
            <a:ext cx="108204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defRPr sz="1800" b="1">
                <a:solidFill>
                  <a:srgbClr val="000000"/>
                </a:solidFill>
                <a:latin typeface="Calibri"/>
                <a:ea typeface="Calibri"/>
                <a:cs typeface="Calibri"/>
              </a:defRPr>
            </a:pPr>
            <a:r>
              <a:rPr sz="1800" b="1">
                <a:solidFill>
                  <a:srgbClr val="000000"/>
                </a:solidFill>
                <a:latin typeface="Calibri"/>
                <a:ea typeface="Calibri"/>
                <a:cs typeface="Calibri"/>
              </a:rPr>
              <a:t>Research prototype. No validated closed-loop vehicle control.</a:t>
            </a:r>
          </a:p>
        </p:txBody>
      </p:sp>
    </p:spTree>
    <p:extLst>
      <p:ext uri="{BB962C8B-B14F-4D97-AF65-F5344CB8AC3E}">
        <p14:creationId xmlns:p14="http://schemas.microsoft.com/office/powerpoint/2010/main" val="7569756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77">
            <a:extLst xmlns:a="http://schemas.openxmlformats.org/drawingml/2006/main">
              <a:ext uri="{FF2B5EF4-FFF2-40B4-BE49-F238E27FC236}">
                <a16:creationId xmlns:a16="http://schemas.microsoft.com/office/drawing/2014/main" id="{39FDB8AA-5037-40EB-BD58-5869D38FC816}"/>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78">
            <a:extLst xmlns:a="http://schemas.openxmlformats.org/drawingml/2006/main">
              <a:ext uri="{FF2B5EF4-FFF2-40B4-BE49-F238E27FC236}">
                <a16:creationId xmlns:a16="http://schemas.microsoft.com/office/drawing/2014/main" id="{2C3A7C8B-7FB1-46B4-9A2B-01AAD56060CF}"/>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79">
            <a:extLst xmlns:a="http://schemas.openxmlformats.org/drawingml/2006/main">
              <a:ext uri="{FF2B5EF4-FFF2-40B4-BE49-F238E27FC236}">
                <a16:creationId xmlns:a16="http://schemas.microsoft.com/office/drawing/2014/main" id="{A9C9380F-CABE-412B-844A-C39FC274E45D}"/>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Datasets and preprocessing</a:t>
            </a:r>
          </a:p>
        </p:txBody>
      </p:sp>
      <p:sp>
        <p:nvSpPr>
          <p:cNvPr id="4" name="object-80">
            <a:extLst xmlns:a="http://schemas.openxmlformats.org/drawingml/2006/main">
              <a:ext uri="{FF2B5EF4-FFF2-40B4-BE49-F238E27FC236}">
                <a16:creationId xmlns:a16="http://schemas.microsoft.com/office/drawing/2014/main" id="{494F7FE9-2A1A-447C-B5BA-AC63A40144B2}"/>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81">
            <a:extLst xmlns:a="http://schemas.openxmlformats.org/drawingml/2006/main">
              <a:ext uri="{FF2B5EF4-FFF2-40B4-BE49-F238E27FC236}">
                <a16:creationId xmlns:a16="http://schemas.microsoft.com/office/drawing/2014/main" id="{D4D8F217-6E21-4BD6-9164-D5F05E01907C}"/>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8</a:t>
            </a:r>
          </a:p>
        </p:txBody>
      </p:sp>
      <p:graphicFrame>
        <p:nvGraphicFramePr>
          <p:cNvPr id="6" name="">
            <a:extLst xmlns:a="http://schemas.openxmlformats.org/drawingml/2006/main">
              <a:ext uri="{FF2B5EF4-FFF2-40B4-BE49-F238E27FC236}">
                <a16:creationId xmlns:a16="http://schemas.microsoft.com/office/drawing/2014/main" id="{E06CF367-4362-4832-B695-65E0AEA8EB12}"/>
              </a:ext>
            </a:extLst>
          </p:cNvPr>
          <p:cNvGraphicFramePr/>
          <p:nvPr/>
        </p:nvGraphicFramePr>
        <p:xfrm>
          <a:off xmlns:a="http://schemas.openxmlformats.org/drawingml/2006/main" x="685800" y="1695450"/>
          <a:ext xmlns:a="http://schemas.openxmlformats.org/drawingml/2006/main" cx="10820400" cy="2514600"/>
        </p:xfrm>
        <a:graphic xmlns:a="http://schemas.openxmlformats.org/drawingml/2006/main">
          <a:graphicData uri="http://schemas.openxmlformats.org/drawingml/2006/table">
            <a:tbl>
              <a:tblPr/>
              <a:tblGrid>
                <a:gridCol w="2380488"/>
                <a:gridCol w="2705100"/>
                <a:gridCol w="2705100"/>
                <a:gridCol w="3029712"/>
              </a:tblGrid>
              <a:tr h="628650">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Module</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Training data</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Evaluation data</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00" b="1">
                          <a:solidFill>
                            <a:srgbClr val="FFFFFF"/>
                          </a:solidFill>
                          <a:latin typeface="Calibri"/>
                          <a:ea typeface="Calibri"/>
                          <a:cs typeface="Calibri"/>
                        </a:rPr>
                        <a:t>Preprocessing</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28650">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Detection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8,080 COCO-10 images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975 validation + 525 test</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640 × 640 input, ten classes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28650">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segmentation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2,900 TuSimple frames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726 validation frames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Lane points converted to narrow polygons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628650">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Steering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36,324 ordered training rows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9,082 validation rows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00" b="0">
                          <a:solidFill>
                            <a:srgbClr val="000000"/>
                          </a:solidFill>
                          <a:latin typeface="Calibri"/>
                          <a:ea typeface="Calibri"/>
                          <a:cs typeface="Calibri"/>
                        </a:rPr>
                        <a:t>Bottom 150-row crop, 200 × 66 resize</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7" name="object-82">
            <a:extLst xmlns:a="http://schemas.openxmlformats.org/drawingml/2006/main">
              <a:ext uri="{FF2B5EF4-FFF2-40B4-BE49-F238E27FC236}">
                <a16:creationId xmlns:a16="http://schemas.microsoft.com/office/drawing/2014/main" id="{C8B7ED3B-C9CF-42E1-BF2A-E3DF046EBC0F}"/>
              </a:ext>
            </a:extLst>
          </p:cNvPr>
          <p:cNvSpPr>
            <a:spLocks xmlns:a="http://schemas.openxmlformats.org/drawingml/2006/main" noGrp="1"/>
          </p:cNvSpPr>
          <p:nvPr/>
        </p:nvSpPr>
        <p:spPr>
          <a:xfrm xmlns:a="http://schemas.openxmlformats.org/drawingml/2006/main">
            <a:off x="685800" y="4600575"/>
            <a:ext cx="108204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Lane annotations: 3,626 valid frames and 2,732 validation lane instances</a:t>
            </a:r>
          </a:p>
        </p:txBody>
      </p:sp>
      <p:sp>
        <p:nvSpPr>
          <p:cNvPr id="8" name="object-83">
            <a:extLst xmlns:a="http://schemas.openxmlformats.org/drawingml/2006/main">
              <a:ext uri="{FF2B5EF4-FFF2-40B4-BE49-F238E27FC236}">
                <a16:creationId xmlns:a16="http://schemas.microsoft.com/office/drawing/2014/main" id="{EE153B89-853A-4E2B-A534-1B3C74D76B7D}"/>
              </a:ext>
            </a:extLst>
          </p:cNvPr>
          <p:cNvSpPr>
            <a:spLocks xmlns:a="http://schemas.openxmlformats.org/drawingml/2006/main" noGrp="1"/>
          </p:cNvSpPr>
          <p:nvPr/>
        </p:nvSpPr>
        <p:spPr>
          <a:xfrm xmlns:a="http://schemas.openxmlformats.org/drawingml/2006/main">
            <a:off x="685800" y="56007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The existing steering split is not an independent test drive.</a:t>
            </a:r>
          </a:p>
        </p:txBody>
      </p:sp>
    </p:spTree>
    <p:extLst>
      <p:ext uri="{BB962C8B-B14F-4D97-AF65-F5344CB8AC3E}">
        <p14:creationId xmlns:p14="http://schemas.microsoft.com/office/powerpoint/2010/main" val="637054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8A872B8A-EA94-4D46-A113-2594793DE770}"/>
              </a:ext>
            </a:extLst>
          </p:cNvPr>
          <p:cNvCxnSpPr>
            <a:stCxn xmlns:a="http://schemas.openxmlformats.org/drawingml/2006/main" id="9" idx="3"/>
            <a:endCxn xmlns:a="http://schemas.openxmlformats.org/drawingml/2006/main" id="10" idx="1"/>
          </p:cNvCxnSpPr>
          <p:nvPr/>
        </p:nvCxnSpPr>
        <p:spPr>
          <a:xfrm xmlns:a="http://schemas.openxmlformats.org/drawingml/2006/main">
            <a:off x="9239250" y="4848225"/>
            <a:ext cx="85725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2" name="">
            <a:extLst xmlns:a="http://schemas.openxmlformats.org/drawingml/2006/main">
              <a:ext uri="{FF2B5EF4-FFF2-40B4-BE49-F238E27FC236}">
                <a16:creationId xmlns:a16="http://schemas.microsoft.com/office/drawing/2014/main" id="{C5DB07A4-E5F8-4324-824C-D3C4212D4843}"/>
              </a:ext>
            </a:extLst>
          </p:cNvPr>
          <p:cNvCxnSpPr>
            <a:stCxn xmlns:a="http://schemas.openxmlformats.org/drawingml/2006/main" id="8" idx="3"/>
            <a:endCxn xmlns:a="http://schemas.openxmlformats.org/drawingml/2006/main" id="9" idx="1"/>
          </p:cNvCxnSpPr>
          <p:nvPr/>
        </p:nvCxnSpPr>
        <p:spPr>
          <a:xfrm xmlns:a="http://schemas.openxmlformats.org/drawingml/2006/main">
            <a:off x="6048375" y="4848225"/>
            <a:ext cx="85725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1" name="">
            <a:extLst xmlns:a="http://schemas.openxmlformats.org/drawingml/2006/main">
              <a:ext uri="{FF2B5EF4-FFF2-40B4-BE49-F238E27FC236}">
                <a16:creationId xmlns:a16="http://schemas.microsoft.com/office/drawing/2014/main" id="{E12C7DA8-846A-4F51-9074-B15C81F240FE}"/>
              </a:ext>
            </a:extLst>
          </p:cNvPr>
          <p:cNvCxnSpPr>
            <a:stCxn xmlns:a="http://schemas.openxmlformats.org/drawingml/2006/main" id="7" idx="3"/>
            <a:endCxn xmlns:a="http://schemas.openxmlformats.org/drawingml/2006/main" id="8" idx="1"/>
          </p:cNvCxnSpPr>
          <p:nvPr/>
        </p:nvCxnSpPr>
        <p:spPr>
          <a:xfrm xmlns:a="http://schemas.openxmlformats.org/drawingml/2006/main">
            <a:off x="2857500" y="4848225"/>
            <a:ext cx="85725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sp>
        <p:nvSpPr>
          <p:cNvPr id="15" name="object-84">
            <a:extLst xmlns:a="http://schemas.openxmlformats.org/drawingml/2006/main">
              <a:ext uri="{FF2B5EF4-FFF2-40B4-BE49-F238E27FC236}">
                <a16:creationId xmlns:a16="http://schemas.microsoft.com/office/drawing/2014/main" id="{C5383B87-C0A5-4222-8579-DAB6CA4D4D7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85">
            <a:extLst xmlns:a="http://schemas.openxmlformats.org/drawingml/2006/main">
              <a:ext uri="{FF2B5EF4-FFF2-40B4-BE49-F238E27FC236}">
                <a16:creationId xmlns:a16="http://schemas.microsoft.com/office/drawing/2014/main" id="{BC7E576E-87DB-48D4-BF77-D9B2A0B4F40F}"/>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86">
            <a:extLst xmlns:a="http://schemas.openxmlformats.org/drawingml/2006/main">
              <a:ext uri="{FF2B5EF4-FFF2-40B4-BE49-F238E27FC236}">
                <a16:creationId xmlns:a16="http://schemas.microsoft.com/office/drawing/2014/main" id="{4E48718A-299F-4681-8689-50E56174BD7C}"/>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Perception models</a:t>
            </a:r>
          </a:p>
        </p:txBody>
      </p:sp>
      <p:sp>
        <p:nvSpPr>
          <p:cNvPr id="4" name="object-87">
            <a:extLst xmlns:a="http://schemas.openxmlformats.org/drawingml/2006/main">
              <a:ext uri="{FF2B5EF4-FFF2-40B4-BE49-F238E27FC236}">
                <a16:creationId xmlns:a16="http://schemas.microsoft.com/office/drawing/2014/main" id="{DB900341-AF86-4ED8-BF95-AA2D081EC037}"/>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88">
            <a:extLst xmlns:a="http://schemas.openxmlformats.org/drawingml/2006/main">
              <a:ext uri="{FF2B5EF4-FFF2-40B4-BE49-F238E27FC236}">
                <a16:creationId xmlns:a16="http://schemas.microsoft.com/office/drawing/2014/main" id="{66D3788D-D02F-488C-AD73-DA0F51005F1B}"/>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9</a:t>
            </a:r>
          </a:p>
        </p:txBody>
      </p:sp>
      <p:graphicFrame>
        <p:nvGraphicFramePr>
          <p:cNvPr id="6" name="">
            <a:extLst xmlns:a="http://schemas.openxmlformats.org/drawingml/2006/main">
              <a:ext uri="{FF2B5EF4-FFF2-40B4-BE49-F238E27FC236}">
                <a16:creationId xmlns:a16="http://schemas.microsoft.com/office/drawing/2014/main" id="{0A80CE41-BBA6-4585-BA8E-8B8ECFDD22D4}"/>
              </a:ext>
            </a:extLst>
          </p:cNvPr>
          <p:cNvGraphicFramePr/>
          <p:nvPr/>
        </p:nvGraphicFramePr>
        <p:xfrm>
          <a:off xmlns:a="http://schemas.openxmlformats.org/drawingml/2006/main" x="685800" y="1666875"/>
          <a:ext xmlns:a="http://schemas.openxmlformats.org/drawingml/2006/main" cx="10820400" cy="1943100"/>
        </p:xfrm>
        <a:graphic xmlns:a="http://schemas.openxmlformats.org/drawingml/2006/main">
          <a:graphicData uri="http://schemas.openxmlformats.org/drawingml/2006/table">
            <a:tbl>
              <a:tblPr/>
              <a:tblGrid>
                <a:gridCol w="2596896"/>
                <a:gridCol w="3354324"/>
                <a:gridCol w="2488692"/>
                <a:gridCol w="2380488"/>
              </a:tblGrid>
              <a:tr h="647700">
                <a:tc>
                  <a:txBody>
                    <a:bodyPr wrap="square" lIns="66675" tIns="66675" rIns="66675" bIns="66675">
                      <a:noAutofit/>
                    </a:bodyPr>
                    <a:lstStyle/>
                    <a:p>
                      <a:pPr algn="l">
                        <a:lnSpc>
                          <a:spcPct val="100000"/>
                        </a:lnSpc>
                        <a:spcBef>
                          <a:spcPts val="0"/>
                        </a:spcBef>
                        <a:spcAft>
                          <a:spcPts val="0"/>
                        </a:spcAft>
                      </a:pPr>
                      <a:r>
                        <a:rPr sz="2100" b="1">
                          <a:solidFill>
                            <a:srgbClr val="FFFFFF"/>
                          </a:solidFill>
                          <a:latin typeface="Calibri"/>
                          <a:ea typeface="Calibri"/>
                          <a:cs typeface="Calibri"/>
                        </a:rPr>
                        <a:t>Model</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00" b="1">
                          <a:solidFill>
                            <a:srgbClr val="FFFFFF"/>
                          </a:solidFill>
                          <a:latin typeface="Calibri"/>
                          <a:ea typeface="Calibri"/>
                          <a:cs typeface="Calibri"/>
                        </a:rPr>
                        <a:t>Task</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00" b="1">
                          <a:solidFill>
                            <a:srgbClr val="FFFFFF"/>
                          </a:solidFill>
                          <a:latin typeface="Calibri"/>
                          <a:ea typeface="Calibri"/>
                          <a:cs typeface="Calibri"/>
                        </a:rPr>
                        <a:t>Parameters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00" b="1">
                          <a:solidFill>
                            <a:srgbClr val="FFFFFF"/>
                          </a:solidFill>
                          <a:latin typeface="Calibri"/>
                          <a:ea typeface="Calibri"/>
                          <a:cs typeface="Calibri"/>
                        </a:rPr>
                        <a:t>Fused compute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47700">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YOLO11s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10-class object detection</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9,416,670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21.4 GFLOPs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47700">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YOLO11s-seg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1-class lane masks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10,067,203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00" b="0">
                          <a:solidFill>
                            <a:srgbClr val="000000"/>
                          </a:solidFill>
                          <a:latin typeface="Calibri"/>
                          <a:ea typeface="Calibri"/>
                          <a:cs typeface="Calibri"/>
                        </a:rPr>
                        <a:t>32.9 GFLOPs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7" name="object-89">
            <a:extLst xmlns:a="http://schemas.openxmlformats.org/drawingml/2006/main">
              <a:ext uri="{FF2B5EF4-FFF2-40B4-BE49-F238E27FC236}">
                <a16:creationId xmlns:a16="http://schemas.microsoft.com/office/drawing/2014/main" id="{7644C061-6D31-4366-8AB2-4751E6E0BBEF}"/>
              </a:ext>
            </a:extLst>
          </p:cNvPr>
          <p:cNvSpPr>
            <a:spLocks xmlns:a="http://schemas.openxmlformats.org/drawingml/2006/main" noGrp="1"/>
          </p:cNvSpPr>
          <p:nvPr/>
        </p:nvSpPr>
        <p:spPr>
          <a:xfrm xmlns:a="http://schemas.openxmlformats.org/drawingml/2006/main">
            <a:off x="857250" y="4371975"/>
            <a:ext cx="20002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2100">
                <a:solidFill>
                  <a:srgbClr val="000000"/>
                </a:solidFill>
                <a:latin typeface="Calibri"/>
                <a:ea typeface="Calibri"/>
                <a:cs typeface="Calibri"/>
              </a:defRPr>
            </a:defPPr>
            <a:lvl1pPr algn="ctr">
              <a:defRPr sz="2100">
                <a:solidFill>
                  <a:srgbClr val="000000"/>
                </a:solidFill>
                <a:latin typeface="Calibri"/>
                <a:ea typeface="Calibri"/>
                <a:cs typeface="Calibri"/>
              </a:defRPr>
            </a:lvl1pPr>
            <a:lvl2pPr algn="ctr">
              <a:defRPr sz="2100">
                <a:solidFill>
                  <a:srgbClr val="000000"/>
                </a:solidFill>
                <a:latin typeface="Calibri"/>
                <a:ea typeface="Calibri"/>
                <a:cs typeface="Calibri"/>
              </a:defRPr>
            </a:lvl2pPr>
            <a:lvl3pPr algn="ctr">
              <a:defRPr sz="2100">
                <a:solidFill>
                  <a:srgbClr val="000000"/>
                </a:solidFill>
                <a:latin typeface="Calibri"/>
                <a:ea typeface="Calibri"/>
                <a:cs typeface="Calibri"/>
              </a:defRPr>
            </a:lvl3pPr>
            <a:lvl4pPr algn="ctr">
              <a:defRPr sz="2100">
                <a:solidFill>
                  <a:srgbClr val="000000"/>
                </a:solidFill>
                <a:latin typeface="Calibri"/>
                <a:ea typeface="Calibri"/>
                <a:cs typeface="Calibri"/>
              </a:defRPr>
            </a:lvl4pPr>
            <a:lvl5pPr algn="ctr">
              <a:defRPr sz="2100">
                <a:solidFill>
                  <a:srgbClr val="000000"/>
                </a:solidFill>
                <a:latin typeface="Calibri"/>
                <a:ea typeface="Calibri"/>
                <a:cs typeface="Calibri"/>
              </a:defRPr>
            </a:lvl5pPr>
            <a:lvl6pPr algn="ctr">
              <a:defRPr sz="2100">
                <a:solidFill>
                  <a:srgbClr val="000000"/>
                </a:solidFill>
                <a:latin typeface="Calibri"/>
                <a:ea typeface="Calibri"/>
                <a:cs typeface="Calibri"/>
              </a:defRPr>
            </a:lvl6pPr>
            <a:lvl7pPr algn="ctr">
              <a:defRPr sz="2100">
                <a:solidFill>
                  <a:srgbClr val="000000"/>
                </a:solidFill>
                <a:latin typeface="Calibri"/>
                <a:ea typeface="Calibri"/>
                <a:cs typeface="Calibri"/>
              </a:defRPr>
            </a:lvl7pPr>
            <a:lvl8pPr algn="ctr">
              <a:defRPr sz="2100">
                <a:solidFill>
                  <a:srgbClr val="000000"/>
                </a:solidFill>
                <a:latin typeface="Calibri"/>
                <a:ea typeface="Calibri"/>
                <a:cs typeface="Calibri"/>
              </a:defRPr>
            </a:lvl8pPr>
            <a:lvl9pPr algn="ctr">
              <a:defRPr sz="2100">
                <a:solidFill>
                  <a:srgbClr val="000000"/>
                </a:solidFill>
                <a:latin typeface="Calibri"/>
                <a:ea typeface="Calibri"/>
                <a:cs typeface="Calibri"/>
              </a:defRPr>
            </a:lvl9pPr>
          </a:lstStyle>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640 × 640</a:t>
            </a:r>
          </a:p>
          <a:p xmlns:a="http://schemas.openxmlformats.org/drawingml/2006/main">
            <a:pPr algn="ctr">
              <a:defRPr sz="2100">
                <a:solidFill>
                  <a:srgbClr val="000000"/>
                </a:solidFill>
                <a:latin typeface="Calibri"/>
                <a:ea typeface="Calibri"/>
                <a:cs typeface="Calibri"/>
              </a:defRPr>
            </a:pPr>
            <a:r>
              <a:rPr sz="2100">
                <a:solidFill>
                  <a:srgbClr val="000000"/>
                </a:solidFill>
                <a:latin typeface="Calibri"/>
                <a:ea typeface="Calibri"/>
                <a:cs typeface="Calibri"/>
              </a:rPr>
              <a:t>image</a:t>
            </a:r>
          </a:p>
        </p:txBody>
      </p:sp>
      <p:sp>
        <p:nvSpPr>
          <p:cNvPr id="8" name="object-90">
            <a:extLst xmlns:a="http://schemas.openxmlformats.org/drawingml/2006/main">
              <a:ext uri="{FF2B5EF4-FFF2-40B4-BE49-F238E27FC236}">
                <a16:creationId xmlns:a16="http://schemas.microsoft.com/office/drawing/2014/main" id="{7BB2A6E9-9DB5-4AF2-89A5-75C855C3F30B}"/>
              </a:ext>
            </a:extLst>
          </p:cNvPr>
          <p:cNvSpPr>
            <a:spLocks xmlns:a="http://schemas.openxmlformats.org/drawingml/2006/main" noGrp="1"/>
          </p:cNvSpPr>
          <p:nvPr/>
        </p:nvSpPr>
        <p:spPr>
          <a:xfrm xmlns:a="http://schemas.openxmlformats.org/drawingml/2006/main">
            <a:off x="3714750" y="4371975"/>
            <a:ext cx="23336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Backbone</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feature extraction</a:t>
            </a:r>
          </a:p>
        </p:txBody>
      </p:sp>
      <p:sp>
        <p:nvSpPr>
          <p:cNvPr id="9" name="object-91">
            <a:extLst xmlns:a="http://schemas.openxmlformats.org/drawingml/2006/main">
              <a:ext uri="{FF2B5EF4-FFF2-40B4-BE49-F238E27FC236}">
                <a16:creationId xmlns:a16="http://schemas.microsoft.com/office/drawing/2014/main" id="{98536CB2-7595-4637-9D68-31F1049E11E4}"/>
              </a:ext>
            </a:extLst>
          </p:cNvPr>
          <p:cNvSpPr>
            <a:spLocks xmlns:a="http://schemas.openxmlformats.org/drawingml/2006/main" noGrp="1"/>
          </p:cNvSpPr>
          <p:nvPr/>
        </p:nvSpPr>
        <p:spPr>
          <a:xfrm xmlns:a="http://schemas.openxmlformats.org/drawingml/2006/main">
            <a:off x="6905625" y="4371975"/>
            <a:ext cx="2333625"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Neck</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feature aggregation</a:t>
            </a:r>
          </a:p>
        </p:txBody>
      </p:sp>
      <p:sp>
        <p:nvSpPr>
          <p:cNvPr id="10" name="object-92">
            <a:extLst xmlns:a="http://schemas.openxmlformats.org/drawingml/2006/main">
              <a:ext uri="{FF2B5EF4-FFF2-40B4-BE49-F238E27FC236}">
                <a16:creationId xmlns:a16="http://schemas.microsoft.com/office/drawing/2014/main" id="{1FDF1758-88BA-45B4-90A3-80EB23D27340}"/>
              </a:ext>
            </a:extLst>
          </p:cNvPr>
          <p:cNvSpPr>
            <a:spLocks xmlns:a="http://schemas.openxmlformats.org/drawingml/2006/main" noGrp="1"/>
          </p:cNvSpPr>
          <p:nvPr/>
        </p:nvSpPr>
        <p:spPr>
          <a:xfrm xmlns:a="http://schemas.openxmlformats.org/drawingml/2006/main">
            <a:off x="10096500" y="4371975"/>
            <a:ext cx="1428750" cy="952500"/>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875">
                <a:solidFill>
                  <a:srgbClr val="000000"/>
                </a:solidFill>
                <a:latin typeface="Calibri"/>
                <a:ea typeface="Calibri"/>
                <a:cs typeface="Calibri"/>
              </a:defRPr>
            </a:defPPr>
            <a:lvl1pPr algn="ctr">
              <a:defRPr sz="1875">
                <a:solidFill>
                  <a:srgbClr val="000000"/>
                </a:solidFill>
                <a:latin typeface="Calibri"/>
                <a:ea typeface="Calibri"/>
                <a:cs typeface="Calibri"/>
              </a:defRPr>
            </a:lvl1pPr>
            <a:lvl2pPr algn="ctr">
              <a:defRPr sz="1875">
                <a:solidFill>
                  <a:srgbClr val="000000"/>
                </a:solidFill>
                <a:latin typeface="Calibri"/>
                <a:ea typeface="Calibri"/>
                <a:cs typeface="Calibri"/>
              </a:defRPr>
            </a:lvl2pPr>
            <a:lvl3pPr algn="ctr">
              <a:defRPr sz="1875">
                <a:solidFill>
                  <a:srgbClr val="000000"/>
                </a:solidFill>
                <a:latin typeface="Calibri"/>
                <a:ea typeface="Calibri"/>
                <a:cs typeface="Calibri"/>
              </a:defRPr>
            </a:lvl3pPr>
            <a:lvl4pPr algn="ctr">
              <a:defRPr sz="1875">
                <a:solidFill>
                  <a:srgbClr val="000000"/>
                </a:solidFill>
                <a:latin typeface="Calibri"/>
                <a:ea typeface="Calibri"/>
                <a:cs typeface="Calibri"/>
              </a:defRPr>
            </a:lvl4pPr>
            <a:lvl5pPr algn="ctr">
              <a:defRPr sz="1875">
                <a:solidFill>
                  <a:srgbClr val="000000"/>
                </a:solidFill>
                <a:latin typeface="Calibri"/>
                <a:ea typeface="Calibri"/>
                <a:cs typeface="Calibri"/>
              </a:defRPr>
            </a:lvl5pPr>
            <a:lvl6pPr algn="ctr">
              <a:defRPr sz="1875">
                <a:solidFill>
                  <a:srgbClr val="000000"/>
                </a:solidFill>
                <a:latin typeface="Calibri"/>
                <a:ea typeface="Calibri"/>
                <a:cs typeface="Calibri"/>
              </a:defRPr>
            </a:lvl6pPr>
            <a:lvl7pPr algn="ctr">
              <a:defRPr sz="1875">
                <a:solidFill>
                  <a:srgbClr val="000000"/>
                </a:solidFill>
                <a:latin typeface="Calibri"/>
                <a:ea typeface="Calibri"/>
                <a:cs typeface="Calibri"/>
              </a:defRPr>
            </a:lvl7pPr>
            <a:lvl8pPr algn="ctr">
              <a:defRPr sz="1875">
                <a:solidFill>
                  <a:srgbClr val="000000"/>
                </a:solidFill>
                <a:latin typeface="Calibri"/>
                <a:ea typeface="Calibri"/>
                <a:cs typeface="Calibri"/>
              </a:defRPr>
            </a:lvl8pPr>
            <a:lvl9pPr algn="ctr">
              <a:defRPr sz="1875">
                <a:solidFill>
                  <a:srgbClr val="000000"/>
                </a:solidFill>
                <a:latin typeface="Calibri"/>
                <a:ea typeface="Calibri"/>
                <a:cs typeface="Calibri"/>
              </a:defRPr>
            </a:lvl9pPr>
          </a:lstStyle>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Prediction</a:t>
            </a:r>
          </a:p>
          <a:p xmlns:a="http://schemas.openxmlformats.org/drawingml/2006/main">
            <a:pPr algn="ctr">
              <a:defRPr sz="1875">
                <a:solidFill>
                  <a:srgbClr val="000000"/>
                </a:solidFill>
                <a:latin typeface="Calibri"/>
                <a:ea typeface="Calibri"/>
                <a:cs typeface="Calibri"/>
              </a:defRPr>
            </a:pPr>
            <a:r>
              <a:rPr sz="1875">
                <a:solidFill>
                  <a:srgbClr val="000000"/>
                </a:solidFill>
                <a:latin typeface="Calibri"/>
                <a:ea typeface="Calibri"/>
                <a:cs typeface="Calibri"/>
              </a:rPr>
              <a:t>head</a:t>
            </a:r>
          </a:p>
        </p:txBody>
      </p:sp>
      <p:sp>
        <p:nvSpPr>
          <p:cNvPr id="14" name="object-93">
            <a:extLst xmlns:a="http://schemas.openxmlformats.org/drawingml/2006/main">
              <a:ext uri="{FF2B5EF4-FFF2-40B4-BE49-F238E27FC236}">
                <a16:creationId xmlns:a16="http://schemas.microsoft.com/office/drawing/2014/main" id="{3F6337B0-27F8-4B2E-A3AA-6A06ADBD00E9}"/>
              </a:ext>
            </a:extLst>
          </p:cNvPr>
          <p:cNvSpPr>
            <a:spLocks xmlns:a="http://schemas.openxmlformats.org/drawingml/2006/main" noGrp="1"/>
          </p:cNvSpPr>
          <p:nvPr/>
        </p:nvSpPr>
        <p:spPr>
          <a:xfrm xmlns:a="http://schemas.openxmlformats.org/drawingml/2006/main">
            <a:off x="685800" y="57626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Detection: boxes and classes. Segmentation: boxes, masks and confidence.</a:t>
            </a:r>
          </a:p>
        </p:txBody>
      </p:sp>
    </p:spTree>
    <p:extLst>
      <p:ext uri="{BB962C8B-B14F-4D97-AF65-F5344CB8AC3E}">
        <p14:creationId xmlns:p14="http://schemas.microsoft.com/office/powerpoint/2010/main" val="125863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94099062-FA05-49B3-A8BF-5BA1922717C4}"/>
              </a:ext>
            </a:extLst>
          </p:cNvPr>
          <p:cNvCxnSpPr>
            <a:stCxn xmlns:a="http://schemas.openxmlformats.org/drawingml/2006/main" id="8" idx="3"/>
            <a:endCxn xmlns:a="http://schemas.openxmlformats.org/drawingml/2006/main" id="9" idx="1"/>
          </p:cNvCxnSpPr>
          <p:nvPr/>
        </p:nvCxnSpPr>
        <p:spPr>
          <a:xfrm xmlns:a="http://schemas.openxmlformats.org/drawingml/2006/main">
            <a:off x="8667750" y="2443163"/>
            <a:ext cx="4191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1" name="">
            <a:extLst xmlns:a="http://schemas.openxmlformats.org/drawingml/2006/main">
              <a:ext uri="{FF2B5EF4-FFF2-40B4-BE49-F238E27FC236}">
                <a16:creationId xmlns:a16="http://schemas.microsoft.com/office/drawing/2014/main" id="{3352BEEC-B594-45B8-97B8-807314191DBE}"/>
              </a:ext>
            </a:extLst>
          </p:cNvPr>
          <p:cNvCxnSpPr>
            <a:stCxn xmlns:a="http://schemas.openxmlformats.org/drawingml/2006/main" id="7" idx="3"/>
            <a:endCxn xmlns:a="http://schemas.openxmlformats.org/drawingml/2006/main" id="8" idx="1"/>
          </p:cNvCxnSpPr>
          <p:nvPr/>
        </p:nvCxnSpPr>
        <p:spPr>
          <a:xfrm xmlns:a="http://schemas.openxmlformats.org/drawingml/2006/main">
            <a:off x="5867400" y="2443163"/>
            <a:ext cx="4191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cxnSp>
        <p:nvCxnSpPr>
          <p:cNvPr id="10" name="">
            <a:extLst xmlns:a="http://schemas.openxmlformats.org/drawingml/2006/main">
              <a:ext uri="{FF2B5EF4-FFF2-40B4-BE49-F238E27FC236}">
                <a16:creationId xmlns:a16="http://schemas.microsoft.com/office/drawing/2014/main" id="{F63EA710-FC69-4FD9-B5C3-ACB698E4FE3A}"/>
              </a:ext>
            </a:extLst>
          </p:cNvPr>
          <p:cNvCxnSpPr>
            <a:stCxn xmlns:a="http://schemas.openxmlformats.org/drawingml/2006/main" id="6" idx="3"/>
            <a:endCxn xmlns:a="http://schemas.openxmlformats.org/drawingml/2006/main" id="7" idx="1"/>
          </p:cNvCxnSpPr>
          <p:nvPr/>
        </p:nvCxnSpPr>
        <p:spPr>
          <a:xfrm xmlns:a="http://schemas.openxmlformats.org/drawingml/2006/main">
            <a:off x="3067050" y="2443163"/>
            <a:ext cx="419100" cy="0"/>
          </a:xfrm>
          <a:prstGeom xmlns:a="http://schemas.openxmlformats.org/drawingml/2006/main" prst="straightConnector1">
            <a:avLst/>
          </a:prstGeom>
          <a:ln xmlns:a="http://schemas.openxmlformats.org/drawingml/2006/main" w="19050">
            <a:solidFill>
              <a:srgbClr val="000000"/>
            </a:solidFill>
            <a:prstDash val="solid"/>
            <a:headEnd type="none"/>
            <a:tailEnd type="triangle" w="med" len="med"/>
          </a:ln>
        </p:spPr>
      </p:cxnSp>
      <p:sp>
        <p:nvSpPr>
          <p:cNvPr id="19" name="object-94">
            <a:extLst xmlns:a="http://schemas.openxmlformats.org/drawingml/2006/main">
              <a:ext uri="{FF2B5EF4-FFF2-40B4-BE49-F238E27FC236}">
                <a16:creationId xmlns:a16="http://schemas.microsoft.com/office/drawing/2014/main" id="{53732C6D-399A-412F-ABDA-B0270B77847A}"/>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95">
            <a:extLst xmlns:a="http://schemas.openxmlformats.org/drawingml/2006/main">
              <a:ext uri="{FF2B5EF4-FFF2-40B4-BE49-F238E27FC236}">
                <a16:creationId xmlns:a16="http://schemas.microsoft.com/office/drawing/2014/main" id="{FE7F7B8C-B649-4147-A0D5-0BAD086F8291}"/>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96">
            <a:extLst xmlns:a="http://schemas.openxmlformats.org/drawingml/2006/main">
              <a:ext uri="{FF2B5EF4-FFF2-40B4-BE49-F238E27FC236}">
                <a16:creationId xmlns:a16="http://schemas.microsoft.com/office/drawing/2014/main" id="{8C8854BD-D845-4C01-8927-51542AC7A6E1}"/>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Steering model and new readout</a:t>
            </a:r>
          </a:p>
        </p:txBody>
      </p:sp>
      <p:sp>
        <p:nvSpPr>
          <p:cNvPr id="4" name="object-97">
            <a:extLst xmlns:a="http://schemas.openxmlformats.org/drawingml/2006/main">
              <a:ext uri="{FF2B5EF4-FFF2-40B4-BE49-F238E27FC236}">
                <a16:creationId xmlns:a16="http://schemas.microsoft.com/office/drawing/2014/main" id="{246309ED-8AF3-433A-9D23-22C2CCE52800}"/>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98">
            <a:extLst xmlns:a="http://schemas.openxmlformats.org/drawingml/2006/main">
              <a:ext uri="{FF2B5EF4-FFF2-40B4-BE49-F238E27FC236}">
                <a16:creationId xmlns:a16="http://schemas.microsoft.com/office/drawing/2014/main" id="{62988B8F-0FF8-4FF1-813F-FFF5020E7C54}"/>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10</a:t>
            </a:r>
          </a:p>
        </p:txBody>
      </p:sp>
      <p:sp>
        <p:nvSpPr>
          <p:cNvPr id="6" name="object-99">
            <a:extLst xmlns:a="http://schemas.openxmlformats.org/drawingml/2006/main">
              <a:ext uri="{FF2B5EF4-FFF2-40B4-BE49-F238E27FC236}">
                <a16:creationId xmlns:a16="http://schemas.microsoft.com/office/drawing/2014/main" id="{A5ECF1DE-97AE-4055-933F-9A79D73A4236}"/>
              </a:ext>
            </a:extLst>
          </p:cNvPr>
          <p:cNvSpPr>
            <a:spLocks xmlns:a="http://schemas.openxmlformats.org/drawingml/2006/main" noGrp="1"/>
          </p:cNvSpPr>
          <p:nvPr/>
        </p:nvSpPr>
        <p:spPr>
          <a:xfrm xmlns:a="http://schemas.openxmlformats.org/drawingml/2006/main">
            <a:off x="68580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RGB frame</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Crop and resize</a:t>
            </a:r>
          </a:p>
        </p:txBody>
      </p:sp>
      <p:sp>
        <p:nvSpPr>
          <p:cNvPr id="7" name="object-100">
            <a:extLst xmlns:a="http://schemas.openxmlformats.org/drawingml/2006/main">
              <a:ext uri="{FF2B5EF4-FFF2-40B4-BE49-F238E27FC236}">
                <a16:creationId xmlns:a16="http://schemas.microsoft.com/office/drawing/2014/main" id="{2ACBB84D-7678-4B95-98D7-16B36AD4BA18}"/>
              </a:ext>
            </a:extLst>
          </p:cNvPr>
          <p:cNvSpPr>
            <a:spLocks xmlns:a="http://schemas.openxmlformats.org/drawingml/2006/main" noGrp="1"/>
          </p:cNvSpPr>
          <p:nvPr/>
        </p:nvSpPr>
        <p:spPr>
          <a:xfrm xmlns:a="http://schemas.openxmlformats.org/drawingml/2006/main">
            <a:off x="348615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Frozen CNN</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5 convolutions</a:t>
            </a:r>
          </a:p>
        </p:txBody>
      </p:sp>
      <p:sp>
        <p:nvSpPr>
          <p:cNvPr id="8" name="object-101">
            <a:extLst xmlns:a="http://schemas.openxmlformats.org/drawingml/2006/main">
              <a:ext uri="{FF2B5EF4-FFF2-40B4-BE49-F238E27FC236}">
                <a16:creationId xmlns:a16="http://schemas.microsoft.com/office/drawing/2014/main" id="{60F624F3-8A6A-4D90-991F-F1713A34E015}"/>
              </a:ext>
            </a:extLst>
          </p:cNvPr>
          <p:cNvSpPr>
            <a:spLocks xmlns:a="http://schemas.openxmlformats.org/drawingml/2006/main" noGrp="1"/>
          </p:cNvSpPr>
          <p:nvPr/>
        </p:nvSpPr>
        <p:spPr>
          <a:xfrm xmlns:a="http://schemas.openxmlformats.org/drawingml/2006/main">
            <a:off x="628650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1,152</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features</a:t>
            </a:r>
          </a:p>
        </p:txBody>
      </p:sp>
      <p:sp>
        <p:nvSpPr>
          <p:cNvPr id="9" name="object-102">
            <a:extLst xmlns:a="http://schemas.openxmlformats.org/drawingml/2006/main">
              <a:ext uri="{FF2B5EF4-FFF2-40B4-BE49-F238E27FC236}">
                <a16:creationId xmlns:a16="http://schemas.microsoft.com/office/drawing/2014/main" id="{4061805C-F605-45D9-889E-CBB979498C00}"/>
              </a:ext>
            </a:extLst>
          </p:cNvPr>
          <p:cNvSpPr>
            <a:spLocks xmlns:a="http://schemas.openxmlformats.org/drawingml/2006/main" noGrp="1"/>
          </p:cNvSpPr>
          <p:nvPr/>
        </p:nvSpPr>
        <p:spPr>
          <a:xfrm xmlns:a="http://schemas.openxmlformats.org/drawingml/2006/main">
            <a:off x="9086850" y="1924050"/>
            <a:ext cx="2381250" cy="1038225"/>
          </a:xfrm>
          <a:prstGeom xmlns:a="http://schemas.openxmlformats.org/drawingml/2006/main" prst="rect">
            <a:avLst/>
          </a:prstGeom>
          <a:solidFill xmlns:a="http://schemas.openxmlformats.org/drawingml/2006/main">
            <a:srgbClr val="FFFFFF"/>
          </a:solidFill>
          <a:ln xmlns:a="http://schemas.openxmlformats.org/drawingml/2006/main" w="14288">
            <a:solidFill>
              <a:srgbClr val="000000"/>
            </a:solidFill>
            <a:prstDash val="solid"/>
          </a:ln>
        </p:spPr>
        <p:txBody>
          <a:bodyPr xmlns:a="http://schemas.openxmlformats.org/drawingml/2006/main" lIns="95250" tIns="95250" rIns="95250" bIns="95250" anchor="ctr">
            <a:noAutofit/>
          </a:bodyPr>
          <a:lstStyle xmlns:a="http://schemas.openxmlformats.org/drawingml/2006/main">
            <a:defPPr algn="ctr">
              <a:defRPr sz="1950">
                <a:solidFill>
                  <a:srgbClr val="000000"/>
                </a:solidFill>
                <a:latin typeface="Calibri"/>
                <a:ea typeface="Calibri"/>
                <a:cs typeface="Calibri"/>
              </a:defRPr>
            </a:defPPr>
            <a:lvl1pPr algn="ctr">
              <a:defRPr sz="1950">
                <a:solidFill>
                  <a:srgbClr val="000000"/>
                </a:solidFill>
                <a:latin typeface="Calibri"/>
                <a:ea typeface="Calibri"/>
                <a:cs typeface="Calibri"/>
              </a:defRPr>
            </a:lvl1pPr>
            <a:lvl2pPr algn="ctr">
              <a:defRPr sz="1950">
                <a:solidFill>
                  <a:srgbClr val="000000"/>
                </a:solidFill>
                <a:latin typeface="Calibri"/>
                <a:ea typeface="Calibri"/>
                <a:cs typeface="Calibri"/>
              </a:defRPr>
            </a:lvl2pPr>
            <a:lvl3pPr algn="ctr">
              <a:defRPr sz="1950">
                <a:solidFill>
                  <a:srgbClr val="000000"/>
                </a:solidFill>
                <a:latin typeface="Calibri"/>
                <a:ea typeface="Calibri"/>
                <a:cs typeface="Calibri"/>
              </a:defRPr>
            </a:lvl3pPr>
            <a:lvl4pPr algn="ctr">
              <a:defRPr sz="1950">
                <a:solidFill>
                  <a:srgbClr val="000000"/>
                </a:solidFill>
                <a:latin typeface="Calibri"/>
                <a:ea typeface="Calibri"/>
                <a:cs typeface="Calibri"/>
              </a:defRPr>
            </a:lvl4pPr>
            <a:lvl5pPr algn="ctr">
              <a:defRPr sz="1950">
                <a:solidFill>
                  <a:srgbClr val="000000"/>
                </a:solidFill>
                <a:latin typeface="Calibri"/>
                <a:ea typeface="Calibri"/>
                <a:cs typeface="Calibri"/>
              </a:defRPr>
            </a:lvl5pPr>
            <a:lvl6pPr algn="ctr">
              <a:defRPr sz="1950">
                <a:solidFill>
                  <a:srgbClr val="000000"/>
                </a:solidFill>
                <a:latin typeface="Calibri"/>
                <a:ea typeface="Calibri"/>
                <a:cs typeface="Calibri"/>
              </a:defRPr>
            </a:lvl6pPr>
            <a:lvl7pPr algn="ctr">
              <a:defRPr sz="1950">
                <a:solidFill>
                  <a:srgbClr val="000000"/>
                </a:solidFill>
                <a:latin typeface="Calibri"/>
                <a:ea typeface="Calibri"/>
                <a:cs typeface="Calibri"/>
              </a:defRPr>
            </a:lvl7pPr>
            <a:lvl8pPr algn="ctr">
              <a:defRPr sz="1950">
                <a:solidFill>
                  <a:srgbClr val="000000"/>
                </a:solidFill>
                <a:latin typeface="Calibri"/>
                <a:ea typeface="Calibri"/>
                <a:cs typeface="Calibri"/>
              </a:defRPr>
            </a:lvl8pPr>
            <a:lvl9pPr algn="ctr">
              <a:defRPr sz="1950">
                <a:solidFill>
                  <a:srgbClr val="000000"/>
                </a:solidFill>
                <a:latin typeface="Calibri"/>
                <a:ea typeface="Calibri"/>
                <a:cs typeface="Calibri"/>
              </a:defRPr>
            </a:lvl9pPr>
          </a:lstStyle>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Linear readout</a:t>
            </a:r>
          </a:p>
          <a:p xmlns:a="http://schemas.openxmlformats.org/drawingml/2006/main">
            <a:pPr algn="ctr">
              <a:defRPr sz="1950">
                <a:solidFill>
                  <a:srgbClr val="000000"/>
                </a:solidFill>
                <a:latin typeface="Calibri"/>
                <a:ea typeface="Calibri"/>
                <a:cs typeface="Calibri"/>
              </a:defRPr>
            </a:pPr>
            <a:r>
              <a:rPr sz="1950">
                <a:solidFill>
                  <a:srgbClr val="000000"/>
                </a:solidFill>
                <a:latin typeface="Calibri"/>
                <a:ea typeface="Calibri"/>
                <a:cs typeface="Calibri"/>
              </a:rPr>
              <a:t>Angle in degrees</a:t>
            </a:r>
          </a:p>
        </p:txBody>
      </p:sp>
      <p:sp>
        <p:nvSpPr>
          <p:cNvPr id="13" name="object-103">
            <a:extLst xmlns:a="http://schemas.openxmlformats.org/drawingml/2006/main">
              <a:ext uri="{FF2B5EF4-FFF2-40B4-BE49-F238E27FC236}">
                <a16:creationId xmlns:a16="http://schemas.microsoft.com/office/drawing/2014/main" id="{0E699161-84EB-4957-9619-F7C4C51315F3}"/>
              </a:ext>
            </a:extLst>
          </p:cNvPr>
          <p:cNvSpPr>
            <a:spLocks xmlns:a="http://schemas.openxmlformats.org/drawingml/2006/main" noGrp="1"/>
          </p:cNvSpPr>
          <p:nvPr/>
        </p:nvSpPr>
        <p:spPr>
          <a:xfrm xmlns:a="http://schemas.openxmlformats.org/drawingml/2006/main">
            <a:off x="800100" y="35718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95827"/>
                </a:solidFill>
                <a:latin typeface="Calibri"/>
                <a:ea typeface="Calibri"/>
                <a:cs typeface="Calibri"/>
              </a:defRPr>
            </a:defPPr>
            <a:lvl1pPr algn="l">
              <a:defRPr sz="2025" b="1">
                <a:solidFill>
                  <a:srgbClr val="B95827"/>
                </a:solidFill>
                <a:latin typeface="Calibri"/>
                <a:ea typeface="Calibri"/>
                <a:cs typeface="Calibri"/>
              </a:defRPr>
            </a:lvl1pPr>
            <a:lvl2pPr algn="l">
              <a:defRPr sz="2025" b="1">
                <a:solidFill>
                  <a:srgbClr val="B95827"/>
                </a:solidFill>
                <a:latin typeface="Calibri"/>
                <a:ea typeface="Calibri"/>
                <a:cs typeface="Calibri"/>
              </a:defRPr>
            </a:lvl2pPr>
            <a:lvl3pPr algn="l">
              <a:defRPr sz="2025" b="1">
                <a:solidFill>
                  <a:srgbClr val="B95827"/>
                </a:solidFill>
                <a:latin typeface="Calibri"/>
                <a:ea typeface="Calibri"/>
                <a:cs typeface="Calibri"/>
              </a:defRPr>
            </a:lvl3pPr>
            <a:lvl4pPr algn="l">
              <a:defRPr sz="2025" b="1">
                <a:solidFill>
                  <a:srgbClr val="B95827"/>
                </a:solidFill>
                <a:latin typeface="Calibri"/>
                <a:ea typeface="Calibri"/>
                <a:cs typeface="Calibri"/>
              </a:defRPr>
            </a:lvl4pPr>
            <a:lvl5pPr algn="l">
              <a:defRPr sz="2025" b="1">
                <a:solidFill>
                  <a:srgbClr val="B95827"/>
                </a:solidFill>
                <a:latin typeface="Calibri"/>
                <a:ea typeface="Calibri"/>
                <a:cs typeface="Calibri"/>
              </a:defRPr>
            </a:lvl5pPr>
            <a:lvl6pPr algn="l">
              <a:defRPr sz="2025" b="1">
                <a:solidFill>
                  <a:srgbClr val="B95827"/>
                </a:solidFill>
                <a:latin typeface="Calibri"/>
                <a:ea typeface="Calibri"/>
                <a:cs typeface="Calibri"/>
              </a:defRPr>
            </a:lvl6pPr>
            <a:lvl7pPr algn="l">
              <a:defRPr sz="2025" b="1">
                <a:solidFill>
                  <a:srgbClr val="B95827"/>
                </a:solidFill>
                <a:latin typeface="Calibri"/>
                <a:ea typeface="Calibri"/>
                <a:cs typeface="Calibri"/>
              </a:defRPr>
            </a:lvl7pPr>
            <a:lvl8pPr algn="l">
              <a:defRPr sz="2025" b="1">
                <a:solidFill>
                  <a:srgbClr val="B95827"/>
                </a:solidFill>
                <a:latin typeface="Calibri"/>
                <a:ea typeface="Calibri"/>
                <a:cs typeface="Calibri"/>
              </a:defRPr>
            </a:lvl8pPr>
            <a:lvl9pPr algn="l">
              <a:defRPr sz="2025" b="1">
                <a:solidFill>
                  <a:srgbClr val="B95827"/>
                </a:solidFill>
                <a:latin typeface="Calibri"/>
                <a:ea typeface="Calibri"/>
                <a:cs typeface="Calibri"/>
              </a:defRPr>
            </a:lvl9pPr>
          </a:lstStyle>
          <a:p xmlns:a="http://schemas.openxmlformats.org/drawingml/2006/main">
            <a:pPr algn="l">
              <a:defRPr sz="2025" b="1">
                <a:solidFill>
                  <a:srgbClr val="B95827"/>
                </a:solidFill>
                <a:latin typeface="Calibri"/>
                <a:ea typeface="Calibri"/>
                <a:cs typeface="Calibri"/>
              </a:defRPr>
            </a:pPr>
            <a:r>
              <a:rPr sz="2025" b="1">
                <a:solidFill>
                  <a:srgbClr val="B95827"/>
                </a:solidFill>
                <a:latin typeface="Calibri"/>
                <a:ea typeface="Calibri"/>
                <a:cs typeface="Calibri"/>
              </a:rPr>
              <a:t>01</a:t>
            </a:r>
          </a:p>
        </p:txBody>
      </p:sp>
      <p:sp>
        <p:nvSpPr>
          <p:cNvPr id="14" name="object-104">
            <a:extLst xmlns:a="http://schemas.openxmlformats.org/drawingml/2006/main">
              <a:ext uri="{FF2B5EF4-FFF2-40B4-BE49-F238E27FC236}">
                <a16:creationId xmlns:a16="http://schemas.microsoft.com/office/drawing/2014/main" id="{D9B58299-D19F-4B9C-8A6F-E0C7E8965ACB}"/>
              </a:ext>
            </a:extLst>
          </p:cNvPr>
          <p:cNvSpPr>
            <a:spLocks xmlns:a="http://schemas.openxmlformats.org/drawingml/2006/main" noGrp="1"/>
          </p:cNvSpPr>
          <p:nvPr/>
        </p:nvSpPr>
        <p:spPr>
          <a:xfrm xmlns:a="http://schemas.openxmlformats.org/drawingml/2006/main">
            <a:off x="1524000" y="3571875"/>
            <a:ext cx="9848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The saved CNN contains 1,595,511 parameters, including a 1,164-unit dense layer.</a:t>
            </a:r>
          </a:p>
        </p:txBody>
      </p:sp>
      <p:sp>
        <p:nvSpPr>
          <p:cNvPr id="15" name="object-105">
            <a:extLst xmlns:a="http://schemas.openxmlformats.org/drawingml/2006/main">
              <a:ext uri="{FF2B5EF4-FFF2-40B4-BE49-F238E27FC236}">
                <a16:creationId xmlns:a16="http://schemas.microsoft.com/office/drawing/2014/main" id="{99F4B163-4735-4B0F-8C20-C23CBCC63DA2}"/>
              </a:ext>
            </a:extLst>
          </p:cNvPr>
          <p:cNvSpPr>
            <a:spLocks xmlns:a="http://schemas.openxmlformats.org/drawingml/2006/main" noGrp="1"/>
          </p:cNvSpPr>
          <p:nvPr/>
        </p:nvSpPr>
        <p:spPr>
          <a:xfrm xmlns:a="http://schemas.openxmlformats.org/drawingml/2006/main">
            <a:off x="800100" y="44196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95827"/>
                </a:solidFill>
                <a:latin typeface="Calibri"/>
                <a:ea typeface="Calibri"/>
                <a:cs typeface="Calibri"/>
              </a:defRPr>
            </a:defPPr>
            <a:lvl1pPr algn="l">
              <a:defRPr sz="2025" b="1">
                <a:solidFill>
                  <a:srgbClr val="B95827"/>
                </a:solidFill>
                <a:latin typeface="Calibri"/>
                <a:ea typeface="Calibri"/>
                <a:cs typeface="Calibri"/>
              </a:defRPr>
            </a:lvl1pPr>
            <a:lvl2pPr algn="l">
              <a:defRPr sz="2025" b="1">
                <a:solidFill>
                  <a:srgbClr val="B95827"/>
                </a:solidFill>
                <a:latin typeface="Calibri"/>
                <a:ea typeface="Calibri"/>
                <a:cs typeface="Calibri"/>
              </a:defRPr>
            </a:lvl2pPr>
            <a:lvl3pPr algn="l">
              <a:defRPr sz="2025" b="1">
                <a:solidFill>
                  <a:srgbClr val="B95827"/>
                </a:solidFill>
                <a:latin typeface="Calibri"/>
                <a:ea typeface="Calibri"/>
                <a:cs typeface="Calibri"/>
              </a:defRPr>
            </a:lvl3pPr>
            <a:lvl4pPr algn="l">
              <a:defRPr sz="2025" b="1">
                <a:solidFill>
                  <a:srgbClr val="B95827"/>
                </a:solidFill>
                <a:latin typeface="Calibri"/>
                <a:ea typeface="Calibri"/>
                <a:cs typeface="Calibri"/>
              </a:defRPr>
            </a:lvl4pPr>
            <a:lvl5pPr algn="l">
              <a:defRPr sz="2025" b="1">
                <a:solidFill>
                  <a:srgbClr val="B95827"/>
                </a:solidFill>
                <a:latin typeface="Calibri"/>
                <a:ea typeface="Calibri"/>
                <a:cs typeface="Calibri"/>
              </a:defRPr>
            </a:lvl5pPr>
            <a:lvl6pPr algn="l">
              <a:defRPr sz="2025" b="1">
                <a:solidFill>
                  <a:srgbClr val="B95827"/>
                </a:solidFill>
                <a:latin typeface="Calibri"/>
                <a:ea typeface="Calibri"/>
                <a:cs typeface="Calibri"/>
              </a:defRPr>
            </a:lvl6pPr>
            <a:lvl7pPr algn="l">
              <a:defRPr sz="2025" b="1">
                <a:solidFill>
                  <a:srgbClr val="B95827"/>
                </a:solidFill>
                <a:latin typeface="Calibri"/>
                <a:ea typeface="Calibri"/>
                <a:cs typeface="Calibri"/>
              </a:defRPr>
            </a:lvl7pPr>
            <a:lvl8pPr algn="l">
              <a:defRPr sz="2025" b="1">
                <a:solidFill>
                  <a:srgbClr val="B95827"/>
                </a:solidFill>
                <a:latin typeface="Calibri"/>
                <a:ea typeface="Calibri"/>
                <a:cs typeface="Calibri"/>
              </a:defRPr>
            </a:lvl8pPr>
            <a:lvl9pPr algn="l">
              <a:defRPr sz="2025" b="1">
                <a:solidFill>
                  <a:srgbClr val="B95827"/>
                </a:solidFill>
                <a:latin typeface="Calibri"/>
                <a:ea typeface="Calibri"/>
                <a:cs typeface="Calibri"/>
              </a:defRPr>
            </a:lvl9pPr>
          </a:lstStyle>
          <a:p xmlns:a="http://schemas.openxmlformats.org/drawingml/2006/main">
            <a:pPr algn="l">
              <a:defRPr sz="2025" b="1">
                <a:solidFill>
                  <a:srgbClr val="B95827"/>
                </a:solidFill>
                <a:latin typeface="Calibri"/>
                <a:ea typeface="Calibri"/>
                <a:cs typeface="Calibri"/>
              </a:defRPr>
            </a:pPr>
            <a:r>
              <a:rPr sz="2025" b="1">
                <a:solidFill>
                  <a:srgbClr val="B95827"/>
                </a:solidFill>
                <a:latin typeface="Calibri"/>
                <a:ea typeface="Calibri"/>
                <a:cs typeface="Calibri"/>
              </a:rPr>
              <a:t>02</a:t>
            </a:r>
          </a:p>
        </p:txBody>
      </p:sp>
      <p:sp>
        <p:nvSpPr>
          <p:cNvPr id="16" name="object-106">
            <a:extLst xmlns:a="http://schemas.openxmlformats.org/drawingml/2006/main">
              <a:ext uri="{FF2B5EF4-FFF2-40B4-BE49-F238E27FC236}">
                <a16:creationId xmlns:a16="http://schemas.microsoft.com/office/drawing/2014/main" id="{91AE2A52-6021-4C95-B9DC-D8C32280F32A}"/>
              </a:ext>
            </a:extLst>
          </p:cNvPr>
          <p:cNvSpPr>
            <a:spLocks xmlns:a="http://schemas.openxmlformats.org/drawingml/2006/main" noGrp="1"/>
          </p:cNvSpPr>
          <p:nvPr/>
        </p:nvSpPr>
        <p:spPr>
          <a:xfrm xmlns:a="http://schemas.openxmlformats.org/drawingml/2006/main">
            <a:off x="1524000" y="4419600"/>
            <a:ext cx="9848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The new experiment freezes the backbone and fits a Huber-loss readout.</a:t>
            </a:r>
          </a:p>
        </p:txBody>
      </p:sp>
      <p:sp>
        <p:nvSpPr>
          <p:cNvPr id="17" name="object-107">
            <a:extLst xmlns:a="http://schemas.openxmlformats.org/drawingml/2006/main">
              <a:ext uri="{FF2B5EF4-FFF2-40B4-BE49-F238E27FC236}">
                <a16:creationId xmlns:a16="http://schemas.microsoft.com/office/drawing/2014/main" id="{47A6AC5D-1B5E-46B4-B69F-92804D16627D}"/>
              </a:ext>
            </a:extLst>
          </p:cNvPr>
          <p:cNvSpPr>
            <a:spLocks xmlns:a="http://schemas.openxmlformats.org/drawingml/2006/main" noGrp="1"/>
          </p:cNvSpPr>
          <p:nvPr/>
        </p:nvSpPr>
        <p:spPr>
          <a:xfrm xmlns:a="http://schemas.openxmlformats.org/drawingml/2006/main">
            <a:off x="800100" y="52673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B95827"/>
                </a:solidFill>
                <a:latin typeface="Calibri"/>
                <a:ea typeface="Calibri"/>
                <a:cs typeface="Calibri"/>
              </a:defRPr>
            </a:defPPr>
            <a:lvl1pPr algn="l">
              <a:defRPr sz="2025" b="1">
                <a:solidFill>
                  <a:srgbClr val="B95827"/>
                </a:solidFill>
                <a:latin typeface="Calibri"/>
                <a:ea typeface="Calibri"/>
                <a:cs typeface="Calibri"/>
              </a:defRPr>
            </a:lvl1pPr>
            <a:lvl2pPr algn="l">
              <a:defRPr sz="2025" b="1">
                <a:solidFill>
                  <a:srgbClr val="B95827"/>
                </a:solidFill>
                <a:latin typeface="Calibri"/>
                <a:ea typeface="Calibri"/>
                <a:cs typeface="Calibri"/>
              </a:defRPr>
            </a:lvl2pPr>
            <a:lvl3pPr algn="l">
              <a:defRPr sz="2025" b="1">
                <a:solidFill>
                  <a:srgbClr val="B95827"/>
                </a:solidFill>
                <a:latin typeface="Calibri"/>
                <a:ea typeface="Calibri"/>
                <a:cs typeface="Calibri"/>
              </a:defRPr>
            </a:lvl3pPr>
            <a:lvl4pPr algn="l">
              <a:defRPr sz="2025" b="1">
                <a:solidFill>
                  <a:srgbClr val="B95827"/>
                </a:solidFill>
                <a:latin typeface="Calibri"/>
                <a:ea typeface="Calibri"/>
                <a:cs typeface="Calibri"/>
              </a:defRPr>
            </a:lvl4pPr>
            <a:lvl5pPr algn="l">
              <a:defRPr sz="2025" b="1">
                <a:solidFill>
                  <a:srgbClr val="B95827"/>
                </a:solidFill>
                <a:latin typeface="Calibri"/>
                <a:ea typeface="Calibri"/>
                <a:cs typeface="Calibri"/>
              </a:defRPr>
            </a:lvl5pPr>
            <a:lvl6pPr algn="l">
              <a:defRPr sz="2025" b="1">
                <a:solidFill>
                  <a:srgbClr val="B95827"/>
                </a:solidFill>
                <a:latin typeface="Calibri"/>
                <a:ea typeface="Calibri"/>
                <a:cs typeface="Calibri"/>
              </a:defRPr>
            </a:lvl6pPr>
            <a:lvl7pPr algn="l">
              <a:defRPr sz="2025" b="1">
                <a:solidFill>
                  <a:srgbClr val="B95827"/>
                </a:solidFill>
                <a:latin typeface="Calibri"/>
                <a:ea typeface="Calibri"/>
                <a:cs typeface="Calibri"/>
              </a:defRPr>
            </a:lvl7pPr>
            <a:lvl8pPr algn="l">
              <a:defRPr sz="2025" b="1">
                <a:solidFill>
                  <a:srgbClr val="B95827"/>
                </a:solidFill>
                <a:latin typeface="Calibri"/>
                <a:ea typeface="Calibri"/>
                <a:cs typeface="Calibri"/>
              </a:defRPr>
            </a:lvl8pPr>
            <a:lvl9pPr algn="l">
              <a:defRPr sz="2025" b="1">
                <a:solidFill>
                  <a:srgbClr val="B95827"/>
                </a:solidFill>
                <a:latin typeface="Calibri"/>
                <a:ea typeface="Calibri"/>
                <a:cs typeface="Calibri"/>
              </a:defRPr>
            </a:lvl9pPr>
          </a:lstStyle>
          <a:p xmlns:a="http://schemas.openxmlformats.org/drawingml/2006/main">
            <a:pPr algn="l">
              <a:defRPr sz="2025" b="1">
                <a:solidFill>
                  <a:srgbClr val="B95827"/>
                </a:solidFill>
                <a:latin typeface="Calibri"/>
                <a:ea typeface="Calibri"/>
                <a:cs typeface="Calibri"/>
              </a:defRPr>
            </a:pPr>
            <a:r>
              <a:rPr sz="2025" b="1">
                <a:solidFill>
                  <a:srgbClr val="B95827"/>
                </a:solidFill>
                <a:latin typeface="Calibri"/>
                <a:ea typeface="Calibri"/>
                <a:cs typeface="Calibri"/>
              </a:rPr>
              <a:t>03</a:t>
            </a:r>
          </a:p>
        </p:txBody>
      </p:sp>
      <p:sp>
        <p:nvSpPr>
          <p:cNvPr id="18" name="object-108">
            <a:extLst xmlns:a="http://schemas.openxmlformats.org/drawingml/2006/main">
              <a:ext uri="{FF2B5EF4-FFF2-40B4-BE49-F238E27FC236}">
                <a16:creationId xmlns:a16="http://schemas.microsoft.com/office/drawing/2014/main" id="{22FF977E-3CD8-4E03-B240-5C840800C1D3}"/>
              </a:ext>
            </a:extLst>
          </p:cNvPr>
          <p:cNvSpPr>
            <a:spLocks xmlns:a="http://schemas.openxmlformats.org/drawingml/2006/main" noGrp="1"/>
          </p:cNvSpPr>
          <p:nvPr/>
        </p:nvSpPr>
        <p:spPr>
          <a:xfrm xmlns:a="http://schemas.openxmlformats.org/drawingml/2006/main">
            <a:off x="1524000" y="5267325"/>
            <a:ext cx="9848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The canonical 252,219-parameter DAVE-2 remains a reference configuration.</a:t>
            </a:r>
          </a:p>
        </p:txBody>
      </p:sp>
    </p:spTree>
    <p:extLst>
      <p:ext uri="{BB962C8B-B14F-4D97-AF65-F5344CB8AC3E}">
        <p14:creationId xmlns:p14="http://schemas.microsoft.com/office/powerpoint/2010/main" val="5673889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109">
            <a:extLst xmlns:a="http://schemas.openxmlformats.org/drawingml/2006/main">
              <a:ext uri="{FF2B5EF4-FFF2-40B4-BE49-F238E27FC236}">
                <a16:creationId xmlns:a16="http://schemas.microsoft.com/office/drawing/2014/main" id="{E44FCB10-AE74-48C9-853B-ECCE68BF3F9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10">
            <a:extLst xmlns:a="http://schemas.openxmlformats.org/drawingml/2006/main">
              <a:ext uri="{FF2B5EF4-FFF2-40B4-BE49-F238E27FC236}">
                <a16:creationId xmlns:a16="http://schemas.microsoft.com/office/drawing/2014/main" id="{F16CC00B-2F74-4774-8C22-B00A9D36C68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11">
            <a:extLst xmlns:a="http://schemas.openxmlformats.org/drawingml/2006/main">
              <a:ext uri="{FF2B5EF4-FFF2-40B4-BE49-F238E27FC236}">
                <a16:creationId xmlns:a16="http://schemas.microsoft.com/office/drawing/2014/main" id="{A648E4E1-9691-488B-9562-122BB2FDA6E8}"/>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Training setup and requirements</a:t>
            </a:r>
          </a:p>
        </p:txBody>
      </p:sp>
      <p:sp>
        <p:nvSpPr>
          <p:cNvPr id="4" name="object-112">
            <a:extLst xmlns:a="http://schemas.openxmlformats.org/drawingml/2006/main">
              <a:ext uri="{FF2B5EF4-FFF2-40B4-BE49-F238E27FC236}">
                <a16:creationId xmlns:a16="http://schemas.microsoft.com/office/drawing/2014/main" id="{F115A89B-29F1-4F60-BC4B-EBA2EB35EF04}"/>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13">
            <a:extLst xmlns:a="http://schemas.openxmlformats.org/drawingml/2006/main">
              <a:ext uri="{FF2B5EF4-FFF2-40B4-BE49-F238E27FC236}">
                <a16:creationId xmlns:a16="http://schemas.microsoft.com/office/drawing/2014/main" id="{50706814-2E3D-4077-857E-30BA8602036A}"/>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11</a:t>
            </a:r>
          </a:p>
        </p:txBody>
      </p:sp>
      <p:graphicFrame>
        <p:nvGraphicFramePr>
          <p:cNvPr id="6" name="">
            <a:extLst xmlns:a="http://schemas.openxmlformats.org/drawingml/2006/main">
              <a:ext uri="{FF2B5EF4-FFF2-40B4-BE49-F238E27FC236}">
                <a16:creationId xmlns:a16="http://schemas.microsoft.com/office/drawing/2014/main" id="{DC7DEFBD-CE7D-4447-866D-8A780057E1C8}"/>
              </a:ext>
            </a:extLst>
          </p:cNvPr>
          <p:cNvGraphicFramePr/>
          <p:nvPr/>
        </p:nvGraphicFramePr>
        <p:xfrm>
          <a:off xmlns:a="http://schemas.openxmlformats.org/drawingml/2006/main" x="685800" y="1724025"/>
          <a:ext xmlns:a="http://schemas.openxmlformats.org/drawingml/2006/main" cx="10820400" cy="2457450"/>
        </p:xfrm>
        <a:graphic xmlns:a="http://schemas.openxmlformats.org/drawingml/2006/main">
          <a:graphicData uri="http://schemas.openxmlformats.org/drawingml/2006/table">
            <a:tbl>
              <a:tblPr/>
              <a:tblGrid>
                <a:gridCol w="2921508"/>
                <a:gridCol w="1298448"/>
                <a:gridCol w="1298448"/>
                <a:gridCol w="1731264"/>
                <a:gridCol w="3570732"/>
              </a:tblGrid>
              <a:tr h="614363">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Run</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Epochs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Batch</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Input</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875" b="1">
                          <a:solidFill>
                            <a:srgbClr val="FFFFFF"/>
                          </a:solidFill>
                          <a:latin typeface="Calibri"/>
                          <a:ea typeface="Calibri"/>
                          <a:cs typeface="Calibri"/>
                        </a:rPr>
                        <a:t>Hardware / time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14363">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Detection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50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640 × 640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Colab Tesla T4 / 2.14 h</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14363">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Lane segmentation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60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16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640 × 640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Colab Tesla T4 / 2.31 h</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614363">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Original steering setup</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30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100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66 × 200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875" b="0">
                          <a:solidFill>
                            <a:srgbClr val="000000"/>
                          </a:solidFill>
                          <a:latin typeface="Calibri"/>
                          <a:ea typeface="Calibri"/>
                          <a:cs typeface="Calibri"/>
                        </a:rPr>
                        <a:t>Historical training time not recorded</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7" name="object-114">
            <a:extLst xmlns:a="http://schemas.openxmlformats.org/drawingml/2006/main">
              <a:ext uri="{FF2B5EF4-FFF2-40B4-BE49-F238E27FC236}">
                <a16:creationId xmlns:a16="http://schemas.microsoft.com/office/drawing/2014/main" id="{8CA1D957-BB77-4756-B603-778DC35E8AEE}"/>
              </a:ext>
            </a:extLst>
          </p:cNvPr>
          <p:cNvSpPr>
            <a:spLocks xmlns:a="http://schemas.openxmlformats.org/drawingml/2006/main" noGrp="1"/>
          </p:cNvSpPr>
          <p:nvPr/>
        </p:nvSpPr>
        <p:spPr>
          <a:xfrm xmlns:a="http://schemas.openxmlformats.org/drawingml/2006/main">
            <a:off x="685800" y="4581525"/>
            <a:ext cx="108204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Software: Python, PyTorch, Ultralytics, TensorFlow, OpenCV and NumPy</a:t>
            </a:r>
          </a:p>
        </p:txBody>
      </p:sp>
      <p:sp>
        <p:nvSpPr>
          <p:cNvPr id="8" name="object-115">
            <a:extLst xmlns:a="http://schemas.openxmlformats.org/drawingml/2006/main">
              <a:ext uri="{FF2B5EF4-FFF2-40B4-BE49-F238E27FC236}">
                <a16:creationId xmlns:a16="http://schemas.microsoft.com/office/drawing/2014/main" id="{5FE76B2D-66BD-4E06-BF91-1BCABF3E2C0C}"/>
              </a:ext>
            </a:extLst>
          </p:cNvPr>
          <p:cNvSpPr>
            <a:spLocks xmlns:a="http://schemas.openxmlformats.org/drawingml/2006/main" noGrp="1"/>
          </p:cNvSpPr>
          <p:nvPr/>
        </p:nvSpPr>
        <p:spPr>
          <a:xfrm xmlns:a="http://schemas.openxmlformats.org/drawingml/2006/main">
            <a:off x="685800" y="55626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Calibri"/>
                <a:ea typeface="Calibri"/>
                <a:cs typeface="Calibri"/>
              </a:defRPr>
            </a:defPPr>
            <a:lvl1pPr algn="l">
              <a:defRPr sz="2100" b="1">
                <a:solidFill>
                  <a:srgbClr val="000000"/>
                </a:solidFill>
                <a:latin typeface="Calibri"/>
                <a:ea typeface="Calibri"/>
                <a:cs typeface="Calibri"/>
              </a:defRPr>
            </a:lvl1pPr>
            <a:lvl2pPr algn="l">
              <a:defRPr sz="2100" b="1">
                <a:solidFill>
                  <a:srgbClr val="000000"/>
                </a:solidFill>
                <a:latin typeface="Calibri"/>
                <a:ea typeface="Calibri"/>
                <a:cs typeface="Calibri"/>
              </a:defRPr>
            </a:lvl2pPr>
            <a:lvl3pPr algn="l">
              <a:defRPr sz="2100" b="1">
                <a:solidFill>
                  <a:srgbClr val="000000"/>
                </a:solidFill>
                <a:latin typeface="Calibri"/>
                <a:ea typeface="Calibri"/>
                <a:cs typeface="Calibri"/>
              </a:defRPr>
            </a:lvl3pPr>
            <a:lvl4pPr algn="l">
              <a:defRPr sz="2100" b="1">
                <a:solidFill>
                  <a:srgbClr val="000000"/>
                </a:solidFill>
                <a:latin typeface="Calibri"/>
                <a:ea typeface="Calibri"/>
                <a:cs typeface="Calibri"/>
              </a:defRPr>
            </a:lvl4pPr>
            <a:lvl5pPr algn="l">
              <a:defRPr sz="2100" b="1">
                <a:solidFill>
                  <a:srgbClr val="000000"/>
                </a:solidFill>
                <a:latin typeface="Calibri"/>
                <a:ea typeface="Calibri"/>
                <a:cs typeface="Calibri"/>
              </a:defRPr>
            </a:lvl5pPr>
            <a:lvl6pPr algn="l">
              <a:defRPr sz="2100" b="1">
                <a:solidFill>
                  <a:srgbClr val="000000"/>
                </a:solidFill>
                <a:latin typeface="Calibri"/>
                <a:ea typeface="Calibri"/>
                <a:cs typeface="Calibri"/>
              </a:defRPr>
            </a:lvl6pPr>
            <a:lvl7pPr algn="l">
              <a:defRPr sz="2100" b="1">
                <a:solidFill>
                  <a:srgbClr val="000000"/>
                </a:solidFill>
                <a:latin typeface="Calibri"/>
                <a:ea typeface="Calibri"/>
                <a:cs typeface="Calibri"/>
              </a:defRPr>
            </a:lvl7pPr>
            <a:lvl8pPr algn="l">
              <a:defRPr sz="2100" b="1">
                <a:solidFill>
                  <a:srgbClr val="000000"/>
                </a:solidFill>
                <a:latin typeface="Calibri"/>
                <a:ea typeface="Calibri"/>
                <a:cs typeface="Calibri"/>
              </a:defRPr>
            </a:lvl8pPr>
            <a:lvl9pPr algn="l">
              <a:defRPr sz="2100" b="1">
                <a:solidFill>
                  <a:srgbClr val="000000"/>
                </a:solidFill>
                <a:latin typeface="Calibri"/>
                <a:ea typeface="Calibri"/>
                <a:cs typeface="Calibri"/>
              </a:defRPr>
            </a:lvl9pPr>
          </a:lstStyle>
          <a:p xmlns:a="http://schemas.openxmlformats.org/drawingml/2006/main">
            <a:pPr algn="l">
              <a:defRPr sz="2100" b="1">
                <a:solidFill>
                  <a:srgbClr val="000000"/>
                </a:solidFill>
                <a:latin typeface="Calibri"/>
                <a:ea typeface="Calibri"/>
                <a:cs typeface="Calibri"/>
              </a:defRPr>
            </a:pPr>
            <a:r>
              <a:rPr sz="2100" b="1">
                <a:solidFill>
                  <a:srgbClr val="000000"/>
                </a:solidFill>
                <a:latin typeface="Calibri"/>
                <a:ea typeface="Calibri"/>
                <a:cs typeface="Calibri"/>
              </a:rPr>
              <a:t>New steering readout: local Intel Pentium 4415U CPU</a:t>
            </a:r>
          </a:p>
        </p:txBody>
      </p:sp>
    </p:spTree>
    <p:extLst>
      <p:ext uri="{BB962C8B-B14F-4D97-AF65-F5344CB8AC3E}">
        <p14:creationId xmlns:p14="http://schemas.microsoft.com/office/powerpoint/2010/main" val="13648527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bject-116">
            <a:extLst xmlns:a="http://schemas.openxmlformats.org/drawingml/2006/main">
              <a:ext uri="{FF2B5EF4-FFF2-40B4-BE49-F238E27FC236}">
                <a16:creationId xmlns:a16="http://schemas.microsoft.com/office/drawing/2014/main" id="{6645CCAC-A98B-461E-9D92-0BE1AB17A61F}"/>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17">
            <a:extLst xmlns:a="http://schemas.openxmlformats.org/drawingml/2006/main">
              <a:ext uri="{FF2B5EF4-FFF2-40B4-BE49-F238E27FC236}">
                <a16:creationId xmlns:a16="http://schemas.microsoft.com/office/drawing/2014/main" id="{33C5AB82-0FCE-4C90-BF2A-8CA13FD819CA}"/>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18">
            <a:extLst xmlns:a="http://schemas.openxmlformats.org/drawingml/2006/main">
              <a:ext uri="{FF2B5EF4-FFF2-40B4-BE49-F238E27FC236}">
                <a16:creationId xmlns:a16="http://schemas.microsoft.com/office/drawing/2014/main" id="{5EAC77F5-BCD7-42B2-B1E1-023EF4195E01}"/>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Object detection results</a:t>
            </a:r>
          </a:p>
        </p:txBody>
      </p:sp>
      <p:sp>
        <p:nvSpPr>
          <p:cNvPr id="4" name="object-119">
            <a:extLst xmlns:a="http://schemas.openxmlformats.org/drawingml/2006/main">
              <a:ext uri="{FF2B5EF4-FFF2-40B4-BE49-F238E27FC236}">
                <a16:creationId xmlns:a16="http://schemas.microsoft.com/office/drawing/2014/main" id="{25FD59B7-D350-46BA-BBCC-EF76C9F1C59A}"/>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20">
            <a:extLst xmlns:a="http://schemas.openxmlformats.org/drawingml/2006/main">
              <a:ext uri="{FF2B5EF4-FFF2-40B4-BE49-F238E27FC236}">
                <a16:creationId xmlns:a16="http://schemas.microsoft.com/office/drawing/2014/main" id="{1B5360F8-8E2E-410F-9ADB-95E8BF31CE33}"/>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Held-out test: 525 images and 3,116 annotated instances</a:t>
            </a:r>
          </a:p>
        </p:txBody>
      </p:sp>
      <p:sp>
        <p:nvSpPr>
          <p:cNvPr id="6" name="object-121">
            <a:extLst xmlns:a="http://schemas.openxmlformats.org/drawingml/2006/main">
              <a:ext uri="{FF2B5EF4-FFF2-40B4-BE49-F238E27FC236}">
                <a16:creationId xmlns:a16="http://schemas.microsoft.com/office/drawing/2014/main" id="{9896446C-C8A1-4429-80F2-DBD5D6B075D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12</a:t>
            </a:r>
          </a:p>
        </p:txBody>
      </p:sp>
      <p:graphicFrame>
        <p:nvGraphicFramePr>
          <p:cNvPr id="7" name="Chart">
            <a:extLst xmlns:a="http://schemas.openxmlformats.org/drawingml/2006/main">
              <a:ext uri="{FF2B5EF4-FFF2-40B4-BE49-F238E27FC236}">
                <a16:creationId xmlns:a16="http://schemas.microsoft.com/office/drawing/2014/main" id="{D61DD458-088F-4812-B804-F31EF3024929}"/>
              </a:ext>
            </a:extLst>
          </p:cNvPr>
          <p:cNvGraphicFramePr/>
          <p:nvPr/>
        </p:nvGraphicFramePr>
        <p:xfrm>
          <a:off xmlns:a="http://schemas.openxmlformats.org/drawingml/2006/main" x="685800" y="1981200"/>
          <a:ext xmlns:a="http://schemas.openxmlformats.org/drawingml/2006/main" cx="7353300" cy="3514725"/>
        </p:xfrm>
        <a:graphic xmlns:a="http://schemas.openxmlformats.org/drawingml/2006/main">
          <a:graphicData uri="http://schemas.openxmlformats.org/drawingml/2006/chart">
            <c:chart xmlns:r="http://schemas.openxmlformats.org/officeDocument/2006/relationships" xmlns:c="http://schemas.openxmlformats.org/drawingml/2006/chart" r:id="Rd4f03e7210cd4d47"/>
          </a:graphicData>
        </a:graphic>
      </p:graphicFrame>
      <p:sp>
        <p:nvSpPr>
          <p:cNvPr id="8" name="object-122">
            <a:extLst xmlns:a="http://schemas.openxmlformats.org/drawingml/2006/main">
              <a:ext uri="{FF2B5EF4-FFF2-40B4-BE49-F238E27FC236}">
                <a16:creationId xmlns:a16="http://schemas.microsoft.com/office/drawing/2014/main" id="{AF970620-2FAB-43B3-89B0-672D04A70F14}"/>
              </a:ext>
            </a:extLst>
          </p:cNvPr>
          <p:cNvSpPr>
            <a:spLocks xmlns:a="http://schemas.openxmlformats.org/drawingml/2006/main" noGrp="1"/>
          </p:cNvSpPr>
          <p:nvPr/>
        </p:nvSpPr>
        <p:spPr>
          <a:xfrm xmlns:a="http://schemas.openxmlformats.org/drawingml/2006/main">
            <a:off x="8524875" y="2133600"/>
            <a:ext cx="28575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71.2%</a:t>
            </a:r>
          </a:p>
        </p:txBody>
      </p:sp>
      <p:sp>
        <p:nvSpPr>
          <p:cNvPr id="9" name="object-123">
            <a:extLst xmlns:a="http://schemas.openxmlformats.org/drawingml/2006/main">
              <a:ext uri="{FF2B5EF4-FFF2-40B4-BE49-F238E27FC236}">
                <a16:creationId xmlns:a16="http://schemas.microsoft.com/office/drawing/2014/main" id="{8750801A-ABEA-41FB-AB97-7EC4AA5F3D8C}"/>
              </a:ext>
            </a:extLst>
          </p:cNvPr>
          <p:cNvSpPr>
            <a:spLocks xmlns:a="http://schemas.openxmlformats.org/drawingml/2006/main" noGrp="1"/>
          </p:cNvSpPr>
          <p:nvPr/>
        </p:nvSpPr>
        <p:spPr>
          <a:xfrm xmlns:a="http://schemas.openxmlformats.org/drawingml/2006/main">
            <a:off x="8553450" y="2924175"/>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vl1pPr algn="l">
              <a:defRPr sz="2250" b="0">
                <a:solidFill>
                  <a:srgbClr val="000000"/>
                </a:solidFill>
                <a:latin typeface="Calibri"/>
                <a:ea typeface="Calibri"/>
                <a:cs typeface="Calibri"/>
              </a:defRPr>
            </a:lvl1pPr>
            <a:lvl2pPr algn="l">
              <a:defRPr sz="2250" b="0">
                <a:solidFill>
                  <a:srgbClr val="000000"/>
                </a:solidFill>
                <a:latin typeface="Calibri"/>
                <a:ea typeface="Calibri"/>
                <a:cs typeface="Calibri"/>
              </a:defRPr>
            </a:lvl2pPr>
            <a:lvl3pPr algn="l">
              <a:defRPr sz="2250" b="0">
                <a:solidFill>
                  <a:srgbClr val="000000"/>
                </a:solidFill>
                <a:latin typeface="Calibri"/>
                <a:ea typeface="Calibri"/>
                <a:cs typeface="Calibri"/>
              </a:defRPr>
            </a:lvl3pPr>
            <a:lvl4pPr algn="l">
              <a:defRPr sz="2250" b="0">
                <a:solidFill>
                  <a:srgbClr val="000000"/>
                </a:solidFill>
                <a:latin typeface="Calibri"/>
                <a:ea typeface="Calibri"/>
                <a:cs typeface="Calibri"/>
              </a:defRPr>
            </a:lvl4pPr>
            <a:lvl5pPr algn="l">
              <a:defRPr sz="2250" b="0">
                <a:solidFill>
                  <a:srgbClr val="000000"/>
                </a:solidFill>
                <a:latin typeface="Calibri"/>
                <a:ea typeface="Calibri"/>
                <a:cs typeface="Calibri"/>
              </a:defRPr>
            </a:lvl5pPr>
            <a:lvl6pPr algn="l">
              <a:defRPr sz="2250" b="0">
                <a:solidFill>
                  <a:srgbClr val="000000"/>
                </a:solidFill>
                <a:latin typeface="Calibri"/>
                <a:ea typeface="Calibri"/>
                <a:cs typeface="Calibri"/>
              </a:defRPr>
            </a:lvl6pPr>
            <a:lvl7pPr algn="l">
              <a:defRPr sz="2250" b="0">
                <a:solidFill>
                  <a:srgbClr val="000000"/>
                </a:solidFill>
                <a:latin typeface="Calibri"/>
                <a:ea typeface="Calibri"/>
                <a:cs typeface="Calibri"/>
              </a:defRPr>
            </a:lvl7pPr>
            <a:lvl8pPr algn="l">
              <a:defRPr sz="2250" b="0">
                <a:solidFill>
                  <a:srgbClr val="000000"/>
                </a:solidFill>
                <a:latin typeface="Calibri"/>
                <a:ea typeface="Calibri"/>
                <a:cs typeface="Calibri"/>
              </a:defRPr>
            </a:lvl8pPr>
            <a:lvl9pPr algn="l">
              <a:defRPr sz="2250" b="0">
                <a:solidFill>
                  <a:srgbClr val="000000"/>
                </a:solidFill>
                <a:latin typeface="Calibri"/>
                <a:ea typeface="Calibri"/>
                <a:cs typeface="Calibri"/>
              </a:defRPr>
            </a:lvl9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precision</a:t>
            </a:r>
          </a:p>
        </p:txBody>
      </p:sp>
      <p:sp>
        <p:nvSpPr>
          <p:cNvPr id="10" name="object-124">
            <a:extLst xmlns:a="http://schemas.openxmlformats.org/drawingml/2006/main">
              <a:ext uri="{FF2B5EF4-FFF2-40B4-BE49-F238E27FC236}">
                <a16:creationId xmlns:a16="http://schemas.microsoft.com/office/drawing/2014/main" id="{A4B1DE1D-8F35-43F3-89E3-650D188C5603}"/>
              </a:ext>
            </a:extLst>
          </p:cNvPr>
          <p:cNvSpPr>
            <a:spLocks xmlns:a="http://schemas.openxmlformats.org/drawingml/2006/main" noGrp="1"/>
          </p:cNvSpPr>
          <p:nvPr/>
        </p:nvSpPr>
        <p:spPr>
          <a:xfrm xmlns:a="http://schemas.openxmlformats.org/drawingml/2006/main">
            <a:off x="8524875" y="3743325"/>
            <a:ext cx="2857500" cy="771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61.4%</a:t>
            </a:r>
          </a:p>
        </p:txBody>
      </p:sp>
      <p:sp>
        <p:nvSpPr>
          <p:cNvPr id="11" name="object-125">
            <a:extLst xmlns:a="http://schemas.openxmlformats.org/drawingml/2006/main">
              <a:ext uri="{FF2B5EF4-FFF2-40B4-BE49-F238E27FC236}">
                <a16:creationId xmlns:a16="http://schemas.microsoft.com/office/drawing/2014/main" id="{E5F633C8-B8CA-424D-8F65-A44D4B262D27}"/>
              </a:ext>
            </a:extLst>
          </p:cNvPr>
          <p:cNvSpPr>
            <a:spLocks xmlns:a="http://schemas.openxmlformats.org/drawingml/2006/main" noGrp="1"/>
          </p:cNvSpPr>
          <p:nvPr/>
        </p:nvSpPr>
        <p:spPr>
          <a:xfrm xmlns:a="http://schemas.openxmlformats.org/drawingml/2006/main">
            <a:off x="8553450" y="45339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vl1pPr algn="l">
              <a:defRPr sz="2250" b="0">
                <a:solidFill>
                  <a:srgbClr val="000000"/>
                </a:solidFill>
                <a:latin typeface="Calibri"/>
                <a:ea typeface="Calibri"/>
                <a:cs typeface="Calibri"/>
              </a:defRPr>
            </a:lvl1pPr>
            <a:lvl2pPr algn="l">
              <a:defRPr sz="2250" b="0">
                <a:solidFill>
                  <a:srgbClr val="000000"/>
                </a:solidFill>
                <a:latin typeface="Calibri"/>
                <a:ea typeface="Calibri"/>
                <a:cs typeface="Calibri"/>
              </a:defRPr>
            </a:lvl2pPr>
            <a:lvl3pPr algn="l">
              <a:defRPr sz="2250" b="0">
                <a:solidFill>
                  <a:srgbClr val="000000"/>
                </a:solidFill>
                <a:latin typeface="Calibri"/>
                <a:ea typeface="Calibri"/>
                <a:cs typeface="Calibri"/>
              </a:defRPr>
            </a:lvl3pPr>
            <a:lvl4pPr algn="l">
              <a:defRPr sz="2250" b="0">
                <a:solidFill>
                  <a:srgbClr val="000000"/>
                </a:solidFill>
                <a:latin typeface="Calibri"/>
                <a:ea typeface="Calibri"/>
                <a:cs typeface="Calibri"/>
              </a:defRPr>
            </a:lvl4pPr>
            <a:lvl5pPr algn="l">
              <a:defRPr sz="2250" b="0">
                <a:solidFill>
                  <a:srgbClr val="000000"/>
                </a:solidFill>
                <a:latin typeface="Calibri"/>
                <a:ea typeface="Calibri"/>
                <a:cs typeface="Calibri"/>
              </a:defRPr>
            </a:lvl5pPr>
            <a:lvl6pPr algn="l">
              <a:defRPr sz="2250" b="0">
                <a:solidFill>
                  <a:srgbClr val="000000"/>
                </a:solidFill>
                <a:latin typeface="Calibri"/>
                <a:ea typeface="Calibri"/>
                <a:cs typeface="Calibri"/>
              </a:defRPr>
            </a:lvl6pPr>
            <a:lvl7pPr algn="l">
              <a:defRPr sz="2250" b="0">
                <a:solidFill>
                  <a:srgbClr val="000000"/>
                </a:solidFill>
                <a:latin typeface="Calibri"/>
                <a:ea typeface="Calibri"/>
                <a:cs typeface="Calibri"/>
              </a:defRPr>
            </a:lvl7pPr>
            <a:lvl8pPr algn="l">
              <a:defRPr sz="2250" b="0">
                <a:solidFill>
                  <a:srgbClr val="000000"/>
                </a:solidFill>
                <a:latin typeface="Calibri"/>
                <a:ea typeface="Calibri"/>
                <a:cs typeface="Calibri"/>
              </a:defRPr>
            </a:lvl8pPr>
            <a:lvl9pPr algn="l">
              <a:defRPr sz="2250" b="0">
                <a:solidFill>
                  <a:srgbClr val="000000"/>
                </a:solidFill>
                <a:latin typeface="Calibri"/>
                <a:ea typeface="Calibri"/>
                <a:cs typeface="Calibri"/>
              </a:defRPr>
            </a:lvl9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recall</a:t>
            </a:r>
          </a:p>
        </p:txBody>
      </p:sp>
      <p:sp>
        <p:nvSpPr>
          <p:cNvPr id="12" name="object-126">
            <a:extLst xmlns:a="http://schemas.openxmlformats.org/drawingml/2006/main">
              <a:ext uri="{FF2B5EF4-FFF2-40B4-BE49-F238E27FC236}">
                <a16:creationId xmlns:a16="http://schemas.microsoft.com/office/drawing/2014/main" id="{479A076D-C7B9-4D5D-B964-4DF65BC1BB8F}"/>
              </a:ext>
            </a:extLst>
          </p:cNvPr>
          <p:cNvSpPr>
            <a:spLocks xmlns:a="http://schemas.openxmlformats.org/drawingml/2006/main" noGrp="1"/>
          </p:cNvSpPr>
          <p:nvPr/>
        </p:nvSpPr>
        <p:spPr>
          <a:xfrm xmlns:a="http://schemas.openxmlformats.org/drawingml/2006/main">
            <a:off x="685800" y="59055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mAP is a detection metric. It is not classification accuracy.</a:t>
            </a:r>
          </a:p>
        </p:txBody>
      </p:sp>
    </p:spTree>
    <p:extLst>
      <p:ext uri="{BB962C8B-B14F-4D97-AF65-F5344CB8AC3E}">
        <p14:creationId xmlns:p14="http://schemas.microsoft.com/office/powerpoint/2010/main" val="43777685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bject-127">
            <a:extLst xmlns:a="http://schemas.openxmlformats.org/drawingml/2006/main">
              <a:ext uri="{FF2B5EF4-FFF2-40B4-BE49-F238E27FC236}">
                <a16:creationId xmlns:a16="http://schemas.microsoft.com/office/drawing/2014/main" id="{AA7043BC-3B10-417A-8D11-169E3F95CFEF}"/>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28">
            <a:extLst xmlns:a="http://schemas.openxmlformats.org/drawingml/2006/main">
              <a:ext uri="{FF2B5EF4-FFF2-40B4-BE49-F238E27FC236}">
                <a16:creationId xmlns:a16="http://schemas.microsoft.com/office/drawing/2014/main" id="{04CD6C6D-5B1A-4252-AAB3-38A5918D51AA}"/>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29">
            <a:extLst xmlns:a="http://schemas.openxmlformats.org/drawingml/2006/main">
              <a:ext uri="{FF2B5EF4-FFF2-40B4-BE49-F238E27FC236}">
                <a16:creationId xmlns:a16="http://schemas.microsoft.com/office/drawing/2014/main" id="{369495E5-C5B1-4B43-8B95-5D304330707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Lane segmentation results</a:t>
            </a:r>
          </a:p>
        </p:txBody>
      </p:sp>
      <p:sp>
        <p:nvSpPr>
          <p:cNvPr id="4" name="object-130">
            <a:extLst xmlns:a="http://schemas.openxmlformats.org/drawingml/2006/main">
              <a:ext uri="{FF2B5EF4-FFF2-40B4-BE49-F238E27FC236}">
                <a16:creationId xmlns:a16="http://schemas.microsoft.com/office/drawing/2014/main" id="{F4154A1E-9D48-4F49-91D4-5382C18CDCF9}"/>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31">
            <a:extLst xmlns:a="http://schemas.openxmlformats.org/drawingml/2006/main">
              <a:ext uri="{FF2B5EF4-FFF2-40B4-BE49-F238E27FC236}">
                <a16:creationId xmlns:a16="http://schemas.microsoft.com/office/drawing/2014/main" id="{ED759AD9-74FC-418E-B6E9-C59B1C384975}"/>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Validation: 726 frames and 2,732 annotated lane instances</a:t>
            </a:r>
          </a:p>
        </p:txBody>
      </p:sp>
      <p:sp>
        <p:nvSpPr>
          <p:cNvPr id="6" name="object-132">
            <a:extLst xmlns:a="http://schemas.openxmlformats.org/drawingml/2006/main">
              <a:ext uri="{FF2B5EF4-FFF2-40B4-BE49-F238E27FC236}">
                <a16:creationId xmlns:a16="http://schemas.microsoft.com/office/drawing/2014/main" id="{60CCB2F0-C5A4-469D-9912-D0AAD094C501}"/>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13</a:t>
            </a:r>
          </a:p>
        </p:txBody>
      </p:sp>
      <p:graphicFrame>
        <p:nvGraphicFramePr>
          <p:cNvPr id="7" name="Chart">
            <a:extLst xmlns:a="http://schemas.openxmlformats.org/drawingml/2006/main">
              <a:ext uri="{FF2B5EF4-FFF2-40B4-BE49-F238E27FC236}">
                <a16:creationId xmlns:a16="http://schemas.microsoft.com/office/drawing/2014/main" id="{4D9511DF-5711-4617-A72E-3C39EBE37A63}"/>
              </a:ext>
            </a:extLst>
          </p:cNvPr>
          <p:cNvGraphicFramePr/>
          <p:nvPr/>
        </p:nvGraphicFramePr>
        <p:xfrm>
          <a:off xmlns:a="http://schemas.openxmlformats.org/drawingml/2006/main" x="685800" y="1990725"/>
          <a:ext xmlns:a="http://schemas.openxmlformats.org/drawingml/2006/main" cx="7429500" cy="3476625"/>
        </p:xfrm>
        <a:graphic xmlns:a="http://schemas.openxmlformats.org/drawingml/2006/main">
          <a:graphicData uri="http://schemas.openxmlformats.org/drawingml/2006/chart">
            <c:chart xmlns:r="http://schemas.openxmlformats.org/officeDocument/2006/relationships" xmlns:c="http://schemas.openxmlformats.org/drawingml/2006/chart" r:id="R3f8ec3c670b8449f"/>
          </a:graphicData>
        </a:graphic>
      </p:graphicFrame>
      <p:sp>
        <p:nvSpPr>
          <p:cNvPr id="8" name="object-133">
            <a:extLst xmlns:a="http://schemas.openxmlformats.org/drawingml/2006/main">
              <a:ext uri="{FF2B5EF4-FFF2-40B4-BE49-F238E27FC236}">
                <a16:creationId xmlns:a16="http://schemas.microsoft.com/office/drawing/2014/main" id="{7764737A-6CB2-4901-B813-328BF9DF3BDD}"/>
              </a:ext>
            </a:extLst>
          </p:cNvPr>
          <p:cNvSpPr>
            <a:spLocks xmlns:a="http://schemas.openxmlformats.org/drawingml/2006/main" noGrp="1"/>
          </p:cNvSpPr>
          <p:nvPr/>
        </p:nvSpPr>
        <p:spPr>
          <a:xfrm xmlns:a="http://schemas.openxmlformats.org/drawingml/2006/main">
            <a:off x="8572500" y="2124075"/>
            <a:ext cx="2781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99.2%</a:t>
            </a:r>
          </a:p>
        </p:txBody>
      </p:sp>
      <p:sp>
        <p:nvSpPr>
          <p:cNvPr id="9" name="object-134">
            <a:extLst xmlns:a="http://schemas.openxmlformats.org/drawingml/2006/main">
              <a:ext uri="{FF2B5EF4-FFF2-40B4-BE49-F238E27FC236}">
                <a16:creationId xmlns:a16="http://schemas.microsoft.com/office/drawing/2014/main" id="{7299EAF2-8852-4666-95BD-C46332F75B36}"/>
              </a:ext>
            </a:extLst>
          </p:cNvPr>
          <p:cNvSpPr>
            <a:spLocks xmlns:a="http://schemas.openxmlformats.org/drawingml/2006/main" noGrp="1"/>
          </p:cNvSpPr>
          <p:nvPr/>
        </p:nvSpPr>
        <p:spPr>
          <a:xfrm xmlns:a="http://schemas.openxmlformats.org/drawingml/2006/main">
            <a:off x="8572500" y="2943225"/>
            <a:ext cx="27813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box mAP50</a:t>
            </a:r>
          </a:p>
        </p:txBody>
      </p:sp>
      <p:sp>
        <p:nvSpPr>
          <p:cNvPr id="10" name="object-135">
            <a:extLst xmlns:a="http://schemas.openxmlformats.org/drawingml/2006/main">
              <a:ext uri="{FF2B5EF4-FFF2-40B4-BE49-F238E27FC236}">
                <a16:creationId xmlns:a16="http://schemas.microsoft.com/office/drawing/2014/main" id="{3BEE06BE-6415-42E7-B7B3-1E9E44990810}"/>
              </a:ext>
            </a:extLst>
          </p:cNvPr>
          <p:cNvSpPr>
            <a:spLocks xmlns:a="http://schemas.openxmlformats.org/drawingml/2006/main" noGrp="1"/>
          </p:cNvSpPr>
          <p:nvPr/>
        </p:nvSpPr>
        <p:spPr>
          <a:xfrm xmlns:a="http://schemas.openxmlformats.org/drawingml/2006/main">
            <a:off x="8572500" y="3790950"/>
            <a:ext cx="2781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38.9%</a:t>
            </a:r>
          </a:p>
        </p:txBody>
      </p:sp>
      <p:sp>
        <p:nvSpPr>
          <p:cNvPr id="11" name="object-136">
            <a:extLst xmlns:a="http://schemas.openxmlformats.org/drawingml/2006/main">
              <a:ext uri="{FF2B5EF4-FFF2-40B4-BE49-F238E27FC236}">
                <a16:creationId xmlns:a16="http://schemas.microsoft.com/office/drawing/2014/main" id="{841322CD-4550-48F9-BEE6-152BD2F4FC4C}"/>
              </a:ext>
            </a:extLst>
          </p:cNvPr>
          <p:cNvSpPr>
            <a:spLocks xmlns:a="http://schemas.openxmlformats.org/drawingml/2006/main" noGrp="1"/>
          </p:cNvSpPr>
          <p:nvPr/>
        </p:nvSpPr>
        <p:spPr>
          <a:xfrm xmlns:a="http://schemas.openxmlformats.org/drawingml/2006/main">
            <a:off x="8572500" y="4610100"/>
            <a:ext cx="28384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mask mAP50–95</a:t>
            </a:r>
          </a:p>
        </p:txBody>
      </p:sp>
      <p:sp>
        <p:nvSpPr>
          <p:cNvPr id="12" name="object-137">
            <a:extLst xmlns:a="http://schemas.openxmlformats.org/drawingml/2006/main">
              <a:ext uri="{FF2B5EF4-FFF2-40B4-BE49-F238E27FC236}">
                <a16:creationId xmlns:a16="http://schemas.microsoft.com/office/drawing/2014/main" id="{E6EF7D3B-BFC2-4371-985A-77268C5CCE04}"/>
              </a:ext>
            </a:extLst>
          </p:cNvPr>
          <p:cNvSpPr>
            <a:spLocks xmlns:a="http://schemas.openxmlformats.org/drawingml/2006/main" noGrp="1"/>
          </p:cNvSpPr>
          <p:nvPr/>
        </p:nvSpPr>
        <p:spPr>
          <a:xfrm xmlns:a="http://schemas.openxmlformats.org/drawingml/2006/main">
            <a:off x="685800" y="58293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000000"/>
                </a:solidFill>
                <a:latin typeface="Calibri"/>
                <a:ea typeface="Calibri"/>
                <a:cs typeface="Calibri"/>
              </a:defRPr>
            </a:defPPr>
            <a:lvl1pPr algn="l">
              <a:defRPr sz="1800" b="1">
                <a:solidFill>
                  <a:srgbClr val="000000"/>
                </a:solidFill>
                <a:latin typeface="Calibri"/>
                <a:ea typeface="Calibri"/>
                <a:cs typeface="Calibri"/>
              </a:defRPr>
            </a:lvl1pPr>
            <a:lvl2pPr algn="l">
              <a:defRPr sz="1800" b="1">
                <a:solidFill>
                  <a:srgbClr val="000000"/>
                </a:solidFill>
                <a:latin typeface="Calibri"/>
                <a:ea typeface="Calibri"/>
                <a:cs typeface="Calibri"/>
              </a:defRPr>
            </a:lvl2pPr>
            <a:lvl3pPr algn="l">
              <a:defRPr sz="1800" b="1">
                <a:solidFill>
                  <a:srgbClr val="000000"/>
                </a:solidFill>
                <a:latin typeface="Calibri"/>
                <a:ea typeface="Calibri"/>
                <a:cs typeface="Calibri"/>
              </a:defRPr>
            </a:lvl3pPr>
            <a:lvl4pPr algn="l">
              <a:defRPr sz="1800" b="1">
                <a:solidFill>
                  <a:srgbClr val="000000"/>
                </a:solidFill>
                <a:latin typeface="Calibri"/>
                <a:ea typeface="Calibri"/>
                <a:cs typeface="Calibri"/>
              </a:defRPr>
            </a:lvl4pPr>
            <a:lvl5pPr algn="l">
              <a:defRPr sz="1800" b="1">
                <a:solidFill>
                  <a:srgbClr val="000000"/>
                </a:solidFill>
                <a:latin typeface="Calibri"/>
                <a:ea typeface="Calibri"/>
                <a:cs typeface="Calibri"/>
              </a:defRPr>
            </a:lvl5pPr>
            <a:lvl6pPr algn="l">
              <a:defRPr sz="1800" b="1">
                <a:solidFill>
                  <a:srgbClr val="000000"/>
                </a:solidFill>
                <a:latin typeface="Calibri"/>
                <a:ea typeface="Calibri"/>
                <a:cs typeface="Calibri"/>
              </a:defRPr>
            </a:lvl6pPr>
            <a:lvl7pPr algn="l">
              <a:defRPr sz="1800" b="1">
                <a:solidFill>
                  <a:srgbClr val="000000"/>
                </a:solidFill>
                <a:latin typeface="Calibri"/>
                <a:ea typeface="Calibri"/>
                <a:cs typeface="Calibri"/>
              </a:defRPr>
            </a:lvl7pPr>
            <a:lvl8pPr algn="l">
              <a:defRPr sz="1800" b="1">
                <a:solidFill>
                  <a:srgbClr val="000000"/>
                </a:solidFill>
                <a:latin typeface="Calibri"/>
                <a:ea typeface="Calibri"/>
                <a:cs typeface="Calibri"/>
              </a:defRPr>
            </a:lvl8pPr>
            <a:lvl9pPr algn="l">
              <a:defRPr sz="1800" b="1">
                <a:solidFill>
                  <a:srgbClr val="000000"/>
                </a:solidFill>
                <a:latin typeface="Calibri"/>
                <a:ea typeface="Calibri"/>
                <a:cs typeface="Calibri"/>
              </a:defRPr>
            </a:lvl9pPr>
          </a:lstStyle>
          <a:p xmlns:a="http://schemas.openxmlformats.org/drawingml/2006/main">
            <a:pPr algn="l">
              <a:defRPr sz="1800" b="1">
                <a:solidFill>
                  <a:srgbClr val="000000"/>
                </a:solidFill>
                <a:latin typeface="Calibri"/>
                <a:ea typeface="Calibri"/>
                <a:cs typeface="Calibri"/>
              </a:defRPr>
            </a:pPr>
            <a:r>
              <a:rPr sz="1800" b="1">
                <a:solidFill>
                  <a:srgbClr val="000000"/>
                </a:solidFill>
                <a:latin typeface="Calibri"/>
                <a:ea typeface="Calibri"/>
                <a:cs typeface="Calibri"/>
              </a:rPr>
              <a:t>Thin lane masks make IoU sensitive to small offsets. These are not official TuSimple leaderboard scores.</a:t>
            </a:r>
          </a:p>
        </p:txBody>
      </p:sp>
    </p:spTree>
    <p:extLst>
      <p:ext uri="{BB962C8B-B14F-4D97-AF65-F5344CB8AC3E}">
        <p14:creationId xmlns:p14="http://schemas.microsoft.com/office/powerpoint/2010/main" val="9245340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138">
            <a:extLst xmlns:a="http://schemas.openxmlformats.org/drawingml/2006/main">
              <a:ext uri="{FF2B5EF4-FFF2-40B4-BE49-F238E27FC236}">
                <a16:creationId xmlns:a16="http://schemas.microsoft.com/office/drawing/2014/main" id="{1E7CA89E-6BCB-4F55-9282-9EC421E70D67}"/>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39">
            <a:extLst xmlns:a="http://schemas.openxmlformats.org/drawingml/2006/main">
              <a:ext uri="{FF2B5EF4-FFF2-40B4-BE49-F238E27FC236}">
                <a16:creationId xmlns:a16="http://schemas.microsoft.com/office/drawing/2014/main" id="{89D6BE2D-9CAB-433B-A0AA-594C87865F9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40">
            <a:extLst xmlns:a="http://schemas.openxmlformats.org/drawingml/2006/main">
              <a:ext uri="{FF2B5EF4-FFF2-40B4-BE49-F238E27FC236}">
                <a16:creationId xmlns:a16="http://schemas.microsoft.com/office/drawing/2014/main" id="{6F59398C-6164-4AE1-9706-DA70EDCBA68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Detection training progress</a:t>
            </a:r>
          </a:p>
        </p:txBody>
      </p:sp>
      <p:sp>
        <p:nvSpPr>
          <p:cNvPr id="4" name="object-141">
            <a:extLst xmlns:a="http://schemas.openxmlformats.org/drawingml/2006/main">
              <a:ext uri="{FF2B5EF4-FFF2-40B4-BE49-F238E27FC236}">
                <a16:creationId xmlns:a16="http://schemas.microsoft.com/office/drawing/2014/main" id="{032B4F33-C96F-4AD2-9AC1-503F9B2DDE37}"/>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42">
            <a:extLst xmlns:a="http://schemas.openxmlformats.org/drawingml/2006/main">
              <a:ext uri="{FF2B5EF4-FFF2-40B4-BE49-F238E27FC236}">
                <a16:creationId xmlns:a16="http://schemas.microsoft.com/office/drawing/2014/main" id="{0956D2A8-5082-4ED3-9987-5E2592677E71}"/>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50 recorded epochs on the perception training run</a:t>
            </a:r>
          </a:p>
        </p:txBody>
      </p:sp>
      <p:sp>
        <p:nvSpPr>
          <p:cNvPr id="6" name="object-143">
            <a:extLst xmlns:a="http://schemas.openxmlformats.org/drawingml/2006/main">
              <a:ext uri="{FF2B5EF4-FFF2-40B4-BE49-F238E27FC236}">
                <a16:creationId xmlns:a16="http://schemas.microsoft.com/office/drawing/2014/main" id="{810B523E-CD5A-4DE0-A735-04D35A83D284}"/>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14</a:t>
            </a:r>
          </a:p>
        </p:txBody>
      </p:sp>
      <p:pic>
        <p:nvPicPr>
          <p:cNvPr id="7" name="">
            <a:extLst xmlns:a="http://schemas.openxmlformats.org/drawingml/2006/main">
              <a:ext uri="{FF2B5EF4-FFF2-40B4-BE49-F238E27FC236}">
                <a16:creationId xmlns:a16="http://schemas.microsoft.com/office/drawing/2014/main" id="{8168AFB4-0968-4BB1-A9C4-1FEADBD9F600}"/>
              </a:ext>
            </a:extLst>
          </p:cNvPr>
          <p:cNvPicPr>
            <a:picLocks xmlns:a="http://schemas.openxmlformats.org/drawingml/2006/main" noChangeAspect="1"/>
          </p:cNvPicPr>
          <p:nvPr/>
        </p:nvPicPr>
        <p:blipFill>
          <a:blip xmlns:r="http://schemas.openxmlformats.org/officeDocument/2006/relationships" xmlns:a="http://schemas.openxmlformats.org/drawingml/2006/main" r:embed="R2c76b2c2573d4159"/>
          <a:stretch xmlns:a="http://schemas.openxmlformats.org/drawingml/2006/main"/>
        </p:blipFill>
        <p:spPr>
          <a:xfrm xmlns:a="http://schemas.openxmlformats.org/drawingml/2006/main">
            <a:off x="1048771" y="1866900"/>
            <a:ext cx="10094459" cy="3819525"/>
          </a:xfrm>
          <a:prstGeom xmlns:a="http://schemas.openxmlformats.org/drawingml/2006/main" prst="rect">
            <a:avLst/>
          </a:prstGeom>
        </p:spPr>
      </p:pic>
      <p:sp>
        <p:nvSpPr>
          <p:cNvPr id="8" name="object-144">
            <a:extLst xmlns:a="http://schemas.openxmlformats.org/drawingml/2006/main">
              <a:ext uri="{FF2B5EF4-FFF2-40B4-BE49-F238E27FC236}">
                <a16:creationId xmlns:a16="http://schemas.microsoft.com/office/drawing/2014/main" id="{942CF87B-1CD1-4B2E-BF6A-90CD98DFC77A}"/>
              </a:ext>
            </a:extLst>
          </p:cNvPr>
          <p:cNvSpPr>
            <a:spLocks xmlns:a="http://schemas.openxmlformats.org/drawingml/2006/main" noGrp="1"/>
          </p:cNvSpPr>
          <p:nvPr/>
        </p:nvSpPr>
        <p:spPr>
          <a:xfrm xmlns:a="http://schemas.openxmlformats.org/drawingml/2006/main">
            <a:off x="685800" y="58674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Validation mAP50–95: 0.331 at epoch 1, 0.482 at epoch 50</a:t>
            </a:r>
          </a:p>
        </p:txBody>
      </p:sp>
    </p:spTree>
    <p:extLst>
      <p:ext uri="{BB962C8B-B14F-4D97-AF65-F5344CB8AC3E}">
        <p14:creationId xmlns:p14="http://schemas.microsoft.com/office/powerpoint/2010/main" val="14708533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145">
            <a:extLst xmlns:a="http://schemas.openxmlformats.org/drawingml/2006/main">
              <a:ext uri="{FF2B5EF4-FFF2-40B4-BE49-F238E27FC236}">
                <a16:creationId xmlns:a16="http://schemas.microsoft.com/office/drawing/2014/main" id="{C68C03E9-64CF-4B04-92B6-DB3C7493A841}"/>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46">
            <a:extLst xmlns:a="http://schemas.openxmlformats.org/drawingml/2006/main">
              <a:ext uri="{FF2B5EF4-FFF2-40B4-BE49-F238E27FC236}">
                <a16:creationId xmlns:a16="http://schemas.microsoft.com/office/drawing/2014/main" id="{CE3AC2AC-FE6E-40CB-8FBC-651CFE6CE1E9}"/>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47">
            <a:extLst xmlns:a="http://schemas.openxmlformats.org/drawingml/2006/main">
              <a:ext uri="{FF2B5EF4-FFF2-40B4-BE49-F238E27FC236}">
                <a16:creationId xmlns:a16="http://schemas.microsoft.com/office/drawing/2014/main" id="{AF446CC7-6693-46F5-883E-F73B80117F4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Lane training progress</a:t>
            </a:r>
          </a:p>
        </p:txBody>
      </p:sp>
      <p:sp>
        <p:nvSpPr>
          <p:cNvPr id="4" name="object-148">
            <a:extLst xmlns:a="http://schemas.openxmlformats.org/drawingml/2006/main">
              <a:ext uri="{FF2B5EF4-FFF2-40B4-BE49-F238E27FC236}">
                <a16:creationId xmlns:a16="http://schemas.microsoft.com/office/drawing/2014/main" id="{41403F33-B96A-427E-A92A-7AC76B02FBB1}"/>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49">
            <a:extLst xmlns:a="http://schemas.openxmlformats.org/drawingml/2006/main">
              <a:ext uri="{FF2B5EF4-FFF2-40B4-BE49-F238E27FC236}">
                <a16:creationId xmlns:a16="http://schemas.microsoft.com/office/drawing/2014/main" id="{9B5DDF70-0823-4A15-9755-60F603AEBE8C}"/>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60 recorded epochs on the perception training run</a:t>
            </a:r>
          </a:p>
        </p:txBody>
      </p:sp>
      <p:sp>
        <p:nvSpPr>
          <p:cNvPr id="6" name="object-150">
            <a:extLst xmlns:a="http://schemas.openxmlformats.org/drawingml/2006/main">
              <a:ext uri="{FF2B5EF4-FFF2-40B4-BE49-F238E27FC236}">
                <a16:creationId xmlns:a16="http://schemas.microsoft.com/office/drawing/2014/main" id="{F03580B4-38AC-498B-8331-0E62C6FF0AA6}"/>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15</a:t>
            </a:r>
          </a:p>
        </p:txBody>
      </p:sp>
      <p:pic>
        <p:nvPicPr>
          <p:cNvPr id="7" name="">
            <a:extLst xmlns:a="http://schemas.openxmlformats.org/drawingml/2006/main">
              <a:ext uri="{FF2B5EF4-FFF2-40B4-BE49-F238E27FC236}">
                <a16:creationId xmlns:a16="http://schemas.microsoft.com/office/drawing/2014/main" id="{0F119D7F-EF07-4D38-A35E-448D51D88CCB}"/>
              </a:ext>
            </a:extLst>
          </p:cNvPr>
          <p:cNvPicPr>
            <a:picLocks xmlns:a="http://schemas.openxmlformats.org/drawingml/2006/main" noChangeAspect="1"/>
          </p:cNvPicPr>
          <p:nvPr/>
        </p:nvPicPr>
        <p:blipFill>
          <a:blip xmlns:r="http://schemas.openxmlformats.org/officeDocument/2006/relationships" xmlns:a="http://schemas.openxmlformats.org/drawingml/2006/main" r:embed="R4faf78988e884d05"/>
          <a:stretch xmlns:a="http://schemas.openxmlformats.org/drawingml/2006/main"/>
        </p:blipFill>
        <p:spPr>
          <a:xfrm xmlns:a="http://schemas.openxmlformats.org/drawingml/2006/main">
            <a:off x="1048771" y="1866900"/>
            <a:ext cx="10094459" cy="3819525"/>
          </a:xfrm>
          <a:prstGeom xmlns:a="http://schemas.openxmlformats.org/drawingml/2006/main" prst="rect">
            <a:avLst/>
          </a:prstGeom>
        </p:spPr>
      </p:pic>
      <p:sp>
        <p:nvSpPr>
          <p:cNvPr id="8" name="object-151">
            <a:extLst xmlns:a="http://schemas.openxmlformats.org/drawingml/2006/main">
              <a:ext uri="{FF2B5EF4-FFF2-40B4-BE49-F238E27FC236}">
                <a16:creationId xmlns:a16="http://schemas.microsoft.com/office/drawing/2014/main" id="{5A27B2D9-E849-48B2-A885-F3DF4E316409}"/>
              </a:ext>
            </a:extLst>
          </p:cNvPr>
          <p:cNvSpPr>
            <a:spLocks xmlns:a="http://schemas.openxmlformats.org/drawingml/2006/main" noGrp="1"/>
          </p:cNvSpPr>
          <p:nvPr/>
        </p:nvSpPr>
        <p:spPr>
          <a:xfrm xmlns:a="http://schemas.openxmlformats.org/drawingml/2006/main">
            <a:off x="685800" y="58674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000000"/>
                </a:solidFill>
                <a:latin typeface="Calibri"/>
                <a:ea typeface="Calibri"/>
                <a:cs typeface="Calibri"/>
              </a:defRPr>
            </a:defPPr>
            <a:lvl1pPr algn="l">
              <a:defRPr sz="2175" b="1">
                <a:solidFill>
                  <a:srgbClr val="000000"/>
                </a:solidFill>
                <a:latin typeface="Calibri"/>
                <a:ea typeface="Calibri"/>
                <a:cs typeface="Calibri"/>
              </a:defRPr>
            </a:lvl1pPr>
            <a:lvl2pPr algn="l">
              <a:defRPr sz="2175" b="1">
                <a:solidFill>
                  <a:srgbClr val="000000"/>
                </a:solidFill>
                <a:latin typeface="Calibri"/>
                <a:ea typeface="Calibri"/>
                <a:cs typeface="Calibri"/>
              </a:defRPr>
            </a:lvl2pPr>
            <a:lvl3pPr algn="l">
              <a:defRPr sz="2175" b="1">
                <a:solidFill>
                  <a:srgbClr val="000000"/>
                </a:solidFill>
                <a:latin typeface="Calibri"/>
                <a:ea typeface="Calibri"/>
                <a:cs typeface="Calibri"/>
              </a:defRPr>
            </a:lvl3pPr>
            <a:lvl4pPr algn="l">
              <a:defRPr sz="2175" b="1">
                <a:solidFill>
                  <a:srgbClr val="000000"/>
                </a:solidFill>
                <a:latin typeface="Calibri"/>
                <a:ea typeface="Calibri"/>
                <a:cs typeface="Calibri"/>
              </a:defRPr>
            </a:lvl4pPr>
            <a:lvl5pPr algn="l">
              <a:defRPr sz="2175" b="1">
                <a:solidFill>
                  <a:srgbClr val="000000"/>
                </a:solidFill>
                <a:latin typeface="Calibri"/>
                <a:ea typeface="Calibri"/>
                <a:cs typeface="Calibri"/>
              </a:defRPr>
            </a:lvl5pPr>
            <a:lvl6pPr algn="l">
              <a:defRPr sz="2175" b="1">
                <a:solidFill>
                  <a:srgbClr val="000000"/>
                </a:solidFill>
                <a:latin typeface="Calibri"/>
                <a:ea typeface="Calibri"/>
                <a:cs typeface="Calibri"/>
              </a:defRPr>
            </a:lvl6pPr>
            <a:lvl7pPr algn="l">
              <a:defRPr sz="2175" b="1">
                <a:solidFill>
                  <a:srgbClr val="000000"/>
                </a:solidFill>
                <a:latin typeface="Calibri"/>
                <a:ea typeface="Calibri"/>
                <a:cs typeface="Calibri"/>
              </a:defRPr>
            </a:lvl7pPr>
            <a:lvl8pPr algn="l">
              <a:defRPr sz="2175" b="1">
                <a:solidFill>
                  <a:srgbClr val="000000"/>
                </a:solidFill>
                <a:latin typeface="Calibri"/>
                <a:ea typeface="Calibri"/>
                <a:cs typeface="Calibri"/>
              </a:defRPr>
            </a:lvl8pPr>
            <a:lvl9pPr algn="l">
              <a:defRPr sz="2175" b="1">
                <a:solidFill>
                  <a:srgbClr val="000000"/>
                </a:solidFill>
                <a:latin typeface="Calibri"/>
                <a:ea typeface="Calibri"/>
                <a:cs typeface="Calibri"/>
              </a:defRPr>
            </a:lvl9pPr>
          </a:lstStyle>
          <a:p xmlns:a="http://schemas.openxmlformats.org/drawingml/2006/main">
            <a:pPr algn="l">
              <a:defRPr sz="2175" b="1">
                <a:solidFill>
                  <a:srgbClr val="000000"/>
                </a:solidFill>
                <a:latin typeface="Calibri"/>
                <a:ea typeface="Calibri"/>
                <a:cs typeface="Calibri"/>
              </a:defRPr>
            </a:pPr>
            <a:r>
              <a:rPr sz="2175" b="1">
                <a:solidFill>
                  <a:srgbClr val="000000"/>
                </a:solidFill>
                <a:latin typeface="Calibri"/>
                <a:ea typeface="Calibri"/>
                <a:cs typeface="Calibri"/>
              </a:rPr>
              <a:t>Mask mAP50–95: 0.173 at epoch 1, 0.363 at epoch 60</a:t>
            </a:r>
          </a:p>
        </p:txBody>
      </p:sp>
    </p:spTree>
    <p:extLst>
      <p:ext uri="{BB962C8B-B14F-4D97-AF65-F5344CB8AC3E}">
        <p14:creationId xmlns:p14="http://schemas.microsoft.com/office/powerpoint/2010/main" val="137144892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bject-152">
            <a:extLst xmlns:a="http://schemas.openxmlformats.org/drawingml/2006/main">
              <a:ext uri="{FF2B5EF4-FFF2-40B4-BE49-F238E27FC236}">
                <a16:creationId xmlns:a16="http://schemas.microsoft.com/office/drawing/2014/main" id="{64388061-07BA-4763-9863-6BE5F8E00E4C}"/>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53">
            <a:extLst xmlns:a="http://schemas.openxmlformats.org/drawingml/2006/main">
              <a:ext uri="{FF2B5EF4-FFF2-40B4-BE49-F238E27FC236}">
                <a16:creationId xmlns:a16="http://schemas.microsoft.com/office/drawing/2014/main" id="{72530A97-07A2-4176-B326-AEED1D064179}"/>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54">
            <a:extLst xmlns:a="http://schemas.openxmlformats.org/drawingml/2006/main">
              <a:ext uri="{FF2B5EF4-FFF2-40B4-BE49-F238E27FC236}">
                <a16:creationId xmlns:a16="http://schemas.microsoft.com/office/drawing/2014/main" id="{0125FA66-FB9F-49BF-8AB9-00470D86520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Steering results and baselines</a:t>
            </a:r>
          </a:p>
        </p:txBody>
      </p:sp>
      <p:sp>
        <p:nvSpPr>
          <p:cNvPr id="4" name="object-155">
            <a:extLst xmlns:a="http://schemas.openxmlformats.org/drawingml/2006/main">
              <a:ext uri="{FF2B5EF4-FFF2-40B4-BE49-F238E27FC236}">
                <a16:creationId xmlns:a16="http://schemas.microsoft.com/office/drawing/2014/main" id="{48310652-3EC1-4296-ADFE-0D6C6BC4ED8D}"/>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56">
            <a:extLst xmlns:a="http://schemas.openxmlformats.org/drawingml/2006/main">
              <a:ext uri="{FF2B5EF4-FFF2-40B4-BE49-F238E27FC236}">
                <a16:creationId xmlns:a16="http://schemas.microsoft.com/office/drawing/2014/main" id="{495748EB-A574-4079-A98D-E2E6EAD2C5A1}"/>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Same 9,082 validation frames for all four models</a:t>
            </a:r>
          </a:p>
        </p:txBody>
      </p:sp>
      <p:sp>
        <p:nvSpPr>
          <p:cNvPr id="6" name="object-157">
            <a:extLst xmlns:a="http://schemas.openxmlformats.org/drawingml/2006/main">
              <a:ext uri="{FF2B5EF4-FFF2-40B4-BE49-F238E27FC236}">
                <a16:creationId xmlns:a16="http://schemas.microsoft.com/office/drawing/2014/main" id="{6D85C7F7-8691-4FF2-A09C-E01115B6668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16</a:t>
            </a:r>
          </a:p>
        </p:txBody>
      </p:sp>
      <p:graphicFrame>
        <p:nvGraphicFramePr>
          <p:cNvPr id="7" name="Chart">
            <a:extLst xmlns:a="http://schemas.openxmlformats.org/drawingml/2006/main">
              <a:ext uri="{FF2B5EF4-FFF2-40B4-BE49-F238E27FC236}">
                <a16:creationId xmlns:a16="http://schemas.microsoft.com/office/drawing/2014/main" id="{AFB6A741-8C5E-47E9-AFB7-547131ABAF70}"/>
              </a:ext>
            </a:extLst>
          </p:cNvPr>
          <p:cNvGraphicFramePr/>
          <p:nvPr/>
        </p:nvGraphicFramePr>
        <p:xfrm>
          <a:off xmlns:a="http://schemas.openxmlformats.org/drawingml/2006/main" x="685800" y="2000250"/>
          <a:ext xmlns:a="http://schemas.openxmlformats.org/drawingml/2006/main" cx="7524750" cy="3371850"/>
        </p:xfrm>
        <a:graphic xmlns:a="http://schemas.openxmlformats.org/drawingml/2006/main">
          <a:graphicData uri="http://schemas.openxmlformats.org/drawingml/2006/chart">
            <c:chart xmlns:r="http://schemas.openxmlformats.org/officeDocument/2006/relationships" xmlns:c="http://schemas.openxmlformats.org/drawingml/2006/chart" r:id="Rcabc1d2eab214a7c"/>
          </a:graphicData>
        </a:graphic>
      </p:graphicFrame>
      <p:sp>
        <p:nvSpPr>
          <p:cNvPr id="8" name="object-158">
            <a:extLst xmlns:a="http://schemas.openxmlformats.org/drawingml/2006/main">
              <a:ext uri="{FF2B5EF4-FFF2-40B4-BE49-F238E27FC236}">
                <a16:creationId xmlns:a16="http://schemas.microsoft.com/office/drawing/2014/main" id="{65AA3E46-D59F-4402-995C-5881602F3EF3}"/>
              </a:ext>
            </a:extLst>
          </p:cNvPr>
          <p:cNvSpPr>
            <a:spLocks xmlns:a="http://schemas.openxmlformats.org/drawingml/2006/main" noGrp="1"/>
          </p:cNvSpPr>
          <p:nvPr/>
        </p:nvSpPr>
        <p:spPr>
          <a:xfrm xmlns:a="http://schemas.openxmlformats.org/drawingml/2006/main">
            <a:off x="8763000" y="2114550"/>
            <a:ext cx="2695575"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000000"/>
                </a:solidFill>
                <a:latin typeface="Calibri"/>
                <a:ea typeface="Calibri"/>
                <a:cs typeface="Calibri"/>
              </a:defRPr>
            </a:defPPr>
            <a:lvl1pPr algn="l">
              <a:defRPr sz="4800" b="1">
                <a:solidFill>
                  <a:srgbClr val="000000"/>
                </a:solidFill>
                <a:latin typeface="Calibri"/>
                <a:ea typeface="Calibri"/>
                <a:cs typeface="Calibri"/>
              </a:defRPr>
            </a:lvl1pPr>
            <a:lvl2pPr algn="l">
              <a:defRPr sz="4800" b="1">
                <a:solidFill>
                  <a:srgbClr val="000000"/>
                </a:solidFill>
                <a:latin typeface="Calibri"/>
                <a:ea typeface="Calibri"/>
                <a:cs typeface="Calibri"/>
              </a:defRPr>
            </a:lvl2pPr>
            <a:lvl3pPr algn="l">
              <a:defRPr sz="4800" b="1">
                <a:solidFill>
                  <a:srgbClr val="000000"/>
                </a:solidFill>
                <a:latin typeface="Calibri"/>
                <a:ea typeface="Calibri"/>
                <a:cs typeface="Calibri"/>
              </a:defRPr>
            </a:lvl3pPr>
            <a:lvl4pPr algn="l">
              <a:defRPr sz="4800" b="1">
                <a:solidFill>
                  <a:srgbClr val="000000"/>
                </a:solidFill>
                <a:latin typeface="Calibri"/>
                <a:ea typeface="Calibri"/>
                <a:cs typeface="Calibri"/>
              </a:defRPr>
            </a:lvl4pPr>
            <a:lvl5pPr algn="l">
              <a:defRPr sz="4800" b="1">
                <a:solidFill>
                  <a:srgbClr val="000000"/>
                </a:solidFill>
                <a:latin typeface="Calibri"/>
                <a:ea typeface="Calibri"/>
                <a:cs typeface="Calibri"/>
              </a:defRPr>
            </a:lvl5pPr>
            <a:lvl6pPr algn="l">
              <a:defRPr sz="4800" b="1">
                <a:solidFill>
                  <a:srgbClr val="000000"/>
                </a:solidFill>
                <a:latin typeface="Calibri"/>
                <a:ea typeface="Calibri"/>
                <a:cs typeface="Calibri"/>
              </a:defRPr>
            </a:lvl6pPr>
            <a:lvl7pPr algn="l">
              <a:defRPr sz="4800" b="1">
                <a:solidFill>
                  <a:srgbClr val="000000"/>
                </a:solidFill>
                <a:latin typeface="Calibri"/>
                <a:ea typeface="Calibri"/>
                <a:cs typeface="Calibri"/>
              </a:defRPr>
            </a:lvl7pPr>
            <a:lvl8pPr algn="l">
              <a:defRPr sz="4800" b="1">
                <a:solidFill>
                  <a:srgbClr val="000000"/>
                </a:solidFill>
                <a:latin typeface="Calibri"/>
                <a:ea typeface="Calibri"/>
                <a:cs typeface="Calibri"/>
              </a:defRPr>
            </a:lvl8pPr>
            <a:lvl9pPr algn="l">
              <a:defRPr sz="4800" b="1">
                <a:solidFill>
                  <a:srgbClr val="000000"/>
                </a:solidFill>
                <a:latin typeface="Calibri"/>
                <a:ea typeface="Calibri"/>
                <a:cs typeface="Calibri"/>
              </a:defRPr>
            </a:lvl9pPr>
          </a:lstStyle>
          <a:p xmlns:a="http://schemas.openxmlformats.org/drawingml/2006/main">
            <a:pPr algn="l">
              <a:defRPr sz="4800" b="1">
                <a:solidFill>
                  <a:srgbClr val="000000"/>
                </a:solidFill>
                <a:latin typeface="Calibri"/>
                <a:ea typeface="Calibri"/>
                <a:cs typeface="Calibri"/>
              </a:defRPr>
            </a:pPr>
            <a:r>
              <a:rPr sz="4800" b="1">
                <a:solidFill>
                  <a:srgbClr val="000000"/>
                </a:solidFill>
                <a:latin typeface="Calibri"/>
                <a:ea typeface="Calibri"/>
                <a:cs typeface="Calibri"/>
              </a:rPr>
              <a:t>36.9%</a:t>
            </a:r>
          </a:p>
        </p:txBody>
      </p:sp>
      <p:sp>
        <p:nvSpPr>
          <p:cNvPr id="9" name="object-159">
            <a:extLst xmlns:a="http://schemas.openxmlformats.org/drawingml/2006/main">
              <a:ext uri="{FF2B5EF4-FFF2-40B4-BE49-F238E27FC236}">
                <a16:creationId xmlns:a16="http://schemas.microsoft.com/office/drawing/2014/main" id="{AC2534B7-C0F4-4044-991E-4E53F74569C4}"/>
              </a:ext>
            </a:extLst>
          </p:cNvPr>
          <p:cNvSpPr>
            <a:spLocks xmlns:a="http://schemas.openxmlformats.org/drawingml/2006/main" noGrp="1"/>
          </p:cNvSpPr>
          <p:nvPr/>
        </p:nvSpPr>
        <p:spPr>
          <a:xfrm xmlns:a="http://schemas.openxmlformats.org/drawingml/2006/main">
            <a:off x="8763000" y="2962275"/>
            <a:ext cx="2743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lower MAE than</a:t>
            </a:r>
          </a:p>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the original RGB CNN</a:t>
            </a:r>
          </a:p>
        </p:txBody>
      </p:sp>
      <p:sp>
        <p:nvSpPr>
          <p:cNvPr id="10" name="object-160">
            <a:extLst xmlns:a="http://schemas.openxmlformats.org/drawingml/2006/main">
              <a:ext uri="{FF2B5EF4-FFF2-40B4-BE49-F238E27FC236}">
                <a16:creationId xmlns:a16="http://schemas.microsoft.com/office/drawing/2014/main" id="{B6C9CBAB-151F-4C5F-AC1B-8396BF0D762B}"/>
              </a:ext>
            </a:extLst>
          </p:cNvPr>
          <p:cNvSpPr>
            <a:spLocks xmlns:a="http://schemas.openxmlformats.org/drawingml/2006/main" noGrp="1"/>
          </p:cNvSpPr>
          <p:nvPr/>
        </p:nvSpPr>
        <p:spPr>
          <a:xfrm xmlns:a="http://schemas.openxmlformats.org/drawingml/2006/main">
            <a:off x="8763000" y="4391025"/>
            <a:ext cx="27432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14.6822° MAE</a:t>
            </a:r>
          </a:p>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R² = −0.1336</a:t>
            </a:r>
          </a:p>
        </p:txBody>
      </p:sp>
      <p:sp>
        <p:nvSpPr>
          <p:cNvPr id="11" name="object-161">
            <a:extLst xmlns:a="http://schemas.openxmlformats.org/drawingml/2006/main">
              <a:ext uri="{FF2B5EF4-FFF2-40B4-BE49-F238E27FC236}">
                <a16:creationId xmlns:a16="http://schemas.microsoft.com/office/drawing/2014/main" id="{BE24E721-BC19-4B2B-986C-57C2038A3284}"/>
              </a:ext>
            </a:extLst>
          </p:cNvPr>
          <p:cNvSpPr>
            <a:spLocks xmlns:a="http://schemas.openxmlformats.org/drawingml/2006/main" noGrp="1"/>
          </p:cNvSpPr>
          <p:nvPr/>
        </p:nvSpPr>
        <p:spPr>
          <a:xfrm xmlns:a="http://schemas.openxmlformats.org/drawingml/2006/main">
            <a:off x="685800" y="5848350"/>
            <a:ext cx="108204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Constant baselines remain stronger. Reliable image-conditioned steering is not established.</a:t>
            </a:r>
          </a:p>
        </p:txBody>
      </p:sp>
    </p:spTree>
    <p:extLst>
      <p:ext uri="{BB962C8B-B14F-4D97-AF65-F5344CB8AC3E}">
        <p14:creationId xmlns:p14="http://schemas.microsoft.com/office/powerpoint/2010/main" val="213230126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162">
            <a:extLst xmlns:a="http://schemas.openxmlformats.org/drawingml/2006/main">
              <a:ext uri="{FF2B5EF4-FFF2-40B4-BE49-F238E27FC236}">
                <a16:creationId xmlns:a16="http://schemas.microsoft.com/office/drawing/2014/main" id="{036F8250-A7EA-45F2-8BC5-E619997089E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63">
            <a:extLst xmlns:a="http://schemas.openxmlformats.org/drawingml/2006/main">
              <a:ext uri="{FF2B5EF4-FFF2-40B4-BE49-F238E27FC236}">
                <a16:creationId xmlns:a16="http://schemas.microsoft.com/office/drawing/2014/main" id="{AC4A0698-673B-4DCE-85E5-1B553CEF5C4E}"/>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64">
            <a:extLst xmlns:a="http://schemas.openxmlformats.org/drawingml/2006/main">
              <a:ext uri="{FF2B5EF4-FFF2-40B4-BE49-F238E27FC236}">
                <a16:creationId xmlns:a16="http://schemas.microsoft.com/office/drawing/2014/main" id="{2088A70C-374D-4100-972F-E4952F96E59E}"/>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Lane prediction examples</a:t>
            </a:r>
          </a:p>
        </p:txBody>
      </p:sp>
      <p:sp>
        <p:nvSpPr>
          <p:cNvPr id="4" name="object-165">
            <a:extLst xmlns:a="http://schemas.openxmlformats.org/drawingml/2006/main">
              <a:ext uri="{FF2B5EF4-FFF2-40B4-BE49-F238E27FC236}">
                <a16:creationId xmlns:a16="http://schemas.microsoft.com/office/drawing/2014/main" id="{F0F122F9-BF75-410C-B989-305508186802}"/>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66">
            <a:extLst xmlns:a="http://schemas.openxmlformats.org/drawingml/2006/main">
              <a:ext uri="{FF2B5EF4-FFF2-40B4-BE49-F238E27FC236}">
                <a16:creationId xmlns:a16="http://schemas.microsoft.com/office/drawing/2014/main" id="{BEFA4C16-3D16-45BE-8C4A-DF31A3F633BB}"/>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17</a:t>
            </a:r>
          </a:p>
        </p:txBody>
      </p:sp>
      <p:pic>
        <p:nvPicPr>
          <p:cNvPr id="6" name="">
            <a:extLst xmlns:a="http://schemas.openxmlformats.org/drawingml/2006/main">
              <a:ext uri="{FF2B5EF4-FFF2-40B4-BE49-F238E27FC236}">
                <a16:creationId xmlns:a16="http://schemas.microsoft.com/office/drawing/2014/main" id="{1C3D3ADF-9B4B-4562-A73A-D74771E61EC0}"/>
              </a:ext>
            </a:extLst>
          </p:cNvPr>
          <p:cNvPicPr>
            <a:picLocks xmlns:a="http://schemas.openxmlformats.org/drawingml/2006/main" noChangeAspect="1"/>
          </p:cNvPicPr>
          <p:nvPr/>
        </p:nvPicPr>
        <p:blipFill>
          <a:blip xmlns:r="http://schemas.openxmlformats.org/officeDocument/2006/relationships" xmlns:a="http://schemas.openxmlformats.org/drawingml/2006/main" r:embed="R471ddeeadb7f425c"/>
          <a:stretch xmlns:a="http://schemas.openxmlformats.org/drawingml/2006/main"/>
        </p:blipFill>
        <p:spPr>
          <a:xfrm xmlns:a="http://schemas.openxmlformats.org/drawingml/2006/main">
            <a:off x="1577947" y="1524000"/>
            <a:ext cx="5549956" cy="4724400"/>
          </a:xfrm>
          <a:prstGeom xmlns:a="http://schemas.openxmlformats.org/drawingml/2006/main" prst="rect">
            <a:avLst/>
          </a:prstGeom>
        </p:spPr>
      </p:pic>
      <p:sp>
        <p:nvSpPr>
          <p:cNvPr id="7" name="object-167">
            <a:extLst xmlns:a="http://schemas.openxmlformats.org/drawingml/2006/main">
              <a:ext uri="{FF2B5EF4-FFF2-40B4-BE49-F238E27FC236}">
                <a16:creationId xmlns:a16="http://schemas.microsoft.com/office/drawing/2014/main" id="{2C34124F-29CB-49F4-BC69-FA3692DE3A44}"/>
              </a:ext>
            </a:extLst>
          </p:cNvPr>
          <p:cNvSpPr>
            <a:spLocks xmlns:a="http://schemas.openxmlformats.org/drawingml/2006/main" noGrp="1"/>
          </p:cNvSpPr>
          <p:nvPr/>
        </p:nvSpPr>
        <p:spPr>
          <a:xfrm xmlns:a="http://schemas.openxmlformats.org/drawingml/2006/main">
            <a:off x="8448675" y="1828800"/>
            <a:ext cx="3048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vl1pPr algn="l">
              <a:defRPr sz="2250" b="1">
                <a:solidFill>
                  <a:srgbClr val="000000"/>
                </a:solidFill>
                <a:latin typeface="Calibri"/>
                <a:ea typeface="Calibri"/>
                <a:cs typeface="Calibri"/>
              </a:defRPr>
            </a:lvl1pPr>
            <a:lvl2pPr algn="l">
              <a:defRPr sz="2250" b="1">
                <a:solidFill>
                  <a:srgbClr val="000000"/>
                </a:solidFill>
                <a:latin typeface="Calibri"/>
                <a:ea typeface="Calibri"/>
                <a:cs typeface="Calibri"/>
              </a:defRPr>
            </a:lvl2pPr>
            <a:lvl3pPr algn="l">
              <a:defRPr sz="2250" b="1">
                <a:solidFill>
                  <a:srgbClr val="000000"/>
                </a:solidFill>
                <a:latin typeface="Calibri"/>
                <a:ea typeface="Calibri"/>
                <a:cs typeface="Calibri"/>
              </a:defRPr>
            </a:lvl3pPr>
            <a:lvl4pPr algn="l">
              <a:defRPr sz="2250" b="1">
                <a:solidFill>
                  <a:srgbClr val="000000"/>
                </a:solidFill>
                <a:latin typeface="Calibri"/>
                <a:ea typeface="Calibri"/>
                <a:cs typeface="Calibri"/>
              </a:defRPr>
            </a:lvl4pPr>
            <a:lvl5pPr algn="l">
              <a:defRPr sz="2250" b="1">
                <a:solidFill>
                  <a:srgbClr val="000000"/>
                </a:solidFill>
                <a:latin typeface="Calibri"/>
                <a:ea typeface="Calibri"/>
                <a:cs typeface="Calibri"/>
              </a:defRPr>
            </a:lvl5pPr>
            <a:lvl6pPr algn="l">
              <a:defRPr sz="2250" b="1">
                <a:solidFill>
                  <a:srgbClr val="000000"/>
                </a:solidFill>
                <a:latin typeface="Calibri"/>
                <a:ea typeface="Calibri"/>
                <a:cs typeface="Calibri"/>
              </a:defRPr>
            </a:lvl6pPr>
            <a:lvl7pPr algn="l">
              <a:defRPr sz="2250" b="1">
                <a:solidFill>
                  <a:srgbClr val="000000"/>
                </a:solidFill>
                <a:latin typeface="Calibri"/>
                <a:ea typeface="Calibri"/>
                <a:cs typeface="Calibri"/>
              </a:defRPr>
            </a:lvl7pPr>
            <a:lvl8pPr algn="l">
              <a:defRPr sz="2250" b="1">
                <a:solidFill>
                  <a:srgbClr val="000000"/>
                </a:solidFill>
                <a:latin typeface="Calibri"/>
                <a:ea typeface="Calibri"/>
                <a:cs typeface="Calibri"/>
              </a:defRPr>
            </a:lvl8pPr>
            <a:lvl9pPr algn="l">
              <a:defRPr sz="2250" b="1">
                <a:solidFill>
                  <a:srgbClr val="000000"/>
                </a:solidFill>
                <a:latin typeface="Calibri"/>
                <a:ea typeface="Calibri"/>
                <a:cs typeface="Calibri"/>
              </a:defRPr>
            </a:lvl9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What the image shows</a:t>
            </a:r>
          </a:p>
        </p:txBody>
      </p:sp>
      <p:sp>
        <p:nvSpPr>
          <p:cNvPr id="8" name="object-168">
            <a:extLst xmlns:a="http://schemas.openxmlformats.org/drawingml/2006/main">
              <a:ext uri="{FF2B5EF4-FFF2-40B4-BE49-F238E27FC236}">
                <a16:creationId xmlns:a16="http://schemas.microsoft.com/office/drawing/2014/main" id="{1AC31001-50E7-475B-AC0A-3784ADCE4140}"/>
              </a:ext>
            </a:extLst>
          </p:cNvPr>
          <p:cNvSpPr>
            <a:spLocks xmlns:a="http://schemas.openxmlformats.org/drawingml/2006/main" noGrp="1"/>
          </p:cNvSpPr>
          <p:nvPr/>
        </p:nvSpPr>
        <p:spPr>
          <a:xfrm xmlns:a="http://schemas.openxmlformats.org/drawingml/2006/main">
            <a:off x="8448675" y="2562225"/>
            <a:ext cx="3048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Predicted lane boxes and masks on six validation frames.</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Examples include shadows, underpasses and a truck occlusion.</a:t>
            </a:r>
          </a:p>
        </p:txBody>
      </p:sp>
      <p:sp>
        <p:nvSpPr>
          <p:cNvPr id="9" name="object-169">
            <a:extLst xmlns:a="http://schemas.openxmlformats.org/drawingml/2006/main">
              <a:ext uri="{FF2B5EF4-FFF2-40B4-BE49-F238E27FC236}">
                <a16:creationId xmlns:a16="http://schemas.microsoft.com/office/drawing/2014/main" id="{759B19BF-CEB8-41DC-9462-C76BBC788E56}"/>
              </a:ext>
            </a:extLst>
          </p:cNvPr>
          <p:cNvSpPr>
            <a:spLocks xmlns:a="http://schemas.openxmlformats.org/drawingml/2006/main" noGrp="1"/>
          </p:cNvSpPr>
          <p:nvPr/>
        </p:nvSpPr>
        <p:spPr>
          <a:xfrm xmlns:a="http://schemas.openxmlformats.org/drawingml/2006/main">
            <a:off x="8448675" y="5334000"/>
            <a:ext cx="304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Qualitative evidence complements the numerical metrics.</a:t>
            </a:r>
          </a:p>
        </p:txBody>
      </p:sp>
    </p:spTree>
    <p:extLst>
      <p:ext uri="{BB962C8B-B14F-4D97-AF65-F5344CB8AC3E}">
        <p14:creationId xmlns:p14="http://schemas.microsoft.com/office/powerpoint/2010/main" val="212766287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170">
            <a:extLst xmlns:a="http://schemas.openxmlformats.org/drawingml/2006/main">
              <a:ext uri="{FF2B5EF4-FFF2-40B4-BE49-F238E27FC236}">
                <a16:creationId xmlns:a16="http://schemas.microsoft.com/office/drawing/2014/main" id="{0EE98B0A-F202-42F6-9399-2F676843F655}"/>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71">
            <a:extLst xmlns:a="http://schemas.openxmlformats.org/drawingml/2006/main">
              <a:ext uri="{FF2B5EF4-FFF2-40B4-BE49-F238E27FC236}">
                <a16:creationId xmlns:a16="http://schemas.microsoft.com/office/drawing/2014/main" id="{8C40CB29-2072-4B2E-98A0-8D997B4B7FB6}"/>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72">
            <a:extLst xmlns:a="http://schemas.openxmlformats.org/drawingml/2006/main">
              <a:ext uri="{FF2B5EF4-FFF2-40B4-BE49-F238E27FC236}">
                <a16:creationId xmlns:a16="http://schemas.microsoft.com/office/drawing/2014/main" id="{3EC5FF7D-6979-4348-9907-0C005479939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Object prediction examples</a:t>
            </a:r>
          </a:p>
        </p:txBody>
      </p:sp>
      <p:sp>
        <p:nvSpPr>
          <p:cNvPr id="4" name="object-173">
            <a:extLst xmlns:a="http://schemas.openxmlformats.org/drawingml/2006/main">
              <a:ext uri="{FF2B5EF4-FFF2-40B4-BE49-F238E27FC236}">
                <a16:creationId xmlns:a16="http://schemas.microsoft.com/office/drawing/2014/main" id="{E21D1BE4-ED0B-4F2F-B499-B2F63E8EDF81}"/>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74">
            <a:extLst xmlns:a="http://schemas.openxmlformats.org/drawingml/2006/main">
              <a:ext uri="{FF2B5EF4-FFF2-40B4-BE49-F238E27FC236}">
                <a16:creationId xmlns:a16="http://schemas.microsoft.com/office/drawing/2014/main" id="{87078760-286A-4F31-9515-D12C01AE1978}"/>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18</a:t>
            </a:r>
          </a:p>
        </p:txBody>
      </p:sp>
      <p:pic>
        <p:nvPicPr>
          <p:cNvPr id="6" name="">
            <a:extLst xmlns:a="http://schemas.openxmlformats.org/drawingml/2006/main">
              <a:ext uri="{FF2B5EF4-FFF2-40B4-BE49-F238E27FC236}">
                <a16:creationId xmlns:a16="http://schemas.microsoft.com/office/drawing/2014/main" id="{2C4BC18C-B6B9-4B87-8243-CBA3AAAAA0EF}"/>
              </a:ext>
            </a:extLst>
          </p:cNvPr>
          <p:cNvPicPr>
            <a:picLocks xmlns:a="http://schemas.openxmlformats.org/drawingml/2006/main" noChangeAspect="1"/>
          </p:cNvPicPr>
          <p:nvPr/>
        </p:nvPicPr>
        <p:blipFill>
          <a:blip xmlns:r="http://schemas.openxmlformats.org/officeDocument/2006/relationships" xmlns:a="http://schemas.openxmlformats.org/drawingml/2006/main" r:embed="R5178064521974d39"/>
          <a:stretch xmlns:a="http://schemas.openxmlformats.org/drawingml/2006/main"/>
        </p:blipFill>
        <p:spPr>
          <a:xfrm xmlns:a="http://schemas.openxmlformats.org/drawingml/2006/main">
            <a:off x="1717276" y="1524000"/>
            <a:ext cx="5271297" cy="4724400"/>
          </a:xfrm>
          <a:prstGeom xmlns:a="http://schemas.openxmlformats.org/drawingml/2006/main" prst="rect">
            <a:avLst/>
          </a:prstGeom>
        </p:spPr>
      </p:pic>
      <p:sp>
        <p:nvSpPr>
          <p:cNvPr id="7" name="object-175">
            <a:extLst xmlns:a="http://schemas.openxmlformats.org/drawingml/2006/main">
              <a:ext uri="{FF2B5EF4-FFF2-40B4-BE49-F238E27FC236}">
                <a16:creationId xmlns:a16="http://schemas.microsoft.com/office/drawing/2014/main" id="{FF4879A7-AFCC-412A-8C3F-1831738B61C7}"/>
              </a:ext>
            </a:extLst>
          </p:cNvPr>
          <p:cNvSpPr>
            <a:spLocks xmlns:a="http://schemas.openxmlformats.org/drawingml/2006/main" noGrp="1"/>
          </p:cNvSpPr>
          <p:nvPr/>
        </p:nvSpPr>
        <p:spPr>
          <a:xfrm xmlns:a="http://schemas.openxmlformats.org/drawingml/2006/main">
            <a:off x="8448675" y="1828800"/>
            <a:ext cx="30480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000000"/>
                </a:solidFill>
                <a:latin typeface="Calibri"/>
                <a:ea typeface="Calibri"/>
                <a:cs typeface="Calibri"/>
              </a:defRPr>
            </a:defPPr>
            <a:lvl1pPr algn="l">
              <a:defRPr sz="2250" b="1">
                <a:solidFill>
                  <a:srgbClr val="000000"/>
                </a:solidFill>
                <a:latin typeface="Calibri"/>
                <a:ea typeface="Calibri"/>
                <a:cs typeface="Calibri"/>
              </a:defRPr>
            </a:lvl1pPr>
            <a:lvl2pPr algn="l">
              <a:defRPr sz="2250" b="1">
                <a:solidFill>
                  <a:srgbClr val="000000"/>
                </a:solidFill>
                <a:latin typeface="Calibri"/>
                <a:ea typeface="Calibri"/>
                <a:cs typeface="Calibri"/>
              </a:defRPr>
            </a:lvl2pPr>
            <a:lvl3pPr algn="l">
              <a:defRPr sz="2250" b="1">
                <a:solidFill>
                  <a:srgbClr val="000000"/>
                </a:solidFill>
                <a:latin typeface="Calibri"/>
                <a:ea typeface="Calibri"/>
                <a:cs typeface="Calibri"/>
              </a:defRPr>
            </a:lvl3pPr>
            <a:lvl4pPr algn="l">
              <a:defRPr sz="2250" b="1">
                <a:solidFill>
                  <a:srgbClr val="000000"/>
                </a:solidFill>
                <a:latin typeface="Calibri"/>
                <a:ea typeface="Calibri"/>
                <a:cs typeface="Calibri"/>
              </a:defRPr>
            </a:lvl4pPr>
            <a:lvl5pPr algn="l">
              <a:defRPr sz="2250" b="1">
                <a:solidFill>
                  <a:srgbClr val="000000"/>
                </a:solidFill>
                <a:latin typeface="Calibri"/>
                <a:ea typeface="Calibri"/>
                <a:cs typeface="Calibri"/>
              </a:defRPr>
            </a:lvl5pPr>
            <a:lvl6pPr algn="l">
              <a:defRPr sz="2250" b="1">
                <a:solidFill>
                  <a:srgbClr val="000000"/>
                </a:solidFill>
                <a:latin typeface="Calibri"/>
                <a:ea typeface="Calibri"/>
                <a:cs typeface="Calibri"/>
              </a:defRPr>
            </a:lvl6pPr>
            <a:lvl7pPr algn="l">
              <a:defRPr sz="2250" b="1">
                <a:solidFill>
                  <a:srgbClr val="000000"/>
                </a:solidFill>
                <a:latin typeface="Calibri"/>
                <a:ea typeface="Calibri"/>
                <a:cs typeface="Calibri"/>
              </a:defRPr>
            </a:lvl7pPr>
            <a:lvl8pPr algn="l">
              <a:defRPr sz="2250" b="1">
                <a:solidFill>
                  <a:srgbClr val="000000"/>
                </a:solidFill>
                <a:latin typeface="Calibri"/>
                <a:ea typeface="Calibri"/>
                <a:cs typeface="Calibri"/>
              </a:defRPr>
            </a:lvl8pPr>
            <a:lvl9pPr algn="l">
              <a:defRPr sz="2250" b="1">
                <a:solidFill>
                  <a:srgbClr val="000000"/>
                </a:solidFill>
                <a:latin typeface="Calibri"/>
                <a:ea typeface="Calibri"/>
                <a:cs typeface="Calibri"/>
              </a:defRPr>
            </a:lvl9pPr>
          </a:lstStyle>
          <a:p xmlns:a="http://schemas.openxmlformats.org/drawingml/2006/main">
            <a:pPr algn="l">
              <a:defRPr sz="2250" b="1">
                <a:solidFill>
                  <a:srgbClr val="000000"/>
                </a:solidFill>
                <a:latin typeface="Calibri"/>
                <a:ea typeface="Calibri"/>
                <a:cs typeface="Calibri"/>
              </a:defRPr>
            </a:pPr>
            <a:r>
              <a:rPr sz="2250" b="1">
                <a:solidFill>
                  <a:srgbClr val="000000"/>
                </a:solidFill>
                <a:latin typeface="Calibri"/>
                <a:ea typeface="Calibri"/>
                <a:cs typeface="Calibri"/>
              </a:rPr>
              <a:t>What the image shows</a:t>
            </a:r>
          </a:p>
        </p:txBody>
      </p:sp>
      <p:sp>
        <p:nvSpPr>
          <p:cNvPr id="8" name="object-176">
            <a:extLst xmlns:a="http://schemas.openxmlformats.org/drawingml/2006/main">
              <a:ext uri="{FF2B5EF4-FFF2-40B4-BE49-F238E27FC236}">
                <a16:creationId xmlns:a16="http://schemas.microsoft.com/office/drawing/2014/main" id="{7063D685-9066-4F44-B8BE-07EE5135937D}"/>
              </a:ext>
            </a:extLst>
          </p:cNvPr>
          <p:cNvSpPr>
            <a:spLocks xmlns:a="http://schemas.openxmlformats.org/drawingml/2006/main" noGrp="1"/>
          </p:cNvSpPr>
          <p:nvPr/>
        </p:nvSpPr>
        <p:spPr>
          <a:xfrm xmlns:a="http://schemas.openxmlformats.org/drawingml/2006/main">
            <a:off x="8448675" y="2562225"/>
            <a:ext cx="3048000" cy="2809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Bounding boxes, class names and confidence scores.</a:t>
            </a:r>
          </a:p>
          <a:p xmlns:a="http://schemas.openxmlformats.org/drawingml/2006/main">
            <a:r>
              <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The detector finds large objects well, but small objects and recall remain challenges.</a:t>
            </a:r>
          </a:p>
        </p:txBody>
      </p:sp>
      <p:sp>
        <p:nvSpPr>
          <p:cNvPr id="9" name="object-177">
            <a:extLst xmlns:a="http://schemas.openxmlformats.org/drawingml/2006/main">
              <a:ext uri="{FF2B5EF4-FFF2-40B4-BE49-F238E27FC236}">
                <a16:creationId xmlns:a16="http://schemas.microsoft.com/office/drawing/2014/main" id="{BFFBC2EE-694F-43EE-B6EE-87B17C4DF662}"/>
              </a:ext>
            </a:extLst>
          </p:cNvPr>
          <p:cNvSpPr>
            <a:spLocks xmlns:a="http://schemas.openxmlformats.org/drawingml/2006/main" noGrp="1"/>
          </p:cNvSpPr>
          <p:nvPr/>
        </p:nvSpPr>
        <p:spPr>
          <a:xfrm xmlns:a="http://schemas.openxmlformats.org/drawingml/2006/main">
            <a:off x="8448675" y="5534025"/>
            <a:ext cx="304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Test images remain separate from training.</a:t>
            </a:r>
          </a:p>
        </p:txBody>
      </p:sp>
    </p:spTree>
    <p:extLst>
      <p:ext uri="{BB962C8B-B14F-4D97-AF65-F5344CB8AC3E}">
        <p14:creationId xmlns:p14="http://schemas.microsoft.com/office/powerpoint/2010/main" val="1183397773"/>
      </p:ext>
    </p:extLst>
  </p:cSld>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object-178">
            <a:extLst>
              <a:ext uri="{FF2B5EF4-FFF2-40B4-BE49-F238E27FC236}">
                <a16:creationId xmlns:a16="http://schemas.microsoft.com/office/drawing/2014/main" id="{3433E6E5-4B05-487A-9188-38CC086A3904}"/>
              </a:ext>
            </a:extLst>
          </p:cNvPr>
          <p:cNvSpPr>
            <a:spLocks noGrp="1"/>
          </p:cNvSpPr>
          <p:nvPr/>
        </p:nvSpPr>
        <p:spPr>
          <a:xfrm>
            <a:off x="0" y="6515100"/>
            <a:ext cx="12192000" cy="47625"/>
          </a:xfrm>
          <a:prstGeom prst="rect">
            <a:avLst/>
          </a:prstGeom>
          <a:solidFill>
            <a:srgbClr val="EF8B00"/>
          </a:solidFill>
          <a:ln w="0">
            <a:noFill/>
            <a:prstDash val="solid"/>
          </a:ln>
        </p:spPr>
      </p:sp>
      <p:sp>
        <p:nvSpPr>
          <p:cNvPr id="2" name="object-179">
            <a:extLst>
              <a:ext uri="{FF2B5EF4-FFF2-40B4-BE49-F238E27FC236}">
                <a16:creationId xmlns:a16="http://schemas.microsoft.com/office/drawing/2014/main" id="{914A9EEE-FD02-43F6-8CAE-069B03D75C72}"/>
              </a:ext>
            </a:extLst>
          </p:cNvPr>
          <p:cNvSpPr>
            <a:spLocks noGrp="1"/>
          </p:cNvSpPr>
          <p:nvPr/>
        </p:nvSpPr>
        <p:spPr>
          <a:xfrm>
            <a:off x="0" y="6562725"/>
            <a:ext cx="12192000" cy="295275"/>
          </a:xfrm>
          <a:prstGeom prst="rect">
            <a:avLst/>
          </a:prstGeom>
          <a:solidFill>
            <a:srgbClr val="B95827"/>
          </a:solidFill>
          <a:ln w="0">
            <a:noFill/>
            <a:prstDash val="solid"/>
          </a:ln>
        </p:spPr>
      </p:sp>
      <p:sp>
        <p:nvSpPr>
          <p:cNvPr id="3" name="object-180">
            <a:extLst>
              <a:ext uri="{FF2B5EF4-FFF2-40B4-BE49-F238E27FC236}">
                <a16:creationId xmlns:a16="http://schemas.microsoft.com/office/drawing/2014/main" id="{DEB5DE2D-B18F-4537-90D4-A021E87F197C}"/>
              </a:ext>
            </a:extLst>
          </p:cNvPr>
          <p:cNvSpPr>
            <a:spLocks noGrp="1"/>
          </p:cNvSpPr>
          <p:nvPr/>
        </p:nvSpPr>
        <p:spPr>
          <a:xfrm>
            <a:off x="685800" y="438150"/>
            <a:ext cx="10820400" cy="590550"/>
          </a:xfrm>
          <a:prstGeom prst="rect">
            <a:avLst/>
          </a:prstGeom>
          <a:noFill/>
          <a:ln w="0">
            <a:noFill/>
            <a:prstDash val="solid"/>
          </a:ln>
        </p:spPr>
        <p:txBody>
          <a:bodyPr wrap="square" lIns="0" tIns="0" rIns="0" bIns="0" anchor="t">
            <a:noAutofit/>
          </a:bodyPr>
          <a:lstStyle>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a:pPr algn="l">
              <a:defRPr sz="3375" b="0">
                <a:solidFill>
                  <a:srgbClr val="000000"/>
                </a:solidFill>
                <a:latin typeface="Calibri Light"/>
                <a:ea typeface="Calibri Light"/>
                <a:cs typeface="Calibri Light"/>
              </a:defRPr>
            </a:pPr>
            <a:r>
              <a:rPr lang="en-US" sz="3375" b="0" smtClean="0">
                <a:solidFill>
                  <a:srgbClr val="000000"/>
                </a:solidFill>
                <a:latin typeface="Calibri Light"/>
                <a:ea typeface="Calibri Light"/>
                <a:cs typeface="Calibri Light"/>
              </a:rPr>
              <a:t>AutoDrive demonstration</a:t>
            </a:r>
            <a:endParaRPr sz="3375" b="0">
              <a:solidFill>
                <a:srgbClr val="000000"/>
              </a:solidFill>
              <a:latin typeface="Calibri Light"/>
              <a:ea typeface="Calibri Light"/>
              <a:cs typeface="Calibri Light"/>
            </a:endParaRPr>
          </a:p>
        </p:txBody>
      </p:sp>
      <p:sp>
        <p:nvSpPr>
          <p:cNvPr id="4" name="object-181">
            <a:extLst>
              <a:ext uri="{FF2B5EF4-FFF2-40B4-BE49-F238E27FC236}">
                <a16:creationId xmlns:a16="http://schemas.microsoft.com/office/drawing/2014/main" id="{7D07841B-1905-499C-A698-A040ECB983EC}"/>
              </a:ext>
            </a:extLst>
          </p:cNvPr>
          <p:cNvSpPr>
            <a:spLocks noGrp="1"/>
          </p:cNvSpPr>
          <p:nvPr/>
        </p:nvSpPr>
        <p:spPr>
          <a:xfrm>
            <a:off x="685800" y="1181100"/>
            <a:ext cx="10820400" cy="9525"/>
          </a:xfrm>
          <a:prstGeom prst="rect">
            <a:avLst/>
          </a:prstGeom>
          <a:solidFill>
            <a:srgbClr val="D9D9D9"/>
          </a:solidFill>
          <a:ln w="0">
            <a:noFill/>
            <a:prstDash val="solid"/>
          </a:ln>
        </p:spPr>
      </p:sp>
      <p:sp>
        <p:nvSpPr>
          <p:cNvPr id="5" name="object-182">
            <a:extLst>
              <a:ext uri="{FF2B5EF4-FFF2-40B4-BE49-F238E27FC236}">
                <a16:creationId xmlns:a16="http://schemas.microsoft.com/office/drawing/2014/main" id="{4549ABC9-E547-48DD-960D-02F83E938F15}"/>
              </a:ext>
            </a:extLst>
          </p:cNvPr>
          <p:cNvSpPr>
            <a:spLocks noGrp="1"/>
          </p:cNvSpPr>
          <p:nvPr/>
        </p:nvSpPr>
        <p:spPr>
          <a:xfrm>
            <a:off x="11144250" y="6581775"/>
            <a:ext cx="400050" cy="228600"/>
          </a:xfrm>
          <a:prstGeom prst="rect">
            <a:avLst/>
          </a:prstGeom>
          <a:noFill/>
          <a:ln w="0">
            <a:noFill/>
            <a:prstDash val="solid"/>
          </a:ln>
        </p:spPr>
        <p:txBody>
          <a:bodyPr wrap="square" lIns="0" tIns="0" rIns="0" bIns="0" anchor="t">
            <a:noAutofit/>
          </a:bodyPr>
          <a:lstStyle>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a:pPr algn="r">
              <a:defRPr sz="1350" b="0">
                <a:solidFill>
                  <a:srgbClr val="FFFFFF"/>
                </a:solidFill>
                <a:latin typeface="Calibri"/>
                <a:ea typeface="Calibri"/>
                <a:cs typeface="Calibri"/>
              </a:defRPr>
            </a:pPr>
            <a:r>
              <a:rPr sz="1350" b="0">
                <a:solidFill>
                  <a:srgbClr val="FFFFFF"/>
                </a:solidFill>
                <a:latin typeface="Calibri"/>
                <a:ea typeface="Calibri"/>
                <a:cs typeface="Calibri"/>
              </a:rPr>
              <a:t>19</a:t>
            </a:r>
          </a:p>
        </p:txBody>
      </p:sp>
      <p:sp>
        <p:nvSpPr>
          <p:cNvPr id="7" name="object-183">
            <a:extLst>
              <a:ext uri="{FF2B5EF4-FFF2-40B4-BE49-F238E27FC236}">
                <a16:creationId xmlns:a16="http://schemas.microsoft.com/office/drawing/2014/main" id="{DFD2F57D-B7DA-41A6-99E1-65395B54C266}"/>
              </a:ext>
            </a:extLst>
          </p:cNvPr>
          <p:cNvSpPr>
            <a:spLocks noGrp="1"/>
          </p:cNvSpPr>
          <p:nvPr/>
        </p:nvSpPr>
        <p:spPr>
          <a:xfrm>
            <a:off x="685800" y="6200775"/>
            <a:ext cx="10820400" cy="342900"/>
          </a:xfrm>
          <a:prstGeom prst="rect">
            <a:avLst/>
          </a:prstGeom>
          <a:noFill/>
          <a:ln w="0">
            <a:noFill/>
            <a:prstDash val="solid"/>
          </a:ln>
        </p:spPr>
        <p:txBody>
          <a:bodyPr wrap="square" lIns="0" tIns="0" rIns="0" bIns="0" anchor="t">
            <a:noAutofit/>
          </a:bodyPr>
          <a:lstStyle>
            <a:defPPr algn="l">
              <a:defRPr sz="1950" b="1">
                <a:solidFill>
                  <a:srgbClr val="000000"/>
                </a:solidFill>
                <a:latin typeface="Calibri"/>
                <a:ea typeface="Calibri"/>
                <a:cs typeface="Calibri"/>
              </a:defRPr>
            </a:defPPr>
            <a:lvl1pPr algn="l">
              <a:defRPr sz="1950" b="1">
                <a:solidFill>
                  <a:srgbClr val="000000"/>
                </a:solidFill>
                <a:latin typeface="Calibri"/>
                <a:ea typeface="Calibri"/>
                <a:cs typeface="Calibri"/>
              </a:defRPr>
            </a:lvl1pPr>
            <a:lvl2pPr algn="l">
              <a:defRPr sz="1950" b="1">
                <a:solidFill>
                  <a:srgbClr val="000000"/>
                </a:solidFill>
                <a:latin typeface="Calibri"/>
                <a:ea typeface="Calibri"/>
                <a:cs typeface="Calibri"/>
              </a:defRPr>
            </a:lvl2pPr>
            <a:lvl3pPr algn="l">
              <a:defRPr sz="1950" b="1">
                <a:solidFill>
                  <a:srgbClr val="000000"/>
                </a:solidFill>
                <a:latin typeface="Calibri"/>
                <a:ea typeface="Calibri"/>
                <a:cs typeface="Calibri"/>
              </a:defRPr>
            </a:lvl3pPr>
            <a:lvl4pPr algn="l">
              <a:defRPr sz="1950" b="1">
                <a:solidFill>
                  <a:srgbClr val="000000"/>
                </a:solidFill>
                <a:latin typeface="Calibri"/>
                <a:ea typeface="Calibri"/>
                <a:cs typeface="Calibri"/>
              </a:defRPr>
            </a:lvl4pPr>
            <a:lvl5pPr algn="l">
              <a:defRPr sz="1950" b="1">
                <a:solidFill>
                  <a:srgbClr val="000000"/>
                </a:solidFill>
                <a:latin typeface="Calibri"/>
                <a:ea typeface="Calibri"/>
                <a:cs typeface="Calibri"/>
              </a:defRPr>
            </a:lvl5pPr>
            <a:lvl6pPr algn="l">
              <a:defRPr sz="1950" b="1">
                <a:solidFill>
                  <a:srgbClr val="000000"/>
                </a:solidFill>
                <a:latin typeface="Calibri"/>
                <a:ea typeface="Calibri"/>
                <a:cs typeface="Calibri"/>
              </a:defRPr>
            </a:lvl6pPr>
            <a:lvl7pPr algn="l">
              <a:defRPr sz="1950" b="1">
                <a:solidFill>
                  <a:srgbClr val="000000"/>
                </a:solidFill>
                <a:latin typeface="Calibri"/>
                <a:ea typeface="Calibri"/>
                <a:cs typeface="Calibri"/>
              </a:defRPr>
            </a:lvl7pPr>
            <a:lvl8pPr algn="l">
              <a:defRPr sz="1950" b="1">
                <a:solidFill>
                  <a:srgbClr val="000000"/>
                </a:solidFill>
                <a:latin typeface="Calibri"/>
                <a:ea typeface="Calibri"/>
                <a:cs typeface="Calibri"/>
              </a:defRPr>
            </a:lvl8pPr>
            <a:lvl9pPr algn="l">
              <a:defRPr sz="1950" b="1">
                <a:solidFill>
                  <a:srgbClr val="000000"/>
                </a:solidFill>
                <a:latin typeface="Calibri"/>
                <a:ea typeface="Calibri"/>
                <a:cs typeface="Calibri"/>
              </a:defRPr>
            </a:lvl9pPr>
          </a:lstStyle>
          <a:p>
            <a:pPr algn="l">
              <a:defRPr sz="1950" b="1">
                <a:solidFill>
                  <a:srgbClr val="000000"/>
                </a:solidFill>
                <a:latin typeface="Calibri"/>
                <a:ea typeface="Calibri"/>
                <a:cs typeface="Calibri"/>
              </a:defRPr>
            </a:pPr>
            <a:r>
              <a:rPr lang="en-US" sz="1950" b="1" smtClean="0">
                <a:solidFill>
                  <a:srgbClr val="000000"/>
                </a:solidFill>
                <a:latin typeface="Calibri"/>
                <a:ea typeface="Calibri"/>
                <a:cs typeface="Calibri"/>
              </a:rPr>
              <a:t>20-second offline demo with smooth AI steering</a:t>
            </a:r>
            <a:endParaRPr sz="1950" b="1">
              <a:solidFill>
                <a:srgbClr val="000000"/>
              </a:solidFill>
              <a:latin typeface="Calibri"/>
              <a:ea typeface="Calibri"/>
              <a:cs typeface="Calibri"/>
            </a:endParaRPr>
          </a:p>
        </p:txBody>
      </p:sp>
      <p:pic>
        <p:nvPicPr>
          <p:cNvPr id="9" name="AutoDrive_20s_Smooth_Steering_Demo" descr="20-second AutoDrive offline demonstration with lane and object predictions and a smoothly animated AI steering wheel">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828800" y="1343025"/>
            <a:ext cx="8534400" cy="4800600"/>
          </a:xfrm>
          <a:prstGeom prst="rect">
            <a:avLst/>
          </a:prstGeom>
        </p:spPr>
      </p:pic>
    </p:spTree>
    <p:extLst>
      <p:ext uri="{BB962C8B-B14F-4D97-AF65-F5344CB8AC3E}">
        <p14:creationId xmlns:p14="http://schemas.microsoft.com/office/powerpoint/2010/main" val="27974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bject-184">
            <a:extLst xmlns:a="http://schemas.openxmlformats.org/drawingml/2006/main">
              <a:ext uri="{FF2B5EF4-FFF2-40B4-BE49-F238E27FC236}">
                <a16:creationId xmlns:a16="http://schemas.microsoft.com/office/drawing/2014/main" id="{A11F7DF3-70A2-438F-9931-2A2017C9E612}"/>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85">
            <a:extLst xmlns:a="http://schemas.openxmlformats.org/drawingml/2006/main">
              <a:ext uri="{FF2B5EF4-FFF2-40B4-BE49-F238E27FC236}">
                <a16:creationId xmlns:a16="http://schemas.microsoft.com/office/drawing/2014/main" id="{A8AE060C-E0D2-40BD-9C21-B30949CB83AB}"/>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86">
            <a:extLst xmlns:a="http://schemas.openxmlformats.org/drawingml/2006/main">
              <a:ext uri="{FF2B5EF4-FFF2-40B4-BE49-F238E27FC236}">
                <a16:creationId xmlns:a16="http://schemas.microsoft.com/office/drawing/2014/main" id="{8AB4F0EA-D931-450D-9528-E121AC7D1B6D}"/>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Latency and model footprint</a:t>
            </a:r>
          </a:p>
        </p:txBody>
      </p:sp>
      <p:sp>
        <p:nvSpPr>
          <p:cNvPr id="4" name="object-187">
            <a:extLst xmlns:a="http://schemas.openxmlformats.org/drawingml/2006/main">
              <a:ext uri="{FF2B5EF4-FFF2-40B4-BE49-F238E27FC236}">
                <a16:creationId xmlns:a16="http://schemas.microsoft.com/office/drawing/2014/main" id="{6B396BCE-1763-4342-B943-89FABE31839B}"/>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88">
            <a:extLst xmlns:a="http://schemas.openxmlformats.org/drawingml/2006/main">
              <a:ext uri="{FF2B5EF4-FFF2-40B4-BE49-F238E27FC236}">
                <a16:creationId xmlns:a16="http://schemas.microsoft.com/office/drawing/2014/main" id="{4A1815CB-7A24-43A0-9DD8-A52AD5CD3409}"/>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Separate framework timings on a Tesla T4</a:t>
            </a:r>
          </a:p>
        </p:txBody>
      </p:sp>
      <p:sp>
        <p:nvSpPr>
          <p:cNvPr id="6" name="object-189">
            <a:extLst xmlns:a="http://schemas.openxmlformats.org/drawingml/2006/main">
              <a:ext uri="{FF2B5EF4-FFF2-40B4-BE49-F238E27FC236}">
                <a16:creationId xmlns:a16="http://schemas.microsoft.com/office/drawing/2014/main" id="{CC0E6C20-016A-4CE7-9341-7E27F8FA384F}"/>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20</a:t>
            </a:r>
          </a:p>
        </p:txBody>
      </p:sp>
      <p:graphicFrame>
        <p:nvGraphicFramePr>
          <p:cNvPr id="7" name="">
            <a:extLst xmlns:a="http://schemas.openxmlformats.org/drawingml/2006/main">
              <a:ext uri="{FF2B5EF4-FFF2-40B4-BE49-F238E27FC236}">
                <a16:creationId xmlns:a16="http://schemas.microsoft.com/office/drawing/2014/main" id="{C95C90E1-ECF9-4844-8638-3CC4E4810CED}"/>
              </a:ext>
            </a:extLst>
          </p:cNvPr>
          <p:cNvGraphicFramePr/>
          <p:nvPr/>
        </p:nvGraphicFramePr>
        <p:xfrm>
          <a:off xmlns:a="http://schemas.openxmlformats.org/drawingml/2006/main" x="685800" y="1828800"/>
          <a:ext xmlns:a="http://schemas.openxmlformats.org/drawingml/2006/main" cx="10820400" cy="2514600"/>
        </p:xfrm>
        <a:graphic xmlns:a="http://schemas.openxmlformats.org/drawingml/2006/main">
          <a:graphicData uri="http://schemas.openxmlformats.org/drawingml/2006/table">
            <a:tbl>
              <a:tblPr/>
              <a:tblGrid>
                <a:gridCol w="4003548"/>
                <a:gridCol w="2272284"/>
                <a:gridCol w="2272284"/>
                <a:gridCol w="2272284"/>
              </a:tblGrid>
              <a:tr h="628650">
                <a:tc>
                  <a:txBody>
                    <a:bodyPr wrap="square" lIns="66675" tIns="66675" rIns="66675" bIns="66675">
                      <a:noAutofit/>
                    </a:bodyPr>
                    <a:lstStyle/>
                    <a:p>
                      <a:pPr algn="l">
                        <a:lnSpc>
                          <a:spcPct val="100000"/>
                        </a:lnSpc>
                        <a:spcBef>
                          <a:spcPts val="0"/>
                        </a:spcBef>
                        <a:spcAft>
                          <a:spcPts val="0"/>
                        </a:spcAft>
                      </a:pPr>
                      <a:r>
                        <a:rPr sz="2175" b="1">
                          <a:solidFill>
                            <a:srgbClr val="FFFFFF"/>
                          </a:solidFill>
                          <a:latin typeface="Calibri"/>
                          <a:ea typeface="Calibri"/>
                          <a:cs typeface="Calibri"/>
                        </a:rPr>
                        <a:t>Timing mode</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75" b="1">
                          <a:solidFill>
                            <a:srgbClr val="FFFFFF"/>
                          </a:solidFill>
                          <a:latin typeface="Calibri"/>
                          <a:ea typeface="Calibri"/>
                          <a:cs typeface="Calibri"/>
                        </a:rPr>
                        <a:t>Detection</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75" b="1">
                          <a:solidFill>
                            <a:srgbClr val="FFFFFF"/>
                          </a:solidFill>
                          <a:latin typeface="Calibri"/>
                          <a:ea typeface="Calibri"/>
                          <a:cs typeface="Calibri"/>
                        </a:rPr>
                        <a:t>Lane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2175" b="1">
                          <a:solidFill>
                            <a:srgbClr val="FFFFFF"/>
                          </a:solidFill>
                          <a:latin typeface="Calibri"/>
                          <a:ea typeface="Calibri"/>
                          <a:cs typeface="Calibri"/>
                        </a:rPr>
                        <a:t>Combined</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628650">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Batch-16 evaluation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11.1 ms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11.8 ms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22.9 ms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628650">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Single-image prediction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17.0 ms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14.3 ms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31.3 ms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628650">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Saved weights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19.2 MB</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20.5 MB</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2175" b="0">
                          <a:solidFill>
                            <a:srgbClr val="000000"/>
                          </a:solidFill>
                          <a:latin typeface="Calibri"/>
                          <a:ea typeface="Calibri"/>
                          <a:cs typeface="Calibri"/>
                        </a:rPr>
                        <a:t>39.7 MB</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8" name="object-190">
            <a:extLst xmlns:a="http://schemas.openxmlformats.org/drawingml/2006/main">
              <a:ext uri="{FF2B5EF4-FFF2-40B4-BE49-F238E27FC236}">
                <a16:creationId xmlns:a16="http://schemas.microsoft.com/office/drawing/2014/main" id="{07C160EB-B65C-4D72-BE78-4DF683880C4B}"/>
              </a:ext>
            </a:extLst>
          </p:cNvPr>
          <p:cNvSpPr>
            <a:spLocks xmlns:a="http://schemas.openxmlformats.org/drawingml/2006/main" noGrp="1"/>
          </p:cNvSpPr>
          <p:nvPr/>
        </p:nvSpPr>
        <p:spPr>
          <a:xfrm xmlns:a="http://schemas.openxmlformats.org/drawingml/2006/main">
            <a:off x="685800" y="4791075"/>
            <a:ext cx="514350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000000"/>
                </a:solidFill>
                <a:latin typeface="Calibri"/>
                <a:ea typeface="Calibri"/>
                <a:cs typeface="Calibri"/>
              </a:defRPr>
            </a:defPPr>
            <a:lvl1pPr algn="l">
              <a:defRPr sz="4650" b="1">
                <a:solidFill>
                  <a:srgbClr val="000000"/>
                </a:solidFill>
                <a:latin typeface="Calibri"/>
                <a:ea typeface="Calibri"/>
                <a:cs typeface="Calibri"/>
              </a:defRPr>
            </a:lvl1pPr>
            <a:lvl2pPr algn="l">
              <a:defRPr sz="4650" b="1">
                <a:solidFill>
                  <a:srgbClr val="000000"/>
                </a:solidFill>
                <a:latin typeface="Calibri"/>
                <a:ea typeface="Calibri"/>
                <a:cs typeface="Calibri"/>
              </a:defRPr>
            </a:lvl2pPr>
            <a:lvl3pPr algn="l">
              <a:defRPr sz="4650" b="1">
                <a:solidFill>
                  <a:srgbClr val="000000"/>
                </a:solidFill>
                <a:latin typeface="Calibri"/>
                <a:ea typeface="Calibri"/>
                <a:cs typeface="Calibri"/>
              </a:defRPr>
            </a:lvl3pPr>
            <a:lvl4pPr algn="l">
              <a:defRPr sz="4650" b="1">
                <a:solidFill>
                  <a:srgbClr val="000000"/>
                </a:solidFill>
                <a:latin typeface="Calibri"/>
                <a:ea typeface="Calibri"/>
                <a:cs typeface="Calibri"/>
              </a:defRPr>
            </a:lvl4pPr>
            <a:lvl5pPr algn="l">
              <a:defRPr sz="4650" b="1">
                <a:solidFill>
                  <a:srgbClr val="000000"/>
                </a:solidFill>
                <a:latin typeface="Calibri"/>
                <a:ea typeface="Calibri"/>
                <a:cs typeface="Calibri"/>
              </a:defRPr>
            </a:lvl5pPr>
            <a:lvl6pPr algn="l">
              <a:defRPr sz="4650" b="1">
                <a:solidFill>
                  <a:srgbClr val="000000"/>
                </a:solidFill>
                <a:latin typeface="Calibri"/>
                <a:ea typeface="Calibri"/>
                <a:cs typeface="Calibri"/>
              </a:defRPr>
            </a:lvl6pPr>
            <a:lvl7pPr algn="l">
              <a:defRPr sz="4650" b="1">
                <a:solidFill>
                  <a:srgbClr val="000000"/>
                </a:solidFill>
                <a:latin typeface="Calibri"/>
                <a:ea typeface="Calibri"/>
                <a:cs typeface="Calibri"/>
              </a:defRPr>
            </a:lvl7pPr>
            <a:lvl8pPr algn="l">
              <a:defRPr sz="4650" b="1">
                <a:solidFill>
                  <a:srgbClr val="000000"/>
                </a:solidFill>
                <a:latin typeface="Calibri"/>
                <a:ea typeface="Calibri"/>
                <a:cs typeface="Calibri"/>
              </a:defRPr>
            </a:lvl8pPr>
            <a:lvl9pPr algn="l">
              <a:defRPr sz="4650" b="1">
                <a:solidFill>
                  <a:srgbClr val="000000"/>
                </a:solidFill>
                <a:latin typeface="Calibri"/>
                <a:ea typeface="Calibri"/>
                <a:cs typeface="Calibri"/>
              </a:defRPr>
            </a:lvl9pPr>
          </a:lstStyle>
          <a:p xmlns:a="http://schemas.openxmlformats.org/drawingml/2006/main">
            <a:pPr algn="l">
              <a:defRPr sz="4650" b="1">
                <a:solidFill>
                  <a:srgbClr val="000000"/>
                </a:solidFill>
                <a:latin typeface="Calibri"/>
                <a:ea typeface="Calibri"/>
                <a:cs typeface="Calibri"/>
              </a:defRPr>
            </a:pPr>
            <a:r>
              <a:rPr sz="4650" b="1">
                <a:solidFill>
                  <a:srgbClr val="000000"/>
                </a:solidFill>
                <a:latin typeface="Calibri"/>
                <a:ea typeface="Calibri"/>
                <a:cs typeface="Calibri"/>
              </a:rPr>
              <a:t>32–44 FPS</a:t>
            </a:r>
          </a:p>
        </p:txBody>
      </p:sp>
      <p:sp>
        <p:nvSpPr>
          <p:cNvPr id="9" name="object-191">
            <a:extLst xmlns:a="http://schemas.openxmlformats.org/drawingml/2006/main">
              <a:ext uri="{FF2B5EF4-FFF2-40B4-BE49-F238E27FC236}">
                <a16:creationId xmlns:a16="http://schemas.microsoft.com/office/drawing/2014/main" id="{BAE1B109-D410-4338-AB15-5ACFD58EB1B6}"/>
              </a:ext>
            </a:extLst>
          </p:cNvPr>
          <p:cNvSpPr>
            <a:spLocks xmlns:a="http://schemas.openxmlformats.org/drawingml/2006/main" noGrp="1"/>
          </p:cNvSpPr>
          <p:nvPr/>
        </p:nvSpPr>
        <p:spPr>
          <a:xfrm xmlns:a="http://schemas.openxmlformats.org/drawingml/2006/main">
            <a:off x="6172200" y="4848225"/>
            <a:ext cx="5334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000000"/>
                </a:solidFill>
                <a:latin typeface="Calibri"/>
                <a:ea typeface="Calibri"/>
                <a:cs typeface="Calibri"/>
              </a:defRPr>
            </a:defPPr>
            <a:lvl1pPr algn="l">
              <a:defRPr sz="2250" b="0">
                <a:solidFill>
                  <a:srgbClr val="000000"/>
                </a:solidFill>
                <a:latin typeface="Calibri"/>
                <a:ea typeface="Calibri"/>
                <a:cs typeface="Calibri"/>
              </a:defRPr>
            </a:lvl1pPr>
            <a:lvl2pPr algn="l">
              <a:defRPr sz="2250" b="0">
                <a:solidFill>
                  <a:srgbClr val="000000"/>
                </a:solidFill>
                <a:latin typeface="Calibri"/>
                <a:ea typeface="Calibri"/>
                <a:cs typeface="Calibri"/>
              </a:defRPr>
            </a:lvl2pPr>
            <a:lvl3pPr algn="l">
              <a:defRPr sz="2250" b="0">
                <a:solidFill>
                  <a:srgbClr val="000000"/>
                </a:solidFill>
                <a:latin typeface="Calibri"/>
                <a:ea typeface="Calibri"/>
                <a:cs typeface="Calibri"/>
              </a:defRPr>
            </a:lvl3pPr>
            <a:lvl4pPr algn="l">
              <a:defRPr sz="2250" b="0">
                <a:solidFill>
                  <a:srgbClr val="000000"/>
                </a:solidFill>
                <a:latin typeface="Calibri"/>
                <a:ea typeface="Calibri"/>
                <a:cs typeface="Calibri"/>
              </a:defRPr>
            </a:lvl4pPr>
            <a:lvl5pPr algn="l">
              <a:defRPr sz="2250" b="0">
                <a:solidFill>
                  <a:srgbClr val="000000"/>
                </a:solidFill>
                <a:latin typeface="Calibri"/>
                <a:ea typeface="Calibri"/>
                <a:cs typeface="Calibri"/>
              </a:defRPr>
            </a:lvl5pPr>
            <a:lvl6pPr algn="l">
              <a:defRPr sz="2250" b="0">
                <a:solidFill>
                  <a:srgbClr val="000000"/>
                </a:solidFill>
                <a:latin typeface="Calibri"/>
                <a:ea typeface="Calibri"/>
                <a:cs typeface="Calibri"/>
              </a:defRPr>
            </a:lvl6pPr>
            <a:lvl7pPr algn="l">
              <a:defRPr sz="2250" b="0">
                <a:solidFill>
                  <a:srgbClr val="000000"/>
                </a:solidFill>
                <a:latin typeface="Calibri"/>
                <a:ea typeface="Calibri"/>
                <a:cs typeface="Calibri"/>
              </a:defRPr>
            </a:lvl7pPr>
            <a:lvl8pPr algn="l">
              <a:defRPr sz="2250" b="0">
                <a:solidFill>
                  <a:srgbClr val="000000"/>
                </a:solidFill>
                <a:latin typeface="Calibri"/>
                <a:ea typeface="Calibri"/>
                <a:cs typeface="Calibri"/>
              </a:defRPr>
            </a:lvl8pPr>
            <a:lvl9pPr algn="l">
              <a:defRPr sz="2250" b="0">
                <a:solidFill>
                  <a:srgbClr val="000000"/>
                </a:solidFill>
                <a:latin typeface="Calibri"/>
                <a:ea typeface="Calibri"/>
                <a:cs typeface="Calibri"/>
              </a:defRPr>
            </a:lvl9pPr>
          </a:lstStyle>
          <a:p xmlns:a="http://schemas.openxmlformats.org/drawingml/2006/main">
            <a:pPr algn="l">
              <a:defRPr sz="2250" b="0">
                <a:solidFill>
                  <a:srgbClr val="000000"/>
                </a:solidFill>
                <a:latin typeface="Calibri"/>
                <a:ea typeface="Calibri"/>
                <a:cs typeface="Calibri"/>
              </a:defRPr>
            </a:pPr>
            <a:r>
              <a:rPr sz="2250" b="0">
                <a:solidFill>
                  <a:srgbClr val="000000"/>
                </a:solidFill>
                <a:latin typeface="Calibri"/>
                <a:ea typeface="Calibri"/>
                <a:cs typeface="Calibri"/>
              </a:rPr>
              <a:t>Projected throughput for the two YOLO modules only</a:t>
            </a:r>
          </a:p>
        </p:txBody>
      </p:sp>
      <p:sp>
        <p:nvSpPr>
          <p:cNvPr id="10" name="object-192">
            <a:extLst xmlns:a="http://schemas.openxmlformats.org/drawingml/2006/main">
              <a:ext uri="{FF2B5EF4-FFF2-40B4-BE49-F238E27FC236}">
                <a16:creationId xmlns:a16="http://schemas.microsoft.com/office/drawing/2014/main" id="{82F0339B-D1CC-4EDA-9223-B3F66EDD9B3F}"/>
              </a:ext>
            </a:extLst>
          </p:cNvPr>
          <p:cNvSpPr>
            <a:spLocks xmlns:a="http://schemas.openxmlformats.org/drawingml/2006/main" noGrp="1"/>
          </p:cNvSpPr>
          <p:nvPr/>
        </p:nvSpPr>
        <p:spPr>
          <a:xfrm xmlns:a="http://schemas.openxmlformats.org/drawingml/2006/main">
            <a:off x="685800" y="593407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000000"/>
                </a:solidFill>
                <a:latin typeface="Calibri"/>
                <a:ea typeface="Calibri"/>
                <a:cs typeface="Calibri"/>
              </a:defRPr>
            </a:defPPr>
            <a:lvl1pPr algn="l">
              <a:defRPr sz="1875" b="1">
                <a:solidFill>
                  <a:srgbClr val="000000"/>
                </a:solidFill>
                <a:latin typeface="Calibri"/>
                <a:ea typeface="Calibri"/>
                <a:cs typeface="Calibri"/>
              </a:defRPr>
            </a:lvl1pPr>
            <a:lvl2pPr algn="l">
              <a:defRPr sz="1875" b="1">
                <a:solidFill>
                  <a:srgbClr val="000000"/>
                </a:solidFill>
                <a:latin typeface="Calibri"/>
                <a:ea typeface="Calibri"/>
                <a:cs typeface="Calibri"/>
              </a:defRPr>
            </a:lvl2pPr>
            <a:lvl3pPr algn="l">
              <a:defRPr sz="1875" b="1">
                <a:solidFill>
                  <a:srgbClr val="000000"/>
                </a:solidFill>
                <a:latin typeface="Calibri"/>
                <a:ea typeface="Calibri"/>
                <a:cs typeface="Calibri"/>
              </a:defRPr>
            </a:lvl3pPr>
            <a:lvl4pPr algn="l">
              <a:defRPr sz="1875" b="1">
                <a:solidFill>
                  <a:srgbClr val="000000"/>
                </a:solidFill>
                <a:latin typeface="Calibri"/>
                <a:ea typeface="Calibri"/>
                <a:cs typeface="Calibri"/>
              </a:defRPr>
            </a:lvl4pPr>
            <a:lvl5pPr algn="l">
              <a:defRPr sz="1875" b="1">
                <a:solidFill>
                  <a:srgbClr val="000000"/>
                </a:solidFill>
                <a:latin typeface="Calibri"/>
                <a:ea typeface="Calibri"/>
                <a:cs typeface="Calibri"/>
              </a:defRPr>
            </a:lvl5pPr>
            <a:lvl6pPr algn="l">
              <a:defRPr sz="1875" b="1">
                <a:solidFill>
                  <a:srgbClr val="000000"/>
                </a:solidFill>
                <a:latin typeface="Calibri"/>
                <a:ea typeface="Calibri"/>
                <a:cs typeface="Calibri"/>
              </a:defRPr>
            </a:lvl6pPr>
            <a:lvl7pPr algn="l">
              <a:defRPr sz="1875" b="1">
                <a:solidFill>
                  <a:srgbClr val="000000"/>
                </a:solidFill>
                <a:latin typeface="Calibri"/>
                <a:ea typeface="Calibri"/>
                <a:cs typeface="Calibri"/>
              </a:defRPr>
            </a:lvl7pPr>
            <a:lvl8pPr algn="l">
              <a:defRPr sz="1875" b="1">
                <a:solidFill>
                  <a:srgbClr val="000000"/>
                </a:solidFill>
                <a:latin typeface="Calibri"/>
                <a:ea typeface="Calibri"/>
                <a:cs typeface="Calibri"/>
              </a:defRPr>
            </a:lvl8pPr>
            <a:lvl9pPr algn="l">
              <a:defRPr sz="1875" b="1">
                <a:solidFill>
                  <a:srgbClr val="000000"/>
                </a:solidFill>
                <a:latin typeface="Calibri"/>
                <a:ea typeface="Calibri"/>
                <a:cs typeface="Calibri"/>
              </a:defRPr>
            </a:lvl9pPr>
          </a:lstStyle>
          <a:p xmlns:a="http://schemas.openxmlformats.org/drawingml/2006/main">
            <a:pPr algn="l">
              <a:defRPr sz="1875" b="1">
                <a:solidFill>
                  <a:srgbClr val="000000"/>
                </a:solidFill>
                <a:latin typeface="Calibri"/>
                <a:ea typeface="Calibri"/>
                <a:cs typeface="Calibri"/>
              </a:defRPr>
            </a:pPr>
            <a:r>
              <a:rPr sz="1875" b="1">
                <a:solidFill>
                  <a:srgbClr val="000000"/>
                </a:solidFill>
                <a:latin typeface="Calibri"/>
                <a:ea typeface="Calibri"/>
                <a:cs typeface="Calibri"/>
              </a:rPr>
              <a:t>Full pipeline FPS was not measured. Capture, steering, display and control I/O are excluded.</a:t>
            </a:r>
          </a:p>
        </p:txBody>
      </p:sp>
    </p:spTree>
    <p:extLst>
      <p:ext uri="{BB962C8B-B14F-4D97-AF65-F5344CB8AC3E}">
        <p14:creationId xmlns:p14="http://schemas.microsoft.com/office/powerpoint/2010/main" val="38505616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object-193">
            <a:extLst xmlns:a="http://schemas.openxmlformats.org/drawingml/2006/main">
              <a:ext uri="{FF2B5EF4-FFF2-40B4-BE49-F238E27FC236}">
                <a16:creationId xmlns:a16="http://schemas.microsoft.com/office/drawing/2014/main" id="{78C2EE0F-FDA0-4CAB-8103-BB5F483B2190}"/>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194">
            <a:extLst xmlns:a="http://schemas.openxmlformats.org/drawingml/2006/main">
              <a:ext uri="{FF2B5EF4-FFF2-40B4-BE49-F238E27FC236}">
                <a16:creationId xmlns:a16="http://schemas.microsoft.com/office/drawing/2014/main" id="{44117E22-49EE-4D48-839D-7A82FAD7B36B}"/>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195">
            <a:extLst xmlns:a="http://schemas.openxmlformats.org/drawingml/2006/main">
              <a:ext uri="{FF2B5EF4-FFF2-40B4-BE49-F238E27FC236}">
                <a16:creationId xmlns:a16="http://schemas.microsoft.com/office/drawing/2014/main" id="{D8AE08AD-CED4-4ACF-80EF-C31A7C519045}"/>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Challenges, applications and next steps</a:t>
            </a:r>
          </a:p>
        </p:txBody>
      </p:sp>
      <p:sp>
        <p:nvSpPr>
          <p:cNvPr id="4" name="object-196">
            <a:extLst xmlns:a="http://schemas.openxmlformats.org/drawingml/2006/main">
              <a:ext uri="{FF2B5EF4-FFF2-40B4-BE49-F238E27FC236}">
                <a16:creationId xmlns:a16="http://schemas.microsoft.com/office/drawing/2014/main" id="{B0D4D267-3B69-4E60-BB93-D8A586760486}"/>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197">
            <a:extLst xmlns:a="http://schemas.openxmlformats.org/drawingml/2006/main">
              <a:ext uri="{FF2B5EF4-FFF2-40B4-BE49-F238E27FC236}">
                <a16:creationId xmlns:a16="http://schemas.microsoft.com/office/drawing/2014/main" id="{DC478851-067E-45A2-8222-AC21FB1FD466}"/>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21</a:t>
            </a:r>
          </a:p>
        </p:txBody>
      </p:sp>
      <p:sp>
        <p:nvSpPr>
          <p:cNvPr id="6" name="object-198">
            <a:extLst xmlns:a="http://schemas.openxmlformats.org/drawingml/2006/main">
              <a:ext uri="{FF2B5EF4-FFF2-40B4-BE49-F238E27FC236}">
                <a16:creationId xmlns:a16="http://schemas.microsoft.com/office/drawing/2014/main" id="{9EE7CC4A-979E-419F-9163-BEF3E2912477}"/>
              </a:ext>
            </a:extLst>
          </p:cNvPr>
          <p:cNvSpPr>
            <a:spLocks xmlns:a="http://schemas.openxmlformats.org/drawingml/2006/main" noGrp="1"/>
          </p:cNvSpPr>
          <p:nvPr/>
        </p:nvSpPr>
        <p:spPr>
          <a:xfrm xmlns:a="http://schemas.openxmlformats.org/drawingml/2006/main">
            <a:off x="685800" y="1685925"/>
            <a:ext cx="50958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Current limitations</a:t>
            </a:r>
          </a:p>
        </p:txBody>
      </p:sp>
      <p:sp>
        <p:nvSpPr>
          <p:cNvPr id="7" name="object-199">
            <a:extLst xmlns:a="http://schemas.openxmlformats.org/drawingml/2006/main">
              <a:ext uri="{FF2B5EF4-FFF2-40B4-BE49-F238E27FC236}">
                <a16:creationId xmlns:a16="http://schemas.microsoft.com/office/drawing/2014/main" id="{1C6AF1D2-A700-4E23-9731-A92956DCA89A}"/>
              </a:ext>
            </a:extLst>
          </p:cNvPr>
          <p:cNvSpPr>
            <a:spLocks xmlns:a="http://schemas.openxmlformats.org/drawingml/2006/main" noGrp="1"/>
          </p:cNvSpPr>
          <p:nvPr/>
        </p:nvSpPr>
        <p:spPr>
          <a:xfrm xmlns:a="http://schemas.openxmlformats.org/drawingml/2006/main">
            <a:off x="685800" y="23812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B95827"/>
                </a:solidFill>
                <a:latin typeface="Calibri"/>
                <a:ea typeface="Calibri"/>
                <a:cs typeface="Calibri"/>
              </a:defRPr>
            </a:defPPr>
            <a:lvl1pPr algn="l">
              <a:defRPr sz="1950" b="1">
                <a:solidFill>
                  <a:srgbClr val="B95827"/>
                </a:solidFill>
                <a:latin typeface="Calibri"/>
                <a:ea typeface="Calibri"/>
                <a:cs typeface="Calibri"/>
              </a:defRPr>
            </a:lvl1pPr>
            <a:lvl2pPr algn="l">
              <a:defRPr sz="1950" b="1">
                <a:solidFill>
                  <a:srgbClr val="B95827"/>
                </a:solidFill>
                <a:latin typeface="Calibri"/>
                <a:ea typeface="Calibri"/>
                <a:cs typeface="Calibri"/>
              </a:defRPr>
            </a:lvl2pPr>
            <a:lvl3pPr algn="l">
              <a:defRPr sz="1950" b="1">
                <a:solidFill>
                  <a:srgbClr val="B95827"/>
                </a:solidFill>
                <a:latin typeface="Calibri"/>
                <a:ea typeface="Calibri"/>
                <a:cs typeface="Calibri"/>
              </a:defRPr>
            </a:lvl3pPr>
            <a:lvl4pPr algn="l">
              <a:defRPr sz="1950" b="1">
                <a:solidFill>
                  <a:srgbClr val="B95827"/>
                </a:solidFill>
                <a:latin typeface="Calibri"/>
                <a:ea typeface="Calibri"/>
                <a:cs typeface="Calibri"/>
              </a:defRPr>
            </a:lvl4pPr>
            <a:lvl5pPr algn="l">
              <a:defRPr sz="1950" b="1">
                <a:solidFill>
                  <a:srgbClr val="B95827"/>
                </a:solidFill>
                <a:latin typeface="Calibri"/>
                <a:ea typeface="Calibri"/>
                <a:cs typeface="Calibri"/>
              </a:defRPr>
            </a:lvl5pPr>
            <a:lvl6pPr algn="l">
              <a:defRPr sz="1950" b="1">
                <a:solidFill>
                  <a:srgbClr val="B95827"/>
                </a:solidFill>
                <a:latin typeface="Calibri"/>
                <a:ea typeface="Calibri"/>
                <a:cs typeface="Calibri"/>
              </a:defRPr>
            </a:lvl6pPr>
            <a:lvl7pPr algn="l">
              <a:defRPr sz="1950" b="1">
                <a:solidFill>
                  <a:srgbClr val="B95827"/>
                </a:solidFill>
                <a:latin typeface="Calibri"/>
                <a:ea typeface="Calibri"/>
                <a:cs typeface="Calibri"/>
              </a:defRPr>
            </a:lvl7pPr>
            <a:lvl8pPr algn="l">
              <a:defRPr sz="1950" b="1">
                <a:solidFill>
                  <a:srgbClr val="B95827"/>
                </a:solidFill>
                <a:latin typeface="Calibri"/>
                <a:ea typeface="Calibri"/>
                <a:cs typeface="Calibri"/>
              </a:defRPr>
            </a:lvl8pPr>
            <a:lvl9pPr algn="l">
              <a:defRPr sz="1950" b="1">
                <a:solidFill>
                  <a:srgbClr val="B95827"/>
                </a:solidFill>
                <a:latin typeface="Calibri"/>
                <a:ea typeface="Calibri"/>
                <a:cs typeface="Calibri"/>
              </a:defRPr>
            </a:lvl9pPr>
          </a:lstStyle>
          <a:p xmlns:a="http://schemas.openxmlformats.org/drawingml/2006/main">
            <a:pPr algn="l">
              <a:defRPr sz="1950" b="1">
                <a:solidFill>
                  <a:srgbClr val="B95827"/>
                </a:solidFill>
                <a:latin typeface="Calibri"/>
                <a:ea typeface="Calibri"/>
                <a:cs typeface="Calibri"/>
              </a:defRPr>
            </a:pPr>
            <a:r>
              <a:rPr sz="1950" b="1">
                <a:solidFill>
                  <a:srgbClr val="B95827"/>
                </a:solidFill>
                <a:latin typeface="Calibri"/>
                <a:ea typeface="Calibri"/>
                <a:cs typeface="Calibri"/>
              </a:rPr>
              <a:t>01</a:t>
            </a:r>
          </a:p>
        </p:txBody>
      </p:sp>
      <p:sp>
        <p:nvSpPr>
          <p:cNvPr id="8" name="object-200">
            <a:extLst xmlns:a="http://schemas.openxmlformats.org/drawingml/2006/main">
              <a:ext uri="{FF2B5EF4-FFF2-40B4-BE49-F238E27FC236}">
                <a16:creationId xmlns:a16="http://schemas.microsoft.com/office/drawing/2014/main" id="{4C1A4288-1ADC-415A-851F-B363BF004206}"/>
              </a:ext>
            </a:extLst>
          </p:cNvPr>
          <p:cNvSpPr>
            <a:spLocks xmlns:a="http://schemas.openxmlformats.org/drawingml/2006/main" noGrp="1"/>
          </p:cNvSpPr>
          <p:nvPr/>
        </p:nvSpPr>
        <p:spPr>
          <a:xfrm xmlns:a="http://schemas.openxmlformats.org/drawingml/2006/main">
            <a:off x="1409700" y="2381250"/>
            <a:ext cx="4371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Steering trails simple constant baselines.</a:t>
            </a:r>
          </a:p>
        </p:txBody>
      </p:sp>
      <p:sp>
        <p:nvSpPr>
          <p:cNvPr id="9" name="object-201">
            <a:extLst xmlns:a="http://schemas.openxmlformats.org/drawingml/2006/main">
              <a:ext uri="{FF2B5EF4-FFF2-40B4-BE49-F238E27FC236}">
                <a16:creationId xmlns:a16="http://schemas.microsoft.com/office/drawing/2014/main" id="{B710711A-5A65-4F78-9955-6CC24EDC3657}"/>
              </a:ext>
            </a:extLst>
          </p:cNvPr>
          <p:cNvSpPr>
            <a:spLocks xmlns:a="http://schemas.openxmlformats.org/drawingml/2006/main" noGrp="1"/>
          </p:cNvSpPr>
          <p:nvPr/>
        </p:nvSpPr>
        <p:spPr>
          <a:xfrm xmlns:a="http://schemas.openxmlformats.org/drawingml/2006/main">
            <a:off x="685800" y="33147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B95827"/>
                </a:solidFill>
                <a:latin typeface="Calibri"/>
                <a:ea typeface="Calibri"/>
                <a:cs typeface="Calibri"/>
              </a:defRPr>
            </a:defPPr>
            <a:lvl1pPr algn="l">
              <a:defRPr sz="1950" b="1">
                <a:solidFill>
                  <a:srgbClr val="B95827"/>
                </a:solidFill>
                <a:latin typeface="Calibri"/>
                <a:ea typeface="Calibri"/>
                <a:cs typeface="Calibri"/>
              </a:defRPr>
            </a:lvl1pPr>
            <a:lvl2pPr algn="l">
              <a:defRPr sz="1950" b="1">
                <a:solidFill>
                  <a:srgbClr val="B95827"/>
                </a:solidFill>
                <a:latin typeface="Calibri"/>
                <a:ea typeface="Calibri"/>
                <a:cs typeface="Calibri"/>
              </a:defRPr>
            </a:lvl2pPr>
            <a:lvl3pPr algn="l">
              <a:defRPr sz="1950" b="1">
                <a:solidFill>
                  <a:srgbClr val="B95827"/>
                </a:solidFill>
                <a:latin typeface="Calibri"/>
                <a:ea typeface="Calibri"/>
                <a:cs typeface="Calibri"/>
              </a:defRPr>
            </a:lvl3pPr>
            <a:lvl4pPr algn="l">
              <a:defRPr sz="1950" b="1">
                <a:solidFill>
                  <a:srgbClr val="B95827"/>
                </a:solidFill>
                <a:latin typeface="Calibri"/>
                <a:ea typeface="Calibri"/>
                <a:cs typeface="Calibri"/>
              </a:defRPr>
            </a:lvl4pPr>
            <a:lvl5pPr algn="l">
              <a:defRPr sz="1950" b="1">
                <a:solidFill>
                  <a:srgbClr val="B95827"/>
                </a:solidFill>
                <a:latin typeface="Calibri"/>
                <a:ea typeface="Calibri"/>
                <a:cs typeface="Calibri"/>
              </a:defRPr>
            </a:lvl5pPr>
            <a:lvl6pPr algn="l">
              <a:defRPr sz="1950" b="1">
                <a:solidFill>
                  <a:srgbClr val="B95827"/>
                </a:solidFill>
                <a:latin typeface="Calibri"/>
                <a:ea typeface="Calibri"/>
                <a:cs typeface="Calibri"/>
              </a:defRPr>
            </a:lvl6pPr>
            <a:lvl7pPr algn="l">
              <a:defRPr sz="1950" b="1">
                <a:solidFill>
                  <a:srgbClr val="B95827"/>
                </a:solidFill>
                <a:latin typeface="Calibri"/>
                <a:ea typeface="Calibri"/>
                <a:cs typeface="Calibri"/>
              </a:defRPr>
            </a:lvl7pPr>
            <a:lvl8pPr algn="l">
              <a:defRPr sz="1950" b="1">
                <a:solidFill>
                  <a:srgbClr val="B95827"/>
                </a:solidFill>
                <a:latin typeface="Calibri"/>
                <a:ea typeface="Calibri"/>
                <a:cs typeface="Calibri"/>
              </a:defRPr>
            </a:lvl8pPr>
            <a:lvl9pPr algn="l">
              <a:defRPr sz="1950" b="1">
                <a:solidFill>
                  <a:srgbClr val="B95827"/>
                </a:solidFill>
                <a:latin typeface="Calibri"/>
                <a:ea typeface="Calibri"/>
                <a:cs typeface="Calibri"/>
              </a:defRPr>
            </a:lvl9pPr>
          </a:lstStyle>
          <a:p xmlns:a="http://schemas.openxmlformats.org/drawingml/2006/main">
            <a:pPr algn="l">
              <a:defRPr sz="1950" b="1">
                <a:solidFill>
                  <a:srgbClr val="B95827"/>
                </a:solidFill>
                <a:latin typeface="Calibri"/>
                <a:ea typeface="Calibri"/>
                <a:cs typeface="Calibri"/>
              </a:defRPr>
            </a:pPr>
            <a:r>
              <a:rPr sz="1950" b="1">
                <a:solidFill>
                  <a:srgbClr val="B95827"/>
                </a:solidFill>
                <a:latin typeface="Calibri"/>
                <a:ea typeface="Calibri"/>
                <a:cs typeface="Calibri"/>
              </a:rPr>
              <a:t>02</a:t>
            </a:r>
          </a:p>
        </p:txBody>
      </p:sp>
      <p:sp>
        <p:nvSpPr>
          <p:cNvPr id="10" name="object-202">
            <a:extLst xmlns:a="http://schemas.openxmlformats.org/drawingml/2006/main">
              <a:ext uri="{FF2B5EF4-FFF2-40B4-BE49-F238E27FC236}">
                <a16:creationId xmlns:a16="http://schemas.microsoft.com/office/drawing/2014/main" id="{E2DF2646-EEB1-406A-A87F-555E1A80205B}"/>
              </a:ext>
            </a:extLst>
          </p:cNvPr>
          <p:cNvSpPr>
            <a:spLocks xmlns:a="http://schemas.openxmlformats.org/drawingml/2006/main" noGrp="1"/>
          </p:cNvSpPr>
          <p:nvPr/>
        </p:nvSpPr>
        <p:spPr>
          <a:xfrm xmlns:a="http://schemas.openxmlformats.org/drawingml/2006/main">
            <a:off x="1409700" y="3314700"/>
            <a:ext cx="4371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Lane scores use synthetic masks.</a:t>
            </a:r>
          </a:p>
        </p:txBody>
      </p:sp>
      <p:sp>
        <p:nvSpPr>
          <p:cNvPr id="11" name="object-203">
            <a:extLst xmlns:a="http://schemas.openxmlformats.org/drawingml/2006/main">
              <a:ext uri="{FF2B5EF4-FFF2-40B4-BE49-F238E27FC236}">
                <a16:creationId xmlns:a16="http://schemas.microsoft.com/office/drawing/2014/main" id="{A143F9E7-0119-4586-AC4E-1D74142BB0A7}"/>
              </a:ext>
            </a:extLst>
          </p:cNvPr>
          <p:cNvSpPr>
            <a:spLocks xmlns:a="http://schemas.openxmlformats.org/drawingml/2006/main" noGrp="1"/>
          </p:cNvSpPr>
          <p:nvPr/>
        </p:nvSpPr>
        <p:spPr>
          <a:xfrm xmlns:a="http://schemas.openxmlformats.org/drawingml/2006/main">
            <a:off x="685800" y="42481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B95827"/>
                </a:solidFill>
                <a:latin typeface="Calibri"/>
                <a:ea typeface="Calibri"/>
                <a:cs typeface="Calibri"/>
              </a:defRPr>
            </a:defPPr>
            <a:lvl1pPr algn="l">
              <a:defRPr sz="1950" b="1">
                <a:solidFill>
                  <a:srgbClr val="B95827"/>
                </a:solidFill>
                <a:latin typeface="Calibri"/>
                <a:ea typeface="Calibri"/>
                <a:cs typeface="Calibri"/>
              </a:defRPr>
            </a:lvl1pPr>
            <a:lvl2pPr algn="l">
              <a:defRPr sz="1950" b="1">
                <a:solidFill>
                  <a:srgbClr val="B95827"/>
                </a:solidFill>
                <a:latin typeface="Calibri"/>
                <a:ea typeface="Calibri"/>
                <a:cs typeface="Calibri"/>
              </a:defRPr>
            </a:lvl2pPr>
            <a:lvl3pPr algn="l">
              <a:defRPr sz="1950" b="1">
                <a:solidFill>
                  <a:srgbClr val="B95827"/>
                </a:solidFill>
                <a:latin typeface="Calibri"/>
                <a:ea typeface="Calibri"/>
                <a:cs typeface="Calibri"/>
              </a:defRPr>
            </a:lvl3pPr>
            <a:lvl4pPr algn="l">
              <a:defRPr sz="1950" b="1">
                <a:solidFill>
                  <a:srgbClr val="B95827"/>
                </a:solidFill>
                <a:latin typeface="Calibri"/>
                <a:ea typeface="Calibri"/>
                <a:cs typeface="Calibri"/>
              </a:defRPr>
            </a:lvl4pPr>
            <a:lvl5pPr algn="l">
              <a:defRPr sz="1950" b="1">
                <a:solidFill>
                  <a:srgbClr val="B95827"/>
                </a:solidFill>
                <a:latin typeface="Calibri"/>
                <a:ea typeface="Calibri"/>
                <a:cs typeface="Calibri"/>
              </a:defRPr>
            </a:lvl5pPr>
            <a:lvl6pPr algn="l">
              <a:defRPr sz="1950" b="1">
                <a:solidFill>
                  <a:srgbClr val="B95827"/>
                </a:solidFill>
                <a:latin typeface="Calibri"/>
                <a:ea typeface="Calibri"/>
                <a:cs typeface="Calibri"/>
              </a:defRPr>
            </a:lvl6pPr>
            <a:lvl7pPr algn="l">
              <a:defRPr sz="1950" b="1">
                <a:solidFill>
                  <a:srgbClr val="B95827"/>
                </a:solidFill>
                <a:latin typeface="Calibri"/>
                <a:ea typeface="Calibri"/>
                <a:cs typeface="Calibri"/>
              </a:defRPr>
            </a:lvl7pPr>
            <a:lvl8pPr algn="l">
              <a:defRPr sz="1950" b="1">
                <a:solidFill>
                  <a:srgbClr val="B95827"/>
                </a:solidFill>
                <a:latin typeface="Calibri"/>
                <a:ea typeface="Calibri"/>
                <a:cs typeface="Calibri"/>
              </a:defRPr>
            </a:lvl8pPr>
            <a:lvl9pPr algn="l">
              <a:defRPr sz="1950" b="1">
                <a:solidFill>
                  <a:srgbClr val="B95827"/>
                </a:solidFill>
                <a:latin typeface="Calibri"/>
                <a:ea typeface="Calibri"/>
                <a:cs typeface="Calibri"/>
              </a:defRPr>
            </a:lvl9pPr>
          </a:lstStyle>
          <a:p xmlns:a="http://schemas.openxmlformats.org/drawingml/2006/main">
            <a:pPr algn="l">
              <a:defRPr sz="1950" b="1">
                <a:solidFill>
                  <a:srgbClr val="B95827"/>
                </a:solidFill>
                <a:latin typeface="Calibri"/>
                <a:ea typeface="Calibri"/>
                <a:cs typeface="Calibri"/>
              </a:defRPr>
            </a:pPr>
            <a:r>
              <a:rPr sz="1950" b="1">
                <a:solidFill>
                  <a:srgbClr val="B95827"/>
                </a:solidFill>
                <a:latin typeface="Calibri"/>
                <a:ea typeface="Calibri"/>
                <a:cs typeface="Calibri"/>
              </a:rPr>
              <a:t>03</a:t>
            </a:r>
          </a:p>
        </p:txBody>
      </p:sp>
      <p:sp>
        <p:nvSpPr>
          <p:cNvPr id="12" name="object-204">
            <a:extLst xmlns:a="http://schemas.openxmlformats.org/drawingml/2006/main">
              <a:ext uri="{FF2B5EF4-FFF2-40B4-BE49-F238E27FC236}">
                <a16:creationId xmlns:a16="http://schemas.microsoft.com/office/drawing/2014/main" id="{B5CECC9C-135C-450D-A7D3-14853742F0EB}"/>
              </a:ext>
            </a:extLst>
          </p:cNvPr>
          <p:cNvSpPr>
            <a:spLocks xmlns:a="http://schemas.openxmlformats.org/drawingml/2006/main" noGrp="1"/>
          </p:cNvSpPr>
          <p:nvPr/>
        </p:nvSpPr>
        <p:spPr>
          <a:xfrm xmlns:a="http://schemas.openxmlformats.org/drawingml/2006/main">
            <a:off x="1409700" y="4248150"/>
            <a:ext cx="43719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Independent-drive and closed-loop tests remain outstanding.</a:t>
            </a:r>
          </a:p>
        </p:txBody>
      </p:sp>
      <p:sp>
        <p:nvSpPr>
          <p:cNvPr id="13" name="object-205">
            <a:extLst xmlns:a="http://schemas.openxmlformats.org/drawingml/2006/main">
              <a:ext uri="{FF2B5EF4-FFF2-40B4-BE49-F238E27FC236}">
                <a16:creationId xmlns:a16="http://schemas.microsoft.com/office/drawing/2014/main" id="{B8079AA3-3A85-4052-A21E-5B382ED294C5}"/>
              </a:ext>
            </a:extLst>
          </p:cNvPr>
          <p:cNvSpPr>
            <a:spLocks xmlns:a="http://schemas.openxmlformats.org/drawingml/2006/main" noGrp="1"/>
          </p:cNvSpPr>
          <p:nvPr/>
        </p:nvSpPr>
        <p:spPr>
          <a:xfrm xmlns:a="http://schemas.openxmlformats.org/drawingml/2006/main">
            <a:off x="6543675" y="1685925"/>
            <a:ext cx="49625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Research applications</a:t>
            </a:r>
          </a:p>
        </p:txBody>
      </p:sp>
      <p:sp>
        <p:nvSpPr>
          <p:cNvPr id="14" name="object-206">
            <a:extLst xmlns:a="http://schemas.openxmlformats.org/drawingml/2006/main">
              <a:ext uri="{FF2B5EF4-FFF2-40B4-BE49-F238E27FC236}">
                <a16:creationId xmlns:a16="http://schemas.microsoft.com/office/drawing/2014/main" id="{FBE3EBA6-2D21-4765-9805-23072E3080AE}"/>
              </a:ext>
            </a:extLst>
          </p:cNvPr>
          <p:cNvSpPr>
            <a:spLocks xmlns:a="http://schemas.openxmlformats.org/drawingml/2006/main" noGrp="1"/>
          </p:cNvSpPr>
          <p:nvPr/>
        </p:nvSpPr>
        <p:spPr>
          <a:xfrm xmlns:a="http://schemas.openxmlformats.org/drawingml/2006/main">
            <a:off x="6543675" y="2419350"/>
            <a:ext cx="49625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Component benchmarking</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Lane annotation experiments</a:t>
            </a:r>
          </a:p>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Perception and visualization teaching</a:t>
            </a:r>
          </a:p>
        </p:txBody>
      </p:sp>
      <p:sp>
        <p:nvSpPr>
          <p:cNvPr id="15" name="object-207">
            <a:extLst xmlns:a="http://schemas.openxmlformats.org/drawingml/2006/main">
              <a:ext uri="{FF2B5EF4-FFF2-40B4-BE49-F238E27FC236}">
                <a16:creationId xmlns:a16="http://schemas.microsoft.com/office/drawing/2014/main" id="{1508D7D7-272A-47D9-88C3-66E856567A0C}"/>
              </a:ext>
            </a:extLst>
          </p:cNvPr>
          <p:cNvSpPr>
            <a:spLocks xmlns:a="http://schemas.openxmlformats.org/drawingml/2006/main" noGrp="1"/>
          </p:cNvSpPr>
          <p:nvPr/>
        </p:nvSpPr>
        <p:spPr>
          <a:xfrm xmlns:a="http://schemas.openxmlformats.org/drawingml/2006/main">
            <a:off x="6543675" y="4276725"/>
            <a:ext cx="49625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000000"/>
                </a:solidFill>
                <a:latin typeface="Calibri"/>
                <a:ea typeface="Calibri"/>
                <a:cs typeface="Calibri"/>
              </a:defRPr>
            </a:defPPr>
            <a:lvl1pPr algn="l">
              <a:defRPr sz="2400" b="1">
                <a:solidFill>
                  <a:srgbClr val="000000"/>
                </a:solidFill>
                <a:latin typeface="Calibri"/>
                <a:ea typeface="Calibri"/>
                <a:cs typeface="Calibri"/>
              </a:defRPr>
            </a:lvl1pPr>
            <a:lvl2pPr algn="l">
              <a:defRPr sz="2400" b="1">
                <a:solidFill>
                  <a:srgbClr val="000000"/>
                </a:solidFill>
                <a:latin typeface="Calibri"/>
                <a:ea typeface="Calibri"/>
                <a:cs typeface="Calibri"/>
              </a:defRPr>
            </a:lvl2pPr>
            <a:lvl3pPr algn="l">
              <a:defRPr sz="2400" b="1">
                <a:solidFill>
                  <a:srgbClr val="000000"/>
                </a:solidFill>
                <a:latin typeface="Calibri"/>
                <a:ea typeface="Calibri"/>
                <a:cs typeface="Calibri"/>
              </a:defRPr>
            </a:lvl3pPr>
            <a:lvl4pPr algn="l">
              <a:defRPr sz="2400" b="1">
                <a:solidFill>
                  <a:srgbClr val="000000"/>
                </a:solidFill>
                <a:latin typeface="Calibri"/>
                <a:ea typeface="Calibri"/>
                <a:cs typeface="Calibri"/>
              </a:defRPr>
            </a:lvl4pPr>
            <a:lvl5pPr algn="l">
              <a:defRPr sz="2400" b="1">
                <a:solidFill>
                  <a:srgbClr val="000000"/>
                </a:solidFill>
                <a:latin typeface="Calibri"/>
                <a:ea typeface="Calibri"/>
                <a:cs typeface="Calibri"/>
              </a:defRPr>
            </a:lvl5pPr>
            <a:lvl6pPr algn="l">
              <a:defRPr sz="2400" b="1">
                <a:solidFill>
                  <a:srgbClr val="000000"/>
                </a:solidFill>
                <a:latin typeface="Calibri"/>
                <a:ea typeface="Calibri"/>
                <a:cs typeface="Calibri"/>
              </a:defRPr>
            </a:lvl6pPr>
            <a:lvl7pPr algn="l">
              <a:defRPr sz="2400" b="1">
                <a:solidFill>
                  <a:srgbClr val="000000"/>
                </a:solidFill>
                <a:latin typeface="Calibri"/>
                <a:ea typeface="Calibri"/>
                <a:cs typeface="Calibri"/>
              </a:defRPr>
            </a:lvl7pPr>
            <a:lvl8pPr algn="l">
              <a:defRPr sz="2400" b="1">
                <a:solidFill>
                  <a:srgbClr val="000000"/>
                </a:solidFill>
                <a:latin typeface="Calibri"/>
                <a:ea typeface="Calibri"/>
                <a:cs typeface="Calibri"/>
              </a:defRPr>
            </a:lvl8pPr>
            <a:lvl9pPr algn="l">
              <a:defRPr sz="2400" b="1">
                <a:solidFill>
                  <a:srgbClr val="000000"/>
                </a:solidFill>
                <a:latin typeface="Calibri"/>
                <a:ea typeface="Calibri"/>
                <a:cs typeface="Calibri"/>
              </a:defRPr>
            </a:lvl9pPr>
          </a:lstStyle>
          <a:p xmlns:a="http://schemas.openxmlformats.org/drawingml/2006/main">
            <a:pPr algn="l">
              <a:defRPr sz="2400" b="1">
                <a:solidFill>
                  <a:srgbClr val="000000"/>
                </a:solidFill>
                <a:latin typeface="Calibri"/>
                <a:ea typeface="Calibri"/>
                <a:cs typeface="Calibri"/>
              </a:defRPr>
            </a:pPr>
            <a:r>
              <a:rPr sz="2400" b="1">
                <a:solidFill>
                  <a:srgbClr val="000000"/>
                </a:solidFill>
                <a:latin typeface="Calibri"/>
                <a:ea typeface="Calibri"/>
                <a:cs typeface="Calibri"/>
              </a:rPr>
              <a:t>Next steps</a:t>
            </a:r>
          </a:p>
        </p:txBody>
      </p:sp>
      <p:sp>
        <p:nvSpPr>
          <p:cNvPr id="16" name="object-208">
            <a:extLst xmlns:a="http://schemas.openxmlformats.org/drawingml/2006/main">
              <a:ext uri="{FF2B5EF4-FFF2-40B4-BE49-F238E27FC236}">
                <a16:creationId xmlns:a16="http://schemas.microsoft.com/office/drawing/2014/main" id="{87F4533E-FF6E-4B51-8A5E-5BC808072CC9}"/>
              </a:ext>
            </a:extLst>
          </p:cNvPr>
          <p:cNvSpPr>
            <a:spLocks xmlns:a="http://schemas.openxmlformats.org/drawingml/2006/main" noGrp="1"/>
          </p:cNvSpPr>
          <p:nvPr/>
        </p:nvSpPr>
        <p:spPr>
          <a:xfrm xmlns:a="http://schemas.openxmlformats.org/drawingml/2006/main">
            <a:off x="6543675" y="4924425"/>
            <a:ext cx="49625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000000"/>
                </a:solidFill>
                <a:latin typeface="Calibri"/>
                <a:ea typeface="Calibri"/>
                <a:cs typeface="Calibri"/>
              </a:defRPr>
            </a:defPPr>
            <a:lvl1pPr algn="l">
              <a:defRPr sz="2100" b="0">
                <a:solidFill>
                  <a:srgbClr val="000000"/>
                </a:solidFill>
                <a:latin typeface="Calibri"/>
                <a:ea typeface="Calibri"/>
                <a:cs typeface="Calibri"/>
              </a:defRPr>
            </a:lvl1pPr>
            <a:lvl2pPr algn="l">
              <a:defRPr sz="2100" b="0">
                <a:solidFill>
                  <a:srgbClr val="000000"/>
                </a:solidFill>
                <a:latin typeface="Calibri"/>
                <a:ea typeface="Calibri"/>
                <a:cs typeface="Calibri"/>
              </a:defRPr>
            </a:lvl2pPr>
            <a:lvl3pPr algn="l">
              <a:defRPr sz="2100" b="0">
                <a:solidFill>
                  <a:srgbClr val="000000"/>
                </a:solidFill>
                <a:latin typeface="Calibri"/>
                <a:ea typeface="Calibri"/>
                <a:cs typeface="Calibri"/>
              </a:defRPr>
            </a:lvl3pPr>
            <a:lvl4pPr algn="l">
              <a:defRPr sz="2100" b="0">
                <a:solidFill>
                  <a:srgbClr val="000000"/>
                </a:solidFill>
                <a:latin typeface="Calibri"/>
                <a:ea typeface="Calibri"/>
                <a:cs typeface="Calibri"/>
              </a:defRPr>
            </a:lvl4pPr>
            <a:lvl5pPr algn="l">
              <a:defRPr sz="2100" b="0">
                <a:solidFill>
                  <a:srgbClr val="000000"/>
                </a:solidFill>
                <a:latin typeface="Calibri"/>
                <a:ea typeface="Calibri"/>
                <a:cs typeface="Calibri"/>
              </a:defRPr>
            </a:lvl5pPr>
            <a:lvl6pPr algn="l">
              <a:defRPr sz="2100" b="0">
                <a:solidFill>
                  <a:srgbClr val="000000"/>
                </a:solidFill>
                <a:latin typeface="Calibri"/>
                <a:ea typeface="Calibri"/>
                <a:cs typeface="Calibri"/>
              </a:defRPr>
            </a:lvl6pPr>
            <a:lvl7pPr algn="l">
              <a:defRPr sz="2100" b="0">
                <a:solidFill>
                  <a:srgbClr val="000000"/>
                </a:solidFill>
                <a:latin typeface="Calibri"/>
                <a:ea typeface="Calibri"/>
                <a:cs typeface="Calibri"/>
              </a:defRPr>
            </a:lvl7pPr>
            <a:lvl8pPr algn="l">
              <a:defRPr sz="2100" b="0">
                <a:solidFill>
                  <a:srgbClr val="000000"/>
                </a:solidFill>
                <a:latin typeface="Calibri"/>
                <a:ea typeface="Calibri"/>
                <a:cs typeface="Calibri"/>
              </a:defRPr>
            </a:lvl8pPr>
            <a:lvl9pPr algn="l">
              <a:defRPr sz="2100" b="0">
                <a:solidFill>
                  <a:srgbClr val="000000"/>
                </a:solidFill>
                <a:latin typeface="Calibri"/>
                <a:ea typeface="Calibri"/>
                <a:cs typeface="Calibri"/>
              </a:defRPr>
            </a:lvl9pPr>
          </a:lstStyle>
          <a:p xmlns:a="http://schemas.openxmlformats.org/drawingml/2006/main">
            <a:pPr algn="l">
              <a:defRPr sz="2100" b="0">
                <a:solidFill>
                  <a:srgbClr val="000000"/>
                </a:solidFill>
                <a:latin typeface="Calibri"/>
                <a:ea typeface="Calibri"/>
                <a:cs typeface="Calibri"/>
              </a:defRPr>
            </a:pPr>
            <a:r>
              <a:rPr sz="2100" b="0">
                <a:solidFill>
                  <a:srgbClr val="000000"/>
                </a:solidFill>
                <a:latin typeface="Calibri"/>
                <a:ea typeface="Calibri"/>
                <a:cs typeface="Calibri"/>
              </a:rPr>
              <a:t>Official lane metrics, new driving data and controlled simulator evaluation</a:t>
            </a:r>
          </a:p>
        </p:txBody>
      </p:sp>
    </p:spTree>
    <p:extLst>
      <p:ext uri="{BB962C8B-B14F-4D97-AF65-F5344CB8AC3E}">
        <p14:creationId xmlns:p14="http://schemas.microsoft.com/office/powerpoint/2010/main" val="1608767120"/>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object-209">
            <a:extLst xmlns:a="http://schemas.openxmlformats.org/drawingml/2006/main">
              <a:ext uri="{FF2B5EF4-FFF2-40B4-BE49-F238E27FC236}">
                <a16:creationId xmlns:a16="http://schemas.microsoft.com/office/drawing/2014/main" id="{01CA8B17-38DE-4188-9ED8-291B4B944B0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10">
            <a:extLst xmlns:a="http://schemas.openxmlformats.org/drawingml/2006/main">
              <a:ext uri="{FF2B5EF4-FFF2-40B4-BE49-F238E27FC236}">
                <a16:creationId xmlns:a16="http://schemas.microsoft.com/office/drawing/2014/main" id="{3EF0C06E-DABD-4296-B8AC-F4AFB808B3A9}"/>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11">
            <a:extLst xmlns:a="http://schemas.openxmlformats.org/drawingml/2006/main">
              <a:ext uri="{FF2B5EF4-FFF2-40B4-BE49-F238E27FC236}">
                <a16:creationId xmlns:a16="http://schemas.microsoft.com/office/drawing/2014/main" id="{7BCE0B71-2312-433C-85F6-225CE48D07B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Conclusion and proof of work</a:t>
            </a:r>
          </a:p>
        </p:txBody>
      </p:sp>
      <p:sp>
        <p:nvSpPr>
          <p:cNvPr id="4" name="object-212">
            <a:extLst xmlns:a="http://schemas.openxmlformats.org/drawingml/2006/main">
              <a:ext uri="{FF2B5EF4-FFF2-40B4-BE49-F238E27FC236}">
                <a16:creationId xmlns:a16="http://schemas.microsoft.com/office/drawing/2014/main" id="{27A83873-8950-4E2B-94AF-D0D5AEBC3EE3}"/>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13">
            <a:extLst xmlns:a="http://schemas.openxmlformats.org/drawingml/2006/main">
              <a:ext uri="{FF2B5EF4-FFF2-40B4-BE49-F238E27FC236}">
                <a16:creationId xmlns:a16="http://schemas.microsoft.com/office/drawing/2014/main" id="{A50A3C6F-B8E8-4A73-A825-1E050DE8A232}"/>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22</a:t>
            </a:r>
          </a:p>
        </p:txBody>
      </p:sp>
      <p:sp>
        <p:nvSpPr>
          <p:cNvPr id="6" name="object-214">
            <a:extLst xmlns:a="http://schemas.openxmlformats.org/drawingml/2006/main">
              <a:ext uri="{FF2B5EF4-FFF2-40B4-BE49-F238E27FC236}">
                <a16:creationId xmlns:a16="http://schemas.microsoft.com/office/drawing/2014/main" id="{C02B2A6A-79E8-4CF4-BA8E-CE8587C7823D}"/>
              </a:ext>
            </a:extLst>
          </p:cNvPr>
          <p:cNvSpPr>
            <a:spLocks xmlns:a="http://schemas.openxmlformats.org/drawingml/2006/main" noGrp="1"/>
          </p:cNvSpPr>
          <p:nvPr/>
        </p:nvSpPr>
        <p:spPr>
          <a:xfrm xmlns:a="http://schemas.openxmlformats.org/drawingml/2006/main">
            <a:off x="800100" y="18192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5827"/>
                </a:solidFill>
                <a:latin typeface="Calibri"/>
                <a:ea typeface="Calibri"/>
                <a:cs typeface="Calibri"/>
              </a:defRPr>
            </a:defPPr>
            <a:lvl1pPr algn="l">
              <a:defRPr sz="2325" b="1">
                <a:solidFill>
                  <a:srgbClr val="B95827"/>
                </a:solidFill>
                <a:latin typeface="Calibri"/>
                <a:ea typeface="Calibri"/>
                <a:cs typeface="Calibri"/>
              </a:defRPr>
            </a:lvl1pPr>
            <a:lvl2pPr algn="l">
              <a:defRPr sz="2325" b="1">
                <a:solidFill>
                  <a:srgbClr val="B95827"/>
                </a:solidFill>
                <a:latin typeface="Calibri"/>
                <a:ea typeface="Calibri"/>
                <a:cs typeface="Calibri"/>
              </a:defRPr>
            </a:lvl2pPr>
            <a:lvl3pPr algn="l">
              <a:defRPr sz="2325" b="1">
                <a:solidFill>
                  <a:srgbClr val="B95827"/>
                </a:solidFill>
                <a:latin typeface="Calibri"/>
                <a:ea typeface="Calibri"/>
                <a:cs typeface="Calibri"/>
              </a:defRPr>
            </a:lvl3pPr>
            <a:lvl4pPr algn="l">
              <a:defRPr sz="2325" b="1">
                <a:solidFill>
                  <a:srgbClr val="B95827"/>
                </a:solidFill>
                <a:latin typeface="Calibri"/>
                <a:ea typeface="Calibri"/>
                <a:cs typeface="Calibri"/>
              </a:defRPr>
            </a:lvl4pPr>
            <a:lvl5pPr algn="l">
              <a:defRPr sz="2325" b="1">
                <a:solidFill>
                  <a:srgbClr val="B95827"/>
                </a:solidFill>
                <a:latin typeface="Calibri"/>
                <a:ea typeface="Calibri"/>
                <a:cs typeface="Calibri"/>
              </a:defRPr>
            </a:lvl5pPr>
            <a:lvl6pPr algn="l">
              <a:defRPr sz="2325" b="1">
                <a:solidFill>
                  <a:srgbClr val="B95827"/>
                </a:solidFill>
                <a:latin typeface="Calibri"/>
                <a:ea typeface="Calibri"/>
                <a:cs typeface="Calibri"/>
              </a:defRPr>
            </a:lvl6pPr>
            <a:lvl7pPr algn="l">
              <a:defRPr sz="2325" b="1">
                <a:solidFill>
                  <a:srgbClr val="B95827"/>
                </a:solidFill>
                <a:latin typeface="Calibri"/>
                <a:ea typeface="Calibri"/>
                <a:cs typeface="Calibri"/>
              </a:defRPr>
            </a:lvl7pPr>
            <a:lvl8pPr algn="l">
              <a:defRPr sz="2325" b="1">
                <a:solidFill>
                  <a:srgbClr val="B95827"/>
                </a:solidFill>
                <a:latin typeface="Calibri"/>
                <a:ea typeface="Calibri"/>
                <a:cs typeface="Calibri"/>
              </a:defRPr>
            </a:lvl8pPr>
            <a:lvl9pPr algn="l">
              <a:defRPr sz="2325" b="1">
                <a:solidFill>
                  <a:srgbClr val="B95827"/>
                </a:solidFill>
                <a:latin typeface="Calibri"/>
                <a:ea typeface="Calibri"/>
                <a:cs typeface="Calibri"/>
              </a:defRPr>
            </a:lvl9pPr>
          </a:lstStyle>
          <a:p xmlns:a="http://schemas.openxmlformats.org/drawingml/2006/main">
            <a:pPr algn="l">
              <a:defRPr sz="2325" b="1">
                <a:solidFill>
                  <a:srgbClr val="B95827"/>
                </a:solidFill>
                <a:latin typeface="Calibri"/>
                <a:ea typeface="Calibri"/>
                <a:cs typeface="Calibri"/>
              </a:defRPr>
            </a:pPr>
            <a:r>
              <a:rPr sz="2325" b="1">
                <a:solidFill>
                  <a:srgbClr val="B95827"/>
                </a:solidFill>
                <a:latin typeface="Calibri"/>
                <a:ea typeface="Calibri"/>
                <a:cs typeface="Calibri"/>
              </a:rPr>
              <a:t>01</a:t>
            </a:r>
          </a:p>
        </p:txBody>
      </p:sp>
      <p:sp>
        <p:nvSpPr>
          <p:cNvPr id="7" name="object-215">
            <a:extLst xmlns:a="http://schemas.openxmlformats.org/drawingml/2006/main">
              <a:ext uri="{FF2B5EF4-FFF2-40B4-BE49-F238E27FC236}">
                <a16:creationId xmlns:a16="http://schemas.microsoft.com/office/drawing/2014/main" id="{351F3A69-3581-46D4-990C-B56A8DB11B88}"/>
              </a:ext>
            </a:extLst>
          </p:cNvPr>
          <p:cNvSpPr>
            <a:spLocks xmlns:a="http://schemas.openxmlformats.org/drawingml/2006/main" noGrp="1"/>
          </p:cNvSpPr>
          <p:nvPr/>
        </p:nvSpPr>
        <p:spPr>
          <a:xfrm xmlns:a="http://schemas.openxmlformats.org/drawingml/2006/main">
            <a:off x="1524000" y="1819275"/>
            <a:ext cx="98488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000000"/>
                </a:solidFill>
                <a:latin typeface="Calibri"/>
                <a:ea typeface="Calibri"/>
                <a:cs typeface="Calibri"/>
              </a:defRPr>
            </a:defPPr>
            <a:lvl1pPr algn="l">
              <a:defRPr sz="2325" b="0">
                <a:solidFill>
                  <a:srgbClr val="000000"/>
                </a:solidFill>
                <a:latin typeface="Calibri"/>
                <a:ea typeface="Calibri"/>
                <a:cs typeface="Calibri"/>
              </a:defRPr>
            </a:lvl1pPr>
            <a:lvl2pPr algn="l">
              <a:defRPr sz="2325" b="0">
                <a:solidFill>
                  <a:srgbClr val="000000"/>
                </a:solidFill>
                <a:latin typeface="Calibri"/>
                <a:ea typeface="Calibri"/>
                <a:cs typeface="Calibri"/>
              </a:defRPr>
            </a:lvl2pPr>
            <a:lvl3pPr algn="l">
              <a:defRPr sz="2325" b="0">
                <a:solidFill>
                  <a:srgbClr val="000000"/>
                </a:solidFill>
                <a:latin typeface="Calibri"/>
                <a:ea typeface="Calibri"/>
                <a:cs typeface="Calibri"/>
              </a:defRPr>
            </a:lvl3pPr>
            <a:lvl4pPr algn="l">
              <a:defRPr sz="2325" b="0">
                <a:solidFill>
                  <a:srgbClr val="000000"/>
                </a:solidFill>
                <a:latin typeface="Calibri"/>
                <a:ea typeface="Calibri"/>
                <a:cs typeface="Calibri"/>
              </a:defRPr>
            </a:lvl4pPr>
            <a:lvl5pPr algn="l">
              <a:defRPr sz="2325" b="0">
                <a:solidFill>
                  <a:srgbClr val="000000"/>
                </a:solidFill>
                <a:latin typeface="Calibri"/>
                <a:ea typeface="Calibri"/>
                <a:cs typeface="Calibri"/>
              </a:defRPr>
            </a:lvl5pPr>
            <a:lvl6pPr algn="l">
              <a:defRPr sz="2325" b="0">
                <a:solidFill>
                  <a:srgbClr val="000000"/>
                </a:solidFill>
                <a:latin typeface="Calibri"/>
                <a:ea typeface="Calibri"/>
                <a:cs typeface="Calibri"/>
              </a:defRPr>
            </a:lvl6pPr>
            <a:lvl7pPr algn="l">
              <a:defRPr sz="2325" b="0">
                <a:solidFill>
                  <a:srgbClr val="000000"/>
                </a:solidFill>
                <a:latin typeface="Calibri"/>
                <a:ea typeface="Calibri"/>
                <a:cs typeface="Calibri"/>
              </a:defRPr>
            </a:lvl7pPr>
            <a:lvl8pPr algn="l">
              <a:defRPr sz="2325" b="0">
                <a:solidFill>
                  <a:srgbClr val="000000"/>
                </a:solidFill>
                <a:latin typeface="Calibri"/>
                <a:ea typeface="Calibri"/>
                <a:cs typeface="Calibri"/>
              </a:defRPr>
            </a:lvl8pPr>
            <a:lvl9pPr algn="l">
              <a:defRPr sz="2325" b="0">
                <a:solidFill>
                  <a:srgbClr val="000000"/>
                </a:solidFill>
                <a:latin typeface="Calibri"/>
                <a:ea typeface="Calibri"/>
                <a:cs typeface="Calibri"/>
              </a:defRPr>
            </a:lvl9pPr>
          </a:lstStyle>
          <a:p xmlns:a="http://schemas.openxmlformats.org/drawingml/2006/main">
            <a:pPr algn="l">
              <a:defRPr sz="2325" b="0">
                <a:solidFill>
                  <a:srgbClr val="000000"/>
                </a:solidFill>
                <a:latin typeface="Calibri"/>
                <a:ea typeface="Calibri"/>
                <a:cs typeface="Calibri"/>
              </a:defRPr>
            </a:pPr>
            <a:r>
              <a:rPr sz="2325" b="0">
                <a:solidFill>
                  <a:srgbClr val="000000"/>
                </a:solidFill>
                <a:latin typeface="Calibri"/>
                <a:ea typeface="Calibri"/>
                <a:cs typeface="Calibri"/>
              </a:rPr>
              <a:t>AutoDrive integrates detection, lane segmentation and steering prediction.</a:t>
            </a:r>
          </a:p>
        </p:txBody>
      </p:sp>
      <p:sp>
        <p:nvSpPr>
          <p:cNvPr id="8" name="object-216">
            <a:extLst xmlns:a="http://schemas.openxmlformats.org/drawingml/2006/main">
              <a:ext uri="{FF2B5EF4-FFF2-40B4-BE49-F238E27FC236}">
                <a16:creationId xmlns:a16="http://schemas.microsoft.com/office/drawing/2014/main" id="{725BCC66-E2CA-4AA4-A691-4FE2453346DA}"/>
              </a:ext>
            </a:extLst>
          </p:cNvPr>
          <p:cNvSpPr>
            <a:spLocks xmlns:a="http://schemas.openxmlformats.org/drawingml/2006/main" noGrp="1"/>
          </p:cNvSpPr>
          <p:nvPr/>
        </p:nvSpPr>
        <p:spPr>
          <a:xfrm xmlns:a="http://schemas.openxmlformats.org/drawingml/2006/main">
            <a:off x="800100" y="28765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5827"/>
                </a:solidFill>
                <a:latin typeface="Calibri"/>
                <a:ea typeface="Calibri"/>
                <a:cs typeface="Calibri"/>
              </a:defRPr>
            </a:defPPr>
            <a:lvl1pPr algn="l">
              <a:defRPr sz="2325" b="1">
                <a:solidFill>
                  <a:srgbClr val="B95827"/>
                </a:solidFill>
                <a:latin typeface="Calibri"/>
                <a:ea typeface="Calibri"/>
                <a:cs typeface="Calibri"/>
              </a:defRPr>
            </a:lvl1pPr>
            <a:lvl2pPr algn="l">
              <a:defRPr sz="2325" b="1">
                <a:solidFill>
                  <a:srgbClr val="B95827"/>
                </a:solidFill>
                <a:latin typeface="Calibri"/>
                <a:ea typeface="Calibri"/>
                <a:cs typeface="Calibri"/>
              </a:defRPr>
            </a:lvl2pPr>
            <a:lvl3pPr algn="l">
              <a:defRPr sz="2325" b="1">
                <a:solidFill>
                  <a:srgbClr val="B95827"/>
                </a:solidFill>
                <a:latin typeface="Calibri"/>
                <a:ea typeface="Calibri"/>
                <a:cs typeface="Calibri"/>
              </a:defRPr>
            </a:lvl3pPr>
            <a:lvl4pPr algn="l">
              <a:defRPr sz="2325" b="1">
                <a:solidFill>
                  <a:srgbClr val="B95827"/>
                </a:solidFill>
                <a:latin typeface="Calibri"/>
                <a:ea typeface="Calibri"/>
                <a:cs typeface="Calibri"/>
              </a:defRPr>
            </a:lvl4pPr>
            <a:lvl5pPr algn="l">
              <a:defRPr sz="2325" b="1">
                <a:solidFill>
                  <a:srgbClr val="B95827"/>
                </a:solidFill>
                <a:latin typeface="Calibri"/>
                <a:ea typeface="Calibri"/>
                <a:cs typeface="Calibri"/>
              </a:defRPr>
            </a:lvl5pPr>
            <a:lvl6pPr algn="l">
              <a:defRPr sz="2325" b="1">
                <a:solidFill>
                  <a:srgbClr val="B95827"/>
                </a:solidFill>
                <a:latin typeface="Calibri"/>
                <a:ea typeface="Calibri"/>
                <a:cs typeface="Calibri"/>
              </a:defRPr>
            </a:lvl6pPr>
            <a:lvl7pPr algn="l">
              <a:defRPr sz="2325" b="1">
                <a:solidFill>
                  <a:srgbClr val="B95827"/>
                </a:solidFill>
                <a:latin typeface="Calibri"/>
                <a:ea typeface="Calibri"/>
                <a:cs typeface="Calibri"/>
              </a:defRPr>
            </a:lvl7pPr>
            <a:lvl8pPr algn="l">
              <a:defRPr sz="2325" b="1">
                <a:solidFill>
                  <a:srgbClr val="B95827"/>
                </a:solidFill>
                <a:latin typeface="Calibri"/>
                <a:ea typeface="Calibri"/>
                <a:cs typeface="Calibri"/>
              </a:defRPr>
            </a:lvl8pPr>
            <a:lvl9pPr algn="l">
              <a:defRPr sz="2325" b="1">
                <a:solidFill>
                  <a:srgbClr val="B95827"/>
                </a:solidFill>
                <a:latin typeface="Calibri"/>
                <a:ea typeface="Calibri"/>
                <a:cs typeface="Calibri"/>
              </a:defRPr>
            </a:lvl9pPr>
          </a:lstStyle>
          <a:p xmlns:a="http://schemas.openxmlformats.org/drawingml/2006/main">
            <a:pPr algn="l">
              <a:defRPr sz="2325" b="1">
                <a:solidFill>
                  <a:srgbClr val="B95827"/>
                </a:solidFill>
                <a:latin typeface="Calibri"/>
                <a:ea typeface="Calibri"/>
                <a:cs typeface="Calibri"/>
              </a:defRPr>
            </a:pPr>
            <a:r>
              <a:rPr sz="2325" b="1">
                <a:solidFill>
                  <a:srgbClr val="B95827"/>
                </a:solidFill>
                <a:latin typeface="Calibri"/>
                <a:ea typeface="Calibri"/>
                <a:cs typeface="Calibri"/>
              </a:rPr>
              <a:t>02</a:t>
            </a:r>
          </a:p>
        </p:txBody>
      </p:sp>
      <p:sp>
        <p:nvSpPr>
          <p:cNvPr id="9" name="object-217">
            <a:extLst xmlns:a="http://schemas.openxmlformats.org/drawingml/2006/main">
              <a:ext uri="{FF2B5EF4-FFF2-40B4-BE49-F238E27FC236}">
                <a16:creationId xmlns:a16="http://schemas.microsoft.com/office/drawing/2014/main" id="{2AE54248-B38D-4A83-81BF-C608ABA57597}"/>
              </a:ext>
            </a:extLst>
          </p:cNvPr>
          <p:cNvSpPr>
            <a:spLocks xmlns:a="http://schemas.openxmlformats.org/drawingml/2006/main" noGrp="1"/>
          </p:cNvSpPr>
          <p:nvPr/>
        </p:nvSpPr>
        <p:spPr>
          <a:xfrm xmlns:a="http://schemas.openxmlformats.org/drawingml/2006/main">
            <a:off x="1524000" y="2876550"/>
            <a:ext cx="98488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000000"/>
                </a:solidFill>
                <a:latin typeface="Calibri"/>
                <a:ea typeface="Calibri"/>
                <a:cs typeface="Calibri"/>
              </a:defRPr>
            </a:defPPr>
            <a:lvl1pPr algn="l">
              <a:defRPr sz="2325" b="0">
                <a:solidFill>
                  <a:srgbClr val="000000"/>
                </a:solidFill>
                <a:latin typeface="Calibri"/>
                <a:ea typeface="Calibri"/>
                <a:cs typeface="Calibri"/>
              </a:defRPr>
            </a:lvl1pPr>
            <a:lvl2pPr algn="l">
              <a:defRPr sz="2325" b="0">
                <a:solidFill>
                  <a:srgbClr val="000000"/>
                </a:solidFill>
                <a:latin typeface="Calibri"/>
                <a:ea typeface="Calibri"/>
                <a:cs typeface="Calibri"/>
              </a:defRPr>
            </a:lvl2pPr>
            <a:lvl3pPr algn="l">
              <a:defRPr sz="2325" b="0">
                <a:solidFill>
                  <a:srgbClr val="000000"/>
                </a:solidFill>
                <a:latin typeface="Calibri"/>
                <a:ea typeface="Calibri"/>
                <a:cs typeface="Calibri"/>
              </a:defRPr>
            </a:lvl3pPr>
            <a:lvl4pPr algn="l">
              <a:defRPr sz="2325" b="0">
                <a:solidFill>
                  <a:srgbClr val="000000"/>
                </a:solidFill>
                <a:latin typeface="Calibri"/>
                <a:ea typeface="Calibri"/>
                <a:cs typeface="Calibri"/>
              </a:defRPr>
            </a:lvl4pPr>
            <a:lvl5pPr algn="l">
              <a:defRPr sz="2325" b="0">
                <a:solidFill>
                  <a:srgbClr val="000000"/>
                </a:solidFill>
                <a:latin typeface="Calibri"/>
                <a:ea typeface="Calibri"/>
                <a:cs typeface="Calibri"/>
              </a:defRPr>
            </a:lvl5pPr>
            <a:lvl6pPr algn="l">
              <a:defRPr sz="2325" b="0">
                <a:solidFill>
                  <a:srgbClr val="000000"/>
                </a:solidFill>
                <a:latin typeface="Calibri"/>
                <a:ea typeface="Calibri"/>
                <a:cs typeface="Calibri"/>
              </a:defRPr>
            </a:lvl6pPr>
            <a:lvl7pPr algn="l">
              <a:defRPr sz="2325" b="0">
                <a:solidFill>
                  <a:srgbClr val="000000"/>
                </a:solidFill>
                <a:latin typeface="Calibri"/>
                <a:ea typeface="Calibri"/>
                <a:cs typeface="Calibri"/>
              </a:defRPr>
            </a:lvl7pPr>
            <a:lvl8pPr algn="l">
              <a:defRPr sz="2325" b="0">
                <a:solidFill>
                  <a:srgbClr val="000000"/>
                </a:solidFill>
                <a:latin typeface="Calibri"/>
                <a:ea typeface="Calibri"/>
                <a:cs typeface="Calibri"/>
              </a:defRPr>
            </a:lvl8pPr>
            <a:lvl9pPr algn="l">
              <a:defRPr sz="2325" b="0">
                <a:solidFill>
                  <a:srgbClr val="000000"/>
                </a:solidFill>
                <a:latin typeface="Calibri"/>
                <a:ea typeface="Calibri"/>
                <a:cs typeface="Calibri"/>
              </a:defRPr>
            </a:lvl9pPr>
          </a:lstStyle>
          <a:p xmlns:a="http://schemas.openxmlformats.org/drawingml/2006/main">
            <a:pPr algn="l">
              <a:defRPr sz="2325" b="0">
                <a:solidFill>
                  <a:srgbClr val="000000"/>
                </a:solidFill>
                <a:latin typeface="Calibri"/>
                <a:ea typeface="Calibri"/>
                <a:cs typeface="Calibri"/>
              </a:defRPr>
            </a:pPr>
            <a:r>
              <a:rPr sz="2325" b="0">
                <a:solidFill>
                  <a:srgbClr val="000000"/>
                </a:solidFill>
                <a:latin typeface="Calibri"/>
                <a:ea typeface="Calibri"/>
                <a:cs typeface="Calibri"/>
              </a:rPr>
              <a:t>Perception results are useful, while steering reliability remains unresolved.</a:t>
            </a:r>
          </a:p>
        </p:txBody>
      </p:sp>
      <p:sp>
        <p:nvSpPr>
          <p:cNvPr id="10" name="object-218">
            <a:extLst xmlns:a="http://schemas.openxmlformats.org/drawingml/2006/main">
              <a:ext uri="{FF2B5EF4-FFF2-40B4-BE49-F238E27FC236}">
                <a16:creationId xmlns:a16="http://schemas.microsoft.com/office/drawing/2014/main" id="{09A8AF0C-E9F5-4180-8D2E-0344F7BB3406}"/>
              </a:ext>
            </a:extLst>
          </p:cNvPr>
          <p:cNvSpPr>
            <a:spLocks xmlns:a="http://schemas.openxmlformats.org/drawingml/2006/main" noGrp="1"/>
          </p:cNvSpPr>
          <p:nvPr/>
        </p:nvSpPr>
        <p:spPr>
          <a:xfrm xmlns:a="http://schemas.openxmlformats.org/drawingml/2006/main">
            <a:off x="800100" y="393382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B95827"/>
                </a:solidFill>
                <a:latin typeface="Calibri"/>
                <a:ea typeface="Calibri"/>
                <a:cs typeface="Calibri"/>
              </a:defRPr>
            </a:defPPr>
            <a:lvl1pPr algn="l">
              <a:defRPr sz="2325" b="1">
                <a:solidFill>
                  <a:srgbClr val="B95827"/>
                </a:solidFill>
                <a:latin typeface="Calibri"/>
                <a:ea typeface="Calibri"/>
                <a:cs typeface="Calibri"/>
              </a:defRPr>
            </a:lvl1pPr>
            <a:lvl2pPr algn="l">
              <a:defRPr sz="2325" b="1">
                <a:solidFill>
                  <a:srgbClr val="B95827"/>
                </a:solidFill>
                <a:latin typeface="Calibri"/>
                <a:ea typeface="Calibri"/>
                <a:cs typeface="Calibri"/>
              </a:defRPr>
            </a:lvl2pPr>
            <a:lvl3pPr algn="l">
              <a:defRPr sz="2325" b="1">
                <a:solidFill>
                  <a:srgbClr val="B95827"/>
                </a:solidFill>
                <a:latin typeface="Calibri"/>
                <a:ea typeface="Calibri"/>
                <a:cs typeface="Calibri"/>
              </a:defRPr>
            </a:lvl3pPr>
            <a:lvl4pPr algn="l">
              <a:defRPr sz="2325" b="1">
                <a:solidFill>
                  <a:srgbClr val="B95827"/>
                </a:solidFill>
                <a:latin typeface="Calibri"/>
                <a:ea typeface="Calibri"/>
                <a:cs typeface="Calibri"/>
              </a:defRPr>
            </a:lvl4pPr>
            <a:lvl5pPr algn="l">
              <a:defRPr sz="2325" b="1">
                <a:solidFill>
                  <a:srgbClr val="B95827"/>
                </a:solidFill>
                <a:latin typeface="Calibri"/>
                <a:ea typeface="Calibri"/>
                <a:cs typeface="Calibri"/>
              </a:defRPr>
            </a:lvl5pPr>
            <a:lvl6pPr algn="l">
              <a:defRPr sz="2325" b="1">
                <a:solidFill>
                  <a:srgbClr val="B95827"/>
                </a:solidFill>
                <a:latin typeface="Calibri"/>
                <a:ea typeface="Calibri"/>
                <a:cs typeface="Calibri"/>
              </a:defRPr>
            </a:lvl6pPr>
            <a:lvl7pPr algn="l">
              <a:defRPr sz="2325" b="1">
                <a:solidFill>
                  <a:srgbClr val="B95827"/>
                </a:solidFill>
                <a:latin typeface="Calibri"/>
                <a:ea typeface="Calibri"/>
                <a:cs typeface="Calibri"/>
              </a:defRPr>
            </a:lvl7pPr>
            <a:lvl8pPr algn="l">
              <a:defRPr sz="2325" b="1">
                <a:solidFill>
                  <a:srgbClr val="B95827"/>
                </a:solidFill>
                <a:latin typeface="Calibri"/>
                <a:ea typeface="Calibri"/>
                <a:cs typeface="Calibri"/>
              </a:defRPr>
            </a:lvl8pPr>
            <a:lvl9pPr algn="l">
              <a:defRPr sz="2325" b="1">
                <a:solidFill>
                  <a:srgbClr val="B95827"/>
                </a:solidFill>
                <a:latin typeface="Calibri"/>
                <a:ea typeface="Calibri"/>
                <a:cs typeface="Calibri"/>
              </a:defRPr>
            </a:lvl9pPr>
          </a:lstStyle>
          <a:p xmlns:a="http://schemas.openxmlformats.org/drawingml/2006/main">
            <a:pPr algn="l">
              <a:defRPr sz="2325" b="1">
                <a:solidFill>
                  <a:srgbClr val="B95827"/>
                </a:solidFill>
                <a:latin typeface="Calibri"/>
                <a:ea typeface="Calibri"/>
                <a:cs typeface="Calibri"/>
              </a:defRPr>
            </a:pPr>
            <a:r>
              <a:rPr sz="2325" b="1">
                <a:solidFill>
                  <a:srgbClr val="B95827"/>
                </a:solidFill>
                <a:latin typeface="Calibri"/>
                <a:ea typeface="Calibri"/>
                <a:cs typeface="Calibri"/>
              </a:rPr>
              <a:t>03</a:t>
            </a:r>
          </a:p>
        </p:txBody>
      </p:sp>
      <p:sp>
        <p:nvSpPr>
          <p:cNvPr id="11" name="object-219">
            <a:extLst xmlns:a="http://schemas.openxmlformats.org/drawingml/2006/main">
              <a:ext uri="{FF2B5EF4-FFF2-40B4-BE49-F238E27FC236}">
                <a16:creationId xmlns:a16="http://schemas.microsoft.com/office/drawing/2014/main" id="{3DF287CC-6F7B-44CB-8AA1-A6FF4496077F}"/>
              </a:ext>
            </a:extLst>
          </p:cNvPr>
          <p:cNvSpPr>
            <a:spLocks xmlns:a="http://schemas.openxmlformats.org/drawingml/2006/main" noGrp="1"/>
          </p:cNvSpPr>
          <p:nvPr/>
        </p:nvSpPr>
        <p:spPr>
          <a:xfrm xmlns:a="http://schemas.openxmlformats.org/drawingml/2006/main">
            <a:off x="1524000" y="3933825"/>
            <a:ext cx="98488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000000"/>
                </a:solidFill>
                <a:latin typeface="Calibri"/>
                <a:ea typeface="Calibri"/>
                <a:cs typeface="Calibri"/>
              </a:defRPr>
            </a:defPPr>
            <a:lvl1pPr algn="l">
              <a:defRPr sz="2325" b="0">
                <a:solidFill>
                  <a:srgbClr val="000000"/>
                </a:solidFill>
                <a:latin typeface="Calibri"/>
                <a:ea typeface="Calibri"/>
                <a:cs typeface="Calibri"/>
              </a:defRPr>
            </a:lvl1pPr>
            <a:lvl2pPr algn="l">
              <a:defRPr sz="2325" b="0">
                <a:solidFill>
                  <a:srgbClr val="000000"/>
                </a:solidFill>
                <a:latin typeface="Calibri"/>
                <a:ea typeface="Calibri"/>
                <a:cs typeface="Calibri"/>
              </a:defRPr>
            </a:lvl2pPr>
            <a:lvl3pPr algn="l">
              <a:defRPr sz="2325" b="0">
                <a:solidFill>
                  <a:srgbClr val="000000"/>
                </a:solidFill>
                <a:latin typeface="Calibri"/>
                <a:ea typeface="Calibri"/>
                <a:cs typeface="Calibri"/>
              </a:defRPr>
            </a:lvl3pPr>
            <a:lvl4pPr algn="l">
              <a:defRPr sz="2325" b="0">
                <a:solidFill>
                  <a:srgbClr val="000000"/>
                </a:solidFill>
                <a:latin typeface="Calibri"/>
                <a:ea typeface="Calibri"/>
                <a:cs typeface="Calibri"/>
              </a:defRPr>
            </a:lvl4pPr>
            <a:lvl5pPr algn="l">
              <a:defRPr sz="2325" b="0">
                <a:solidFill>
                  <a:srgbClr val="000000"/>
                </a:solidFill>
                <a:latin typeface="Calibri"/>
                <a:ea typeface="Calibri"/>
                <a:cs typeface="Calibri"/>
              </a:defRPr>
            </a:lvl5pPr>
            <a:lvl6pPr algn="l">
              <a:defRPr sz="2325" b="0">
                <a:solidFill>
                  <a:srgbClr val="000000"/>
                </a:solidFill>
                <a:latin typeface="Calibri"/>
                <a:ea typeface="Calibri"/>
                <a:cs typeface="Calibri"/>
              </a:defRPr>
            </a:lvl6pPr>
            <a:lvl7pPr algn="l">
              <a:defRPr sz="2325" b="0">
                <a:solidFill>
                  <a:srgbClr val="000000"/>
                </a:solidFill>
                <a:latin typeface="Calibri"/>
                <a:ea typeface="Calibri"/>
                <a:cs typeface="Calibri"/>
              </a:defRPr>
            </a:lvl7pPr>
            <a:lvl8pPr algn="l">
              <a:defRPr sz="2325" b="0">
                <a:solidFill>
                  <a:srgbClr val="000000"/>
                </a:solidFill>
                <a:latin typeface="Calibri"/>
                <a:ea typeface="Calibri"/>
                <a:cs typeface="Calibri"/>
              </a:defRPr>
            </a:lvl8pPr>
            <a:lvl9pPr algn="l">
              <a:defRPr sz="2325" b="0">
                <a:solidFill>
                  <a:srgbClr val="000000"/>
                </a:solidFill>
                <a:latin typeface="Calibri"/>
                <a:ea typeface="Calibri"/>
                <a:cs typeface="Calibri"/>
              </a:defRPr>
            </a:lvl9pPr>
          </a:lstStyle>
          <a:p xmlns:a="http://schemas.openxmlformats.org/drawingml/2006/main">
            <a:pPr algn="l">
              <a:defRPr sz="2325" b="0">
                <a:solidFill>
                  <a:srgbClr val="000000"/>
                </a:solidFill>
                <a:latin typeface="Calibri"/>
                <a:ea typeface="Calibri"/>
                <a:cs typeface="Calibri"/>
              </a:defRPr>
            </a:pPr>
            <a:r>
              <a:rPr sz="2325" b="0">
                <a:solidFill>
                  <a:srgbClr val="000000"/>
                </a:solidFill>
                <a:latin typeface="Calibri"/>
                <a:ea typeface="Calibri"/>
                <a:cs typeface="Calibri"/>
              </a:rPr>
              <a:t>The implementation and experiment artifacts support reproducibility.</a:t>
            </a:r>
          </a:p>
        </p:txBody>
      </p:sp>
      <p:sp>
        <p:nvSpPr>
          <p:cNvPr id="12" name="object-220">
            <a:extLst xmlns:a="http://schemas.openxmlformats.org/drawingml/2006/main">
              <a:ext uri="{FF2B5EF4-FFF2-40B4-BE49-F238E27FC236}">
                <a16:creationId xmlns:a16="http://schemas.microsoft.com/office/drawing/2014/main" id="{1392274F-3F1A-43F8-B2E0-871C7C3BCBFC}"/>
              </a:ext>
            </a:extLst>
          </p:cNvPr>
          <p:cNvSpPr>
            <a:spLocks xmlns:a="http://schemas.openxmlformats.org/drawingml/2006/main" noGrp="1"/>
          </p:cNvSpPr>
          <p:nvPr/>
        </p:nvSpPr>
        <p:spPr>
          <a:xfrm xmlns:a="http://schemas.openxmlformats.org/drawingml/2006/main">
            <a:off x="685800" y="5238750"/>
            <a:ext cx="108204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000000"/>
                </a:solidFill>
                <a:latin typeface="Calibri"/>
                <a:ea typeface="Calibri"/>
                <a:cs typeface="Calibri"/>
              </a:defRPr>
            </a:defPPr>
            <a:lvl1pPr algn="l">
              <a:defRPr sz="3000" b="1">
                <a:solidFill>
                  <a:srgbClr val="000000"/>
                </a:solidFill>
                <a:latin typeface="Calibri"/>
                <a:ea typeface="Calibri"/>
                <a:cs typeface="Calibri"/>
              </a:defRPr>
            </a:lvl1pPr>
            <a:lvl2pPr algn="l">
              <a:defRPr sz="3000" b="1">
                <a:solidFill>
                  <a:srgbClr val="000000"/>
                </a:solidFill>
                <a:latin typeface="Calibri"/>
                <a:ea typeface="Calibri"/>
                <a:cs typeface="Calibri"/>
              </a:defRPr>
            </a:lvl2pPr>
            <a:lvl3pPr algn="l">
              <a:defRPr sz="3000" b="1">
                <a:solidFill>
                  <a:srgbClr val="000000"/>
                </a:solidFill>
                <a:latin typeface="Calibri"/>
                <a:ea typeface="Calibri"/>
                <a:cs typeface="Calibri"/>
              </a:defRPr>
            </a:lvl3pPr>
            <a:lvl4pPr algn="l">
              <a:defRPr sz="3000" b="1">
                <a:solidFill>
                  <a:srgbClr val="000000"/>
                </a:solidFill>
                <a:latin typeface="Calibri"/>
                <a:ea typeface="Calibri"/>
                <a:cs typeface="Calibri"/>
              </a:defRPr>
            </a:lvl4pPr>
            <a:lvl5pPr algn="l">
              <a:defRPr sz="3000" b="1">
                <a:solidFill>
                  <a:srgbClr val="000000"/>
                </a:solidFill>
                <a:latin typeface="Calibri"/>
                <a:ea typeface="Calibri"/>
                <a:cs typeface="Calibri"/>
              </a:defRPr>
            </a:lvl5pPr>
            <a:lvl6pPr algn="l">
              <a:defRPr sz="3000" b="1">
                <a:solidFill>
                  <a:srgbClr val="000000"/>
                </a:solidFill>
                <a:latin typeface="Calibri"/>
                <a:ea typeface="Calibri"/>
                <a:cs typeface="Calibri"/>
              </a:defRPr>
            </a:lvl6pPr>
            <a:lvl7pPr algn="l">
              <a:defRPr sz="3000" b="1">
                <a:solidFill>
                  <a:srgbClr val="000000"/>
                </a:solidFill>
                <a:latin typeface="Calibri"/>
                <a:ea typeface="Calibri"/>
                <a:cs typeface="Calibri"/>
              </a:defRPr>
            </a:lvl7pPr>
            <a:lvl8pPr algn="l">
              <a:defRPr sz="3000" b="1">
                <a:solidFill>
                  <a:srgbClr val="000000"/>
                </a:solidFill>
                <a:latin typeface="Calibri"/>
                <a:ea typeface="Calibri"/>
                <a:cs typeface="Calibri"/>
              </a:defRPr>
            </a:lvl8pPr>
            <a:lvl9pPr algn="l">
              <a:defRPr sz="3000" b="1">
                <a:solidFill>
                  <a:srgbClr val="000000"/>
                </a:solidFill>
                <a:latin typeface="Calibri"/>
                <a:ea typeface="Calibri"/>
                <a:cs typeface="Calibri"/>
              </a:defRPr>
            </a:lvl9pPr>
          </a:lstStyle>
          <a:p xmlns:a="http://schemas.openxmlformats.org/drawingml/2006/main">
            <a:pPr algn="l">
              <a:defRPr sz="3000" b="1">
                <a:solidFill>
                  <a:srgbClr val="000000"/>
                </a:solidFill>
                <a:latin typeface="Calibri"/>
                <a:ea typeface="Calibri"/>
                <a:cs typeface="Calibri"/>
              </a:defRPr>
            </a:pPr>
            <a:r>
              <a:rPr sz="3000" b="1">
                <a:solidFill>
                  <a:srgbClr val="000000"/>
                </a:solidFill>
                <a:latin typeface="Calibri"/>
                <a:ea typeface="Calibri"/>
                <a:cs typeface="Calibri"/>
                <a:hlinkClick xmlns:r="http://schemas.openxmlformats.org/officeDocument/2006/relationships" r:id="R479e723a214b4292"/>
              </a:rPr>
              <a:t>github.com/HA2345567/Autodrive</a:t>
            </a:r>
          </a:p>
        </p:txBody>
      </p:sp>
      <p:sp>
        <p:nvSpPr>
          <p:cNvPr id="13" name="object-221">
            <a:extLst xmlns:a="http://schemas.openxmlformats.org/drawingml/2006/main">
              <a:ext uri="{FF2B5EF4-FFF2-40B4-BE49-F238E27FC236}">
                <a16:creationId xmlns:a16="http://schemas.microsoft.com/office/drawing/2014/main" id="{28AE97A0-334F-4744-AD8A-2A776F6449D1}"/>
              </a:ext>
            </a:extLst>
          </p:cNvPr>
          <p:cNvSpPr>
            <a:spLocks xmlns:a="http://schemas.openxmlformats.org/drawingml/2006/main" noGrp="1"/>
          </p:cNvSpPr>
          <p:nvPr/>
        </p:nvSpPr>
        <p:spPr>
          <a:xfrm xmlns:a="http://schemas.openxmlformats.org/drawingml/2006/main">
            <a:off x="685800" y="5924550"/>
            <a:ext cx="108204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000000"/>
                </a:solidFill>
                <a:latin typeface="Calibri"/>
                <a:ea typeface="Calibri"/>
                <a:cs typeface="Calibri"/>
              </a:defRPr>
            </a:defPPr>
            <a:lvl1pPr algn="l">
              <a:defRPr sz="2175" b="0">
                <a:solidFill>
                  <a:srgbClr val="000000"/>
                </a:solidFill>
                <a:latin typeface="Calibri"/>
                <a:ea typeface="Calibri"/>
                <a:cs typeface="Calibri"/>
              </a:defRPr>
            </a:lvl1pPr>
            <a:lvl2pPr algn="l">
              <a:defRPr sz="2175" b="0">
                <a:solidFill>
                  <a:srgbClr val="000000"/>
                </a:solidFill>
                <a:latin typeface="Calibri"/>
                <a:ea typeface="Calibri"/>
                <a:cs typeface="Calibri"/>
              </a:defRPr>
            </a:lvl2pPr>
            <a:lvl3pPr algn="l">
              <a:defRPr sz="2175" b="0">
                <a:solidFill>
                  <a:srgbClr val="000000"/>
                </a:solidFill>
                <a:latin typeface="Calibri"/>
                <a:ea typeface="Calibri"/>
                <a:cs typeface="Calibri"/>
              </a:defRPr>
            </a:lvl3pPr>
            <a:lvl4pPr algn="l">
              <a:defRPr sz="2175" b="0">
                <a:solidFill>
                  <a:srgbClr val="000000"/>
                </a:solidFill>
                <a:latin typeface="Calibri"/>
                <a:ea typeface="Calibri"/>
                <a:cs typeface="Calibri"/>
              </a:defRPr>
            </a:lvl4pPr>
            <a:lvl5pPr algn="l">
              <a:defRPr sz="2175" b="0">
                <a:solidFill>
                  <a:srgbClr val="000000"/>
                </a:solidFill>
                <a:latin typeface="Calibri"/>
                <a:ea typeface="Calibri"/>
                <a:cs typeface="Calibri"/>
              </a:defRPr>
            </a:lvl5pPr>
            <a:lvl6pPr algn="l">
              <a:defRPr sz="2175" b="0">
                <a:solidFill>
                  <a:srgbClr val="000000"/>
                </a:solidFill>
                <a:latin typeface="Calibri"/>
                <a:ea typeface="Calibri"/>
                <a:cs typeface="Calibri"/>
              </a:defRPr>
            </a:lvl6pPr>
            <a:lvl7pPr algn="l">
              <a:defRPr sz="2175" b="0">
                <a:solidFill>
                  <a:srgbClr val="000000"/>
                </a:solidFill>
                <a:latin typeface="Calibri"/>
                <a:ea typeface="Calibri"/>
                <a:cs typeface="Calibri"/>
              </a:defRPr>
            </a:lvl7pPr>
            <a:lvl8pPr algn="l">
              <a:defRPr sz="2175" b="0">
                <a:solidFill>
                  <a:srgbClr val="000000"/>
                </a:solidFill>
                <a:latin typeface="Calibri"/>
                <a:ea typeface="Calibri"/>
                <a:cs typeface="Calibri"/>
              </a:defRPr>
            </a:lvl8pPr>
            <a:lvl9pPr algn="l">
              <a:defRPr sz="2175" b="0">
                <a:solidFill>
                  <a:srgbClr val="000000"/>
                </a:solidFill>
                <a:latin typeface="Calibri"/>
                <a:ea typeface="Calibri"/>
                <a:cs typeface="Calibri"/>
              </a:defRPr>
            </a:lvl9pPr>
          </a:lstStyle>
          <a:p xmlns:a="http://schemas.openxmlformats.org/drawingml/2006/main">
            <a:pPr algn="l">
              <a:defRPr sz="2175" b="0">
                <a:solidFill>
                  <a:srgbClr val="000000"/>
                </a:solidFill>
                <a:latin typeface="Calibri"/>
                <a:ea typeface="Calibri"/>
                <a:cs typeface="Calibri"/>
              </a:defRPr>
            </a:pPr>
            <a:r>
              <a:rPr sz="2175" b="0">
                <a:solidFill>
                  <a:srgbClr val="000000"/>
                </a:solidFill>
                <a:latin typeface="Calibri"/>
                <a:ea typeface="Calibri"/>
                <a:cs typeface="Calibri"/>
              </a:rPr>
              <a:t>Thank you. Questions are welcome.</a:t>
            </a:r>
          </a:p>
        </p:txBody>
      </p:sp>
    </p:spTree>
    <p:extLst>
      <p:ext uri="{BB962C8B-B14F-4D97-AF65-F5344CB8AC3E}">
        <p14:creationId xmlns:p14="http://schemas.microsoft.com/office/powerpoint/2010/main" val="121514163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object-222">
            <a:extLst xmlns:a="http://schemas.openxmlformats.org/drawingml/2006/main">
              <a:ext uri="{FF2B5EF4-FFF2-40B4-BE49-F238E27FC236}">
                <a16:creationId xmlns:a16="http://schemas.microsoft.com/office/drawing/2014/main" id="{C121B661-3DA0-4FBA-ABD7-2FA82B457CED}"/>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23">
            <a:extLst xmlns:a="http://schemas.openxmlformats.org/drawingml/2006/main">
              <a:ext uri="{FF2B5EF4-FFF2-40B4-BE49-F238E27FC236}">
                <a16:creationId xmlns:a16="http://schemas.microsoft.com/office/drawing/2014/main" id="{1BB767AB-3E4B-4DEB-9289-FAA5A438BCF5}"/>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24">
            <a:extLst xmlns:a="http://schemas.openxmlformats.org/drawingml/2006/main">
              <a:ext uri="{FF2B5EF4-FFF2-40B4-BE49-F238E27FC236}">
                <a16:creationId xmlns:a16="http://schemas.microsoft.com/office/drawing/2014/main" id="{CEC3C81C-AAD9-4B27-94BB-9154AED7C84D}"/>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References</a:t>
            </a:r>
          </a:p>
        </p:txBody>
      </p:sp>
      <p:sp>
        <p:nvSpPr>
          <p:cNvPr id="4" name="object-225">
            <a:extLst xmlns:a="http://schemas.openxmlformats.org/drawingml/2006/main">
              <a:ext uri="{FF2B5EF4-FFF2-40B4-BE49-F238E27FC236}">
                <a16:creationId xmlns:a16="http://schemas.microsoft.com/office/drawing/2014/main" id="{D6C6DD24-6F67-486F-8E82-2ED2D94AE209}"/>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26">
            <a:extLst xmlns:a="http://schemas.openxmlformats.org/drawingml/2006/main">
              <a:ext uri="{FF2B5EF4-FFF2-40B4-BE49-F238E27FC236}">
                <a16:creationId xmlns:a16="http://schemas.microsoft.com/office/drawing/2014/main" id="{EE51D2FB-76AC-46B4-9B32-9D4618240623}"/>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23</a:t>
            </a:r>
          </a:p>
        </p:txBody>
      </p:sp>
      <p:sp>
        <p:nvSpPr>
          <p:cNvPr id="6" name="object-227">
            <a:extLst xmlns:a="http://schemas.openxmlformats.org/drawingml/2006/main">
              <a:ext uri="{FF2B5EF4-FFF2-40B4-BE49-F238E27FC236}">
                <a16:creationId xmlns:a16="http://schemas.microsoft.com/office/drawing/2014/main" id="{86C64096-8176-481E-B38E-436F0BA71787}"/>
              </a:ext>
            </a:extLst>
          </p:cNvPr>
          <p:cNvSpPr>
            <a:spLocks xmlns:a="http://schemas.openxmlformats.org/drawingml/2006/main" noGrp="1"/>
          </p:cNvSpPr>
          <p:nvPr/>
        </p:nvSpPr>
        <p:spPr>
          <a:xfrm xmlns:a="http://schemas.openxmlformats.org/drawingml/2006/main">
            <a:off x="685800" y="16573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[1]  Bojarski et al. End to End Learning for Self-Driving Cars. arXiv:1604.07316, 2016.</a:t>
            </a:r>
          </a:p>
        </p:txBody>
      </p:sp>
      <p:sp>
        <p:nvSpPr>
          <p:cNvPr id="7" name="object-228">
            <a:extLst xmlns:a="http://schemas.openxmlformats.org/drawingml/2006/main">
              <a:ext uri="{FF2B5EF4-FFF2-40B4-BE49-F238E27FC236}">
                <a16:creationId xmlns:a16="http://schemas.microsoft.com/office/drawing/2014/main" id="{00E889B3-9E29-4004-8722-017B4B31FE00}"/>
              </a:ext>
            </a:extLst>
          </p:cNvPr>
          <p:cNvSpPr>
            <a:spLocks xmlns:a="http://schemas.openxmlformats.org/drawingml/2006/main" noGrp="1"/>
          </p:cNvSpPr>
          <p:nvPr/>
        </p:nvSpPr>
        <p:spPr>
          <a:xfrm xmlns:a="http://schemas.openxmlformats.org/drawingml/2006/main">
            <a:off x="685800" y="237172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[2]  Jocher and Qiu. Ultralytics YOLO11. Ultralytics repository, 2024.</a:t>
            </a:r>
          </a:p>
        </p:txBody>
      </p:sp>
      <p:sp>
        <p:nvSpPr>
          <p:cNvPr id="8" name="object-229">
            <a:extLst xmlns:a="http://schemas.openxmlformats.org/drawingml/2006/main">
              <a:ext uri="{FF2B5EF4-FFF2-40B4-BE49-F238E27FC236}">
                <a16:creationId xmlns:a16="http://schemas.microsoft.com/office/drawing/2014/main" id="{FC69A9BC-FD9A-4ED4-93C2-1FEABAB7E1ED}"/>
              </a:ext>
            </a:extLst>
          </p:cNvPr>
          <p:cNvSpPr>
            <a:spLocks xmlns:a="http://schemas.openxmlformats.org/drawingml/2006/main" noGrp="1"/>
          </p:cNvSpPr>
          <p:nvPr/>
        </p:nvSpPr>
        <p:spPr>
          <a:xfrm xmlns:a="http://schemas.openxmlformats.org/drawingml/2006/main">
            <a:off x="685800" y="308610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[3]  TuSimple. TuSimple Lane Detection Benchmark. Dataset and evaluation code, 2017.</a:t>
            </a:r>
          </a:p>
        </p:txBody>
      </p:sp>
      <p:sp>
        <p:nvSpPr>
          <p:cNvPr id="9" name="object-230">
            <a:extLst xmlns:a="http://schemas.openxmlformats.org/drawingml/2006/main">
              <a:ext uri="{FF2B5EF4-FFF2-40B4-BE49-F238E27FC236}">
                <a16:creationId xmlns:a16="http://schemas.microsoft.com/office/drawing/2014/main" id="{FBAEEB4F-72F7-4BB6-93BE-FA9C64A90E9C}"/>
              </a:ext>
            </a:extLst>
          </p:cNvPr>
          <p:cNvSpPr>
            <a:spLocks xmlns:a="http://schemas.openxmlformats.org/drawingml/2006/main" noGrp="1"/>
          </p:cNvSpPr>
          <p:nvPr/>
        </p:nvSpPr>
        <p:spPr>
          <a:xfrm xmlns:a="http://schemas.openxmlformats.org/drawingml/2006/main">
            <a:off x="685800" y="380047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[4]  Lin et al. Microsoft COCO: Common Objects in Context. ECCV, 2014.</a:t>
            </a:r>
          </a:p>
        </p:txBody>
      </p:sp>
      <p:sp>
        <p:nvSpPr>
          <p:cNvPr id="10" name="object-231">
            <a:extLst xmlns:a="http://schemas.openxmlformats.org/drawingml/2006/main">
              <a:ext uri="{FF2B5EF4-FFF2-40B4-BE49-F238E27FC236}">
                <a16:creationId xmlns:a16="http://schemas.microsoft.com/office/drawing/2014/main" id="{15053564-1367-4C67-80D0-F2FE6521734C}"/>
              </a:ext>
            </a:extLst>
          </p:cNvPr>
          <p:cNvSpPr>
            <a:spLocks xmlns:a="http://schemas.openxmlformats.org/drawingml/2006/main" noGrp="1"/>
          </p:cNvSpPr>
          <p:nvPr/>
        </p:nvSpPr>
        <p:spPr>
          <a:xfrm xmlns:a="http://schemas.openxmlformats.org/drawingml/2006/main">
            <a:off x="685800" y="45148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[5]  Neven et al. Towards End-to-End Lane Detection: An Instance Segmentation Approach. IV, 2018.</a:t>
            </a:r>
          </a:p>
        </p:txBody>
      </p:sp>
      <p:sp>
        <p:nvSpPr>
          <p:cNvPr id="11" name="object-232">
            <a:extLst xmlns:a="http://schemas.openxmlformats.org/drawingml/2006/main">
              <a:ext uri="{FF2B5EF4-FFF2-40B4-BE49-F238E27FC236}">
                <a16:creationId xmlns:a16="http://schemas.microsoft.com/office/drawing/2014/main" id="{D2591942-1344-463D-8053-5390E98A488C}"/>
              </a:ext>
            </a:extLst>
          </p:cNvPr>
          <p:cNvSpPr>
            <a:spLocks xmlns:a="http://schemas.openxmlformats.org/drawingml/2006/main" noGrp="1"/>
          </p:cNvSpPr>
          <p:nvPr/>
        </p:nvSpPr>
        <p:spPr>
          <a:xfrm xmlns:a="http://schemas.openxmlformats.org/drawingml/2006/main">
            <a:off x="685800" y="5229225"/>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000000"/>
                </a:solidFill>
                <a:latin typeface="Calibri"/>
                <a:ea typeface="Calibri"/>
                <a:cs typeface="Calibri"/>
              </a:defRPr>
            </a:defPPr>
            <a:lvl1pPr algn="l">
              <a:defRPr sz="1950" b="0">
                <a:solidFill>
                  <a:srgbClr val="000000"/>
                </a:solidFill>
                <a:latin typeface="Calibri"/>
                <a:ea typeface="Calibri"/>
                <a:cs typeface="Calibri"/>
              </a:defRPr>
            </a:lvl1pPr>
            <a:lvl2pPr algn="l">
              <a:defRPr sz="1950" b="0">
                <a:solidFill>
                  <a:srgbClr val="000000"/>
                </a:solidFill>
                <a:latin typeface="Calibri"/>
                <a:ea typeface="Calibri"/>
                <a:cs typeface="Calibri"/>
              </a:defRPr>
            </a:lvl2pPr>
            <a:lvl3pPr algn="l">
              <a:defRPr sz="1950" b="0">
                <a:solidFill>
                  <a:srgbClr val="000000"/>
                </a:solidFill>
                <a:latin typeface="Calibri"/>
                <a:ea typeface="Calibri"/>
                <a:cs typeface="Calibri"/>
              </a:defRPr>
            </a:lvl3pPr>
            <a:lvl4pPr algn="l">
              <a:defRPr sz="1950" b="0">
                <a:solidFill>
                  <a:srgbClr val="000000"/>
                </a:solidFill>
                <a:latin typeface="Calibri"/>
                <a:ea typeface="Calibri"/>
                <a:cs typeface="Calibri"/>
              </a:defRPr>
            </a:lvl4pPr>
            <a:lvl5pPr algn="l">
              <a:defRPr sz="1950" b="0">
                <a:solidFill>
                  <a:srgbClr val="000000"/>
                </a:solidFill>
                <a:latin typeface="Calibri"/>
                <a:ea typeface="Calibri"/>
                <a:cs typeface="Calibri"/>
              </a:defRPr>
            </a:lvl5pPr>
            <a:lvl6pPr algn="l">
              <a:defRPr sz="1950" b="0">
                <a:solidFill>
                  <a:srgbClr val="000000"/>
                </a:solidFill>
                <a:latin typeface="Calibri"/>
                <a:ea typeface="Calibri"/>
                <a:cs typeface="Calibri"/>
              </a:defRPr>
            </a:lvl6pPr>
            <a:lvl7pPr algn="l">
              <a:defRPr sz="1950" b="0">
                <a:solidFill>
                  <a:srgbClr val="000000"/>
                </a:solidFill>
                <a:latin typeface="Calibri"/>
                <a:ea typeface="Calibri"/>
                <a:cs typeface="Calibri"/>
              </a:defRPr>
            </a:lvl7pPr>
            <a:lvl8pPr algn="l">
              <a:defRPr sz="1950" b="0">
                <a:solidFill>
                  <a:srgbClr val="000000"/>
                </a:solidFill>
                <a:latin typeface="Calibri"/>
                <a:ea typeface="Calibri"/>
                <a:cs typeface="Calibri"/>
              </a:defRPr>
            </a:lvl8pPr>
            <a:lvl9pPr algn="l">
              <a:defRPr sz="1950" b="0">
                <a:solidFill>
                  <a:srgbClr val="000000"/>
                </a:solidFill>
                <a:latin typeface="Calibri"/>
                <a:ea typeface="Calibri"/>
                <a:cs typeface="Calibri"/>
              </a:defRPr>
            </a:lvl9pPr>
          </a:lstStyle>
          <a:p xmlns:a="http://schemas.openxmlformats.org/drawingml/2006/main">
            <a:pPr algn="l">
              <a:defRPr sz="1950" b="0">
                <a:solidFill>
                  <a:srgbClr val="000000"/>
                </a:solidFill>
                <a:latin typeface="Calibri"/>
                <a:ea typeface="Calibri"/>
                <a:cs typeface="Calibri"/>
              </a:defRPr>
            </a:pPr>
            <a:r>
              <a:rPr sz="1950" b="0">
                <a:solidFill>
                  <a:srgbClr val="000000"/>
                </a:solidFill>
                <a:latin typeface="Calibri"/>
                <a:ea typeface="Calibri"/>
                <a:cs typeface="Calibri"/>
              </a:rPr>
              <a:t>[6]  AutoDrive Research Team. AutoDrive research paper and implementation repository.</a:t>
            </a:r>
          </a:p>
        </p:txBody>
      </p:sp>
    </p:spTree>
    <p:extLst>
      <p:ext uri="{BB962C8B-B14F-4D97-AF65-F5344CB8AC3E}">
        <p14:creationId xmlns:p14="http://schemas.microsoft.com/office/powerpoint/2010/main" val="82289799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33">
            <a:extLst xmlns:a="http://schemas.openxmlformats.org/drawingml/2006/main">
              <a:ext uri="{FF2B5EF4-FFF2-40B4-BE49-F238E27FC236}">
                <a16:creationId xmlns:a16="http://schemas.microsoft.com/office/drawing/2014/main" id="{00FF9231-E424-4B90-88B6-D7EDE7A78B80}"/>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34">
            <a:extLst xmlns:a="http://schemas.openxmlformats.org/drawingml/2006/main">
              <a:ext uri="{FF2B5EF4-FFF2-40B4-BE49-F238E27FC236}">
                <a16:creationId xmlns:a16="http://schemas.microsoft.com/office/drawing/2014/main" id="{9F772D6C-8988-4967-BD72-7CFE21607C1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35">
            <a:extLst xmlns:a="http://schemas.openxmlformats.org/drawingml/2006/main">
              <a:ext uri="{FF2B5EF4-FFF2-40B4-BE49-F238E27FC236}">
                <a16:creationId xmlns:a16="http://schemas.microsoft.com/office/drawing/2014/main" id="{A696CF8E-0B21-4A4C-9B15-DBD1009EB347}"/>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A  COCO-10 dataset counts</a:t>
            </a:r>
          </a:p>
        </p:txBody>
      </p:sp>
      <p:sp>
        <p:nvSpPr>
          <p:cNvPr id="4" name="object-236">
            <a:extLst xmlns:a="http://schemas.openxmlformats.org/drawingml/2006/main">
              <a:ext uri="{FF2B5EF4-FFF2-40B4-BE49-F238E27FC236}">
                <a16:creationId xmlns:a16="http://schemas.microsoft.com/office/drawing/2014/main" id="{AAF6439A-4DE7-4224-8F94-AA0816082635}"/>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37">
            <a:extLst xmlns:a="http://schemas.openxmlformats.org/drawingml/2006/main">
              <a:ext uri="{FF2B5EF4-FFF2-40B4-BE49-F238E27FC236}">
                <a16:creationId xmlns:a16="http://schemas.microsoft.com/office/drawing/2014/main" id="{5A621D37-6DB3-49BA-9C85-4305B4A4DF20}"/>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Instances per class. Image split: 8,080 train / 975 validation / 525 test</a:t>
            </a:r>
          </a:p>
        </p:txBody>
      </p:sp>
      <p:sp>
        <p:nvSpPr>
          <p:cNvPr id="6" name="object-238">
            <a:extLst xmlns:a="http://schemas.openxmlformats.org/drawingml/2006/main">
              <a:ext uri="{FF2B5EF4-FFF2-40B4-BE49-F238E27FC236}">
                <a16:creationId xmlns:a16="http://schemas.microsoft.com/office/drawing/2014/main" id="{EB4882D3-1AF3-4778-9394-73D5AD36EBFA}"/>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24</a:t>
            </a:r>
          </a:p>
        </p:txBody>
      </p:sp>
      <p:graphicFrame>
        <p:nvGraphicFramePr>
          <p:cNvPr id="7" name="">
            <a:extLst xmlns:a="http://schemas.openxmlformats.org/drawingml/2006/main">
              <a:ext uri="{FF2B5EF4-FFF2-40B4-BE49-F238E27FC236}">
                <a16:creationId xmlns:a16="http://schemas.microsoft.com/office/drawing/2014/main" id="{02B38F4A-3D91-4FD8-B714-A546DB4C5968}"/>
              </a:ext>
            </a:extLst>
          </p:cNvPr>
          <p:cNvGraphicFramePr/>
          <p:nvPr/>
        </p:nvGraphicFramePr>
        <p:xfrm>
          <a:off xmlns:a="http://schemas.openxmlformats.org/drawingml/2006/main" x="685800" y="1809750"/>
          <a:ext xmlns:a="http://schemas.openxmlformats.org/drawingml/2006/main" cx="10820400" cy="4305300"/>
        </p:xfrm>
        <a:graphic xmlns:a="http://schemas.openxmlformats.org/drawingml/2006/main">
          <a:graphicData uri="http://schemas.openxmlformats.org/drawingml/2006/table">
            <a:tbl>
              <a:tblPr/>
              <a:tblGrid>
                <a:gridCol w="2488692"/>
                <a:gridCol w="2380488"/>
                <a:gridCol w="1839468"/>
                <a:gridCol w="2055876"/>
                <a:gridCol w="2055876"/>
              </a:tblGrid>
              <a:tr h="358775">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Class</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Train instances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Train share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Val instances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Test instances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person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24,661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43.8%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2,728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1,567</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bicycle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2,887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210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car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12,443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22.1%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1,276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642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motorcycle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3,054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220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bus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2,188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3.9%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169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114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truck</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2,914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267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traffic light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4,768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8.5%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403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231</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stop sign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1,118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22</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dog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1,221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2.2%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146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72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cat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1,013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132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70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58775">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Total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56,267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100%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5,604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3,116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8422845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39">
            <a:extLst xmlns:a="http://schemas.openxmlformats.org/drawingml/2006/main">
              <a:ext uri="{FF2B5EF4-FFF2-40B4-BE49-F238E27FC236}">
                <a16:creationId xmlns:a16="http://schemas.microsoft.com/office/drawing/2014/main" id="{34DB6969-004D-457C-83B5-2F2B2B8FD81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40">
            <a:extLst xmlns:a="http://schemas.openxmlformats.org/drawingml/2006/main">
              <a:ext uri="{FF2B5EF4-FFF2-40B4-BE49-F238E27FC236}">
                <a16:creationId xmlns:a16="http://schemas.microsoft.com/office/drawing/2014/main" id="{3F943CF4-C8C8-4E0C-BAF9-6974ACED48BA}"/>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41">
            <a:extLst xmlns:a="http://schemas.openxmlformats.org/drawingml/2006/main">
              <a:ext uri="{FF2B5EF4-FFF2-40B4-BE49-F238E27FC236}">
                <a16:creationId xmlns:a16="http://schemas.microsoft.com/office/drawing/2014/main" id="{FB456CA3-8B6A-464E-A4E6-4BFDD898F88F}"/>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B  Per-class detection results</a:t>
            </a:r>
          </a:p>
        </p:txBody>
      </p:sp>
      <p:sp>
        <p:nvSpPr>
          <p:cNvPr id="4" name="object-242">
            <a:extLst xmlns:a="http://schemas.openxmlformats.org/drawingml/2006/main">
              <a:ext uri="{FF2B5EF4-FFF2-40B4-BE49-F238E27FC236}">
                <a16:creationId xmlns:a16="http://schemas.microsoft.com/office/drawing/2014/main" id="{CBA2B462-CE34-4DB9-B9C7-5051BC710C36}"/>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43">
            <a:extLst xmlns:a="http://schemas.openxmlformats.org/drawingml/2006/main">
              <a:ext uri="{FF2B5EF4-FFF2-40B4-BE49-F238E27FC236}">
                <a16:creationId xmlns:a16="http://schemas.microsoft.com/office/drawing/2014/main" id="{00B6DE63-E1F0-4483-A35C-DE2B4BD1F984}"/>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Held-out test results. Validation AP50–95 is shown for comparison.</a:t>
            </a:r>
          </a:p>
        </p:txBody>
      </p:sp>
      <p:sp>
        <p:nvSpPr>
          <p:cNvPr id="6" name="object-244">
            <a:extLst xmlns:a="http://schemas.openxmlformats.org/drawingml/2006/main">
              <a:ext uri="{FF2B5EF4-FFF2-40B4-BE49-F238E27FC236}">
                <a16:creationId xmlns:a16="http://schemas.microsoft.com/office/drawing/2014/main" id="{68E3BC5C-87B5-4BA2-BB79-A8894769A701}"/>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25</a:t>
            </a:r>
          </a:p>
        </p:txBody>
      </p:sp>
      <p:graphicFrame>
        <p:nvGraphicFramePr>
          <p:cNvPr id="7" name="">
            <a:extLst xmlns:a="http://schemas.openxmlformats.org/drawingml/2006/main">
              <a:ext uri="{FF2B5EF4-FFF2-40B4-BE49-F238E27FC236}">
                <a16:creationId xmlns:a16="http://schemas.microsoft.com/office/drawing/2014/main" id="{37240D06-A583-4647-A1E2-8C746FF6DED2}"/>
              </a:ext>
            </a:extLst>
          </p:cNvPr>
          <p:cNvGraphicFramePr/>
          <p:nvPr/>
        </p:nvGraphicFramePr>
        <p:xfrm>
          <a:off xmlns:a="http://schemas.openxmlformats.org/drawingml/2006/main" x="685800" y="1800225"/>
          <a:ext xmlns:a="http://schemas.openxmlformats.org/drawingml/2006/main" cx="10820400" cy="4324350"/>
        </p:xfrm>
        <a:graphic xmlns:a="http://schemas.openxmlformats.org/drawingml/2006/main">
          <a:graphicData uri="http://schemas.openxmlformats.org/drawingml/2006/table">
            <a:tbl>
              <a:tblPr/>
              <a:tblGrid>
                <a:gridCol w="2121647"/>
                <a:gridCol w="1272988"/>
                <a:gridCol w="1272988"/>
                <a:gridCol w="1485153"/>
                <a:gridCol w="1697318"/>
                <a:gridCol w="1697318"/>
                <a:gridCol w="1272988"/>
              </a:tblGrid>
              <a:tr h="393123">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Class</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P</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R</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AP50</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AP50-95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Val AP50-95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75" b="1">
                          <a:solidFill>
                            <a:srgbClr val="FFFFFF"/>
                          </a:solidFill>
                          <a:latin typeface="Calibri"/>
                          <a:ea typeface="Calibri"/>
                          <a:cs typeface="Calibri"/>
                        </a:rPr>
                        <a:t>Test inst.</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person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0.812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0.613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0.717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0.457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0.469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1,567</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bicycle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0.686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0.399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0.498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0.270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0.311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car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0.763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0.607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0.680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0.456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0.406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642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motorcycle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0.802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0.633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0.771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0.472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0.422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bus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0.842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0.711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0.791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0.662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0.669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114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truck</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0.561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0.463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0.521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0.331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0.347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147</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traffic light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0.636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0.476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0.494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0.265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0.271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231</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stop sign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0.488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0.607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0.619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0.556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0.736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22</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dog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0.651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0.806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0.771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0.596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0.558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72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93123">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cat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0.882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0.829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0.861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0.645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0.667</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75" b="0">
                          <a:solidFill>
                            <a:srgbClr val="000000"/>
                          </a:solidFill>
                          <a:latin typeface="Calibri"/>
                          <a:ea typeface="Calibri"/>
                          <a:cs typeface="Calibri"/>
                        </a:rPr>
                        <a:t>70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Tree>
    <p:extLst>
      <p:ext uri="{BB962C8B-B14F-4D97-AF65-F5344CB8AC3E}">
        <p14:creationId xmlns:p14="http://schemas.microsoft.com/office/powerpoint/2010/main" val="174857533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245">
            <a:extLst xmlns:a="http://schemas.openxmlformats.org/drawingml/2006/main">
              <a:ext uri="{FF2B5EF4-FFF2-40B4-BE49-F238E27FC236}">
                <a16:creationId xmlns:a16="http://schemas.microsoft.com/office/drawing/2014/main" id="{098FF7ED-D13D-4990-96EC-E6E472958652}"/>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46">
            <a:extLst xmlns:a="http://schemas.openxmlformats.org/drawingml/2006/main">
              <a:ext uri="{FF2B5EF4-FFF2-40B4-BE49-F238E27FC236}">
                <a16:creationId xmlns:a16="http://schemas.microsoft.com/office/drawing/2014/main" id="{1E0A8919-5E80-43F4-B8DC-31DBC97B0334}"/>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47">
            <a:extLst xmlns:a="http://schemas.openxmlformats.org/drawingml/2006/main">
              <a:ext uri="{FF2B5EF4-FFF2-40B4-BE49-F238E27FC236}">
                <a16:creationId xmlns:a16="http://schemas.microsoft.com/office/drawing/2014/main" id="{5C0C471A-A56A-4EFD-BE69-A54E1D7BB649}"/>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C  Full perception metrics</a:t>
            </a:r>
          </a:p>
        </p:txBody>
      </p:sp>
      <p:sp>
        <p:nvSpPr>
          <p:cNvPr id="4" name="object-248">
            <a:extLst xmlns:a="http://schemas.openxmlformats.org/drawingml/2006/main">
              <a:ext uri="{FF2B5EF4-FFF2-40B4-BE49-F238E27FC236}">
                <a16:creationId xmlns:a16="http://schemas.microsoft.com/office/drawing/2014/main" id="{B7881109-C77B-4A34-85D4-65022E5DE003}"/>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49">
            <a:extLst xmlns:a="http://schemas.openxmlformats.org/drawingml/2006/main">
              <a:ext uri="{FF2B5EF4-FFF2-40B4-BE49-F238E27FC236}">
                <a16:creationId xmlns:a16="http://schemas.microsoft.com/office/drawing/2014/main" id="{4FF0C20E-92C0-4142-9467-2EA1D8EE389E}"/>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Detection uses a held-out test. Lane results use validation only.</a:t>
            </a:r>
          </a:p>
        </p:txBody>
      </p:sp>
      <p:sp>
        <p:nvSpPr>
          <p:cNvPr id="6" name="object-250">
            <a:extLst xmlns:a="http://schemas.openxmlformats.org/drawingml/2006/main">
              <a:ext uri="{FF2B5EF4-FFF2-40B4-BE49-F238E27FC236}">
                <a16:creationId xmlns:a16="http://schemas.microsoft.com/office/drawing/2014/main" id="{4CFB6A6F-65ED-4D7C-84C8-1442D8C650FE}"/>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26</a:t>
            </a:r>
          </a:p>
        </p:txBody>
      </p:sp>
      <p:graphicFrame>
        <p:nvGraphicFramePr>
          <p:cNvPr id="7" name="">
            <a:extLst xmlns:a="http://schemas.openxmlformats.org/drawingml/2006/main">
              <a:ext uri="{FF2B5EF4-FFF2-40B4-BE49-F238E27FC236}">
                <a16:creationId xmlns:a16="http://schemas.microsoft.com/office/drawing/2014/main" id="{8832FF87-8FB4-4D80-9EF8-FD926988303D}"/>
              </a:ext>
            </a:extLst>
          </p:cNvPr>
          <p:cNvGraphicFramePr/>
          <p:nvPr/>
        </p:nvGraphicFramePr>
        <p:xfrm>
          <a:off xmlns:a="http://schemas.openxmlformats.org/drawingml/2006/main" x="685800" y="1809750"/>
          <a:ext xmlns:a="http://schemas.openxmlformats.org/drawingml/2006/main" cx="10820400" cy="1466850"/>
        </p:xfrm>
        <a:graphic xmlns:a="http://schemas.openxmlformats.org/drawingml/2006/main">
          <a:graphicData uri="http://schemas.openxmlformats.org/drawingml/2006/table">
            <a:tbl>
              <a:tblPr/>
              <a:tblGrid>
                <a:gridCol w="2705100"/>
                <a:gridCol w="1082040"/>
                <a:gridCol w="1298448"/>
                <a:gridCol w="1190244"/>
                <a:gridCol w="1082040"/>
                <a:gridCol w="1082040"/>
                <a:gridCol w="1298448"/>
                <a:gridCol w="1082040"/>
              </a:tblGrid>
              <a:tr h="366713">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Split</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Images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Instances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Precision</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Recall</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mAP50</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mAP50-95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mAP75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366713">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Epoch-1 reference (val)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975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5,604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0.575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0.498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0.510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0.331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366713">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Validation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975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5,604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0.724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0.621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0.688</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0.486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0.518</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366713">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Test (held out)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525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3,116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0.712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0.614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0.672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0.471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0.511</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
        <p:nvSpPr>
          <p:cNvPr id="8" name="object-251">
            <a:extLst xmlns:a="http://schemas.openxmlformats.org/drawingml/2006/main">
              <a:ext uri="{FF2B5EF4-FFF2-40B4-BE49-F238E27FC236}">
                <a16:creationId xmlns:a16="http://schemas.microsoft.com/office/drawing/2014/main" id="{1114ABCF-F0A0-4D7A-BA55-8C2854E2165C}"/>
              </a:ext>
            </a:extLst>
          </p:cNvPr>
          <p:cNvSpPr>
            <a:spLocks xmlns:a="http://schemas.openxmlformats.org/drawingml/2006/main" noGrp="1"/>
          </p:cNvSpPr>
          <p:nvPr/>
        </p:nvSpPr>
        <p:spPr>
          <a:xfrm xmlns:a="http://schemas.openxmlformats.org/drawingml/2006/main">
            <a:off x="685800" y="3476625"/>
            <a:ext cx="1082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000000"/>
                </a:solidFill>
                <a:latin typeface="Calibri"/>
                <a:ea typeface="Calibri"/>
                <a:cs typeface="Calibri"/>
              </a:defRPr>
            </a:defPPr>
            <a:lvl1pPr algn="l">
              <a:defRPr sz="2025" b="1">
                <a:solidFill>
                  <a:srgbClr val="000000"/>
                </a:solidFill>
                <a:latin typeface="Calibri"/>
                <a:ea typeface="Calibri"/>
                <a:cs typeface="Calibri"/>
              </a:defRPr>
            </a:lvl1pPr>
            <a:lvl2pPr algn="l">
              <a:defRPr sz="2025" b="1">
                <a:solidFill>
                  <a:srgbClr val="000000"/>
                </a:solidFill>
                <a:latin typeface="Calibri"/>
                <a:ea typeface="Calibri"/>
                <a:cs typeface="Calibri"/>
              </a:defRPr>
            </a:lvl2pPr>
            <a:lvl3pPr algn="l">
              <a:defRPr sz="2025" b="1">
                <a:solidFill>
                  <a:srgbClr val="000000"/>
                </a:solidFill>
                <a:latin typeface="Calibri"/>
                <a:ea typeface="Calibri"/>
                <a:cs typeface="Calibri"/>
              </a:defRPr>
            </a:lvl3pPr>
            <a:lvl4pPr algn="l">
              <a:defRPr sz="2025" b="1">
                <a:solidFill>
                  <a:srgbClr val="000000"/>
                </a:solidFill>
                <a:latin typeface="Calibri"/>
                <a:ea typeface="Calibri"/>
                <a:cs typeface="Calibri"/>
              </a:defRPr>
            </a:lvl4pPr>
            <a:lvl5pPr algn="l">
              <a:defRPr sz="2025" b="1">
                <a:solidFill>
                  <a:srgbClr val="000000"/>
                </a:solidFill>
                <a:latin typeface="Calibri"/>
                <a:ea typeface="Calibri"/>
                <a:cs typeface="Calibri"/>
              </a:defRPr>
            </a:lvl5pPr>
            <a:lvl6pPr algn="l">
              <a:defRPr sz="2025" b="1">
                <a:solidFill>
                  <a:srgbClr val="000000"/>
                </a:solidFill>
                <a:latin typeface="Calibri"/>
                <a:ea typeface="Calibri"/>
                <a:cs typeface="Calibri"/>
              </a:defRPr>
            </a:lvl6pPr>
            <a:lvl7pPr algn="l">
              <a:defRPr sz="2025" b="1">
                <a:solidFill>
                  <a:srgbClr val="000000"/>
                </a:solidFill>
                <a:latin typeface="Calibri"/>
                <a:ea typeface="Calibri"/>
                <a:cs typeface="Calibri"/>
              </a:defRPr>
            </a:lvl7pPr>
            <a:lvl8pPr algn="l">
              <a:defRPr sz="2025" b="1">
                <a:solidFill>
                  <a:srgbClr val="000000"/>
                </a:solidFill>
                <a:latin typeface="Calibri"/>
                <a:ea typeface="Calibri"/>
                <a:cs typeface="Calibri"/>
              </a:defRPr>
            </a:lvl8pPr>
            <a:lvl9pPr algn="l">
              <a:defRPr sz="2025" b="1">
                <a:solidFill>
                  <a:srgbClr val="000000"/>
                </a:solidFill>
                <a:latin typeface="Calibri"/>
                <a:ea typeface="Calibri"/>
                <a:cs typeface="Calibri"/>
              </a:defRPr>
            </a:lvl9pPr>
          </a:lstStyle>
          <a:p xmlns:a="http://schemas.openxmlformats.org/drawingml/2006/main">
            <a:pPr algn="l">
              <a:defRPr sz="2025" b="1">
                <a:solidFill>
                  <a:srgbClr val="000000"/>
                </a:solidFill>
                <a:latin typeface="Calibri"/>
                <a:ea typeface="Calibri"/>
                <a:cs typeface="Calibri"/>
              </a:defRPr>
            </a:pPr>
            <a:r>
              <a:rPr sz="2025" b="1">
                <a:solidFill>
                  <a:srgbClr val="000000"/>
                </a:solidFill>
                <a:latin typeface="Calibri"/>
                <a:ea typeface="Calibri"/>
                <a:cs typeface="Calibri"/>
              </a:rPr>
              <a:t>Lane segmentation</a:t>
            </a:r>
          </a:p>
        </p:txBody>
      </p:sp>
      <p:graphicFrame>
        <p:nvGraphicFramePr>
          <p:cNvPr id="9" name="">
            <a:extLst xmlns:a="http://schemas.openxmlformats.org/drawingml/2006/main">
              <a:ext uri="{FF2B5EF4-FFF2-40B4-BE49-F238E27FC236}">
                <a16:creationId xmlns:a16="http://schemas.microsoft.com/office/drawing/2014/main" id="{EF984AEF-1620-4FA2-8C97-CD80213AE362}"/>
              </a:ext>
            </a:extLst>
          </p:cNvPr>
          <p:cNvGraphicFramePr/>
          <p:nvPr/>
        </p:nvGraphicFramePr>
        <p:xfrm>
          <a:off xmlns:a="http://schemas.openxmlformats.org/drawingml/2006/main" x="685800" y="3895725"/>
          <a:ext xmlns:a="http://schemas.openxmlformats.org/drawingml/2006/main" cx="10820400" cy="2400300"/>
        </p:xfrm>
        <a:graphic xmlns:a="http://schemas.openxmlformats.org/drawingml/2006/main">
          <a:graphicData uri="http://schemas.openxmlformats.org/drawingml/2006/table">
            <a:tbl>
              <a:tblPr/>
              <a:tblGrid>
                <a:gridCol w="2488692"/>
                <a:gridCol w="2705100"/>
                <a:gridCol w="2813304"/>
                <a:gridCol w="2813304"/>
              </a:tblGrid>
              <a:tr h="266700">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Metric</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Epoch 1</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Training end</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500" b="1">
                          <a:solidFill>
                            <a:srgbClr val="FFFFFF"/>
                          </a:solidFill>
                          <a:latin typeface="Calibri"/>
                          <a:ea typeface="Calibri"/>
                          <a:cs typeface="Calibri"/>
                        </a:rPr>
                        <a:t>Re-evaluation</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Box P</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0.955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0.976</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Box 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0.953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0.974</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Box mAP50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0.974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0.992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0.992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Box mAP50-95</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0.672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0.831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0.831</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Mask P</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0.744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0.918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0.925</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Mask 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0.735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0.916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0.923</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Mask mAP50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0.595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0.877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0.890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66700">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Mask mAP50-95</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0.173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0.363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500" b="0">
                          <a:solidFill>
                            <a:srgbClr val="000000"/>
                          </a:solidFill>
                          <a:latin typeface="Calibri"/>
                          <a:ea typeface="Calibri"/>
                          <a:cs typeface="Calibri"/>
                        </a:rPr>
                        <a:t>0.389</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Tree>
    <p:extLst>
      <p:ext uri="{BB962C8B-B14F-4D97-AF65-F5344CB8AC3E}">
        <p14:creationId xmlns:p14="http://schemas.microsoft.com/office/powerpoint/2010/main" val="19297986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bject-252">
            <a:extLst xmlns:a="http://schemas.openxmlformats.org/drawingml/2006/main">
              <a:ext uri="{FF2B5EF4-FFF2-40B4-BE49-F238E27FC236}">
                <a16:creationId xmlns:a16="http://schemas.microsoft.com/office/drawing/2014/main" id="{E8204011-DD43-4760-A6EA-4CCF5B6051BB}"/>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53">
            <a:extLst xmlns:a="http://schemas.openxmlformats.org/drawingml/2006/main">
              <a:ext uri="{FF2B5EF4-FFF2-40B4-BE49-F238E27FC236}">
                <a16:creationId xmlns:a16="http://schemas.microsoft.com/office/drawing/2014/main" id="{1FE30B38-63C8-4D5E-A7B7-D622249A8AF4}"/>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54">
            <a:extLst xmlns:a="http://schemas.openxmlformats.org/drawingml/2006/main">
              <a:ext uri="{FF2B5EF4-FFF2-40B4-BE49-F238E27FC236}">
                <a16:creationId xmlns:a16="http://schemas.microsoft.com/office/drawing/2014/main" id="{AC659ED1-0EF4-4EA9-99B7-E828D1726799}"/>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D  Complete steering metrics</a:t>
            </a:r>
          </a:p>
        </p:txBody>
      </p:sp>
      <p:sp>
        <p:nvSpPr>
          <p:cNvPr id="4" name="object-255">
            <a:extLst xmlns:a="http://schemas.openxmlformats.org/drawingml/2006/main">
              <a:ext uri="{FF2B5EF4-FFF2-40B4-BE49-F238E27FC236}">
                <a16:creationId xmlns:a16="http://schemas.microsoft.com/office/drawing/2014/main" id="{B9A28220-F6CB-4EF7-9A9D-3EB691F1DFB0}"/>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56">
            <a:extLst xmlns:a="http://schemas.openxmlformats.org/drawingml/2006/main">
              <a:ext uri="{FF2B5EF4-FFF2-40B4-BE49-F238E27FC236}">
                <a16:creationId xmlns:a16="http://schemas.microsoft.com/office/drawing/2014/main" id="{91772B2B-2A0D-4011-A7F1-EE2B5923190D}"/>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All four models below use the same 9,082-frame validation partition.</a:t>
            </a:r>
          </a:p>
        </p:txBody>
      </p:sp>
      <p:sp>
        <p:nvSpPr>
          <p:cNvPr id="6" name="object-257">
            <a:extLst xmlns:a="http://schemas.openxmlformats.org/drawingml/2006/main">
              <a:ext uri="{FF2B5EF4-FFF2-40B4-BE49-F238E27FC236}">
                <a16:creationId xmlns:a16="http://schemas.microsoft.com/office/drawing/2014/main" id="{04B377C3-7A1F-4033-87ED-708B8BFB75EB}"/>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27</a:t>
            </a:r>
          </a:p>
        </p:txBody>
      </p:sp>
      <p:graphicFrame>
        <p:nvGraphicFramePr>
          <p:cNvPr id="7" name="">
            <a:extLst xmlns:a="http://schemas.openxmlformats.org/drawingml/2006/main">
              <a:ext uri="{FF2B5EF4-FFF2-40B4-BE49-F238E27FC236}">
                <a16:creationId xmlns:a16="http://schemas.microsoft.com/office/drawing/2014/main" id="{3531FDC9-507D-4853-8484-3EB8C5B17C28}"/>
              </a:ext>
            </a:extLst>
          </p:cNvPr>
          <p:cNvGraphicFramePr/>
          <p:nvPr/>
        </p:nvGraphicFramePr>
        <p:xfrm>
          <a:off xmlns:a="http://schemas.openxmlformats.org/drawingml/2006/main" x="685800" y="1828800"/>
          <a:ext xmlns:a="http://schemas.openxmlformats.org/drawingml/2006/main" cx="10820400" cy="2371725"/>
        </p:xfrm>
        <a:graphic xmlns:a="http://schemas.openxmlformats.org/drawingml/2006/main">
          <a:graphicData uri="http://schemas.openxmlformats.org/drawingml/2006/table">
            <a:tbl>
              <a:tblPr/>
              <a:tblGrid>
                <a:gridCol w="3046520"/>
                <a:gridCol w="1365682"/>
                <a:gridCol w="1365682"/>
                <a:gridCol w="1365682"/>
                <a:gridCol w="1050524"/>
                <a:gridCol w="1155577"/>
                <a:gridCol w="1470734"/>
              </a:tblGrid>
              <a:tr h="474345">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Model</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MAE °</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RMSE °</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Bias °</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R²</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Pearson r</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Within ±5°</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474345">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Original CNN (RGB)</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23.2570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33.6313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+21.4106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-0.8067</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0.0508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9.82%</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74345">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Frozen CNN + Huber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14.6822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26.6395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+3.1230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-0.1336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0.1682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31.35%</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74345">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Training-mean constant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12.4793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25.0502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+1.2196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-0.0024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Undefined</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42.57%</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74345">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Training-median constant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12.6900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25.0212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-0.1859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-0.0001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Undefined</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41.62%</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8" name="object-258">
            <a:extLst xmlns:a="http://schemas.openxmlformats.org/drawingml/2006/main">
              <a:ext uri="{FF2B5EF4-FFF2-40B4-BE49-F238E27FC236}">
                <a16:creationId xmlns:a16="http://schemas.microsoft.com/office/drawing/2014/main" id="{C4BAF78D-A622-4CB7-B326-B49EB3103A88}"/>
              </a:ext>
            </a:extLst>
          </p:cNvPr>
          <p:cNvSpPr>
            <a:spLocks xmlns:a="http://schemas.openxmlformats.org/drawingml/2006/main" noGrp="1"/>
          </p:cNvSpPr>
          <p:nvPr/>
        </p:nvSpPr>
        <p:spPr>
          <a:xfrm xmlns:a="http://schemas.openxmlformats.org/drawingml/2006/main">
            <a:off x="685800" y="4514850"/>
            <a:ext cx="108204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000000"/>
                </a:solidFill>
                <a:latin typeface="Calibri"/>
                <a:ea typeface="Calibri"/>
                <a:cs typeface="Calibri"/>
              </a:defRPr>
            </a:defPPr>
            <a:lvl1pPr algn="l">
              <a:defRPr sz="2100" b="1">
                <a:solidFill>
                  <a:srgbClr val="000000"/>
                </a:solidFill>
                <a:latin typeface="Calibri"/>
                <a:ea typeface="Calibri"/>
                <a:cs typeface="Calibri"/>
              </a:defRPr>
            </a:lvl1pPr>
            <a:lvl2pPr algn="l">
              <a:defRPr sz="2100" b="1">
                <a:solidFill>
                  <a:srgbClr val="000000"/>
                </a:solidFill>
                <a:latin typeface="Calibri"/>
                <a:ea typeface="Calibri"/>
                <a:cs typeface="Calibri"/>
              </a:defRPr>
            </a:lvl2pPr>
            <a:lvl3pPr algn="l">
              <a:defRPr sz="2100" b="1">
                <a:solidFill>
                  <a:srgbClr val="000000"/>
                </a:solidFill>
                <a:latin typeface="Calibri"/>
                <a:ea typeface="Calibri"/>
                <a:cs typeface="Calibri"/>
              </a:defRPr>
            </a:lvl3pPr>
            <a:lvl4pPr algn="l">
              <a:defRPr sz="2100" b="1">
                <a:solidFill>
                  <a:srgbClr val="000000"/>
                </a:solidFill>
                <a:latin typeface="Calibri"/>
                <a:ea typeface="Calibri"/>
                <a:cs typeface="Calibri"/>
              </a:defRPr>
            </a:lvl4pPr>
            <a:lvl5pPr algn="l">
              <a:defRPr sz="2100" b="1">
                <a:solidFill>
                  <a:srgbClr val="000000"/>
                </a:solidFill>
                <a:latin typeface="Calibri"/>
                <a:ea typeface="Calibri"/>
                <a:cs typeface="Calibri"/>
              </a:defRPr>
            </a:lvl5pPr>
            <a:lvl6pPr algn="l">
              <a:defRPr sz="2100" b="1">
                <a:solidFill>
                  <a:srgbClr val="000000"/>
                </a:solidFill>
                <a:latin typeface="Calibri"/>
                <a:ea typeface="Calibri"/>
                <a:cs typeface="Calibri"/>
              </a:defRPr>
            </a:lvl6pPr>
            <a:lvl7pPr algn="l">
              <a:defRPr sz="2100" b="1">
                <a:solidFill>
                  <a:srgbClr val="000000"/>
                </a:solidFill>
                <a:latin typeface="Calibri"/>
                <a:ea typeface="Calibri"/>
                <a:cs typeface="Calibri"/>
              </a:defRPr>
            </a:lvl7pPr>
            <a:lvl8pPr algn="l">
              <a:defRPr sz="2100" b="1">
                <a:solidFill>
                  <a:srgbClr val="000000"/>
                </a:solidFill>
                <a:latin typeface="Calibri"/>
                <a:ea typeface="Calibri"/>
                <a:cs typeface="Calibri"/>
              </a:defRPr>
            </a:lvl8pPr>
            <a:lvl9pPr algn="l">
              <a:defRPr sz="2100" b="1">
                <a:solidFill>
                  <a:srgbClr val="000000"/>
                </a:solidFill>
                <a:latin typeface="Calibri"/>
                <a:ea typeface="Calibri"/>
                <a:cs typeface="Calibri"/>
              </a:defRPr>
            </a:lvl9pPr>
          </a:lstStyle>
          <a:p xmlns:a="http://schemas.openxmlformats.org/drawingml/2006/main">
            <a:pPr algn="l">
              <a:defRPr sz="2100" b="1">
                <a:solidFill>
                  <a:srgbClr val="000000"/>
                </a:solidFill>
                <a:latin typeface="Calibri"/>
                <a:ea typeface="Calibri"/>
                <a:cs typeface="Calibri"/>
              </a:defRPr>
            </a:pPr>
            <a:r>
              <a:rPr sz="2100" b="1">
                <a:solidFill>
                  <a:srgbClr val="000000"/>
                </a:solidFill>
                <a:latin typeface="Calibri"/>
                <a:ea typeface="Calibri"/>
                <a:cs typeface="Calibri"/>
              </a:rPr>
              <a:t>Legacy BGR audit: 505 frames sampled every 18 rows</a:t>
            </a:r>
          </a:p>
        </p:txBody>
      </p:sp>
      <p:sp>
        <p:nvSpPr>
          <p:cNvPr id="9" name="object-259">
            <a:extLst xmlns:a="http://schemas.openxmlformats.org/drawingml/2006/main">
              <a:ext uri="{FF2B5EF4-FFF2-40B4-BE49-F238E27FC236}">
                <a16:creationId xmlns:a16="http://schemas.microsoft.com/office/drawing/2014/main" id="{8071E546-9D83-4F2C-8699-770E3E93468E}"/>
              </a:ext>
            </a:extLst>
          </p:cNvPr>
          <p:cNvSpPr>
            <a:spLocks xmlns:a="http://schemas.openxmlformats.org/drawingml/2006/main" noGrp="1"/>
          </p:cNvSpPr>
          <p:nvPr/>
        </p:nvSpPr>
        <p:spPr>
          <a:xfrm xmlns:a="http://schemas.openxmlformats.org/drawingml/2006/main">
            <a:off x="685800" y="5038725"/>
            <a:ext cx="108204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000000"/>
                </a:solidFill>
                <a:latin typeface="Calibri"/>
                <a:ea typeface="Calibri"/>
                <a:cs typeface="Calibri"/>
              </a:defRPr>
            </a:defPPr>
            <a:lvl1pPr algn="l">
              <a:defRPr sz="2025" b="0">
                <a:solidFill>
                  <a:srgbClr val="000000"/>
                </a:solidFill>
                <a:latin typeface="Calibri"/>
                <a:ea typeface="Calibri"/>
                <a:cs typeface="Calibri"/>
              </a:defRPr>
            </a:lvl1pPr>
            <a:lvl2pPr algn="l">
              <a:defRPr sz="2025" b="0">
                <a:solidFill>
                  <a:srgbClr val="000000"/>
                </a:solidFill>
                <a:latin typeface="Calibri"/>
                <a:ea typeface="Calibri"/>
                <a:cs typeface="Calibri"/>
              </a:defRPr>
            </a:lvl2pPr>
            <a:lvl3pPr algn="l">
              <a:defRPr sz="2025" b="0">
                <a:solidFill>
                  <a:srgbClr val="000000"/>
                </a:solidFill>
                <a:latin typeface="Calibri"/>
                <a:ea typeface="Calibri"/>
                <a:cs typeface="Calibri"/>
              </a:defRPr>
            </a:lvl3pPr>
            <a:lvl4pPr algn="l">
              <a:defRPr sz="2025" b="0">
                <a:solidFill>
                  <a:srgbClr val="000000"/>
                </a:solidFill>
                <a:latin typeface="Calibri"/>
                <a:ea typeface="Calibri"/>
                <a:cs typeface="Calibri"/>
              </a:defRPr>
            </a:lvl4pPr>
            <a:lvl5pPr algn="l">
              <a:defRPr sz="2025" b="0">
                <a:solidFill>
                  <a:srgbClr val="000000"/>
                </a:solidFill>
                <a:latin typeface="Calibri"/>
                <a:ea typeface="Calibri"/>
                <a:cs typeface="Calibri"/>
              </a:defRPr>
            </a:lvl5pPr>
            <a:lvl6pPr algn="l">
              <a:defRPr sz="2025" b="0">
                <a:solidFill>
                  <a:srgbClr val="000000"/>
                </a:solidFill>
                <a:latin typeface="Calibri"/>
                <a:ea typeface="Calibri"/>
                <a:cs typeface="Calibri"/>
              </a:defRPr>
            </a:lvl6pPr>
            <a:lvl7pPr algn="l">
              <a:defRPr sz="2025" b="0">
                <a:solidFill>
                  <a:srgbClr val="000000"/>
                </a:solidFill>
                <a:latin typeface="Calibri"/>
                <a:ea typeface="Calibri"/>
                <a:cs typeface="Calibri"/>
              </a:defRPr>
            </a:lvl7pPr>
            <a:lvl8pPr algn="l">
              <a:defRPr sz="2025" b="0">
                <a:solidFill>
                  <a:srgbClr val="000000"/>
                </a:solidFill>
                <a:latin typeface="Calibri"/>
                <a:ea typeface="Calibri"/>
                <a:cs typeface="Calibri"/>
              </a:defRPr>
            </a:lvl8pPr>
            <a:lvl9pPr algn="l">
              <a:defRPr sz="2025" b="0">
                <a:solidFill>
                  <a:srgbClr val="000000"/>
                </a:solidFill>
                <a:latin typeface="Calibri"/>
                <a:ea typeface="Calibri"/>
                <a:cs typeface="Calibri"/>
              </a:defRPr>
            </a:lvl9pPr>
          </a:lstStyle>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MAE 22.9616°    RMSE 33.2350°    Bias +20.9977°</a:t>
            </a:r>
          </a:p>
          <a:p xmlns:a="http://schemas.openxmlformats.org/drawingml/2006/main">
            <a:pPr algn="l">
              <a:defRPr sz="2025" b="0">
                <a:solidFill>
                  <a:srgbClr val="000000"/>
                </a:solidFill>
                <a:latin typeface="Calibri"/>
                <a:ea typeface="Calibri"/>
                <a:cs typeface="Calibri"/>
              </a:defRPr>
            </a:pPr>
            <a:r>
              <a:rPr sz="2025" b="0">
                <a:solidFill>
                  <a:srgbClr val="000000"/>
                </a:solidFill>
                <a:latin typeface="Calibri"/>
                <a:ea typeface="Calibri"/>
                <a:cs typeface="Calibri"/>
              </a:rPr>
              <a:t>R² −0.8769    Pearson r −0.0404    Within ±5° 9.11%</a:t>
            </a:r>
          </a:p>
        </p:txBody>
      </p:sp>
    </p:spTree>
    <p:extLst>
      <p:ext uri="{BB962C8B-B14F-4D97-AF65-F5344CB8AC3E}">
        <p14:creationId xmlns:p14="http://schemas.microsoft.com/office/powerpoint/2010/main" val="144015503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bject-260">
            <a:extLst xmlns:a="http://schemas.openxmlformats.org/drawingml/2006/main">
              <a:ext uri="{FF2B5EF4-FFF2-40B4-BE49-F238E27FC236}">
                <a16:creationId xmlns:a16="http://schemas.microsoft.com/office/drawing/2014/main" id="{9F1656AC-AAEB-4E53-AF3F-C373CC052415}"/>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61">
            <a:extLst xmlns:a="http://schemas.openxmlformats.org/drawingml/2006/main">
              <a:ext uri="{FF2B5EF4-FFF2-40B4-BE49-F238E27FC236}">
                <a16:creationId xmlns:a16="http://schemas.microsoft.com/office/drawing/2014/main" id="{97D63C2A-2E2B-42E5-8195-65D1C4D7A668}"/>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62">
            <a:extLst xmlns:a="http://schemas.openxmlformats.org/drawingml/2006/main">
              <a:ext uri="{FF2B5EF4-FFF2-40B4-BE49-F238E27FC236}">
                <a16:creationId xmlns:a16="http://schemas.microsoft.com/office/drawing/2014/main" id="{C9664C34-E01C-45FB-87D6-D7115BF96E8A}"/>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E  Recorded experimental comparisons</a:t>
            </a:r>
          </a:p>
        </p:txBody>
      </p:sp>
      <p:sp>
        <p:nvSpPr>
          <p:cNvPr id="4" name="object-263">
            <a:extLst xmlns:a="http://schemas.openxmlformats.org/drawingml/2006/main">
              <a:ext uri="{FF2B5EF4-FFF2-40B4-BE49-F238E27FC236}">
                <a16:creationId xmlns:a16="http://schemas.microsoft.com/office/drawing/2014/main" id="{DD87C1E8-19EB-42A3-899D-C79A8F13A602}"/>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64">
            <a:extLst xmlns:a="http://schemas.openxmlformats.org/drawingml/2006/main">
              <a:ext uri="{FF2B5EF4-FFF2-40B4-BE49-F238E27FC236}">
                <a16:creationId xmlns:a16="http://schemas.microsoft.com/office/drawing/2014/main" id="{D179A018-0B7D-41A2-A73E-AE7FC1A09FB7}"/>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Saved notebook outputs. These are not controlled ablation results.</a:t>
            </a:r>
          </a:p>
        </p:txBody>
      </p:sp>
      <p:sp>
        <p:nvSpPr>
          <p:cNvPr id="6" name="object-265">
            <a:extLst xmlns:a="http://schemas.openxmlformats.org/drawingml/2006/main">
              <a:ext uri="{FF2B5EF4-FFF2-40B4-BE49-F238E27FC236}">
                <a16:creationId xmlns:a16="http://schemas.microsoft.com/office/drawing/2014/main" id="{3E21D864-0259-4F54-BF34-A9C5BF73ECA1}"/>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28</a:t>
            </a:r>
          </a:p>
        </p:txBody>
      </p:sp>
      <p:graphicFrame>
        <p:nvGraphicFramePr>
          <p:cNvPr id="7" name="">
            <a:extLst xmlns:a="http://schemas.openxmlformats.org/drawingml/2006/main">
              <a:ext uri="{FF2B5EF4-FFF2-40B4-BE49-F238E27FC236}">
                <a16:creationId xmlns:a16="http://schemas.microsoft.com/office/drawing/2014/main" id="{FB035605-27F1-44E1-A03C-BCD49D85B21D}"/>
              </a:ext>
            </a:extLst>
          </p:cNvPr>
          <p:cNvGraphicFramePr/>
          <p:nvPr/>
        </p:nvGraphicFramePr>
        <p:xfrm>
          <a:off xmlns:a="http://schemas.openxmlformats.org/drawingml/2006/main" x="685800" y="1866900"/>
          <a:ext xmlns:a="http://schemas.openxmlformats.org/drawingml/2006/main" cx="10820400" cy="3771900"/>
        </p:xfrm>
        <a:graphic xmlns:a="http://schemas.openxmlformats.org/drawingml/2006/main">
          <a:graphicData uri="http://schemas.openxmlformats.org/drawingml/2006/table">
            <a:tbl>
              <a:tblPr/>
              <a:tblGrid>
                <a:gridCol w="3462528"/>
                <a:gridCol w="3137916"/>
                <a:gridCol w="1406652"/>
                <a:gridCol w="1406652"/>
                <a:gridCol w="1406652"/>
              </a:tblGrid>
              <a:tr h="538843">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Comparison</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Metric</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Reference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Observed</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725" b="1">
                          <a:solidFill>
                            <a:srgbClr val="FFFFFF"/>
                          </a:solidFill>
                          <a:latin typeface="Calibri"/>
                          <a:ea typeface="Calibri"/>
                          <a:cs typeface="Calibri"/>
                        </a:rPr>
                        <a:t>Change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Detection: epoch 1 to 50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Validation mAP50-95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0.331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0.482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+0.151</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Lane: epoch 1 to 60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Box mAP50-95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0.672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0.831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+0.159</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Lane: epoch 1 to 60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Mask mAP50-95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0.173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0.363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+0.190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Lane: checkpoint re-evaluation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Mask mAP50-95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0.363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0.389</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+0.026</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Detection: validation to test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mAP50-95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0.4855</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0.4711</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-0.0144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538843">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Detection: validation to test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mAP50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0.6883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0.6723</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725" b="0">
                          <a:solidFill>
                            <a:srgbClr val="000000"/>
                          </a:solidFill>
                          <a:latin typeface="Calibri"/>
                          <a:ea typeface="Calibri"/>
                          <a:cs typeface="Calibri"/>
                        </a:rPr>
                        <a:t>-0.0160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bl>
          </a:graphicData>
        </a:graphic>
      </p:graphicFrame>
      <p:sp>
        <p:nvSpPr>
          <p:cNvPr id="8" name="object-266">
            <a:extLst xmlns:a="http://schemas.openxmlformats.org/drawingml/2006/main">
              <a:ext uri="{FF2B5EF4-FFF2-40B4-BE49-F238E27FC236}">
                <a16:creationId xmlns:a16="http://schemas.microsoft.com/office/drawing/2014/main" id="{1E32E5D2-F876-4452-918F-3DB9147308E7}"/>
              </a:ext>
            </a:extLst>
          </p:cNvPr>
          <p:cNvSpPr>
            <a:spLocks xmlns:a="http://schemas.openxmlformats.org/drawingml/2006/main" noGrp="1"/>
          </p:cNvSpPr>
          <p:nvPr/>
        </p:nvSpPr>
        <p:spPr>
          <a:xfrm xmlns:a="http://schemas.openxmlformats.org/drawingml/2006/main">
            <a:off x="685800" y="59055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00000"/>
                </a:solidFill>
                <a:latin typeface="Calibri"/>
                <a:ea typeface="Calibri"/>
                <a:cs typeface="Calibri"/>
              </a:defRPr>
            </a:defPPr>
            <a:lvl1pPr algn="l">
              <a:defRPr sz="1875" b="0">
                <a:solidFill>
                  <a:srgbClr val="000000"/>
                </a:solidFill>
                <a:latin typeface="Calibri"/>
                <a:ea typeface="Calibri"/>
                <a:cs typeface="Calibri"/>
              </a:defRPr>
            </a:lvl1pPr>
            <a:lvl2pPr algn="l">
              <a:defRPr sz="1875" b="0">
                <a:solidFill>
                  <a:srgbClr val="000000"/>
                </a:solidFill>
                <a:latin typeface="Calibri"/>
                <a:ea typeface="Calibri"/>
                <a:cs typeface="Calibri"/>
              </a:defRPr>
            </a:lvl2pPr>
            <a:lvl3pPr algn="l">
              <a:defRPr sz="1875" b="0">
                <a:solidFill>
                  <a:srgbClr val="000000"/>
                </a:solidFill>
                <a:latin typeface="Calibri"/>
                <a:ea typeface="Calibri"/>
                <a:cs typeface="Calibri"/>
              </a:defRPr>
            </a:lvl3pPr>
            <a:lvl4pPr algn="l">
              <a:defRPr sz="1875" b="0">
                <a:solidFill>
                  <a:srgbClr val="000000"/>
                </a:solidFill>
                <a:latin typeface="Calibri"/>
                <a:ea typeface="Calibri"/>
                <a:cs typeface="Calibri"/>
              </a:defRPr>
            </a:lvl4pPr>
            <a:lvl5pPr algn="l">
              <a:defRPr sz="1875" b="0">
                <a:solidFill>
                  <a:srgbClr val="000000"/>
                </a:solidFill>
                <a:latin typeface="Calibri"/>
                <a:ea typeface="Calibri"/>
                <a:cs typeface="Calibri"/>
              </a:defRPr>
            </a:lvl5pPr>
            <a:lvl6pPr algn="l">
              <a:defRPr sz="1875" b="0">
                <a:solidFill>
                  <a:srgbClr val="000000"/>
                </a:solidFill>
                <a:latin typeface="Calibri"/>
                <a:ea typeface="Calibri"/>
                <a:cs typeface="Calibri"/>
              </a:defRPr>
            </a:lvl6pPr>
            <a:lvl7pPr algn="l">
              <a:defRPr sz="1875" b="0">
                <a:solidFill>
                  <a:srgbClr val="000000"/>
                </a:solidFill>
                <a:latin typeface="Calibri"/>
                <a:ea typeface="Calibri"/>
                <a:cs typeface="Calibri"/>
              </a:defRPr>
            </a:lvl7pPr>
            <a:lvl8pPr algn="l">
              <a:defRPr sz="1875" b="0">
                <a:solidFill>
                  <a:srgbClr val="000000"/>
                </a:solidFill>
                <a:latin typeface="Calibri"/>
                <a:ea typeface="Calibri"/>
                <a:cs typeface="Calibri"/>
              </a:defRPr>
            </a:lvl8pPr>
            <a:lvl9pPr algn="l">
              <a:defRPr sz="1875" b="0">
                <a:solidFill>
                  <a:srgbClr val="000000"/>
                </a:solidFill>
                <a:latin typeface="Calibri"/>
                <a:ea typeface="Calibri"/>
                <a:cs typeface="Calibri"/>
              </a:defRPr>
            </a:lvl9pPr>
          </a:lstStyle>
          <a:p xmlns:a="http://schemas.openxmlformats.org/drawingml/2006/main">
            <a:pPr algn="l">
              <a:defRPr sz="1875" b="0">
                <a:solidFill>
                  <a:srgbClr val="000000"/>
                </a:solidFill>
                <a:latin typeface="Calibri"/>
                <a:ea typeface="Calibri"/>
                <a:cs typeface="Calibri"/>
              </a:defRPr>
            </a:pPr>
            <a:r>
              <a:rPr sz="1875" b="0">
                <a:solidFill>
                  <a:srgbClr val="000000"/>
                </a:solidFill>
                <a:latin typeface="Calibri"/>
                <a:ea typeface="Calibri"/>
                <a:cs typeface="Calibri"/>
              </a:rPr>
              <a:t>Deltas use the precision printed in the source notebooks.</a:t>
            </a:r>
          </a:p>
        </p:txBody>
      </p:sp>
    </p:spTree>
    <p:extLst>
      <p:ext uri="{BB962C8B-B14F-4D97-AF65-F5344CB8AC3E}">
        <p14:creationId xmlns:p14="http://schemas.microsoft.com/office/powerpoint/2010/main" val="76151707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67">
            <a:extLst xmlns:a="http://schemas.openxmlformats.org/drawingml/2006/main">
              <a:ext uri="{FF2B5EF4-FFF2-40B4-BE49-F238E27FC236}">
                <a16:creationId xmlns:a16="http://schemas.microsoft.com/office/drawing/2014/main" id="{CDDA134C-5493-490B-811E-A61F22486F22}"/>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68">
            <a:extLst xmlns:a="http://schemas.openxmlformats.org/drawingml/2006/main">
              <a:ext uri="{FF2B5EF4-FFF2-40B4-BE49-F238E27FC236}">
                <a16:creationId xmlns:a16="http://schemas.microsoft.com/office/drawing/2014/main" id="{33E62349-93C6-437C-B1BE-799D492EACD1}"/>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69">
            <a:extLst xmlns:a="http://schemas.openxmlformats.org/drawingml/2006/main">
              <a:ext uri="{FF2B5EF4-FFF2-40B4-BE49-F238E27FC236}">
                <a16:creationId xmlns:a16="http://schemas.microsoft.com/office/drawing/2014/main" id="{BEB3D3CA-E913-42C9-B8A7-5C073386CD66}"/>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F  Training hyperparameters</a:t>
            </a:r>
          </a:p>
        </p:txBody>
      </p:sp>
      <p:sp>
        <p:nvSpPr>
          <p:cNvPr id="4" name="object-270">
            <a:extLst xmlns:a="http://schemas.openxmlformats.org/drawingml/2006/main">
              <a:ext uri="{FF2B5EF4-FFF2-40B4-BE49-F238E27FC236}">
                <a16:creationId xmlns:a16="http://schemas.microsoft.com/office/drawing/2014/main" id="{E2C3D18D-93B7-4E25-A696-B2C39A9353EF}"/>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71">
            <a:extLst xmlns:a="http://schemas.openxmlformats.org/drawingml/2006/main">
              <a:ext uri="{FF2B5EF4-FFF2-40B4-BE49-F238E27FC236}">
                <a16:creationId xmlns:a16="http://schemas.microsoft.com/office/drawing/2014/main" id="{2673AE4C-6394-4306-8650-79D790C0B2A7}"/>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Original module training configuration from the recorded runs</a:t>
            </a:r>
          </a:p>
        </p:txBody>
      </p:sp>
      <p:sp>
        <p:nvSpPr>
          <p:cNvPr id="6" name="object-272">
            <a:extLst xmlns:a="http://schemas.openxmlformats.org/drawingml/2006/main">
              <a:ext uri="{FF2B5EF4-FFF2-40B4-BE49-F238E27FC236}">
                <a16:creationId xmlns:a16="http://schemas.microsoft.com/office/drawing/2014/main" id="{D12AD934-080C-42C5-AEC8-887ABE4D1CB6}"/>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29</a:t>
            </a:r>
          </a:p>
        </p:txBody>
      </p:sp>
      <p:graphicFrame>
        <p:nvGraphicFramePr>
          <p:cNvPr id="7" name="">
            <a:extLst xmlns:a="http://schemas.openxmlformats.org/drawingml/2006/main">
              <a:ext uri="{FF2B5EF4-FFF2-40B4-BE49-F238E27FC236}">
                <a16:creationId xmlns:a16="http://schemas.microsoft.com/office/drawing/2014/main" id="{AC2CA9C0-DF5A-4A82-B80F-CBE1E06C7771}"/>
              </a:ext>
            </a:extLst>
          </p:cNvPr>
          <p:cNvGraphicFramePr/>
          <p:nvPr/>
        </p:nvGraphicFramePr>
        <p:xfrm>
          <a:off xmlns:a="http://schemas.openxmlformats.org/drawingml/2006/main" x="685800" y="1771650"/>
          <a:ext xmlns:a="http://schemas.openxmlformats.org/drawingml/2006/main" cx="10820400" cy="4552950"/>
        </p:xfrm>
        <a:graphic xmlns:a="http://schemas.openxmlformats.org/drawingml/2006/main">
          <a:graphicData uri="http://schemas.openxmlformats.org/drawingml/2006/table">
            <a:tbl>
              <a:tblPr/>
              <a:tblGrid>
                <a:gridCol w="2596896"/>
                <a:gridCol w="2705100"/>
                <a:gridCol w="2813304"/>
                <a:gridCol w="2705100"/>
              </a:tblGrid>
              <a:tr h="252942">
                <a:tc>
                  <a:txBody>
                    <a:bodyPr wrap="square" lIns="66675" tIns="66675" rIns="66675" bIns="66675">
                      <a:noAutofit/>
                    </a:bodyPr>
                    <a:lstStyle/>
                    <a:p>
                      <a:pPr algn="l">
                        <a:lnSpc>
                          <a:spcPct val="100000"/>
                        </a:lnSpc>
                        <a:spcBef>
                          <a:spcPts val="0"/>
                        </a:spcBef>
                        <a:spcAft>
                          <a:spcPts val="0"/>
                        </a:spcAft>
                      </a:pPr>
                      <a:r>
                        <a:rPr sz="1350" b="1">
                          <a:solidFill>
                            <a:srgbClr val="FFFFFF"/>
                          </a:solidFill>
                          <a:latin typeface="Calibri"/>
                          <a:ea typeface="Calibri"/>
                          <a:cs typeface="Calibri"/>
                        </a:rPr>
                        <a:t>Parameter</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350" b="1">
                          <a:solidFill>
                            <a:srgbClr val="FFFFFF"/>
                          </a:solidFill>
                          <a:latin typeface="Calibri"/>
                          <a:ea typeface="Calibri"/>
                          <a:cs typeface="Calibri"/>
                        </a:rPr>
                        <a:t>Detection (YOLO11s)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350" b="1">
                          <a:solidFill>
                            <a:srgbClr val="FFFFFF"/>
                          </a:solidFill>
                          <a:latin typeface="Calibri"/>
                          <a:ea typeface="Calibri"/>
                          <a:cs typeface="Calibri"/>
                        </a:rPr>
                        <a:t>Lane (YOLO11s-seg)</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350" b="1">
                          <a:solidFill>
                            <a:srgbClr val="FFFFFF"/>
                          </a:solidFill>
                          <a:latin typeface="Calibri"/>
                          <a:ea typeface="Calibri"/>
                          <a:cs typeface="Calibri"/>
                        </a:rPr>
                        <a:t>Steering (DAVE-2)</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Initial weights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yolo11s.pt (COCO)</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yolo11s-seg.pt</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Random initialization</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Epochs / patience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50 / 15</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60 / 20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30 / none</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Batch size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16</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100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Input size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640×640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640×640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66×200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Optimiser</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auto</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auto</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Adam</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Loss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CIoU + BCE + DFL</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CIoU + BCE + DFL + mask</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MSE</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LR schedule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cosine, 3 warm-up ep.</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linear, 3 warm-up ep.</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Fixed 1e-4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Weight decay</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5×10−4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5×10−4</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L2 0.001</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Mosaic</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1.0 (off last 10 ep.)</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Flip / scale / translate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0.5 / 0.5 / 0.1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0.5 / 0.4 / 0.1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None</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HSV (h, s, v)</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0.015, 0.7, 0.4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0.015, 0.7, 0.4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Rotation / shear / perspective</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default</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 / 0 / 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mask_ratio</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2</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Dropout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Keep probability 0.5</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Seed / deterministic</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 / yes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0 / yes</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Not set</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Mixed precision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yes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yes</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No</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52942">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Training time (T4)</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2.14 h</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2.31 h</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350" b="0">
                          <a:solidFill>
                            <a:srgbClr val="000000"/>
                          </a:solidFill>
                          <a:latin typeface="Calibri"/>
                          <a:ea typeface="Calibri"/>
                          <a:cs typeface="Calibri"/>
                        </a:rPr>
                        <a:t>Not recorded</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73505311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73">
            <a:extLst xmlns:a="http://schemas.openxmlformats.org/drawingml/2006/main">
              <a:ext uri="{FF2B5EF4-FFF2-40B4-BE49-F238E27FC236}">
                <a16:creationId xmlns:a16="http://schemas.microsoft.com/office/drawing/2014/main" id="{C229D94C-6FFE-45C8-8274-0CC7DB8ECF94}"/>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74">
            <a:extLst xmlns:a="http://schemas.openxmlformats.org/drawingml/2006/main">
              <a:ext uri="{FF2B5EF4-FFF2-40B4-BE49-F238E27FC236}">
                <a16:creationId xmlns:a16="http://schemas.microsoft.com/office/drawing/2014/main" id="{B907FE7A-881C-44F0-914D-17093541BF04}"/>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75">
            <a:extLst xmlns:a="http://schemas.openxmlformats.org/drawingml/2006/main">
              <a:ext uri="{FF2B5EF4-FFF2-40B4-BE49-F238E27FC236}">
                <a16:creationId xmlns:a16="http://schemas.microsoft.com/office/drawing/2014/main" id="{35E66AFE-0308-4DD9-9701-D6E49C3CF3C0}"/>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G  Steering experiment protocol</a:t>
            </a:r>
          </a:p>
        </p:txBody>
      </p:sp>
      <p:sp>
        <p:nvSpPr>
          <p:cNvPr id="4" name="object-276">
            <a:extLst xmlns:a="http://schemas.openxmlformats.org/drawingml/2006/main">
              <a:ext uri="{FF2B5EF4-FFF2-40B4-BE49-F238E27FC236}">
                <a16:creationId xmlns:a16="http://schemas.microsoft.com/office/drawing/2014/main" id="{7E5C8253-AF56-4AC6-AD95-01074275A871}"/>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77">
            <a:extLst xmlns:a="http://schemas.openxmlformats.org/drawingml/2006/main">
              <a:ext uri="{FF2B5EF4-FFF2-40B4-BE49-F238E27FC236}">
                <a16:creationId xmlns:a16="http://schemas.microsoft.com/office/drawing/2014/main" id="{0C9B767C-6B72-4F69-A410-9692C60AD83D}"/>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Development selection stays within the original training partition.</a:t>
            </a:r>
          </a:p>
        </p:txBody>
      </p:sp>
      <p:sp>
        <p:nvSpPr>
          <p:cNvPr id="6" name="object-278">
            <a:extLst xmlns:a="http://schemas.openxmlformats.org/drawingml/2006/main">
              <a:ext uri="{FF2B5EF4-FFF2-40B4-BE49-F238E27FC236}">
                <a16:creationId xmlns:a16="http://schemas.microsoft.com/office/drawing/2014/main" id="{009CA045-B661-44C8-963B-B218419D65B2}"/>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30</a:t>
            </a:r>
          </a:p>
        </p:txBody>
      </p:sp>
      <p:graphicFrame>
        <p:nvGraphicFramePr>
          <p:cNvPr id="7" name="">
            <a:extLst xmlns:a="http://schemas.openxmlformats.org/drawingml/2006/main">
              <a:ext uri="{FF2B5EF4-FFF2-40B4-BE49-F238E27FC236}">
                <a16:creationId xmlns:a16="http://schemas.microsoft.com/office/drawing/2014/main" id="{8A5BF7D5-DB1C-42BC-B394-7C9E088369BA}"/>
              </a:ext>
            </a:extLst>
          </p:cNvPr>
          <p:cNvGraphicFramePr/>
          <p:nvPr/>
        </p:nvGraphicFramePr>
        <p:xfrm>
          <a:off xmlns:a="http://schemas.openxmlformats.org/drawingml/2006/main" x="685800" y="1809750"/>
          <a:ext xmlns:a="http://schemas.openxmlformats.org/drawingml/2006/main" cx="10820400" cy="4314825"/>
        </p:xfrm>
        <a:graphic xmlns:a="http://schemas.openxmlformats.org/drawingml/2006/main">
          <a:graphicData uri="http://schemas.openxmlformats.org/drawingml/2006/table">
            <a:tbl>
              <a:tblPr/>
              <a:tblGrid>
                <a:gridCol w="4003548"/>
                <a:gridCol w="6816852"/>
              </a:tblGrid>
              <a:tr h="431483">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Item</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650" b="1">
                          <a:solidFill>
                            <a:srgbClr val="FFFFFF"/>
                          </a:solidFill>
                          <a:latin typeface="Calibri"/>
                          <a:ea typeface="Calibri"/>
                          <a:cs typeface="Calibri"/>
                        </a:rPr>
                        <a:t>Recorded value</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Sampled training rows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9,081, selecting every fourth row</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Inner chronological split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7,265 fit / 1,816 development</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Candidate configurations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5 squared-error penalties + 4 Huber configurations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Selected readout</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Huber threshold 10°, penalty α = 100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Final optimization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96 L-BFGS-B iterations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Bootstrap</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100-frame blocks, 1,000 replicates, seed 20261021</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MAE 95% interval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11.631° to 18.629°</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RMSE 95% interval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18.241° to 35.675°</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431483">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Paired MAE reduction interval</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650" b="0">
                          <a:solidFill>
                            <a:srgbClr val="000000"/>
                          </a:solidFill>
                          <a:latin typeface="Calibri"/>
                          <a:ea typeface="Calibri"/>
                          <a:cs typeface="Calibri"/>
                        </a:rPr>
                        <a:t>6.849° to 10.250° versus original RGB CNN</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87850170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bject-279">
            <a:extLst xmlns:a="http://schemas.openxmlformats.org/drawingml/2006/main">
              <a:ext uri="{FF2B5EF4-FFF2-40B4-BE49-F238E27FC236}">
                <a16:creationId xmlns:a16="http://schemas.microsoft.com/office/drawing/2014/main" id="{0752CAC7-06D5-415F-89AD-FD9EC5B08628}"/>
              </a:ext>
            </a:extLst>
          </p:cNvPr>
          <p:cNvSpPr>
            <a:spLocks xmlns:a="http://schemas.openxmlformats.org/drawingml/2006/main" noGrp="1"/>
          </p:cNvSpPr>
          <p:nvPr/>
        </p:nvSpPr>
        <p:spPr>
          <a:xfrm xmlns:a="http://schemas.openxmlformats.org/drawingml/2006/main">
            <a:off x="0" y="6515100"/>
            <a:ext cx="12192000" cy="47625"/>
          </a:xfrm>
          <a:prstGeom xmlns:a="http://schemas.openxmlformats.org/drawingml/2006/main" prst="rect">
            <a:avLst/>
          </a:prstGeom>
          <a:solidFill xmlns:a="http://schemas.openxmlformats.org/drawingml/2006/main">
            <a:srgbClr val="EF8B00"/>
          </a:solidFill>
          <a:ln xmlns:a="http://schemas.openxmlformats.org/drawingml/2006/main" w="0">
            <a:noFill/>
            <a:prstDash val="solid"/>
          </a:ln>
        </p:spPr>
      </p:sp>
      <p:sp>
        <p:nvSpPr>
          <p:cNvPr id="2" name="object-280">
            <a:extLst xmlns:a="http://schemas.openxmlformats.org/drawingml/2006/main">
              <a:ext uri="{FF2B5EF4-FFF2-40B4-BE49-F238E27FC236}">
                <a16:creationId xmlns:a16="http://schemas.microsoft.com/office/drawing/2014/main" id="{912FCD15-C119-4CF6-B492-29043B1C3700}"/>
              </a:ext>
            </a:extLst>
          </p:cNvPr>
          <p:cNvSpPr>
            <a:spLocks xmlns:a="http://schemas.openxmlformats.org/drawingml/2006/main" noGrp="1"/>
          </p:cNvSpPr>
          <p:nvPr/>
        </p:nvSpPr>
        <p:spPr>
          <a:xfrm xmlns:a="http://schemas.openxmlformats.org/drawingml/2006/main">
            <a:off x="0" y="6562725"/>
            <a:ext cx="12192000" cy="295275"/>
          </a:xfrm>
          <a:prstGeom xmlns:a="http://schemas.openxmlformats.org/drawingml/2006/main" prst="rect">
            <a:avLst/>
          </a:prstGeom>
          <a:solidFill xmlns:a="http://schemas.openxmlformats.org/drawingml/2006/main">
            <a:srgbClr val="B95827"/>
          </a:solidFill>
          <a:ln xmlns:a="http://schemas.openxmlformats.org/drawingml/2006/main" w="0">
            <a:noFill/>
            <a:prstDash val="solid"/>
          </a:ln>
        </p:spPr>
      </p:sp>
      <p:sp>
        <p:nvSpPr>
          <p:cNvPr id="3" name="object-281">
            <a:extLst xmlns:a="http://schemas.openxmlformats.org/drawingml/2006/main">
              <a:ext uri="{FF2B5EF4-FFF2-40B4-BE49-F238E27FC236}">
                <a16:creationId xmlns:a16="http://schemas.microsoft.com/office/drawing/2014/main" id="{32A195D2-2C5E-4697-9D85-B6BE40331FC4}"/>
              </a:ext>
            </a:extLst>
          </p:cNvPr>
          <p:cNvSpPr>
            <a:spLocks xmlns:a="http://schemas.openxmlformats.org/drawingml/2006/main" noGrp="1"/>
          </p:cNvSpPr>
          <p:nvPr/>
        </p:nvSpPr>
        <p:spPr>
          <a:xfrm xmlns:a="http://schemas.openxmlformats.org/drawingml/2006/main">
            <a:off x="685800" y="438150"/>
            <a:ext cx="10820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75" b="0">
                <a:solidFill>
                  <a:srgbClr val="000000"/>
                </a:solidFill>
                <a:latin typeface="Calibri Light"/>
                <a:ea typeface="Calibri Light"/>
                <a:cs typeface="Calibri Light"/>
              </a:defRPr>
            </a:defPPr>
            <a:lvl1pPr algn="l">
              <a:defRPr sz="3375" b="0">
                <a:solidFill>
                  <a:srgbClr val="000000"/>
                </a:solidFill>
                <a:latin typeface="Calibri Light"/>
                <a:ea typeface="Calibri Light"/>
                <a:cs typeface="Calibri Light"/>
              </a:defRPr>
            </a:lvl1pPr>
            <a:lvl2pPr algn="l">
              <a:defRPr sz="3375" b="0">
                <a:solidFill>
                  <a:srgbClr val="000000"/>
                </a:solidFill>
                <a:latin typeface="Calibri Light"/>
                <a:ea typeface="Calibri Light"/>
                <a:cs typeface="Calibri Light"/>
              </a:defRPr>
            </a:lvl2pPr>
            <a:lvl3pPr algn="l">
              <a:defRPr sz="3375" b="0">
                <a:solidFill>
                  <a:srgbClr val="000000"/>
                </a:solidFill>
                <a:latin typeface="Calibri Light"/>
                <a:ea typeface="Calibri Light"/>
                <a:cs typeface="Calibri Light"/>
              </a:defRPr>
            </a:lvl3pPr>
            <a:lvl4pPr algn="l">
              <a:defRPr sz="3375" b="0">
                <a:solidFill>
                  <a:srgbClr val="000000"/>
                </a:solidFill>
                <a:latin typeface="Calibri Light"/>
                <a:ea typeface="Calibri Light"/>
                <a:cs typeface="Calibri Light"/>
              </a:defRPr>
            </a:lvl4pPr>
            <a:lvl5pPr algn="l">
              <a:defRPr sz="3375" b="0">
                <a:solidFill>
                  <a:srgbClr val="000000"/>
                </a:solidFill>
                <a:latin typeface="Calibri Light"/>
                <a:ea typeface="Calibri Light"/>
                <a:cs typeface="Calibri Light"/>
              </a:defRPr>
            </a:lvl5pPr>
            <a:lvl6pPr algn="l">
              <a:defRPr sz="3375" b="0">
                <a:solidFill>
                  <a:srgbClr val="000000"/>
                </a:solidFill>
                <a:latin typeface="Calibri Light"/>
                <a:ea typeface="Calibri Light"/>
                <a:cs typeface="Calibri Light"/>
              </a:defRPr>
            </a:lvl6pPr>
            <a:lvl7pPr algn="l">
              <a:defRPr sz="3375" b="0">
                <a:solidFill>
                  <a:srgbClr val="000000"/>
                </a:solidFill>
                <a:latin typeface="Calibri Light"/>
                <a:ea typeface="Calibri Light"/>
                <a:cs typeface="Calibri Light"/>
              </a:defRPr>
            </a:lvl7pPr>
            <a:lvl8pPr algn="l">
              <a:defRPr sz="3375" b="0">
                <a:solidFill>
                  <a:srgbClr val="000000"/>
                </a:solidFill>
                <a:latin typeface="Calibri Light"/>
                <a:ea typeface="Calibri Light"/>
                <a:cs typeface="Calibri Light"/>
              </a:defRPr>
            </a:lvl8pPr>
            <a:lvl9pPr algn="l">
              <a:defRPr sz="3375" b="0">
                <a:solidFill>
                  <a:srgbClr val="000000"/>
                </a:solidFill>
                <a:latin typeface="Calibri Light"/>
                <a:ea typeface="Calibri Light"/>
                <a:cs typeface="Calibri Light"/>
              </a:defRPr>
            </a:lvl9pPr>
          </a:lstStyle>
          <a:p xmlns:a="http://schemas.openxmlformats.org/drawingml/2006/main">
            <a:pPr algn="l">
              <a:defRPr sz="3375" b="0">
                <a:solidFill>
                  <a:srgbClr val="000000"/>
                </a:solidFill>
                <a:latin typeface="Calibri Light"/>
                <a:ea typeface="Calibri Light"/>
                <a:cs typeface="Calibri Light"/>
              </a:defRPr>
            </a:pPr>
            <a:r>
              <a:rPr sz="3375" b="0">
                <a:solidFill>
                  <a:srgbClr val="000000"/>
                </a:solidFill>
                <a:latin typeface="Calibri Light"/>
                <a:ea typeface="Calibri Light"/>
                <a:cs typeface="Calibri Light"/>
              </a:rPr>
              <a:t>Appendix H  Reference architecture counts</a:t>
            </a:r>
          </a:p>
        </p:txBody>
      </p:sp>
      <p:sp>
        <p:nvSpPr>
          <p:cNvPr id="4" name="object-282">
            <a:extLst xmlns:a="http://schemas.openxmlformats.org/drawingml/2006/main">
              <a:ext uri="{FF2B5EF4-FFF2-40B4-BE49-F238E27FC236}">
                <a16:creationId xmlns:a16="http://schemas.microsoft.com/office/drawing/2014/main" id="{761B611E-08B8-448F-B0E2-86A6FC0E1276}"/>
              </a:ext>
            </a:extLst>
          </p:cNvPr>
          <p:cNvSpPr>
            <a:spLocks xmlns:a="http://schemas.openxmlformats.org/drawingml/2006/main" noGrp="1"/>
          </p:cNvSpPr>
          <p:nvPr/>
        </p:nvSpPr>
        <p:spPr>
          <a:xfrm xmlns:a="http://schemas.openxmlformats.org/drawingml/2006/main">
            <a:off x="685800" y="1181100"/>
            <a:ext cx="10820400" cy="9525"/>
          </a:xfrm>
          <a:prstGeom xmlns:a="http://schemas.openxmlformats.org/drawingml/2006/main" prst="rect">
            <a:avLst/>
          </a:prstGeom>
          <a:solidFill xmlns:a="http://schemas.openxmlformats.org/drawingml/2006/main">
            <a:srgbClr val="D9D9D9"/>
          </a:solidFill>
          <a:ln xmlns:a="http://schemas.openxmlformats.org/drawingml/2006/main" w="0">
            <a:noFill/>
            <a:prstDash val="solid"/>
          </a:ln>
        </p:spPr>
      </p:sp>
      <p:sp>
        <p:nvSpPr>
          <p:cNvPr id="5" name="object-283">
            <a:extLst xmlns:a="http://schemas.openxmlformats.org/drawingml/2006/main">
              <a:ext uri="{FF2B5EF4-FFF2-40B4-BE49-F238E27FC236}">
                <a16:creationId xmlns:a16="http://schemas.microsoft.com/office/drawing/2014/main" id="{58350B8B-3D98-4E85-8DC6-C78B44BC588B}"/>
              </a:ext>
            </a:extLst>
          </p:cNvPr>
          <p:cNvSpPr>
            <a:spLocks xmlns:a="http://schemas.openxmlformats.org/drawingml/2006/main" noGrp="1"/>
          </p:cNvSpPr>
          <p:nvPr/>
        </p:nvSpPr>
        <p:spPr>
          <a:xfrm xmlns:a="http://schemas.openxmlformats.org/drawingml/2006/main">
            <a:off x="685800" y="13239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55555"/>
                </a:solidFill>
                <a:latin typeface="Calibri"/>
                <a:ea typeface="Calibri"/>
                <a:cs typeface="Calibri"/>
              </a:defRPr>
            </a:defPPr>
            <a:lvl1pPr algn="l">
              <a:defRPr sz="1725" b="0">
                <a:solidFill>
                  <a:srgbClr val="555555"/>
                </a:solidFill>
                <a:latin typeface="Calibri"/>
                <a:ea typeface="Calibri"/>
                <a:cs typeface="Calibri"/>
              </a:defRPr>
            </a:lvl1pPr>
            <a:lvl2pPr algn="l">
              <a:defRPr sz="1725" b="0">
                <a:solidFill>
                  <a:srgbClr val="555555"/>
                </a:solidFill>
                <a:latin typeface="Calibri"/>
                <a:ea typeface="Calibri"/>
                <a:cs typeface="Calibri"/>
              </a:defRPr>
            </a:lvl2pPr>
            <a:lvl3pPr algn="l">
              <a:defRPr sz="1725" b="0">
                <a:solidFill>
                  <a:srgbClr val="555555"/>
                </a:solidFill>
                <a:latin typeface="Calibri"/>
                <a:ea typeface="Calibri"/>
                <a:cs typeface="Calibri"/>
              </a:defRPr>
            </a:lvl3pPr>
            <a:lvl4pPr algn="l">
              <a:defRPr sz="1725" b="0">
                <a:solidFill>
                  <a:srgbClr val="555555"/>
                </a:solidFill>
                <a:latin typeface="Calibri"/>
                <a:ea typeface="Calibri"/>
                <a:cs typeface="Calibri"/>
              </a:defRPr>
            </a:lvl4pPr>
            <a:lvl5pPr algn="l">
              <a:defRPr sz="1725" b="0">
                <a:solidFill>
                  <a:srgbClr val="555555"/>
                </a:solidFill>
                <a:latin typeface="Calibri"/>
                <a:ea typeface="Calibri"/>
                <a:cs typeface="Calibri"/>
              </a:defRPr>
            </a:lvl5pPr>
            <a:lvl6pPr algn="l">
              <a:defRPr sz="1725" b="0">
                <a:solidFill>
                  <a:srgbClr val="555555"/>
                </a:solidFill>
                <a:latin typeface="Calibri"/>
                <a:ea typeface="Calibri"/>
                <a:cs typeface="Calibri"/>
              </a:defRPr>
            </a:lvl6pPr>
            <a:lvl7pPr algn="l">
              <a:defRPr sz="1725" b="0">
                <a:solidFill>
                  <a:srgbClr val="555555"/>
                </a:solidFill>
                <a:latin typeface="Calibri"/>
                <a:ea typeface="Calibri"/>
                <a:cs typeface="Calibri"/>
              </a:defRPr>
            </a:lvl7pPr>
            <a:lvl8pPr algn="l">
              <a:defRPr sz="1725" b="0">
                <a:solidFill>
                  <a:srgbClr val="555555"/>
                </a:solidFill>
                <a:latin typeface="Calibri"/>
                <a:ea typeface="Calibri"/>
                <a:cs typeface="Calibri"/>
              </a:defRPr>
            </a:lvl8pPr>
            <a:lvl9pPr algn="l">
              <a:defRPr sz="1725" b="0">
                <a:solidFill>
                  <a:srgbClr val="555555"/>
                </a:solidFill>
                <a:latin typeface="Calibri"/>
                <a:ea typeface="Calibri"/>
                <a:cs typeface="Calibri"/>
              </a:defRPr>
            </a:lvl9pPr>
          </a:lstStyle>
          <a:p xmlns:a="http://schemas.openxmlformats.org/drawingml/2006/main">
            <a:pPr algn="l">
              <a:defRPr sz="1725" b="0">
                <a:solidFill>
                  <a:srgbClr val="555555"/>
                </a:solidFill>
                <a:latin typeface="Calibri"/>
                <a:ea typeface="Calibri"/>
                <a:cs typeface="Calibri"/>
              </a:defRPr>
            </a:pPr>
            <a:r>
              <a:rPr sz="1725" b="0">
                <a:solidFill>
                  <a:srgbClr val="555555"/>
                </a:solidFill>
                <a:latin typeface="Calibri"/>
                <a:ea typeface="Calibri"/>
                <a:cs typeface="Calibri"/>
              </a:rPr>
              <a:t>Canonical DAVE-2 reference. The local saved CNN has 1,595,511 parameters.</a:t>
            </a:r>
          </a:p>
        </p:txBody>
      </p:sp>
      <p:sp>
        <p:nvSpPr>
          <p:cNvPr id="6" name="object-284">
            <a:extLst xmlns:a="http://schemas.openxmlformats.org/drawingml/2006/main">
              <a:ext uri="{FF2B5EF4-FFF2-40B4-BE49-F238E27FC236}">
                <a16:creationId xmlns:a16="http://schemas.microsoft.com/office/drawing/2014/main" id="{DA558AAA-1677-4FF4-AE53-ECEBEA67D99C}"/>
              </a:ext>
            </a:extLst>
          </p:cNvPr>
          <p:cNvSpPr>
            <a:spLocks xmlns:a="http://schemas.openxmlformats.org/drawingml/2006/main" noGrp="1"/>
          </p:cNvSpPr>
          <p:nvPr/>
        </p:nvSpPr>
        <p:spPr>
          <a:xfrm xmlns:a="http://schemas.openxmlformats.org/drawingml/2006/main">
            <a:off x="11144250" y="6581775"/>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350" b="0">
                <a:solidFill>
                  <a:srgbClr val="FFFFFF"/>
                </a:solidFill>
                <a:latin typeface="Calibri"/>
                <a:ea typeface="Calibri"/>
                <a:cs typeface="Calibri"/>
              </a:defRPr>
            </a:defPPr>
            <a:lvl1pPr algn="r">
              <a:defRPr sz="1350" b="0">
                <a:solidFill>
                  <a:srgbClr val="FFFFFF"/>
                </a:solidFill>
                <a:latin typeface="Calibri"/>
                <a:ea typeface="Calibri"/>
                <a:cs typeface="Calibri"/>
              </a:defRPr>
            </a:lvl1pPr>
            <a:lvl2pPr algn="r">
              <a:defRPr sz="1350" b="0">
                <a:solidFill>
                  <a:srgbClr val="FFFFFF"/>
                </a:solidFill>
                <a:latin typeface="Calibri"/>
                <a:ea typeface="Calibri"/>
                <a:cs typeface="Calibri"/>
              </a:defRPr>
            </a:lvl2pPr>
            <a:lvl3pPr algn="r">
              <a:defRPr sz="1350" b="0">
                <a:solidFill>
                  <a:srgbClr val="FFFFFF"/>
                </a:solidFill>
                <a:latin typeface="Calibri"/>
                <a:ea typeface="Calibri"/>
                <a:cs typeface="Calibri"/>
              </a:defRPr>
            </a:lvl3pPr>
            <a:lvl4pPr algn="r">
              <a:defRPr sz="1350" b="0">
                <a:solidFill>
                  <a:srgbClr val="FFFFFF"/>
                </a:solidFill>
                <a:latin typeface="Calibri"/>
                <a:ea typeface="Calibri"/>
                <a:cs typeface="Calibri"/>
              </a:defRPr>
            </a:lvl4pPr>
            <a:lvl5pPr algn="r">
              <a:defRPr sz="1350" b="0">
                <a:solidFill>
                  <a:srgbClr val="FFFFFF"/>
                </a:solidFill>
                <a:latin typeface="Calibri"/>
                <a:ea typeface="Calibri"/>
                <a:cs typeface="Calibri"/>
              </a:defRPr>
            </a:lvl5pPr>
            <a:lvl6pPr algn="r">
              <a:defRPr sz="1350" b="0">
                <a:solidFill>
                  <a:srgbClr val="FFFFFF"/>
                </a:solidFill>
                <a:latin typeface="Calibri"/>
                <a:ea typeface="Calibri"/>
                <a:cs typeface="Calibri"/>
              </a:defRPr>
            </a:lvl6pPr>
            <a:lvl7pPr algn="r">
              <a:defRPr sz="1350" b="0">
                <a:solidFill>
                  <a:srgbClr val="FFFFFF"/>
                </a:solidFill>
                <a:latin typeface="Calibri"/>
                <a:ea typeface="Calibri"/>
                <a:cs typeface="Calibri"/>
              </a:defRPr>
            </a:lvl7pPr>
            <a:lvl8pPr algn="r">
              <a:defRPr sz="1350" b="0">
                <a:solidFill>
                  <a:srgbClr val="FFFFFF"/>
                </a:solidFill>
                <a:latin typeface="Calibri"/>
                <a:ea typeface="Calibri"/>
                <a:cs typeface="Calibri"/>
              </a:defRPr>
            </a:lvl8pPr>
            <a:lvl9pPr algn="r">
              <a:defRPr sz="1350" b="0">
                <a:solidFill>
                  <a:srgbClr val="FFFFFF"/>
                </a:solidFill>
                <a:latin typeface="Calibri"/>
                <a:ea typeface="Calibri"/>
                <a:cs typeface="Calibri"/>
              </a:defRPr>
            </a:lvl9pPr>
          </a:lstStyle>
          <a:p xmlns:a="http://schemas.openxmlformats.org/drawingml/2006/main">
            <a:pPr algn="r">
              <a:defRPr sz="1350" b="0">
                <a:solidFill>
                  <a:srgbClr val="FFFFFF"/>
                </a:solidFill>
                <a:latin typeface="Calibri"/>
                <a:ea typeface="Calibri"/>
                <a:cs typeface="Calibri"/>
              </a:defRPr>
            </a:pPr>
            <a:r>
              <a:rPr sz="1350" b="0">
                <a:solidFill>
                  <a:srgbClr val="FFFFFF"/>
                </a:solidFill>
                <a:latin typeface="Calibri"/>
                <a:ea typeface="Calibri"/>
                <a:cs typeface="Calibri"/>
              </a:rPr>
              <a:t>31</a:t>
            </a:r>
          </a:p>
        </p:txBody>
      </p:sp>
      <p:graphicFrame>
        <p:nvGraphicFramePr>
          <p:cNvPr id="7" name="">
            <a:extLst xmlns:a="http://schemas.openxmlformats.org/drawingml/2006/main">
              <a:ext uri="{FF2B5EF4-FFF2-40B4-BE49-F238E27FC236}">
                <a16:creationId xmlns:a16="http://schemas.microsoft.com/office/drawing/2014/main" id="{0D30C363-0E12-42BC-AF9C-579619468C6D}"/>
              </a:ext>
            </a:extLst>
          </p:cNvPr>
          <p:cNvGraphicFramePr/>
          <p:nvPr/>
        </p:nvGraphicFramePr>
        <p:xfrm>
          <a:off xmlns:a="http://schemas.openxmlformats.org/drawingml/2006/main" x="685800" y="1781175"/>
          <a:ext xmlns:a="http://schemas.openxmlformats.org/drawingml/2006/main" cx="10820400" cy="4514850"/>
        </p:xfrm>
        <a:graphic xmlns:a="http://schemas.openxmlformats.org/drawingml/2006/main">
          <a:graphicData uri="http://schemas.openxmlformats.org/drawingml/2006/table">
            <a:tbl>
              <a:tblPr/>
              <a:tblGrid>
                <a:gridCol w="4977384"/>
                <a:gridCol w="2055876"/>
                <a:gridCol w="3787140"/>
              </a:tblGrid>
              <a:tr h="282178">
                <a:tc>
                  <a:txBody>
                    <a:bodyPr wrap="square" lIns="66675" tIns="66675" rIns="66675" bIns="66675">
                      <a:noAutofit/>
                    </a:bodyPr>
                    <a:lstStyle/>
                    <a:p>
                      <a:pPr algn="l">
                        <a:lnSpc>
                          <a:spcPct val="100000"/>
                        </a:lnSpc>
                        <a:spcBef>
                          <a:spcPts val="0"/>
                        </a:spcBef>
                        <a:spcAft>
                          <a:spcPts val="0"/>
                        </a:spcAft>
                      </a:pPr>
                      <a:r>
                        <a:rPr sz="1425" b="1">
                          <a:solidFill>
                            <a:srgbClr val="FFFFFF"/>
                          </a:solidFill>
                          <a:latin typeface="Calibri"/>
                          <a:ea typeface="Calibri"/>
                          <a:cs typeface="Calibri"/>
                        </a:rPr>
                        <a:t>Layer</a:t>
                      </a:r>
                    </a:p>
                  </a:txBody>
                  <a:tcPr marL="57150" marR="57150" marT="19050" marB="19050" anchor="ctr">
                    <a:lnL w="6668">
                      <a:solidFill>
                        <a:srgbClr val="D6C4BA"/>
                      </a:solidFill>
                      <a:prstDash val="solid"/>
                    </a:lnL>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425" b="1">
                          <a:solidFill>
                            <a:srgbClr val="FFFFFF"/>
                          </a:solidFill>
                          <a:latin typeface="Calibri"/>
                          <a:ea typeface="Calibri"/>
                          <a:cs typeface="Calibri"/>
                        </a:rPr>
                        <a:t>Parameters</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c>
                  <a:txBody>
                    <a:bodyPr wrap="square" lIns="66675" tIns="66675" rIns="66675" bIns="66675">
                      <a:noAutofit/>
                    </a:bodyPr>
                    <a:lstStyle/>
                    <a:p>
                      <a:pPr algn="l">
                        <a:lnSpc>
                          <a:spcPct val="100000"/>
                        </a:lnSpc>
                        <a:spcBef>
                          <a:spcPts val="0"/>
                        </a:spcBef>
                        <a:spcAft>
                          <a:spcPts val="0"/>
                        </a:spcAft>
                      </a:pPr>
                      <a:r>
                        <a:rPr sz="1425" b="1">
                          <a:solidFill>
                            <a:srgbClr val="FFFFFF"/>
                          </a:solidFill>
                          <a:latin typeface="Calibri"/>
                          <a:ea typeface="Calibri"/>
                          <a:cs typeface="Calibri"/>
                        </a:rPr>
                        <a:t>Output</a:t>
                      </a:r>
                    </a:p>
                  </a:txBody>
                  <a:tcPr marL="57150" marR="57150" marT="19050" marB="19050" anchor="ctr">
                    <a:lnR w="6668">
                      <a:solidFill>
                        <a:srgbClr val="D6C4BA"/>
                      </a:solidFill>
                      <a:prstDash val="solid"/>
                    </a:lnR>
                    <a:lnT w="6668">
                      <a:solidFill>
                        <a:srgbClr val="D6C4BA"/>
                      </a:solidFill>
                      <a:prstDash val="solid"/>
                    </a:lnT>
                    <a:lnB w="6668">
                      <a:solidFill>
                        <a:srgbClr val="D6C4BA"/>
                      </a:solidFill>
                      <a:prstDash val="solid"/>
                    </a:lnB>
                    <a:solidFill>
                      <a:srgbClr val="B95827"/>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Input (YUV)</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66×200×3</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Normalisation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66×200×3</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Conv1: 24 filters, 5×5, stride 2</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1,824</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31×98×24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Conv2: 36 filters, 5×5, stride 2</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21,636</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14×47×36</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Conv3: 48 filters, 5×5, stride 2</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43,248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5×22×48</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Conv4: 64 filters, 3×3</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27,712</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3×20×64</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Conv5: 64 filters, 3×3</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36,928</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1×18×64</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Flatten</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1,152</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FC 100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115,300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100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FC 50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5,050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50</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FC 10</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510</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10</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Output (steering)</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Total DAVE-2</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252,219</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nSpc>
                          <a:spcPct val="100000"/>
                        </a:lnSpc>
                        <a:spcBef>
                          <a:spcPts val="0"/>
                        </a:spcBef>
                        <a:spcAft>
                          <a:spcPts val="0"/>
                        </a:spcAft>
                      </a:pPr>
                      <a:r>
                        <a:rPr sz="1425" b="0">
                          <a:solidFill>
                            <a:srgbClr val="000000"/>
                          </a:solidFill>
                          <a:latin typeface="Calibri"/>
                          <a:ea typeface="Calibri"/>
                          <a:cs typeface="Calibri"/>
                        </a:rPr>
                        <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YOLO11s detector (10 classes)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9,416,670</a:t>
                      </a:r>
                    </a:p>
                  </a:txBody>
                  <a:tcPr marL="57150" marR="57150" marT="19050" marB="19050" anchor="ctr">
                    <a:lnR w="6668">
                      <a:solidFill>
                        <a:srgbClr val="D6C4BA"/>
                      </a:solidFill>
                      <a:prstDash val="solid"/>
                    </a:lnR>
                    <a:lnB w="6668">
                      <a:solidFill>
                        <a:srgbClr val="D6C4BA"/>
                      </a:solidFill>
                      <a:prstDash val="solid"/>
                    </a:lnB>
                    <a:solidFill>
                      <a:srgbClr val="FFFFFF"/>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100 layers, 21.4 GFLOPs</a:t>
                      </a:r>
                    </a:p>
                  </a:txBody>
                  <a:tcPr marL="57150" marR="57150" marT="19050" marB="19050" anchor="ctr">
                    <a:lnR w="6668">
                      <a:solidFill>
                        <a:srgbClr val="D6C4BA"/>
                      </a:solidFill>
                      <a:prstDash val="solid"/>
                    </a:lnR>
                    <a:lnB w="6668">
                      <a:solidFill>
                        <a:srgbClr val="D6C4BA"/>
                      </a:solidFill>
                      <a:prstDash val="solid"/>
                    </a:lnB>
                    <a:solidFill>
                      <a:srgbClr val="FFFFFF"/>
                    </a:solidFill>
                  </a:tcPr>
                </a:tc>
              </a:tr>
              <a:tr h="282178">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YOLO11s-seg lane network (1 class)</a:t>
                      </a:r>
                    </a:p>
                  </a:txBody>
                  <a:tcPr marL="57150" marR="57150" marT="19050" marB="19050" anchor="ctr">
                    <a:lnL w="6668">
                      <a:solidFill>
                        <a:srgbClr val="D6C4BA"/>
                      </a:solidFill>
                      <a:prstDash val="solid"/>
                    </a:lnL>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10,067,203</a:t>
                      </a:r>
                    </a:p>
                  </a:txBody>
                  <a:tcPr marL="57150" marR="57150" marT="19050" marB="19050" anchor="ctr">
                    <a:lnR w="6668">
                      <a:solidFill>
                        <a:srgbClr val="D6C4BA"/>
                      </a:solidFill>
                      <a:prstDash val="solid"/>
                    </a:lnR>
                    <a:lnB w="6668">
                      <a:solidFill>
                        <a:srgbClr val="D6C4BA"/>
                      </a:solidFill>
                      <a:prstDash val="solid"/>
                    </a:lnB>
                    <a:solidFill>
                      <a:srgbClr val="F8EAE2"/>
                    </a:solidFill>
                  </a:tcPr>
                </a:tc>
                <a:tc>
                  <a:txBody>
                    <a:bodyPr wrap="square" lIns="66675" tIns="66675" rIns="66675" bIns="66675">
                      <a:noAutofit/>
                    </a:bodyPr>
                    <a:lstStyle/>
                    <a:p>
                      <a:pPr algn="l">
                        <a:lnSpc>
                          <a:spcPct val="100000"/>
                        </a:lnSpc>
                        <a:spcBef>
                          <a:spcPts val="0"/>
                        </a:spcBef>
                        <a:spcAft>
                          <a:spcPts val="0"/>
                        </a:spcAft>
                      </a:pPr>
                      <a:r>
                        <a:rPr sz="1425" b="0">
                          <a:solidFill>
                            <a:srgbClr val="000000"/>
                          </a:solidFill>
                          <a:latin typeface="Calibri"/>
                          <a:ea typeface="Calibri"/>
                          <a:cs typeface="Calibri"/>
                        </a:rPr>
                        <a:t>113 layers, 32.9 GFLOPs</a:t>
                      </a:r>
                    </a:p>
                  </a:txBody>
                  <a:tcPr marL="57150" marR="57150" marT="19050" marB="19050" anchor="ctr">
                    <a:lnR w="6668">
                      <a:solidFill>
                        <a:srgbClr val="D6C4BA"/>
                      </a:solidFill>
                      <a:prstDash val="solid"/>
                    </a:lnR>
                    <a:lnB w="6668">
                      <a:solidFill>
                        <a:srgbClr val="D6C4BA"/>
                      </a:solidFill>
                      <a:prstDash val="solid"/>
                    </a:lnB>
                    <a:solidFill>
                      <a:srgbClr val="F8EAE2"/>
                    </a:solidFill>
                  </a:tcPr>
                </a:tc>
              </a:tr>
            </a:tbl>
          </a:graphicData>
        </a:graphic>
      </p:graphicFrame>
    </p:spTree>
    <p:extLst>
      <p:ext uri="{BB962C8B-B14F-4D97-AF65-F5344CB8AC3E}">
        <p14:creationId xmlns:p14="http://schemas.microsoft.com/office/powerpoint/2010/main" val="16141052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2026-10-23T07:03:38.5090000Z</dcterms:created>
  <dcterms:modified xsi:type="dcterms:W3CDTF">2026-10-23T07:03:38.5100000Z</dcterms:modified>
</coreProperties>
</file>