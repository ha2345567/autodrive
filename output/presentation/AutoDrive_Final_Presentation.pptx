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c37c9b12c3b4874" /><Relationship Type="http://schemas.openxmlformats.org/officeDocument/2006/relationships/extended-properties" Target="/docProps/app.xml" Id="R5076bf071eb0401b" /><Relationship Type="http://schemas.openxmlformats.org/officeDocument/2006/relationships/officeDocument" Target="/ppt/presentation.xml" Id="Ra69276be00a4438d" /></Relationships>
</file>

<file path=ppt/presentation.xml><?xml version="1.0" encoding="utf-8"?>
<p:presentation xmlns:p="http://schemas.openxmlformats.org/presentationml/2006/main">
  <p:sldMasterIdLst>
    <p:sldMasterId xmlns:r="http://schemas.openxmlformats.org/officeDocument/2006/relationships" id="2147483648" r:id="R1e8de98e1aa34ccf"/>
  </p:sldMasterIdLst>
  <p:notesMasterIdLst>
    <p:notesMasterId xmlns:r="http://schemas.openxmlformats.org/officeDocument/2006/relationships" r:id="R3def8601384c4308"/>
  </p:notesMasterIdLst>
  <p:sldIdLst>
    <p:sldId xmlns:r="http://schemas.openxmlformats.org/officeDocument/2006/relationships" id="256" r:id="R4d9c7504e58a469e"/>
    <p:sldId xmlns:r="http://schemas.openxmlformats.org/officeDocument/2006/relationships" id="257" r:id="Rd7ad40f154804101"/>
    <p:sldId xmlns:r="http://schemas.openxmlformats.org/officeDocument/2006/relationships" id="258" r:id="R544d0ba1837c45a1"/>
    <p:sldId xmlns:r="http://schemas.openxmlformats.org/officeDocument/2006/relationships" id="259" r:id="R32e27c6cc1af4e30"/>
    <p:sldId xmlns:r="http://schemas.openxmlformats.org/officeDocument/2006/relationships" id="260" r:id="R29ba6392cda34370"/>
    <p:sldId xmlns:r="http://schemas.openxmlformats.org/officeDocument/2006/relationships" id="261" r:id="R12cd11220fb74276"/>
    <p:sldId xmlns:r="http://schemas.openxmlformats.org/officeDocument/2006/relationships" id="262" r:id="Re26f53a35eb944f2"/>
    <p:sldId xmlns:r="http://schemas.openxmlformats.org/officeDocument/2006/relationships" id="263" r:id="R6457ec6faf814925"/>
    <p:sldId xmlns:r="http://schemas.openxmlformats.org/officeDocument/2006/relationships" id="264" r:id="R5470dcbe601d4273"/>
    <p:sldId xmlns:r="http://schemas.openxmlformats.org/officeDocument/2006/relationships" id="265" r:id="Rb0353d2a23e54bc1"/>
    <p:sldId xmlns:r="http://schemas.openxmlformats.org/officeDocument/2006/relationships" id="266" r:id="R8917ea9c750a43cf"/>
    <p:sldId xmlns:r="http://schemas.openxmlformats.org/officeDocument/2006/relationships" id="267" r:id="R13d222203c8f4885"/>
    <p:sldId xmlns:r="http://schemas.openxmlformats.org/officeDocument/2006/relationships" id="268" r:id="R956b9ed98c604754"/>
    <p:sldId xmlns:r="http://schemas.openxmlformats.org/officeDocument/2006/relationships" id="269" r:id="Rdda58f33b1bf4fea"/>
    <p:sldId xmlns:r="http://schemas.openxmlformats.org/officeDocument/2006/relationships" id="270" r:id="R87eb22a746c748f9"/>
    <p:sldId xmlns:r="http://schemas.openxmlformats.org/officeDocument/2006/relationships" id="271" r:id="R84bb8d4c1fea4ba2"/>
    <p:sldId xmlns:r="http://schemas.openxmlformats.org/officeDocument/2006/relationships" id="272" r:id="Rb1e0da01687142d4"/>
    <p:sldId xmlns:r="http://schemas.openxmlformats.org/officeDocument/2006/relationships" id="273" r:id="Re0e8a1e9791d467e"/>
    <p:sldId xmlns:r="http://schemas.openxmlformats.org/officeDocument/2006/relationships" id="274" r:id="R0852313d296b45f8"/>
    <p:sldId xmlns:r="http://schemas.openxmlformats.org/officeDocument/2006/relationships" id="275" r:id="R2fae3b8848634950"/>
    <p:sldId xmlns:r="http://schemas.openxmlformats.org/officeDocument/2006/relationships" id="276" r:id="R6db53043ef964e28"/>
    <p:sldId xmlns:r="http://schemas.openxmlformats.org/officeDocument/2006/relationships" id="277" r:id="R3cd75e863bb7439d"/>
    <p:sldId xmlns:r="http://schemas.openxmlformats.org/officeDocument/2006/relationships" id="278" r:id="R44539088cad64b49"/>
    <p:sldId xmlns:r="http://schemas.openxmlformats.org/officeDocument/2006/relationships" id="279" r:id="R851b07d3f8dc4116"/>
    <p:sldId xmlns:r="http://schemas.openxmlformats.org/officeDocument/2006/relationships" id="280" r:id="Rcb8da83d5c0445f6"/>
    <p:sldId xmlns:r="http://schemas.openxmlformats.org/officeDocument/2006/relationships" id="281" r:id="R1989e1714f0d4971"/>
    <p:sldId xmlns:r="http://schemas.openxmlformats.org/officeDocument/2006/relationships" id="282" r:id="Re7f7176880864c8f"/>
    <p:sldId xmlns:r="http://schemas.openxmlformats.org/officeDocument/2006/relationships" id="283" r:id="R0f91e569c1a74265"/>
    <p:sldId xmlns:r="http://schemas.openxmlformats.org/officeDocument/2006/relationships" id="284" r:id="Rd5f8df8d7a654705"/>
    <p:sldId xmlns:r="http://schemas.openxmlformats.org/officeDocument/2006/relationships" id="285" r:id="R3fa6f1f3ba814c73"/>
    <p:sldId xmlns:r="http://schemas.openxmlformats.org/officeDocument/2006/relationships" id="286" r:id="Rd258d5a6032b47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a02150a7924533" /><Relationship Type="http://schemas.openxmlformats.org/officeDocument/2006/relationships/slideMaster" Target="/ppt/slideMasters/slideMaster1.xml" Id="R1e8de98e1aa34ccf" /><Relationship Type="http://schemas.openxmlformats.org/officeDocument/2006/relationships/notesMaster" Target="/ppt/notesMasters/notesMaster1.xml" Id="R3def8601384c4308" /><Relationship Type="http://schemas.openxmlformats.org/officeDocument/2006/relationships/presProps" Target="/ppt/presProps.xml" Id="R334be31e732a4413" /><Relationship Type="http://schemas.openxmlformats.org/officeDocument/2006/relationships/tableStyles" Target="/ppt/tableStyles.xml" Id="Rc817f931dfd84de7" /><Relationship Type="http://schemas.openxmlformats.org/officeDocument/2006/relationships/slide" Target="/ppt/slides/slide1.xml" Id="R4d9c7504e58a469e" /><Relationship Type="http://schemas.openxmlformats.org/officeDocument/2006/relationships/slide" Target="/ppt/slides/slide2.xml" Id="Rd7ad40f154804101" /><Relationship Type="http://schemas.openxmlformats.org/officeDocument/2006/relationships/slide" Target="/ppt/slides/slide3.xml" Id="R544d0ba1837c45a1" /><Relationship Type="http://schemas.openxmlformats.org/officeDocument/2006/relationships/slide" Target="/ppt/slides/slide4.xml" Id="R32e27c6cc1af4e30" /><Relationship Type="http://schemas.openxmlformats.org/officeDocument/2006/relationships/slide" Target="/ppt/slides/slide5.xml" Id="R29ba6392cda34370" /><Relationship Type="http://schemas.openxmlformats.org/officeDocument/2006/relationships/slide" Target="/ppt/slides/slide6.xml" Id="R12cd11220fb74276" /><Relationship Type="http://schemas.openxmlformats.org/officeDocument/2006/relationships/slide" Target="/ppt/slides/slide7.xml" Id="Re26f53a35eb944f2" /><Relationship Type="http://schemas.openxmlformats.org/officeDocument/2006/relationships/slide" Target="/ppt/slides/slide8.xml" Id="R6457ec6faf814925" /><Relationship Type="http://schemas.openxmlformats.org/officeDocument/2006/relationships/slide" Target="/ppt/slides/slide9.xml" Id="R5470dcbe601d4273" /><Relationship Type="http://schemas.openxmlformats.org/officeDocument/2006/relationships/slide" Target="/ppt/slides/slide10.xml" Id="Rb0353d2a23e54bc1" /><Relationship Type="http://schemas.openxmlformats.org/officeDocument/2006/relationships/slide" Target="/ppt/slides/slide11.xml" Id="R8917ea9c750a43cf" /><Relationship Type="http://schemas.openxmlformats.org/officeDocument/2006/relationships/slide" Target="/ppt/slides/slide12.xml" Id="R13d222203c8f4885" /><Relationship Type="http://schemas.openxmlformats.org/officeDocument/2006/relationships/slide" Target="/ppt/slides/slide13.xml" Id="R956b9ed98c604754" /><Relationship Type="http://schemas.openxmlformats.org/officeDocument/2006/relationships/slide" Target="/ppt/slides/slide14.xml" Id="Rdda58f33b1bf4fea" /><Relationship Type="http://schemas.openxmlformats.org/officeDocument/2006/relationships/slide" Target="/ppt/slides/slide15.xml" Id="R87eb22a746c748f9" /><Relationship Type="http://schemas.openxmlformats.org/officeDocument/2006/relationships/slide" Target="/ppt/slides/slide16.xml" Id="R84bb8d4c1fea4ba2" /><Relationship Type="http://schemas.openxmlformats.org/officeDocument/2006/relationships/slide" Target="/ppt/slides/slide17.xml" Id="Rb1e0da01687142d4" /><Relationship Type="http://schemas.openxmlformats.org/officeDocument/2006/relationships/slide" Target="/ppt/slides/slide18.xml" Id="Re0e8a1e9791d467e" /><Relationship Type="http://schemas.openxmlformats.org/officeDocument/2006/relationships/slide" Target="/ppt/slides/slide19.xml" Id="R0852313d296b45f8" /><Relationship Type="http://schemas.openxmlformats.org/officeDocument/2006/relationships/slide" Target="/ppt/slides/slide20.xml" Id="R2fae3b8848634950" /><Relationship Type="http://schemas.openxmlformats.org/officeDocument/2006/relationships/slide" Target="/ppt/slides/slide21.xml" Id="R6db53043ef964e28" /><Relationship Type="http://schemas.openxmlformats.org/officeDocument/2006/relationships/slide" Target="/ppt/slides/slide22.xml" Id="R3cd75e863bb7439d" /><Relationship Type="http://schemas.openxmlformats.org/officeDocument/2006/relationships/slide" Target="/ppt/slides/slide23.xml" Id="R44539088cad64b49" /><Relationship Type="http://schemas.openxmlformats.org/officeDocument/2006/relationships/slide" Target="/ppt/slides/slide24.xml" Id="R851b07d3f8dc4116" /><Relationship Type="http://schemas.openxmlformats.org/officeDocument/2006/relationships/slide" Target="/ppt/slides/slide25.xml" Id="Rcb8da83d5c0445f6" /><Relationship Type="http://schemas.openxmlformats.org/officeDocument/2006/relationships/slide" Target="/ppt/slides/slide26.xml" Id="R1989e1714f0d4971" /><Relationship Type="http://schemas.openxmlformats.org/officeDocument/2006/relationships/slide" Target="/ppt/slides/slide27.xml" Id="Re7f7176880864c8f" /><Relationship Type="http://schemas.openxmlformats.org/officeDocument/2006/relationships/slide" Target="/ppt/slides/slide28.xml" Id="R0f91e569c1a74265" /><Relationship Type="http://schemas.openxmlformats.org/officeDocument/2006/relationships/slide" Target="/ppt/slides/slide29.xml" Id="Rd5f8df8d7a654705" /><Relationship Type="http://schemas.openxmlformats.org/officeDocument/2006/relationships/slide" Target="/ppt/slides/slide30.xml" Id="R3fa6f1f3ba814c73" /><Relationship Type="http://schemas.openxmlformats.org/officeDocument/2006/relationships/slide" Target="/ppt/slides/slide31.xml" Id="Rd258d5a6032b47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31101161c448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b18af300b44f64" /><Relationship Type="http://schemas.openxmlformats.org/officeDocument/2006/relationships/notesMaster" Target="/ppt/notesMasters/notesMaster1.xml" Id="R643702fc351c4f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35ded493b24117" /><Relationship Type="http://schemas.openxmlformats.org/officeDocument/2006/relationships/notesMaster" Target="/ppt/notesMasters/notesMaster1.xml" Id="R996ee020e18148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51fb0648c34ca8" /><Relationship Type="http://schemas.openxmlformats.org/officeDocument/2006/relationships/notesMaster" Target="/ppt/notesMasters/notesMaster1.xml" Id="R4fdb459efe2a40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731078c1774aa4" /><Relationship Type="http://schemas.openxmlformats.org/officeDocument/2006/relationships/notesMaster" Target="/ppt/notesMasters/notesMaster1.xml" Id="Re6a856592a934c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acdf45881f414d" /><Relationship Type="http://schemas.openxmlformats.org/officeDocument/2006/relationships/notesMaster" Target="/ppt/notesMasters/notesMaster1.xml" Id="R26afced3a1144d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667b981b1e408a" /><Relationship Type="http://schemas.openxmlformats.org/officeDocument/2006/relationships/notesMaster" Target="/ppt/notesMasters/notesMaster1.xml" Id="R03c0630fd0a149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6df35af29f416c" /><Relationship Type="http://schemas.openxmlformats.org/officeDocument/2006/relationships/notesMaster" Target="/ppt/notesMasters/notesMaster1.xml" Id="Rc6fdf8996cac4a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2bfad3b6ac4a37" /><Relationship Type="http://schemas.openxmlformats.org/officeDocument/2006/relationships/notesMaster" Target="/ppt/notesMasters/notesMaster1.xml" Id="Rca843f90cba84d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e18477f7ce4337" /><Relationship Type="http://schemas.openxmlformats.org/officeDocument/2006/relationships/notesMaster" Target="/ppt/notesMasters/notesMaster1.xml" Id="Rf30725cee4cb45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b97dfc1f4a46bc" /><Relationship Type="http://schemas.openxmlformats.org/officeDocument/2006/relationships/notesMaster" Target="/ppt/notesMasters/notesMaster1.xml" Id="Rf7c76a1814c24a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88bef6248a456d" /><Relationship Type="http://schemas.openxmlformats.org/officeDocument/2006/relationships/notesMaster" Target="/ppt/notesMasters/notesMaster1.xml" Id="R104597bae91c49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cee377a39c42d3" /><Relationship Type="http://schemas.openxmlformats.org/officeDocument/2006/relationships/notesMaster" Target="/ppt/notesMasters/notesMaster1.xml" Id="R7dbc416ace3b408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35e5b6e9d84ae5" /><Relationship Type="http://schemas.openxmlformats.org/officeDocument/2006/relationships/notesMaster" Target="/ppt/notesMasters/notesMaster1.xml" Id="Rf369f052b51e43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9900c2537ac471c" /><Relationship Type="http://schemas.openxmlformats.org/officeDocument/2006/relationships/notesMaster" Target="/ppt/notesMasters/notesMaster1.xml" Id="R3f4859cb60ef4a6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16354ab05a41ce" /><Relationship Type="http://schemas.openxmlformats.org/officeDocument/2006/relationships/notesMaster" Target="/ppt/notesMasters/notesMaster1.xml" Id="Rd28d602185a6490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ca9426b3e494684" /><Relationship Type="http://schemas.openxmlformats.org/officeDocument/2006/relationships/notesMaster" Target="/ppt/notesMasters/notesMaster1.xml" Id="R5a0fe7e13d6c4c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971e3438a81475b" /><Relationship Type="http://schemas.openxmlformats.org/officeDocument/2006/relationships/notesMaster" Target="/ppt/notesMasters/notesMaster1.xml" Id="Rc4b7cc2387114f2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695d1aff3249c6" /><Relationship Type="http://schemas.openxmlformats.org/officeDocument/2006/relationships/notesMaster" Target="/ppt/notesMasters/notesMaster1.xml" Id="R0f746b2e0e40491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6f13983d24a447b" /><Relationship Type="http://schemas.openxmlformats.org/officeDocument/2006/relationships/notesMaster" Target="/ppt/notesMasters/notesMaster1.xml" Id="R52145148d94d49d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6f64552e3fe4fd2" /><Relationship Type="http://schemas.openxmlformats.org/officeDocument/2006/relationships/notesMaster" Target="/ppt/notesMasters/notesMaster1.xml" Id="Rf71d2dbe214a4b7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d9687a95bcc4131" /><Relationship Type="http://schemas.openxmlformats.org/officeDocument/2006/relationships/notesMaster" Target="/ppt/notesMasters/notesMaster1.xml" Id="R150b9af349d94d7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61c7f7e2a1949ce" /><Relationship Type="http://schemas.openxmlformats.org/officeDocument/2006/relationships/notesMaster" Target="/ppt/notesMasters/notesMaster1.xml" Id="R78c44c3b13e94b2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b6765b408974156" /><Relationship Type="http://schemas.openxmlformats.org/officeDocument/2006/relationships/notesMaster" Target="/ppt/notesMasters/notesMaster1.xml" Id="Rb886eb7a4b56450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5ce614f051a459a" /><Relationship Type="http://schemas.openxmlformats.org/officeDocument/2006/relationships/notesMaster" Target="/ppt/notesMasters/notesMaster1.xml" Id="Rbbb61accff39460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f62fee94e704224" /><Relationship Type="http://schemas.openxmlformats.org/officeDocument/2006/relationships/notesMaster" Target="/ppt/notesMasters/notesMaster1.xml" Id="R621510bb8965491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ea86c1a71084291" /><Relationship Type="http://schemas.openxmlformats.org/officeDocument/2006/relationships/notesMaster" Target="/ppt/notesMasters/notesMaster1.xml" Id="R967bcbf9b0ca42e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5ff1d7c8db64931" /><Relationship Type="http://schemas.openxmlformats.org/officeDocument/2006/relationships/notesMaster" Target="/ppt/notesMasters/notesMaster1.xml" Id="R242be0f185cc433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796aa2148164a17" /><Relationship Type="http://schemas.openxmlformats.org/officeDocument/2006/relationships/notesMaster" Target="/ppt/notesMasters/notesMaster1.xml" Id="Rc0e51f0ab4444d6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79a5200e7a043c0" /><Relationship Type="http://schemas.openxmlformats.org/officeDocument/2006/relationships/notesMaster" Target="/ppt/notesMasters/notesMaster1.xml" Id="R4d4e7f007bbd4c7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b10dd7a69e24602" /><Relationship Type="http://schemas.openxmlformats.org/officeDocument/2006/relationships/notesMaster" Target="/ppt/notesMasters/notesMaster1.xml" Id="R3ecd70e418584f7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cd0ad1681e44595" /><Relationship Type="http://schemas.openxmlformats.org/officeDocument/2006/relationships/notesMaster" Target="/ppt/notesMasters/notesMaster1.xml" Id="R4aa0402bcdde40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Good morning everyone. I am Harsh Bhardwaj, with Shrishti Singh and Rajat Kandpal. AutoDrive explores how a camera frame can support object detection, lane segmentation and steering prediction. Aaj hum architecture, measured results aur limitations explain karenge.</a:t>
            </a:r>
          </a:p>
          <a:p xmlns:a="http://schemas.openxmlformats.org/drawingml/2006/main">
            <a:r>
              <a:t/>
            </a:r>
          </a:p>
          <a:p xmlns:a="http://schemas.openxmlformats.org/drawingml/2006/main">
            <a:r>
              <a:t>SOURCE</a:t>
            </a:r>
          </a:p>
          <a:p xmlns:a="http://schemas.openxmlformats.org/drawingml/2006/main">
            <a:r>
              <a:t>Supplied synopsis, page 1. Research paper, page 1.</a:t>
            </a:r>
          </a:p>
          <a:p xmlns:a="http://schemas.openxmlformats.org/drawingml/2006/main">
            <a:r>
              <a:t>C:/Users/Harsh/Documents/AutoDrive_Research_Paper.pdf</a:t>
            </a:r>
          </a:p>
          <a:p xmlns:a="http://schemas.openxmlformats.org/drawingml/2006/main">
            <a:r>
              <a:t>Cover image is conceptual artwork from the supplied presentation, not a photograph of an AutoDrive vehicle trial.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Our team has three members. Ms. Jasmine is the mentor listed in our synopsis. Department aur college ka naam briefly introduce karo, phir project ki story par move karo.</a:t>
            </a:r>
          </a:p>
          <a:p xmlns:a="http://schemas.openxmlformats.org/drawingml/2006/main">
            <a:r>
              <a:t/>
            </a:r>
          </a:p>
          <a:p xmlns:a="http://schemas.openxmlformats.org/drawingml/2006/main">
            <a:r>
              <a:t>SOURCE</a:t>
            </a:r>
          </a:p>
          <a:p xmlns:a="http://schemas.openxmlformats.org/drawingml/2006/main">
            <a:r>
              <a:t>Supplied synopsis, page 2. Research paper author block, page 1.</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We will first explain the problem, then the implementation and measured results. Detailed numerical tables are in the appendix for questions. Outline ko sirf 15 seconds mein cover karo.</a:t>
            </a:r>
          </a:p>
          <a:p xmlns:a="http://schemas.openxmlformats.org/drawingml/2006/main">
            <a:r>
              <a:t/>
            </a:r>
          </a:p>
          <a:p xmlns:a="http://schemas.openxmlformats.org/drawingml/2006/main">
            <a:r>
              <a:t>SOURCE</a:t>
            </a:r>
          </a:p>
          <a:p xmlns:a="http://schemas.openxmlformats.org/drawingml/2006/main">
            <a:r>
              <a:t>Presentation structure adapted from supplied synopsis, page 3.</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Driving ke time hum objects dekhte hain, lane samajhte hain, aur steering choose karte hain. Our pipeline explores the same perception tasks. Detection gives boxes and labels, segmentation gives masks, and regression gives an angle. Outputs visual display mein combine hote hain.</a:t>
            </a:r>
          </a:p>
          <a:p xmlns:a="http://schemas.openxmlformats.org/drawingml/2006/main">
            <a:r>
              <a:t/>
            </a:r>
          </a:p>
          <a:p xmlns:a="http://schemas.openxmlformats.org/drawingml/2006/main">
            <a:r>
              <a:t>SOURCE</a:t>
            </a:r>
          </a:p>
          <a:p xmlns:a="http://schemas.openxmlformats.org/drawingml/2006/main">
            <a:r>
              <a:t>Research paper, Sections I and IV.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Our objective is a reproducible engineering prototype. Lane annotation conversion is an important part of the work because sparse points cannot directly supervise instance masks. We also evaluate steering honestly and compare it with simple baselines.</a:t>
            </a:r>
          </a:p>
          <a:p xmlns:a="http://schemas.openxmlformats.org/drawingml/2006/main">
            <a:r>
              <a:t/>
            </a:r>
          </a:p>
          <a:p xmlns:a="http://schemas.openxmlformats.org/drawingml/2006/main">
            <a:r>
              <a:t>SOURCE</a:t>
            </a:r>
          </a:p>
          <a:p xmlns:a="http://schemas.openxmlformats.org/drawingml/2006/main">
            <a:r>
              <a:t>Research paper, Section I, Objectives and Contributions.</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DAVE-2 inspired our steering branch. Lane research shows why thin structures need careful supervision. We implement YOLO11s and YOLO11s-seg. We do not claim a new neural architecture. Earlier synopsis drawings used YOLOv4 and ConvLSTM, while this deck describes the actual implementation.</a:t>
            </a:r>
          </a:p>
          <a:p xmlns:a="http://schemas.openxmlformats.org/drawingml/2006/main">
            <a:r>
              <a:t/>
            </a:r>
          </a:p>
          <a:p xmlns:a="http://schemas.openxmlformats.org/drawingml/2006/main">
            <a:r>
              <a:t>SOURCE</a:t>
            </a:r>
          </a:p>
          <a:p xmlns:a="http://schemas.openxmlformats.org/drawingml/2006/main">
            <a:r>
              <a:t>Research paper, Section II and references [4], [8], [11], [21], [22].</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Diagram ko left to right explain karo. A camera frame feeds three branches. Detection returns boxes and classes, lane segmentation returns masks, and steering returns an angle. The display brings the outputs together. This diagram represents visual integration, not a validated planner or vehicle controller.</a:t>
            </a:r>
          </a:p>
          <a:p xmlns:a="http://schemas.openxmlformats.org/drawingml/2006/main">
            <a:r>
              <a:t/>
            </a:r>
          </a:p>
          <a:p xmlns:a="http://schemas.openxmlformats.org/drawingml/2006/main">
            <a:r>
              <a:t>SOURCE</a:t>
            </a:r>
          </a:p>
          <a:p xmlns:a="http://schemas.openxmlformats.org/drawingml/2006/main">
            <a:r>
              <a:t>Research paper, Fig. 1 and Section IV.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Detection has a held-out test split. Lanes use a random 80/20 split with seed 42, while steering uses the existing ordered 80/20 split. Steering collection provenance is not established. We should not attribute it to a named public dataset without evidence.</a:t>
            </a:r>
          </a:p>
          <a:p xmlns:a="http://schemas.openxmlformats.org/drawingml/2006/main">
            <a:r>
              <a:t/>
            </a:r>
          </a:p>
          <a:p xmlns:a="http://schemas.openxmlformats.org/drawingml/2006/main">
            <a:r>
              <a:t>SOURCE</a:t>
            </a:r>
          </a:p>
          <a:p xmlns:a="http://schemas.openxmlformats.org/drawingml/2006/main">
            <a:r>
              <a:t>Research paper, Section III and Tables II(a), II(b).</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YOLO models use a backbone to extract features, a neck to aggregate them, and a task-specific prediction head. Both perception modules use 640-pixel inputs. The object model has ten classes, while the lane model has one lane class.</a:t>
            </a:r>
          </a:p>
          <a:p xmlns:a="http://schemas.openxmlformats.org/drawingml/2006/main">
            <a:r>
              <a:t/>
            </a:r>
          </a:p>
          <a:p xmlns:a="http://schemas.openxmlformats.org/drawingml/2006/main">
            <a:r>
              <a:t>SOURCE</a:t>
            </a:r>
          </a:p>
          <a:p xmlns:a="http://schemas.openxmlformats.org/drawingml/2006/main">
            <a:r>
              <a:t>Research paper, Table III and Section IV.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The reference DAVE-2 and the saved checkpoint have different parameter counts. Our local saved CNN includes an extra dense layer. In the new experiment, convolutional weights stay fixed and a regularized linear readout learns the angle in degrees. Explain this distinction clearly if faculty asks about the diagram.</a:t>
            </a:r>
          </a:p>
          <a:p xmlns:a="http://schemas.openxmlformats.org/drawingml/2006/main">
            <a:r>
              <a:t/>
            </a:r>
          </a:p>
          <a:p xmlns:a="http://schemas.openxmlformats.org/drawingml/2006/main">
            <a:r>
              <a:t>SOURCE</a:t>
            </a:r>
          </a:p>
          <a:p xmlns:a="http://schemas.openxmlformats.org/drawingml/2006/main">
            <a:r>
              <a:t>Research paper, Sections IV and XVII, Table III and Fig. 11.</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The perception runs use a T4. The new steering readout experiment runs locally on a CPU, so do not describe it as a GPU training run. We use PyTorch and TensorFlow, not Torch 7. We do not claim use of NVIDIA DRIVE PX hardware.</a:t>
            </a:r>
          </a:p>
          <a:p xmlns:a="http://schemas.openxmlformats.org/drawingml/2006/main">
            <a:r>
              <a:t/>
            </a:r>
          </a:p>
          <a:p xmlns:a="http://schemas.openxmlformats.org/drawingml/2006/main">
            <a:r>
              <a:t>SOURCE</a:t>
            </a:r>
          </a:p>
          <a:p xmlns:a="http://schemas.openxmlformats.org/drawingml/2006/main">
            <a:r>
              <a:t>Research paper, Sections III, V and XVII, Table IV.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On the held-out test split, precision is 71.2 percent and recall is 61.4 percent. mAP50 is 67.2 percent and mAP50-95 is 47.1 percent. Precision tells us how often detections are correct. Recall tells us how many true objects we find. mAP ko accuracy mat bolo.</a:t>
            </a:r>
          </a:p>
          <a:p xmlns:a="http://schemas.openxmlformats.org/drawingml/2006/main">
            <a:r>
              <a:t/>
            </a:r>
          </a:p>
          <a:p xmlns:a="http://schemas.openxmlformats.org/drawingml/2006/main">
            <a:r>
              <a:t>SOURCE</a:t>
            </a:r>
          </a:p>
          <a:p xmlns:a="http://schemas.openxmlformats.org/drawingml/2006/main">
            <a:r>
              <a:t>Research paper, Table VI(a), page 13.</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Lane boxes achieve high scores, but thin masks are sensitive to one- or two-pixel offsets. Standalone re-evaluation gives mask mAP50-95 of 0.389, while end-of-training gives 0.363. These scores evaluate synthetic lane ribbons, not the official TuSimple point-wise metric.</a:t>
            </a:r>
          </a:p>
          <a:p xmlns:a="http://schemas.openxmlformats.org/drawingml/2006/main">
            <a:r>
              <a:t/>
            </a:r>
          </a:p>
          <a:p xmlns:a="http://schemas.openxmlformats.org/drawingml/2006/main">
            <a:r>
              <a:t>SOURCE</a:t>
            </a:r>
          </a:p>
          <a:p xmlns:a="http://schemas.openxmlformats.org/drawingml/2006/main">
            <a:r>
              <a:t>Research paper, Table VI(b), Section VIII and Eq. 6.</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The validation curve improves from 0.331 after the first epoch to 0.482 at epoch 50. The losses decrease. These are recorded training outputs. This is a progress comparison and does not isolate the effect of one architecture or augmentation choice.</a:t>
            </a:r>
          </a:p>
          <a:p xmlns:a="http://schemas.openxmlformats.org/drawingml/2006/main">
            <a:r>
              <a:t/>
            </a:r>
          </a:p>
          <a:p xmlns:a="http://schemas.openxmlformats.org/drawingml/2006/main">
            <a:r>
              <a:t>SOURCE</a:t>
            </a:r>
          </a:p>
          <a:p xmlns:a="http://schemas.openxmlformats.org/drawingml/2006/main">
            <a:r>
              <a:t>Research paper, Fig. 5 and Table 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The lane model improves across training. Box metrics converge early, while mask metrics remain lower because lane ribbons are thin. End-of-training mask mAP50-95 reaches 0.363. Re-evaluation of the same checkpoint gives 0.389.</a:t>
            </a:r>
          </a:p>
          <a:p xmlns:a="http://schemas.openxmlformats.org/drawingml/2006/main">
            <a:r>
              <a:t/>
            </a:r>
          </a:p>
          <a:p xmlns:a="http://schemas.openxmlformats.org/drawingml/2006/main">
            <a:r>
              <a:t>SOURCE</a:t>
            </a:r>
          </a:p>
          <a:p xmlns:a="http://schemas.openxmlformats.org/drawingml/2006/main">
            <a:r>
              <a:t>Research paper, Fig. 6 and Table 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All four models use the same 9,082 frames. The new readout reduces MAE from 23.2570 to 14.6822 degrees, a 36.9 percent reduction. But training-mean and training-median constants still give lower MAE, and R-squared remains negative. Improvement ko strong or reliable steering ka proof mat bolo.</a:t>
            </a:r>
          </a:p>
          <a:p xmlns:a="http://schemas.openxmlformats.org/drawingml/2006/main">
            <a:r>
              <a:t/>
            </a:r>
          </a:p>
          <a:p xmlns:a="http://schemas.openxmlformats.org/drawingml/2006/main">
            <a:r>
              <a:t>SOURCE</a:t>
            </a:r>
          </a:p>
          <a:p xmlns:a="http://schemas.openxmlformats.org/drawingml/2006/main">
            <a:r>
              <a:t>Research paper, Table IX and Section XVII, page 20.</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Point to the predicted lane masks and explain how they follow painted markings. Some boxes are large because diagonal lanes create large bounding rectangles. These are examples, so do not generalize from six images alone.</a:t>
            </a:r>
          </a:p>
          <a:p xmlns:a="http://schemas.openxmlformats.org/drawingml/2006/main">
            <a:r>
              <a:t/>
            </a:r>
          </a:p>
          <a:p xmlns:a="http://schemas.openxmlformats.org/drawingml/2006/main">
            <a:r>
              <a:t>SOURCE</a:t>
            </a:r>
          </a:p>
          <a:p xmlns:a="http://schemas.openxmlformats.org/drawingml/2006/main">
            <a:r>
              <a:t>Research paper, Fig. 9.</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Explain boxes, labels and confidence. The test metrics show that recall remains limited even when selected images look good. These examples include six held-out test frames.</a:t>
            </a:r>
          </a:p>
          <a:p xmlns:a="http://schemas.openxmlformats.org/drawingml/2006/main">
            <a:r>
              <a:t/>
            </a:r>
          </a:p>
          <a:p xmlns:a="http://schemas.openxmlformats.org/drawingml/2006/main">
            <a:r>
              <a:t>SOURCE</a:t>
            </a:r>
          </a:p>
          <a:p xmlns:a="http://schemas.openxmlformats.org/drawingml/2006/main">
            <a:r>
              <a:t>Research paper, Fig. 10.</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This screenshot from our synopsis illustrates the prototype display and steering wheel visualization. The speed and pedal indicators are interface elements. They are not a measured vehicle speed experiment or evidence of autonomous actuation.</a:t>
            </a:r>
          </a:p>
          <a:p xmlns:a="http://schemas.openxmlformats.org/drawingml/2006/main">
            <a:r>
              <a:t/>
            </a:r>
          </a:p>
          <a:p xmlns:a="http://schemas.openxmlformats.org/drawingml/2006/main">
            <a:r>
              <a:t>SOURCE</a:t>
            </a:r>
          </a:p>
          <a:p xmlns:a="http://schemas.openxmlformats.org/drawingml/2006/main">
            <a:r>
              <a:t>Supplied synopsis, page 11. Research paper, Sections XI and XV.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The combined timings are sums of separately measured modules. They suggest around 32 to 44 FPS for the two perception modules. This is a projection, not an end-to-end benchmark. Steering, frame capture, display and I/O are excluded.</a:t>
            </a:r>
          </a:p>
          <a:p xmlns:a="http://schemas.openxmlformats.org/drawingml/2006/main">
            <a:r>
              <a:t/>
            </a:r>
          </a:p>
          <a:p xmlns:a="http://schemas.openxmlformats.org/drawingml/2006/main">
            <a:r>
              <a:t>SOURCE</a:t>
            </a:r>
          </a:p>
          <a:p xmlns:a="http://schemas.openxmlformats.org/drawingml/2006/main">
            <a:r>
              <a:t>Research paper, Table VIII and Section VIII.</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This is useful as an academic research framework. We can compare modules, inspect errors and study annotation conversion. We have not demonstrated lane-keeping control or sensor fusion. Future work includes independent drives, official lane evaluation and closed-loop simulation.</a:t>
            </a:r>
          </a:p>
          <a:p xmlns:a="http://schemas.openxmlformats.org/drawingml/2006/main">
            <a:r>
              <a:t/>
            </a:r>
          </a:p>
          <a:p xmlns:a="http://schemas.openxmlformats.org/drawingml/2006/main">
            <a:r>
              <a:t>SOURCE</a:t>
            </a:r>
          </a:p>
          <a:p xmlns:a="http://schemas.openxmlformats.org/drawingml/2006/main">
            <a:r>
              <a:t>Research paper, Sections IX, XI and XII.</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To conclude, we built an integrated research prototype and documented its component results. Perception shows useful capabilities, while steering requires further work. Our repository contains the implementation. Thank you. Questions are welcome.</a:t>
            </a:r>
          </a:p>
          <a:p xmlns:a="http://schemas.openxmlformats.org/drawingml/2006/main">
            <a:r>
              <a:t/>
            </a:r>
          </a:p>
          <a:p xmlns:a="http://schemas.openxmlformats.org/drawingml/2006/main">
            <a:r>
              <a:t>SOURCE</a:t>
            </a:r>
          </a:p>
          <a:p xmlns:a="http://schemas.openxmlformats.org/drawingml/2006/main">
            <a:r>
              <a:t>Research paper, Sections XII and XIV. GitHub repository: https://github.com/HA2345567/Autodrive</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These are the principal references used for the model families, datasets and evaluation. The research paper contains the full bibliography. Appendix slides follow for detailed numerical questions.</a:t>
            </a:r>
          </a:p>
          <a:p xmlns:a="http://schemas.openxmlformats.org/drawingml/2006/main">
            <a:r>
              <a:t/>
            </a:r>
          </a:p>
          <a:p xmlns:a="http://schemas.openxmlformats.org/drawingml/2006/main">
            <a:r>
              <a:t>SOURCE</a:t>
            </a:r>
          </a:p>
          <a:p xmlns:a="http://schemas.openxmlformats.org/drawingml/2006/main">
            <a:r>
              <a:t>Research paper references [4], [8], [11], [22], [27], [36].</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These are instance counts, not image counts. Images can contain multiple annotations. The largest-to-smallest training instance ratio is about 24 to 1.</a:t>
            </a:r>
          </a:p>
          <a:p xmlns:a="http://schemas.openxmlformats.org/drawingml/2006/main">
            <a:r>
              <a:t/>
            </a:r>
          </a:p>
          <a:p xmlns:a="http://schemas.openxmlformats.org/drawingml/2006/main">
            <a:r>
              <a:t>SOURCE</a:t>
            </a:r>
          </a:p>
          <a:p xmlns:a="http://schemas.openxmlformats.org/drawingml/2006/main">
            <a:r>
              <a:t>Research paper, Table II(a).</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Traffic lights and bicycles have low AP, while buses, cats and dogs score higher. Stop sign estimates are unstable because the test set contains only 22 instances.</a:t>
            </a:r>
          </a:p>
          <a:p xmlns:a="http://schemas.openxmlformats.org/drawingml/2006/main">
            <a:r>
              <a:t/>
            </a:r>
          </a:p>
          <a:p xmlns:a="http://schemas.openxmlformats.org/drawingml/2006/main">
            <a:r>
              <a:t>SOURCE</a:t>
            </a:r>
          </a:p>
          <a:p xmlns:a="http://schemas.openxmlformats.org/drawingml/2006/main">
            <a:r>
              <a:t>Research paper, Table VII.</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This preserves the full reported perception metrics. End-of-training and standalone lane results differ because evaluation conditions vary. These comparisons are not official TuSimple benchmark scores.</a:t>
            </a:r>
          </a:p>
          <a:p xmlns:a="http://schemas.openxmlformats.org/drawingml/2006/main">
            <a:r>
              <a:t/>
            </a:r>
          </a:p>
          <a:p xmlns:a="http://schemas.openxmlformats.org/drawingml/2006/main">
            <a:r>
              <a:t>SOURCE</a:t>
            </a:r>
          </a:p>
          <a:p xmlns:a="http://schemas.openxmlformats.org/drawingml/2006/main">
            <a:r>
              <a:t>Research paper, Tables VI(a) and VI(b).</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Keep the 505-frame BGR audit separate from the 9,082-frame RGB and readout comparisons. Pearson correlation is undefined for constant predictions. R-squared remains negative for the selected readout.</a:t>
            </a:r>
          </a:p>
          <a:p xmlns:a="http://schemas.openxmlformats.org/drawingml/2006/main">
            <a:r>
              <a:t/>
            </a:r>
          </a:p>
          <a:p xmlns:a="http://schemas.openxmlformats.org/drawingml/2006/main">
            <a:r>
              <a:t>SOURCE</a:t>
            </a:r>
          </a:p>
          <a:p xmlns:a="http://schemas.openxmlformats.org/drawingml/2006/main">
            <a:r>
              <a:t>Research paper, Tables VI(c), IX and Section XVII.</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These are actual saved notebook comparisons. They show training progress, re-evaluation variation and the validation-to-test gap. They do not isolate effects of architecture, mosaic or ribbon width.</a:t>
            </a:r>
          </a:p>
          <a:p xmlns:a="http://schemas.openxmlformats.org/drawingml/2006/main">
            <a:r>
              <a:t/>
            </a:r>
          </a:p>
          <a:p xmlns:a="http://schemas.openxmlformats.org/drawingml/2006/main">
            <a:r>
              <a:t>SOURCE</a:t>
            </a:r>
          </a:p>
          <a:p xmlns:a="http://schemas.openxmlformats.org/drawingml/2006/main">
            <a:r>
              <a:t>Research paper, Table V. research_paper/recorded_comparisons.json</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Detection and lane runs use batch 16 and 640-pixel images. Original steering uses a different training setup. The Huber readout experiment follows its own protocol, described on the next backup slide.</a:t>
            </a:r>
          </a:p>
          <a:p xmlns:a="http://schemas.openxmlformats.org/drawingml/2006/main">
            <a:r>
              <a:t/>
            </a:r>
          </a:p>
          <a:p xmlns:a="http://schemas.openxmlformats.org/drawingml/2006/main">
            <a:r>
              <a:t>SOURCE</a:t>
            </a:r>
          </a:p>
          <a:p xmlns:a="http://schemas.openxmlformats.org/drawingml/2006/main">
            <a:r>
              <a:t>Research paper, Table IV.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The mean and scale use training features. Development MAE chooses the loss and penalty. Validation labels do not fit the readout. The existing validation partition was inspected previously and backbone training exposure is unknown, so it is not an independent test drive. Training labels range from minus 152.87 to plus 501.78 degrees, with 219 beyond plus or minus 180. Validation has no labels outside that bound. Runtime: Python 3.13.1, TensorFlow 2.20.0, NumPy 2.5.1, SciPy 1.18.0, OpenCV 5.0.0, local Pentium 4415U CPU.</a:t>
            </a:r>
          </a:p>
          <a:p xmlns:a="http://schemas.openxmlformats.org/drawingml/2006/main">
            <a:r>
              <a:t/>
            </a:r>
          </a:p>
          <a:p xmlns:a="http://schemas.openxmlformats.org/drawingml/2006/main">
            <a:r>
              <a:t>SOURCE</a:t>
            </a:r>
          </a:p>
          <a:p xmlns:a="http://schemas.openxmlformats.org/drawingml/2006/main">
            <a:r>
              <a:t>Research paper, Section XVII. output/steering_audit/comparison_summary.json</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The table reproduces the canonical reference layer counts. It is not the exact saved local graph, which includes an additional 1,164-unit dense layer. This distinction explains the difference between 252,219 reference parameters and 1,595,511 actual checkpoint parameters.</a:t>
            </a:r>
          </a:p>
          <a:p xmlns:a="http://schemas.openxmlformats.org/drawingml/2006/main">
            <a:r>
              <a:t/>
            </a:r>
          </a:p>
          <a:p xmlns:a="http://schemas.openxmlformats.org/drawingml/2006/main">
            <a:r>
              <a:t>SOURCE</a:t>
            </a:r>
          </a:p>
          <a:p xmlns:a="http://schemas.openxmlformats.org/drawingml/2006/main">
            <a:r>
              <a:t>Research paper, Table III and Sections IV, XVII.</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a982862b1740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8cced36cf5645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a3dd5aee6f41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6c8772fe2a74b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e4bcd859764f3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d8ad7df0ba44a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E9BE7B-09E6-4B89-B1F6-86957FEAE8F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697A25A-26F5-42F5-9749-9CDB0F777CB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97A7B6F-1680-4B00-8D2D-EF938EF6FE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E25D85-A491-4311-A45F-1B6EE39E3F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A621DFD-2C86-4047-9D0F-BAC747B5E71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BD0AD3A-09D7-4D9D-8E23-A68E4E1A4B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ED771D-0A54-4E72-A030-6E6EE511AD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8CE0204-0097-48BD-9B11-C148E0AD61A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966B07-DF7A-49F1-B952-83EA2AE67F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A36D20-2302-49B0-B536-5B39A86D1D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1aaef2bac54639" /><Relationship Type="http://schemas.openxmlformats.org/officeDocument/2006/relationships/slideLayout" Target="/ppt/slideLayouts/slideLayout1.xml" Id="R08ec2f2687c04d95" /><Relationship Type="http://schemas.openxmlformats.org/officeDocument/2006/relationships/slideLayout" Target="/ppt/slideLayouts/slideLayout2.xml" Id="Rd2f400940aef4987" /><Relationship Type="http://schemas.openxmlformats.org/officeDocument/2006/relationships/slideLayout" Target="/ppt/slideLayouts/slideLayout3.xml" Id="Rd3ce1464e07d43cb" /><Relationship Type="http://schemas.openxmlformats.org/officeDocument/2006/relationships/slideLayout" Target="/ppt/slideLayouts/slideLayout4.xml" Id="Ra6ed09fd00974ffb" /><Relationship Type="http://schemas.openxmlformats.org/officeDocument/2006/relationships/slideLayout" Target="/ppt/slideLayouts/slideLayout5.xml" Id="R4bb2f21e6a00496e" /><Relationship Type="http://schemas.openxmlformats.org/officeDocument/2006/relationships/slideLayout" Target="/ppt/slideLayouts/slideLayout6.xml" Id="R936e0d60348e41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ec2f2687c04d95"/>
    <p:sldLayoutId xmlns:r="http://schemas.openxmlformats.org/officeDocument/2006/relationships" id="2147483650" r:id="Rd2f400940aef4987"/>
    <p:sldLayoutId xmlns:r="http://schemas.openxmlformats.org/officeDocument/2006/relationships" id="2147483651" r:id="Rd3ce1464e07d43cb"/>
    <p:sldLayoutId xmlns:r="http://schemas.openxmlformats.org/officeDocument/2006/relationships" id="2147483652" r:id="Ra6ed09fd00974ffb"/>
    <p:sldLayoutId xmlns:r="http://schemas.openxmlformats.org/officeDocument/2006/relationships" id="2147483653" r:id="R4bb2f21e6a00496e"/>
    <p:sldLayoutId xmlns:r="http://schemas.openxmlformats.org/officeDocument/2006/relationships" id="2147483654" r:id="R936e0d60348e41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180f8a8cc14d7e" /><Relationship Type="http://schemas.openxmlformats.org/officeDocument/2006/relationships/image" Target="/ppt/media/image.jpeg" Id="R645260b61c95480c" /><Relationship Type="http://schemas.openxmlformats.org/officeDocument/2006/relationships/hyperlink" Target="https://github.com/HA2345567/Autodrive" TargetMode="External" Id="R9133278d81754bbc" /><Relationship Type="http://schemas.openxmlformats.org/officeDocument/2006/relationships/notesSlide" Target="/ppt/notesSlides/notesSlide1.xml" Id="R2d6abf268ab946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cb6cdce2ba846f8" /><Relationship Type="http://schemas.openxmlformats.org/officeDocument/2006/relationships/notesSlide" Target="/ppt/notesSlides/notesSlide2.xml" Id="Rba234f62f54b49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0e88047a41d4374" /><Relationship Type="http://schemas.openxmlformats.org/officeDocument/2006/relationships/image" Target="/ppt/media/image2.jpeg" Id="R4bc4570f228547f4" /><Relationship Type="http://schemas.openxmlformats.org/officeDocument/2006/relationships/notesSlide" Target="/ppt/notesSlides/notesSlide3.xml" Id="Rdf8597e65b8541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75c37659374740" /><Relationship Type="http://schemas.openxmlformats.org/officeDocument/2006/relationships/notesSlide" Target="/ppt/notesSlides/notesSlide4.xml" Id="Rb16f47f16a374e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37f9c039d594daa" /><Relationship Type="http://schemas.openxmlformats.org/officeDocument/2006/relationships/notesSlide" Target="/ppt/notesSlides/notesSlide5.xml" Id="R12711e5a658a47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d5f7c88de2f46c5" /><Relationship Type="http://schemas.openxmlformats.org/officeDocument/2006/relationships/notesSlide" Target="/ppt/notesSlides/notesSlide6.xml" Id="Rb767d375e3c54a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c12aef4edf64f27" /><Relationship Type="http://schemas.openxmlformats.org/officeDocument/2006/relationships/notesSlide" Target="/ppt/notesSlides/notesSlide7.xml" Id="R11af68d653c44a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1c4446190ff4c1d" /><Relationship Type="http://schemas.openxmlformats.org/officeDocument/2006/relationships/notesSlide" Target="/ppt/notesSlides/notesSlide8.xml" Id="R3e4c4a07229248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a3d641e03f14251" /><Relationship Type="http://schemas.openxmlformats.org/officeDocument/2006/relationships/notesSlide" Target="/ppt/notesSlides/notesSlide9.xml" Id="R5239fc4a935d47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1d555a80ac342e8" /><Relationship Type="http://schemas.openxmlformats.org/officeDocument/2006/relationships/notesSlide" Target="/ppt/notesSlides/notesSlide10.xml" Id="R4b6f926f579a45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f8a8492852f4950" /><Relationship Type="http://schemas.openxmlformats.org/officeDocument/2006/relationships/notesSlide" Target="/ppt/notesSlides/notesSlide11.xml" Id="R7552252b2d1741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4586c2064e4434e" /><Relationship Type="http://schemas.openxmlformats.org/officeDocument/2006/relationships/chart" Target="/ppt/slides/charts/chart1.xml" Id="Rd4f03e7210cd4d47" /><Relationship Type="http://schemas.openxmlformats.org/officeDocument/2006/relationships/notesSlide" Target="/ppt/notesSlides/notesSlide12.xml" Id="Rf07a8d4b29374bd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38e774345cb4656" /><Relationship Type="http://schemas.openxmlformats.org/officeDocument/2006/relationships/chart" Target="/ppt/slides/charts/chart2.xml" Id="R3f8ec3c670b8449f" /><Relationship Type="http://schemas.openxmlformats.org/officeDocument/2006/relationships/notesSlide" Target="/ppt/notesSlides/notesSlide13.xml" Id="Rdb1dcb0d4cf940d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14895528bd44013" /><Relationship Type="http://schemas.openxmlformats.org/officeDocument/2006/relationships/image" Target="/ppt/media/image.png" Id="R2c76b2c2573d4159" /><Relationship Type="http://schemas.openxmlformats.org/officeDocument/2006/relationships/notesSlide" Target="/ppt/notesSlides/notesSlide14.xml" Id="Rf8c97d1859e84d8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d50687abd3d4e7f" /><Relationship Type="http://schemas.openxmlformats.org/officeDocument/2006/relationships/image" Target="/ppt/media/image2.png" Id="R4faf78988e884d05" /><Relationship Type="http://schemas.openxmlformats.org/officeDocument/2006/relationships/notesSlide" Target="/ppt/notesSlides/notesSlide15.xml" Id="R50ae6554019f4a1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2f676ae1d714803" /><Relationship Type="http://schemas.openxmlformats.org/officeDocument/2006/relationships/chart" Target="/ppt/slides/charts/chart3.xml" Id="Rcabc1d2eab214a7c" /><Relationship Type="http://schemas.openxmlformats.org/officeDocument/2006/relationships/notesSlide" Target="/ppt/notesSlides/notesSlide16.xml" Id="Rbd311462201849f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d1f775e48c54c79" /><Relationship Type="http://schemas.openxmlformats.org/officeDocument/2006/relationships/image" Target="/ppt/media/image3.jpeg" Id="R471ddeeadb7f425c" /><Relationship Type="http://schemas.openxmlformats.org/officeDocument/2006/relationships/notesSlide" Target="/ppt/notesSlides/notesSlide17.xml" Id="R342a4b3eb9424ba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97ff2db82db4183" /><Relationship Type="http://schemas.openxmlformats.org/officeDocument/2006/relationships/image" Target="/ppt/media/image4.jpeg" Id="R5178064521974d39" /><Relationship Type="http://schemas.openxmlformats.org/officeDocument/2006/relationships/notesSlide" Target="/ppt/notesSlides/notesSlide18.xml" Id="R9fbd7a25821c4fe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d1c65f6540e4051" /><Relationship Type="http://schemas.openxmlformats.org/officeDocument/2006/relationships/image" Target="/ppt/media/image5.jpeg" Id="R4dd6ab442cac42bd" /><Relationship Type="http://schemas.openxmlformats.org/officeDocument/2006/relationships/notesSlide" Target="/ppt/notesSlides/notesSlide19.xml" Id="Rebac84c5bbd8476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2fa7d701fce42eb" /><Relationship Type="http://schemas.openxmlformats.org/officeDocument/2006/relationships/notesSlide" Target="/ppt/notesSlides/notesSlide20.xml" Id="Rc2650f8a6b7c408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062cdd4eecb4d01" /><Relationship Type="http://schemas.openxmlformats.org/officeDocument/2006/relationships/notesSlide" Target="/ppt/notesSlides/notesSlide21.xml" Id="R5c45ef10f2c5496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ac89f42cf7049c4" /><Relationship Type="http://schemas.openxmlformats.org/officeDocument/2006/relationships/hyperlink" Target="https://github.com/HA2345567/Autodrive" TargetMode="External" Id="R479e723a214b4292" /><Relationship Type="http://schemas.openxmlformats.org/officeDocument/2006/relationships/notesSlide" Target="/ppt/notesSlides/notesSlide22.xml" Id="R8675bd91d9ce4da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68c356163844b34" /><Relationship Type="http://schemas.openxmlformats.org/officeDocument/2006/relationships/notesSlide" Target="/ppt/notesSlides/notesSlide23.xml" Id="R2b6bad786a50429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c97889919d947c3" /><Relationship Type="http://schemas.openxmlformats.org/officeDocument/2006/relationships/notesSlide" Target="/ppt/notesSlides/notesSlide24.xml" Id="Re65896c6d8d5448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e715e9c405c42dd" /><Relationship Type="http://schemas.openxmlformats.org/officeDocument/2006/relationships/notesSlide" Target="/ppt/notesSlides/notesSlide25.xml" Id="R21d9dbf5dfc9436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9abcec0b53c4f94" /><Relationship Type="http://schemas.openxmlformats.org/officeDocument/2006/relationships/notesSlide" Target="/ppt/notesSlides/notesSlide26.xml" Id="R2b879452cc244da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844974afa484126" /><Relationship Type="http://schemas.openxmlformats.org/officeDocument/2006/relationships/notesSlide" Target="/ppt/notesSlides/notesSlide27.xml" Id="Rca02b553e386476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438902313f84066" /><Relationship Type="http://schemas.openxmlformats.org/officeDocument/2006/relationships/notesSlide" Target="/ppt/notesSlides/notesSlide28.xml" Id="R92f9d576f586463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a3e103738264d4f" /><Relationship Type="http://schemas.openxmlformats.org/officeDocument/2006/relationships/notesSlide" Target="/ppt/notesSlides/notesSlide29.xml" Id="R1a0c919ed3d0480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689a6433ce04591" /><Relationship Type="http://schemas.openxmlformats.org/officeDocument/2006/relationships/notesSlide" Target="/ppt/notesSlides/notesSlide30.xml" Id="R7977ba4e89d6420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3932e617a814bd3" /><Relationship Type="http://schemas.openxmlformats.org/officeDocument/2006/relationships/notesSlide" Target="/ppt/notesSlides/notesSlide31.xml" Id="Rafc54ef0279243e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Test result</c:v>
          </c:tx>
          <c:spPr>
            <a:solidFill xmlns:a="http://schemas.openxmlformats.org/drawingml/2006/main">
              <a:srgbClr val="2878B5"/>
            </a:solidFill>
          </c:spPr>
          <c:invertIfNegative val="0"/>
          <c:dPt>
            <c:idx val="0"/>
            <c:invertIfNegative val="0"/>
            <c:spPr>
              <a:solidFill xmlns:a="http://schemas.openxmlformats.org/drawingml/2006/main">
                <a:srgbClr val="2878B5"/>
              </a:solidFill>
            </c:spPr>
          </c:dPt>
          <c:dPt>
            <c:idx val="1"/>
            <c:invertIfNegative val="0"/>
            <c:spPr>
              <a:solidFill xmlns:a="http://schemas.openxmlformats.org/drawingml/2006/main">
                <a:srgbClr val="B95827"/>
              </a:solidFill>
            </c:spPr>
          </c:dPt>
          <c:dPt>
            <c:idx val="2"/>
            <c:invertIfNegative val="0"/>
            <c:spPr>
              <a:solidFill xmlns:a="http://schemas.openxmlformats.org/drawingml/2006/main">
                <a:srgbClr val="478B68"/>
              </a:solidFill>
            </c:spPr>
          </c:dPt>
          <c:dPt>
            <c:idx val="3"/>
            <c:invertIfNegative val="0"/>
            <c:spPr>
              <a:solidFill xmlns:a="http://schemas.openxmlformats.org/drawingml/2006/main">
                <a:srgbClr val="7857A3"/>
              </a:solidFill>
            </c:spPr>
          </c:dPt>
          <c:cat>
            <c:strRef>
              <c:f>'Chart Data'!$A$2:$A$5</c:f>
              <c:strCache>
                <c:ptCount val="4"/>
                <c:pt idx="0">
                  <c:v>Precision</c:v>
                </c:pt>
                <c:pt idx="1">
                  <c:v>Recall</c:v>
                </c:pt>
                <c:pt idx="2">
                  <c:v>mAP50</c:v>
                </c:pt>
                <c:pt idx="3">
                  <c:v>mAP50–95</c:v>
                </c:pt>
              </c:strCache>
            </c:strRef>
          </c:cat>
          <c:val>
            <c:numRef>
              <c:f>'Chart Data'!$B$2:$B$5</c:f>
              <c:numCache>
                <c:formatCode>0%</c:formatCode>
                <c:ptCount val="4"/>
                <c:pt idx="0">
                  <c:v>0.712</c:v>
                </c:pt>
                <c:pt idx="1">
                  <c:v>0.614</c:v>
                </c:pt>
                <c:pt idx="2">
                  <c:v>0.672</c:v>
                </c:pt>
                <c:pt idx="3">
                  <c:v>0.471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000000"/>
                  </a:solidFill>
                  <a:latin typeface="Calibri"/>
                  <a:ea typeface="Calibri"/>
                  <a:cs typeface="Calibri"/>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75">
                <a:solidFill>
                  <a:srgbClr val="000000"/>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9525">
              <a:solidFill>
                <a:srgbClr val="D9D9D9"/>
              </a:solidFill>
            </a:ln>
          </c:spPr>
        </c:majorGridlines>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425">
                <a:solidFill>
                  <a:srgbClr val="000000"/>
                </a:solidFill>
                <a:latin typeface="Calibri"/>
                <a:ea typeface="Calibri"/>
                <a:cs typeface="Calibr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Boxes</c:v>
          </c:tx>
          <c:spPr>
            <a:solidFill xmlns:a="http://schemas.openxmlformats.org/drawingml/2006/main">
              <a:srgbClr val="2878B5"/>
            </a:solidFill>
          </c:spPr>
          <c:invertIfNegative val="0"/>
          <c:cat>
            <c:strRef>
              <c:f>'Chart Data'!$A$2:$A$3</c:f>
              <c:strCache>
                <c:ptCount val="2"/>
                <c:pt idx="0">
                  <c:v>mAP50</c:v>
                </c:pt>
                <c:pt idx="1">
                  <c:v>mAP50–95</c:v>
                </c:pt>
              </c:strCache>
            </c:strRef>
          </c:cat>
          <c:val>
            <c:numRef>
              <c:f>'Chart Data'!$B$2:$B$3</c:f>
              <c:numCache>
                <c:formatCode>0%</c:formatCode>
                <c:ptCount val="2"/>
                <c:pt idx="0">
                  <c:v>0.992</c:v>
                </c:pt>
                <c:pt idx="1">
                  <c:v>0.831</c:v>
                </c:pt>
              </c:numCache>
            </c:numRef>
          </c:val>
        </c:ser>
        <c:ser>
          <c:idx val="1"/>
          <c:order val="1"/>
          <c:tx>
            <c:v>Masks</c:v>
          </c:tx>
          <c:spPr>
            <a:solidFill xmlns:a="http://schemas.openxmlformats.org/drawingml/2006/main">
              <a:srgbClr val="B95827"/>
            </a:solidFill>
          </c:spPr>
          <c:invertIfNegative val="0"/>
          <c:cat>
            <c:strRef>
              <c:f>'Chart Data'!$C$2:$C$3</c:f>
              <c:strCache>
                <c:ptCount val="2"/>
                <c:pt idx="0">
                  <c:v>mAP50</c:v>
                </c:pt>
                <c:pt idx="1">
                  <c:v>mAP50–95</c:v>
                </c:pt>
              </c:strCache>
            </c:strRef>
          </c:cat>
          <c:val>
            <c:numRef>
              <c:f>'Chart Data'!$D$2:$D$3</c:f>
              <c:numCache>
                <c:formatCode>0%</c:formatCode>
                <c:ptCount val="2"/>
                <c:pt idx="0">
                  <c:v>0.89</c:v>
                </c:pt>
                <c:pt idx="1">
                  <c:v>0.389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000000"/>
                  </a:solidFill>
                  <a:latin typeface="Calibri"/>
                  <a:ea typeface="Calibri"/>
                  <a:cs typeface="Calibri"/>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75">
                <a:solidFill>
                  <a:srgbClr val="000000"/>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9525">
              <a:solidFill>
                <a:srgbClr val="D9D9D9"/>
              </a:solidFill>
            </a:ln>
          </c:spPr>
        </c:majorGridlines>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425">
                <a:solidFill>
                  <a:srgbClr val="000000"/>
                </a:solidFill>
                <a:latin typeface="Calibri"/>
                <a:ea typeface="Calibri"/>
                <a:cs typeface="Calibr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 in degrees</c:v>
          </c:tx>
          <c:spPr>
            <a:solidFill xmlns:a="http://schemas.openxmlformats.org/drawingml/2006/main">
              <a:srgbClr val="2878B5"/>
            </a:solidFill>
          </c:spPr>
          <c:invertIfNegative val="0"/>
          <c:dPt>
            <c:idx val="0"/>
            <c:invertIfNegative val="0"/>
            <c:spPr>
              <a:solidFill xmlns:a="http://schemas.openxmlformats.org/drawingml/2006/main">
                <a:srgbClr val="B95827"/>
              </a:solidFill>
            </c:spPr>
          </c:dPt>
          <c:dPt>
            <c:idx val="1"/>
            <c:invertIfNegative val="0"/>
            <c:spPr>
              <a:solidFill xmlns:a="http://schemas.openxmlformats.org/drawingml/2006/main">
                <a:srgbClr val="2878B5"/>
              </a:solidFill>
            </c:spPr>
          </c:dPt>
          <c:dPt>
            <c:idx val="2"/>
            <c:invertIfNegative val="0"/>
            <c:spPr>
              <a:solidFill xmlns:a="http://schemas.openxmlformats.org/drawingml/2006/main">
                <a:srgbClr val="478B68"/>
              </a:solidFill>
            </c:spPr>
          </c:dPt>
          <c:dPt>
            <c:idx val="3"/>
            <c:invertIfNegative val="0"/>
            <c:spPr>
              <a:solidFill xmlns:a="http://schemas.openxmlformats.org/drawingml/2006/main">
                <a:srgbClr val="555555"/>
              </a:solidFill>
            </c:spPr>
          </c:dPt>
          <c:cat>
            <c:strRef>
              <c:f>'Chart Data'!$A$2:$A$5</c:f>
              <c:strCache>
                <c:ptCount val="4"/>
                <c:pt idx="0">
                  <c:v>Original RGB</c:v>
                </c:pt>
                <c:pt idx="1">
                  <c:v>CNN + Huber</c:v>
                </c:pt>
                <c:pt idx="2">
                  <c:v>Train mean</c:v>
                </c:pt>
                <c:pt idx="3">
                  <c:v>Train median</c:v>
                </c:pt>
              </c:strCache>
            </c:strRef>
          </c:cat>
          <c:val>
            <c:numRef>
              <c:f>'Chart Data'!$B$2:$B$5</c:f>
              <c:numCache>
                <c:formatCode>0</c:formatCode>
                <c:ptCount val="4"/>
                <c:pt idx="0">
                  <c:v>23.257</c:v>
                </c:pt>
                <c:pt idx="1">
                  <c:v>14.6822</c:v>
                </c:pt>
                <c:pt idx="2">
                  <c:v>12.4793</c:v>
                </c:pt>
                <c:pt idx="3">
                  <c:v>12.69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000000"/>
                  </a:solidFill>
                  <a:latin typeface="Calibri"/>
                  <a:ea typeface="Calibri"/>
                  <a:cs typeface="Calibri"/>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75">
                <a:solidFill>
                  <a:srgbClr val="000000"/>
                </a:solidFill>
                <a:latin typeface="Calibri"/>
                <a:ea typeface="Calibri"/>
                <a:cs typeface="Calibri"/>
              </a:defRPr>
            </a:pPr>
          </a:p>
        </c:txPr>
        <c:crossAx val="48672768"/>
      </c:catAx>
      <c:valAx>
        <c:axId val="48672768"/>
        <c:scaling>
          <c:orientation val="minMax"/>
          <c:max val="30"/>
          <c:min val="0"/>
        </c:scaling>
        <c:delete val="0"/>
        <c:axPos val="l"/>
        <c:majorGridlines>
          <c:spPr>
            <a:ln xmlns:a="http://schemas.openxmlformats.org/drawingml/2006/main" w="9525">
              <a:solidFill>
                <a:srgbClr val="D9D9D9"/>
              </a:solidFill>
            </a:ln>
          </c:spPr>
        </c:majorGridlines>
        <c:title>
          <c:tx>
            <c:rich>
              <a:bodyPr xmlns:a="http://schemas.openxmlformats.org/drawingml/2006/main"/>
              <a:lstStyle xmlns:a="http://schemas.openxmlformats.org/drawingml/2006/main"/>
              <a:p xmlns:a="http://schemas.openxmlformats.org/drawingml/2006/main">
                <a:r>
                  <a:rPr sz="1500">
                    <a:solidFill>
                      <a:srgbClr val="000000"/>
                    </a:solidFill>
                    <a:latin typeface="Calibri"/>
                    <a:ea typeface="Calibri"/>
                    <a:cs typeface="Calibri"/>
                  </a:rPr>
                  <a:t>MAE (degrees)</a:t>
                </a:r>
              </a:p>
            </c:rich>
          </c:tx>
          <c:overlay val="0"/>
          <c:txPr>
            <a:bodyPr xmlns:a="http://schemas.openxmlformats.org/drawingml/2006/main" anchorCtr="1"/>
            <a:lstStyle xmlns:a="http://schemas.openxmlformats.org/drawingml/2006/main"/>
            <a:p xmlns:a="http://schemas.openxmlformats.org/drawingml/2006/main">
              <a:pPr>
                <a:defRPr sz="1500">
                  <a:solidFill>
                    <a:srgbClr val="000000"/>
                  </a:solidFill>
                  <a:latin typeface="Calibri"/>
                  <a:ea typeface="Calibri"/>
                  <a:cs typeface="Calibri"/>
                </a:defRPr>
              </a:pPr>
            </a:p>
          </c:txPr>
        </c:title>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425">
                <a:solidFill>
                  <a:srgbClr val="000000"/>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36D0B9D-9AEA-457F-BFB6-F89FD0093CDE}"/>
              </a:ext>
            </a:extLst>
          </p:cNvPr>
          <p:cNvPicPr>
            <a:picLocks xmlns:a="http://schemas.openxmlformats.org/drawingml/2006/main" noChangeAspect="1"/>
          </p:cNvPicPr>
          <p:nvPr/>
        </p:nvPicPr>
        <p:blipFill>
          <a:blip xmlns:r="http://schemas.openxmlformats.org/officeDocument/2006/relationships" xmlns:a="http://schemas.openxmlformats.org/drawingml/2006/main" r:embed="R645260b61c95480c"/>
          <a:srcRect xmlns:a="http://schemas.openxmlformats.org/drawingml/2006/main" l="87" t="0" r="87"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object-1">
            <a:extLst xmlns:a="http://schemas.openxmlformats.org/drawingml/2006/main">
              <a:ext uri="{FF2B5EF4-FFF2-40B4-BE49-F238E27FC236}">
                <a16:creationId xmlns:a16="http://schemas.microsoft.com/office/drawing/2014/main" id="{3EC20D62-49D8-4D51-9273-FA407B2EFA66}"/>
              </a:ext>
            </a:extLst>
          </p:cNvPr>
          <p:cNvSpPr>
            <a:spLocks xmlns:a="http://schemas.openxmlformats.org/drawingml/2006/main" noGrp="1"/>
          </p:cNvSpPr>
          <p:nvPr/>
        </p:nvSpPr>
        <p:spPr>
          <a:xfrm xmlns:a="http://schemas.openxmlformats.org/drawingml/2006/main">
            <a:off x="0" y="0"/>
            <a:ext cx="12192000" cy="2381250"/>
          </a:xfrm>
          <a:prstGeom xmlns:a="http://schemas.openxmlformats.org/drawingml/2006/main" prst="rect">
            <a:avLst/>
          </a:prstGeom>
          <a:solidFill xmlns:a="http://schemas.openxmlformats.org/drawingml/2006/main">
            <a:srgbClr val="000000">
              <a:alpha val="65000"/>
            </a:srgbClr>
          </a:solidFill>
          <a:ln xmlns:a="http://schemas.openxmlformats.org/drawingml/2006/main" w="0">
            <a:noFill/>
            <a:prstDash val="solid"/>
          </a:ln>
        </p:spPr>
      </p:sp>
      <p:sp>
        <p:nvSpPr>
          <p:cNvPr id="3" name="object-2">
            <a:extLst xmlns:a="http://schemas.openxmlformats.org/drawingml/2006/main">
              <a:ext uri="{FF2B5EF4-FFF2-40B4-BE49-F238E27FC236}">
                <a16:creationId xmlns:a16="http://schemas.microsoft.com/office/drawing/2014/main" id="{B5220061-6544-4BC0-A2B1-ED91E13EF6AD}"/>
              </a:ext>
            </a:extLst>
          </p:cNvPr>
          <p:cNvSpPr>
            <a:spLocks xmlns:a="http://schemas.openxmlformats.org/drawingml/2006/main" noGrp="1"/>
          </p:cNvSpPr>
          <p:nvPr/>
        </p:nvSpPr>
        <p:spPr>
          <a:xfrm xmlns:a="http://schemas.openxmlformats.org/drawingml/2006/main">
            <a:off x="609600" y="4286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100" b="0">
                <a:solidFill>
                  <a:srgbClr val="FFFFFF"/>
                </a:solidFill>
                <a:latin typeface="Calibri Light"/>
                <a:ea typeface="Calibri Light"/>
                <a:cs typeface="Calibri Light"/>
              </a:defRPr>
            </a:defPPr>
            <a:lvl1pPr algn="l">
              <a:defRPr sz="5100" b="0">
                <a:solidFill>
                  <a:srgbClr val="FFFFFF"/>
                </a:solidFill>
                <a:latin typeface="Calibri Light"/>
                <a:ea typeface="Calibri Light"/>
                <a:cs typeface="Calibri Light"/>
              </a:defRPr>
            </a:lvl1pPr>
            <a:lvl2pPr algn="l">
              <a:defRPr sz="5100" b="0">
                <a:solidFill>
                  <a:srgbClr val="FFFFFF"/>
                </a:solidFill>
                <a:latin typeface="Calibri Light"/>
                <a:ea typeface="Calibri Light"/>
                <a:cs typeface="Calibri Light"/>
              </a:defRPr>
            </a:lvl2pPr>
            <a:lvl3pPr algn="l">
              <a:defRPr sz="5100" b="0">
                <a:solidFill>
                  <a:srgbClr val="FFFFFF"/>
                </a:solidFill>
                <a:latin typeface="Calibri Light"/>
                <a:ea typeface="Calibri Light"/>
                <a:cs typeface="Calibri Light"/>
              </a:defRPr>
            </a:lvl3pPr>
            <a:lvl4pPr algn="l">
              <a:defRPr sz="5100" b="0">
                <a:solidFill>
                  <a:srgbClr val="FFFFFF"/>
                </a:solidFill>
                <a:latin typeface="Calibri Light"/>
                <a:ea typeface="Calibri Light"/>
                <a:cs typeface="Calibri Light"/>
              </a:defRPr>
            </a:lvl4pPr>
            <a:lvl5pPr algn="l">
              <a:defRPr sz="5100" b="0">
                <a:solidFill>
                  <a:srgbClr val="FFFFFF"/>
                </a:solidFill>
                <a:latin typeface="Calibri Light"/>
                <a:ea typeface="Calibri Light"/>
                <a:cs typeface="Calibri Light"/>
              </a:defRPr>
            </a:lvl5pPr>
            <a:lvl6pPr algn="l">
              <a:defRPr sz="5100" b="0">
                <a:solidFill>
                  <a:srgbClr val="FFFFFF"/>
                </a:solidFill>
                <a:latin typeface="Calibri Light"/>
                <a:ea typeface="Calibri Light"/>
                <a:cs typeface="Calibri Light"/>
              </a:defRPr>
            </a:lvl6pPr>
            <a:lvl7pPr algn="l">
              <a:defRPr sz="5100" b="0">
                <a:solidFill>
                  <a:srgbClr val="FFFFFF"/>
                </a:solidFill>
                <a:latin typeface="Calibri Light"/>
                <a:ea typeface="Calibri Light"/>
                <a:cs typeface="Calibri Light"/>
              </a:defRPr>
            </a:lvl7pPr>
            <a:lvl8pPr algn="l">
              <a:defRPr sz="5100" b="0">
                <a:solidFill>
                  <a:srgbClr val="FFFFFF"/>
                </a:solidFill>
                <a:latin typeface="Calibri Light"/>
                <a:ea typeface="Calibri Light"/>
                <a:cs typeface="Calibri Light"/>
              </a:defRPr>
            </a:lvl8pPr>
            <a:lvl9pPr algn="l">
              <a:defRPr sz="5100" b="0">
                <a:solidFill>
                  <a:srgbClr val="FFFFFF"/>
                </a:solidFill>
                <a:latin typeface="Calibri Light"/>
                <a:ea typeface="Calibri Light"/>
                <a:cs typeface="Calibri Light"/>
              </a:defRPr>
            </a:lvl9pPr>
          </a:lstStyle>
          <a:p xmlns:a="http://schemas.openxmlformats.org/drawingml/2006/main">
            <a:pPr algn="l">
              <a:defRPr sz="5100" b="0">
                <a:solidFill>
                  <a:srgbClr val="FFFFFF"/>
                </a:solidFill>
                <a:latin typeface="Calibri Light"/>
                <a:ea typeface="Calibri Light"/>
                <a:cs typeface="Calibri Light"/>
              </a:defRPr>
            </a:pPr>
            <a:r>
              <a:rPr sz="5100" b="0">
                <a:solidFill>
                  <a:srgbClr val="FFFFFF"/>
                </a:solidFill>
                <a:latin typeface="Calibri Light"/>
                <a:ea typeface="Calibri Light"/>
                <a:cs typeface="Calibri Light"/>
              </a:rPr>
              <a:t>AutoDrive</a:t>
            </a:r>
          </a:p>
        </p:txBody>
      </p:sp>
      <p:sp>
        <p:nvSpPr>
          <p:cNvPr id="4" name="object-3">
            <a:extLst xmlns:a="http://schemas.openxmlformats.org/drawingml/2006/main">
              <a:ext uri="{FF2B5EF4-FFF2-40B4-BE49-F238E27FC236}">
                <a16:creationId xmlns:a16="http://schemas.microsoft.com/office/drawing/2014/main" id="{37EB48E5-60CE-474D-9265-F9FAAF46F391}"/>
              </a:ext>
            </a:extLst>
          </p:cNvPr>
          <p:cNvSpPr>
            <a:spLocks xmlns:a="http://schemas.openxmlformats.org/drawingml/2006/main" noGrp="1"/>
          </p:cNvSpPr>
          <p:nvPr/>
        </p:nvSpPr>
        <p:spPr>
          <a:xfrm xmlns:a="http://schemas.openxmlformats.org/drawingml/2006/main">
            <a:off x="609600" y="1314450"/>
            <a:ext cx="10953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a:solidFill>
                  <a:srgbClr val="FFFFFF"/>
                </a:solidFill>
                <a:latin typeface="Calibri Light"/>
                <a:ea typeface="Calibri Light"/>
                <a:cs typeface="Calibri Light"/>
              </a:defRPr>
            </a:defPPr>
            <a:lvl1pPr algn="l">
              <a:defRPr sz="3150" b="0">
                <a:solidFill>
                  <a:srgbClr val="FFFFFF"/>
                </a:solidFill>
                <a:latin typeface="Calibri Light"/>
                <a:ea typeface="Calibri Light"/>
                <a:cs typeface="Calibri Light"/>
              </a:defRPr>
            </a:lvl1pPr>
            <a:lvl2pPr algn="l">
              <a:defRPr sz="3150" b="0">
                <a:solidFill>
                  <a:srgbClr val="FFFFFF"/>
                </a:solidFill>
                <a:latin typeface="Calibri Light"/>
                <a:ea typeface="Calibri Light"/>
                <a:cs typeface="Calibri Light"/>
              </a:defRPr>
            </a:lvl2pPr>
            <a:lvl3pPr algn="l">
              <a:defRPr sz="3150" b="0">
                <a:solidFill>
                  <a:srgbClr val="FFFFFF"/>
                </a:solidFill>
                <a:latin typeface="Calibri Light"/>
                <a:ea typeface="Calibri Light"/>
                <a:cs typeface="Calibri Light"/>
              </a:defRPr>
            </a:lvl3pPr>
            <a:lvl4pPr algn="l">
              <a:defRPr sz="3150" b="0">
                <a:solidFill>
                  <a:srgbClr val="FFFFFF"/>
                </a:solidFill>
                <a:latin typeface="Calibri Light"/>
                <a:ea typeface="Calibri Light"/>
                <a:cs typeface="Calibri Light"/>
              </a:defRPr>
            </a:lvl4pPr>
            <a:lvl5pPr algn="l">
              <a:defRPr sz="3150" b="0">
                <a:solidFill>
                  <a:srgbClr val="FFFFFF"/>
                </a:solidFill>
                <a:latin typeface="Calibri Light"/>
                <a:ea typeface="Calibri Light"/>
                <a:cs typeface="Calibri Light"/>
              </a:defRPr>
            </a:lvl5pPr>
            <a:lvl6pPr algn="l">
              <a:defRPr sz="3150" b="0">
                <a:solidFill>
                  <a:srgbClr val="FFFFFF"/>
                </a:solidFill>
                <a:latin typeface="Calibri Light"/>
                <a:ea typeface="Calibri Light"/>
                <a:cs typeface="Calibri Light"/>
              </a:defRPr>
            </a:lvl6pPr>
            <a:lvl7pPr algn="l">
              <a:defRPr sz="3150" b="0">
                <a:solidFill>
                  <a:srgbClr val="FFFFFF"/>
                </a:solidFill>
                <a:latin typeface="Calibri Light"/>
                <a:ea typeface="Calibri Light"/>
                <a:cs typeface="Calibri Light"/>
              </a:defRPr>
            </a:lvl7pPr>
            <a:lvl8pPr algn="l">
              <a:defRPr sz="3150" b="0">
                <a:solidFill>
                  <a:srgbClr val="FFFFFF"/>
                </a:solidFill>
                <a:latin typeface="Calibri Light"/>
                <a:ea typeface="Calibri Light"/>
                <a:cs typeface="Calibri Light"/>
              </a:defRPr>
            </a:lvl8pPr>
            <a:lvl9pPr algn="l">
              <a:defRPr sz="3150" b="0">
                <a:solidFill>
                  <a:srgbClr val="FFFFFF"/>
                </a:solidFill>
                <a:latin typeface="Calibri Light"/>
                <a:ea typeface="Calibri Light"/>
                <a:cs typeface="Calibri Light"/>
              </a:defRPr>
            </a:lvl9pPr>
          </a:lstStyle>
          <a:p xmlns:a="http://schemas.openxmlformats.org/drawingml/2006/main">
            <a:pPr algn="l">
              <a:defRPr sz="3150" b="0">
                <a:solidFill>
                  <a:srgbClr val="FFFFFF"/>
                </a:solidFill>
                <a:latin typeface="Calibri Light"/>
                <a:ea typeface="Calibri Light"/>
                <a:cs typeface="Calibri Light"/>
              </a:defRPr>
            </a:pPr>
            <a:r>
              <a:rPr sz="3150" b="0">
                <a:solidFill>
                  <a:srgbClr val="FFFFFF"/>
                </a:solidFill>
                <a:latin typeface="Calibri Light"/>
                <a:ea typeface="Calibri Light"/>
                <a:cs typeface="Calibri Light"/>
              </a:rPr>
              <a:t>Autonomous Driving Research Prototype</a:t>
            </a:r>
          </a:p>
        </p:txBody>
      </p:sp>
      <p:sp>
        <p:nvSpPr>
          <p:cNvPr id="5" name="object-4">
            <a:extLst xmlns:a="http://schemas.openxmlformats.org/drawingml/2006/main">
              <a:ext uri="{FF2B5EF4-FFF2-40B4-BE49-F238E27FC236}">
                <a16:creationId xmlns:a16="http://schemas.microsoft.com/office/drawing/2014/main" id="{D1781314-D312-4F6A-83D3-10E651EB921F}"/>
              </a:ext>
            </a:extLst>
          </p:cNvPr>
          <p:cNvSpPr>
            <a:spLocks xmlns:a="http://schemas.openxmlformats.org/drawingml/2006/main" noGrp="1"/>
          </p:cNvSpPr>
          <p:nvPr/>
        </p:nvSpPr>
        <p:spPr>
          <a:xfrm xmlns:a="http://schemas.openxmlformats.org/drawingml/2006/main">
            <a:off x="628650" y="204787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Calibri"/>
                <a:ea typeface="Calibri"/>
                <a:cs typeface="Calibri"/>
              </a:defRPr>
            </a:defPPr>
            <a:lvl1pPr algn="l">
              <a:defRPr sz="2025" b="0">
                <a:solidFill>
                  <a:srgbClr val="FFFFFF"/>
                </a:solidFill>
                <a:latin typeface="Calibri"/>
                <a:ea typeface="Calibri"/>
                <a:cs typeface="Calibri"/>
              </a:defRPr>
            </a:lvl1pPr>
            <a:lvl2pPr algn="l">
              <a:defRPr sz="2025" b="0">
                <a:solidFill>
                  <a:srgbClr val="FFFFFF"/>
                </a:solidFill>
                <a:latin typeface="Calibri"/>
                <a:ea typeface="Calibri"/>
                <a:cs typeface="Calibri"/>
              </a:defRPr>
            </a:lvl2pPr>
            <a:lvl3pPr algn="l">
              <a:defRPr sz="2025" b="0">
                <a:solidFill>
                  <a:srgbClr val="FFFFFF"/>
                </a:solidFill>
                <a:latin typeface="Calibri"/>
                <a:ea typeface="Calibri"/>
                <a:cs typeface="Calibri"/>
              </a:defRPr>
            </a:lvl3pPr>
            <a:lvl4pPr algn="l">
              <a:defRPr sz="2025" b="0">
                <a:solidFill>
                  <a:srgbClr val="FFFFFF"/>
                </a:solidFill>
                <a:latin typeface="Calibri"/>
                <a:ea typeface="Calibri"/>
                <a:cs typeface="Calibri"/>
              </a:defRPr>
            </a:lvl4pPr>
            <a:lvl5pPr algn="l">
              <a:defRPr sz="2025" b="0">
                <a:solidFill>
                  <a:srgbClr val="FFFFFF"/>
                </a:solidFill>
                <a:latin typeface="Calibri"/>
                <a:ea typeface="Calibri"/>
                <a:cs typeface="Calibri"/>
              </a:defRPr>
            </a:lvl5pPr>
            <a:lvl6pPr algn="l">
              <a:defRPr sz="2025" b="0">
                <a:solidFill>
                  <a:srgbClr val="FFFFFF"/>
                </a:solidFill>
                <a:latin typeface="Calibri"/>
                <a:ea typeface="Calibri"/>
                <a:cs typeface="Calibri"/>
              </a:defRPr>
            </a:lvl6pPr>
            <a:lvl7pPr algn="l">
              <a:defRPr sz="2025" b="0">
                <a:solidFill>
                  <a:srgbClr val="FFFFFF"/>
                </a:solidFill>
                <a:latin typeface="Calibri"/>
                <a:ea typeface="Calibri"/>
                <a:cs typeface="Calibri"/>
              </a:defRPr>
            </a:lvl7pPr>
            <a:lvl8pPr algn="l">
              <a:defRPr sz="2025" b="0">
                <a:solidFill>
                  <a:srgbClr val="FFFFFF"/>
                </a:solidFill>
                <a:latin typeface="Calibri"/>
                <a:ea typeface="Calibri"/>
                <a:cs typeface="Calibri"/>
              </a:defRPr>
            </a:lvl8pPr>
            <a:lvl9pPr algn="l">
              <a:defRPr sz="2025" b="0">
                <a:solidFill>
                  <a:srgbClr val="FFFFFF"/>
                </a:solidFill>
                <a:latin typeface="Calibri"/>
                <a:ea typeface="Calibri"/>
                <a:cs typeface="Calibri"/>
              </a:defRPr>
            </a:lvl9pPr>
          </a:lstStyle>
          <a:p xmlns:a="http://schemas.openxmlformats.org/drawingml/2006/main">
            <a:pPr algn="l">
              <a:defRPr sz="2025" b="0">
                <a:solidFill>
                  <a:srgbClr val="FFFFFF"/>
                </a:solidFill>
                <a:latin typeface="Calibri"/>
                <a:ea typeface="Calibri"/>
                <a:cs typeface="Calibri"/>
              </a:defRPr>
            </a:pPr>
            <a:r>
              <a:rPr sz="2025" b="0">
                <a:solidFill>
                  <a:srgbClr val="FFFFFF"/>
                </a:solidFill>
                <a:latin typeface="Calibri"/>
                <a:ea typeface="Calibri"/>
                <a:cs typeface="Calibri"/>
              </a:rPr>
              <a:t>Computer vision, lane segmentation and steering prediction</a:t>
            </a:r>
          </a:p>
        </p:txBody>
      </p:sp>
      <p:sp>
        <p:nvSpPr>
          <p:cNvPr id="6" name="object-5">
            <a:extLst xmlns:a="http://schemas.openxmlformats.org/drawingml/2006/main">
              <a:ext uri="{FF2B5EF4-FFF2-40B4-BE49-F238E27FC236}">
                <a16:creationId xmlns:a16="http://schemas.microsoft.com/office/drawing/2014/main" id="{9FB177ED-9415-4D4C-9AF3-5DD4F5120E3A}"/>
              </a:ext>
            </a:extLst>
          </p:cNvPr>
          <p:cNvSpPr>
            <a:spLocks xmlns:a="http://schemas.openxmlformats.org/drawingml/2006/main" noGrp="1"/>
          </p:cNvSpPr>
          <p:nvPr/>
        </p:nvSpPr>
        <p:spPr>
          <a:xfrm xmlns:a="http://schemas.openxmlformats.org/drawingml/2006/main">
            <a:off x="0" y="6067425"/>
            <a:ext cx="12192000" cy="7905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7" name="object-6">
            <a:extLst xmlns:a="http://schemas.openxmlformats.org/drawingml/2006/main">
              <a:ext uri="{FF2B5EF4-FFF2-40B4-BE49-F238E27FC236}">
                <a16:creationId xmlns:a16="http://schemas.microsoft.com/office/drawing/2014/main" id="{4339CCD8-0214-45A1-91FD-0A819BA73D1C}"/>
              </a:ext>
            </a:extLst>
          </p:cNvPr>
          <p:cNvSpPr>
            <a:spLocks xmlns:a="http://schemas.openxmlformats.org/drawingml/2006/main" noGrp="1"/>
          </p:cNvSpPr>
          <p:nvPr/>
        </p:nvSpPr>
        <p:spPr>
          <a:xfrm xmlns:a="http://schemas.openxmlformats.org/drawingml/2006/main">
            <a:off x="609600" y="6219825"/>
            <a:ext cx="533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Calibri"/>
                <a:ea typeface="Calibri"/>
                <a:cs typeface="Calibri"/>
              </a:defRPr>
            </a:defPPr>
            <a:lvl1pPr algn="l">
              <a:defRPr sz="2100" b="0">
                <a:solidFill>
                  <a:srgbClr val="FFFFFF"/>
                </a:solidFill>
                <a:latin typeface="Calibri"/>
                <a:ea typeface="Calibri"/>
                <a:cs typeface="Calibri"/>
              </a:defRPr>
            </a:lvl1pPr>
            <a:lvl2pPr algn="l">
              <a:defRPr sz="2100" b="0">
                <a:solidFill>
                  <a:srgbClr val="FFFFFF"/>
                </a:solidFill>
                <a:latin typeface="Calibri"/>
                <a:ea typeface="Calibri"/>
                <a:cs typeface="Calibri"/>
              </a:defRPr>
            </a:lvl2pPr>
            <a:lvl3pPr algn="l">
              <a:defRPr sz="2100" b="0">
                <a:solidFill>
                  <a:srgbClr val="FFFFFF"/>
                </a:solidFill>
                <a:latin typeface="Calibri"/>
                <a:ea typeface="Calibri"/>
                <a:cs typeface="Calibri"/>
              </a:defRPr>
            </a:lvl3pPr>
            <a:lvl4pPr algn="l">
              <a:defRPr sz="2100" b="0">
                <a:solidFill>
                  <a:srgbClr val="FFFFFF"/>
                </a:solidFill>
                <a:latin typeface="Calibri"/>
                <a:ea typeface="Calibri"/>
                <a:cs typeface="Calibri"/>
              </a:defRPr>
            </a:lvl4pPr>
            <a:lvl5pPr algn="l">
              <a:defRPr sz="2100" b="0">
                <a:solidFill>
                  <a:srgbClr val="FFFFFF"/>
                </a:solidFill>
                <a:latin typeface="Calibri"/>
                <a:ea typeface="Calibri"/>
                <a:cs typeface="Calibri"/>
              </a:defRPr>
            </a:lvl5pPr>
            <a:lvl6pPr algn="l">
              <a:defRPr sz="2100" b="0">
                <a:solidFill>
                  <a:srgbClr val="FFFFFF"/>
                </a:solidFill>
                <a:latin typeface="Calibri"/>
                <a:ea typeface="Calibri"/>
                <a:cs typeface="Calibri"/>
              </a:defRPr>
            </a:lvl6pPr>
            <a:lvl7pPr algn="l">
              <a:defRPr sz="2100" b="0">
                <a:solidFill>
                  <a:srgbClr val="FFFFFF"/>
                </a:solidFill>
                <a:latin typeface="Calibri"/>
                <a:ea typeface="Calibri"/>
                <a:cs typeface="Calibri"/>
              </a:defRPr>
            </a:lvl7pPr>
            <a:lvl8pPr algn="l">
              <a:defRPr sz="2100" b="0">
                <a:solidFill>
                  <a:srgbClr val="FFFFFF"/>
                </a:solidFill>
                <a:latin typeface="Calibri"/>
                <a:ea typeface="Calibri"/>
                <a:cs typeface="Calibri"/>
              </a:defRPr>
            </a:lvl8pPr>
            <a:lvl9pPr algn="l">
              <a:defRPr sz="2100" b="0">
                <a:solidFill>
                  <a:srgbClr val="FFFFFF"/>
                </a:solidFill>
                <a:latin typeface="Calibri"/>
                <a:ea typeface="Calibri"/>
                <a:cs typeface="Calibri"/>
              </a:defRPr>
            </a:lvl9pPr>
          </a:lstStyle>
          <a:p xmlns:a="http://schemas.openxmlformats.org/drawingml/2006/main">
            <a:pPr algn="l">
              <a:defRPr sz="2100" b="0">
                <a:solidFill>
                  <a:srgbClr val="FFFFFF"/>
                </a:solidFill>
                <a:latin typeface="Calibri"/>
                <a:ea typeface="Calibri"/>
                <a:cs typeface="Calibri"/>
              </a:defRPr>
            </a:pPr>
            <a:r>
              <a:rPr sz="2100" b="0">
                <a:solidFill>
                  <a:srgbClr val="FFFFFF"/>
                </a:solidFill>
                <a:latin typeface="Calibri"/>
                <a:ea typeface="Calibri"/>
                <a:cs typeface="Calibri"/>
              </a:rPr>
              <a:t>AutoDrive Research Team</a:t>
            </a:r>
          </a:p>
        </p:txBody>
      </p:sp>
      <p:sp>
        <p:nvSpPr>
          <p:cNvPr id="8" name="object-7">
            <a:extLst xmlns:a="http://schemas.openxmlformats.org/drawingml/2006/main">
              <a:ext uri="{FF2B5EF4-FFF2-40B4-BE49-F238E27FC236}">
                <a16:creationId xmlns:a16="http://schemas.microsoft.com/office/drawing/2014/main" id="{AF20FFAF-8D78-4D4B-8332-8152C9C023FB}"/>
              </a:ext>
            </a:extLst>
          </p:cNvPr>
          <p:cNvSpPr>
            <a:spLocks xmlns:a="http://schemas.openxmlformats.org/drawingml/2006/main" noGrp="1"/>
          </p:cNvSpPr>
          <p:nvPr/>
        </p:nvSpPr>
        <p:spPr>
          <a:xfrm xmlns:a="http://schemas.openxmlformats.org/drawingml/2006/main">
            <a:off x="6267450" y="6238875"/>
            <a:ext cx="53149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950" b="0">
                <a:solidFill>
                  <a:srgbClr val="FFFFFF"/>
                </a:solidFill>
                <a:latin typeface="Calibri"/>
                <a:ea typeface="Calibri"/>
                <a:cs typeface="Calibri"/>
              </a:defRPr>
            </a:defPPr>
            <a:lvl1pPr algn="r">
              <a:defRPr sz="1950" b="0">
                <a:solidFill>
                  <a:srgbClr val="FFFFFF"/>
                </a:solidFill>
                <a:latin typeface="Calibri"/>
                <a:ea typeface="Calibri"/>
                <a:cs typeface="Calibri"/>
              </a:defRPr>
            </a:lvl1pPr>
            <a:lvl2pPr algn="r">
              <a:defRPr sz="1950" b="0">
                <a:solidFill>
                  <a:srgbClr val="FFFFFF"/>
                </a:solidFill>
                <a:latin typeface="Calibri"/>
                <a:ea typeface="Calibri"/>
                <a:cs typeface="Calibri"/>
              </a:defRPr>
            </a:lvl2pPr>
            <a:lvl3pPr algn="r">
              <a:defRPr sz="1950" b="0">
                <a:solidFill>
                  <a:srgbClr val="FFFFFF"/>
                </a:solidFill>
                <a:latin typeface="Calibri"/>
                <a:ea typeface="Calibri"/>
                <a:cs typeface="Calibri"/>
              </a:defRPr>
            </a:lvl3pPr>
            <a:lvl4pPr algn="r">
              <a:defRPr sz="1950" b="0">
                <a:solidFill>
                  <a:srgbClr val="FFFFFF"/>
                </a:solidFill>
                <a:latin typeface="Calibri"/>
                <a:ea typeface="Calibri"/>
                <a:cs typeface="Calibri"/>
              </a:defRPr>
            </a:lvl4pPr>
            <a:lvl5pPr algn="r">
              <a:defRPr sz="1950" b="0">
                <a:solidFill>
                  <a:srgbClr val="FFFFFF"/>
                </a:solidFill>
                <a:latin typeface="Calibri"/>
                <a:ea typeface="Calibri"/>
                <a:cs typeface="Calibri"/>
              </a:defRPr>
            </a:lvl5pPr>
            <a:lvl6pPr algn="r">
              <a:defRPr sz="1950" b="0">
                <a:solidFill>
                  <a:srgbClr val="FFFFFF"/>
                </a:solidFill>
                <a:latin typeface="Calibri"/>
                <a:ea typeface="Calibri"/>
                <a:cs typeface="Calibri"/>
              </a:defRPr>
            </a:lvl6pPr>
            <a:lvl7pPr algn="r">
              <a:defRPr sz="1950" b="0">
                <a:solidFill>
                  <a:srgbClr val="FFFFFF"/>
                </a:solidFill>
                <a:latin typeface="Calibri"/>
                <a:ea typeface="Calibri"/>
                <a:cs typeface="Calibri"/>
              </a:defRPr>
            </a:lvl7pPr>
            <a:lvl8pPr algn="r">
              <a:defRPr sz="1950" b="0">
                <a:solidFill>
                  <a:srgbClr val="FFFFFF"/>
                </a:solidFill>
                <a:latin typeface="Calibri"/>
                <a:ea typeface="Calibri"/>
                <a:cs typeface="Calibri"/>
              </a:defRPr>
            </a:lvl8pPr>
            <a:lvl9pPr algn="r">
              <a:defRPr sz="1950" b="0">
                <a:solidFill>
                  <a:srgbClr val="FFFFFF"/>
                </a:solidFill>
                <a:latin typeface="Calibri"/>
                <a:ea typeface="Calibri"/>
                <a:cs typeface="Calibri"/>
              </a:defRPr>
            </a:lvl9pPr>
          </a:lstStyle>
          <a:p xmlns:a="http://schemas.openxmlformats.org/drawingml/2006/main">
            <a:pPr algn="r">
              <a:defRPr sz="1950" b="0">
                <a:solidFill>
                  <a:srgbClr val="FFFFFF"/>
                </a:solidFill>
                <a:latin typeface="Calibri"/>
                <a:ea typeface="Calibri"/>
                <a:cs typeface="Calibri"/>
              </a:defRPr>
            </a:pPr>
            <a:r>
              <a:rPr sz="1950" b="0">
                <a:solidFill>
                  <a:srgbClr val="FFFFFF"/>
                </a:solidFill>
                <a:latin typeface="Calibri"/>
                <a:ea typeface="Calibri"/>
                <a:cs typeface="Calibri"/>
                <a:hlinkClick xmlns:r="http://schemas.openxmlformats.org/officeDocument/2006/relationships" r:id="R9133278d81754bbc"/>
              </a:rPr>
              <a:t>github.com/HA2345567/Autodrive</a:t>
            </a:r>
          </a:p>
        </p:txBody>
      </p:sp>
    </p:spTree>
    <p:extLst>
      <p:ext uri="{BB962C8B-B14F-4D97-AF65-F5344CB8AC3E}">
        <p14:creationId xmlns:p14="http://schemas.microsoft.com/office/powerpoint/2010/main" val="11545213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bject-8">
            <a:extLst xmlns:a="http://schemas.openxmlformats.org/drawingml/2006/main">
              <a:ext uri="{FF2B5EF4-FFF2-40B4-BE49-F238E27FC236}">
                <a16:creationId xmlns:a16="http://schemas.microsoft.com/office/drawing/2014/main" id="{138B6F79-89A3-4A16-8F7F-6DB897C8AD01}"/>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9">
            <a:extLst xmlns:a="http://schemas.openxmlformats.org/drawingml/2006/main">
              <a:ext uri="{FF2B5EF4-FFF2-40B4-BE49-F238E27FC236}">
                <a16:creationId xmlns:a16="http://schemas.microsoft.com/office/drawing/2014/main" id="{E1CF7A22-ADD7-4ABB-8361-F06FA5D05370}"/>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0">
            <a:extLst xmlns:a="http://schemas.openxmlformats.org/drawingml/2006/main">
              <a:ext uri="{FF2B5EF4-FFF2-40B4-BE49-F238E27FC236}">
                <a16:creationId xmlns:a16="http://schemas.microsoft.com/office/drawing/2014/main" id="{83402E58-3142-4784-9944-7F0CC584CEC5}"/>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Project team and academic guidance</a:t>
            </a:r>
          </a:p>
        </p:txBody>
      </p:sp>
      <p:sp>
        <p:nvSpPr>
          <p:cNvPr id="4" name="object-11">
            <a:extLst xmlns:a="http://schemas.openxmlformats.org/drawingml/2006/main">
              <a:ext uri="{FF2B5EF4-FFF2-40B4-BE49-F238E27FC236}">
                <a16:creationId xmlns:a16="http://schemas.microsoft.com/office/drawing/2014/main" id="{04D5EBF6-8797-448C-948B-38E015F3623E}"/>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2">
            <a:extLst xmlns:a="http://schemas.openxmlformats.org/drawingml/2006/main">
              <a:ext uri="{FF2B5EF4-FFF2-40B4-BE49-F238E27FC236}">
                <a16:creationId xmlns:a16="http://schemas.microsoft.com/office/drawing/2014/main" id="{2A7A982A-4925-4F08-B895-D7D4748ED85D}"/>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a:t>
            </a:r>
          </a:p>
        </p:txBody>
      </p:sp>
      <p:sp>
        <p:nvSpPr>
          <p:cNvPr id="6" name="object-13">
            <a:extLst xmlns:a="http://schemas.openxmlformats.org/drawingml/2006/main">
              <a:ext uri="{FF2B5EF4-FFF2-40B4-BE49-F238E27FC236}">
                <a16:creationId xmlns:a16="http://schemas.microsoft.com/office/drawing/2014/main" id="{94263E23-12F3-40A8-B84D-B68CA62ADEB4}"/>
              </a:ext>
            </a:extLst>
          </p:cNvPr>
          <p:cNvSpPr>
            <a:spLocks xmlns:a="http://schemas.openxmlformats.org/drawingml/2006/main" noGrp="1"/>
          </p:cNvSpPr>
          <p:nvPr/>
        </p:nvSpPr>
        <p:spPr>
          <a:xfrm xmlns:a="http://schemas.openxmlformats.org/drawingml/2006/main">
            <a:off x="685800" y="1514475"/>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0000"/>
                </a:solidFill>
                <a:latin typeface="Calibri"/>
                <a:ea typeface="Calibri"/>
                <a:cs typeface="Calibri"/>
              </a:defRPr>
            </a:defPPr>
            <a:lvl1pPr algn="l">
              <a:defRPr sz="2175" b="1">
                <a:solidFill>
                  <a:srgbClr val="000000"/>
                </a:solidFill>
                <a:latin typeface="Calibri"/>
                <a:ea typeface="Calibri"/>
                <a:cs typeface="Calibri"/>
              </a:defRPr>
            </a:lvl1pPr>
            <a:lvl2pPr algn="l">
              <a:defRPr sz="2175" b="1">
                <a:solidFill>
                  <a:srgbClr val="000000"/>
                </a:solidFill>
                <a:latin typeface="Calibri"/>
                <a:ea typeface="Calibri"/>
                <a:cs typeface="Calibri"/>
              </a:defRPr>
            </a:lvl2pPr>
            <a:lvl3pPr algn="l">
              <a:defRPr sz="2175" b="1">
                <a:solidFill>
                  <a:srgbClr val="000000"/>
                </a:solidFill>
                <a:latin typeface="Calibri"/>
                <a:ea typeface="Calibri"/>
                <a:cs typeface="Calibri"/>
              </a:defRPr>
            </a:lvl3pPr>
            <a:lvl4pPr algn="l">
              <a:defRPr sz="2175" b="1">
                <a:solidFill>
                  <a:srgbClr val="000000"/>
                </a:solidFill>
                <a:latin typeface="Calibri"/>
                <a:ea typeface="Calibri"/>
                <a:cs typeface="Calibri"/>
              </a:defRPr>
            </a:lvl4pPr>
            <a:lvl5pPr algn="l">
              <a:defRPr sz="2175" b="1">
                <a:solidFill>
                  <a:srgbClr val="000000"/>
                </a:solidFill>
                <a:latin typeface="Calibri"/>
                <a:ea typeface="Calibri"/>
                <a:cs typeface="Calibri"/>
              </a:defRPr>
            </a:lvl5pPr>
            <a:lvl6pPr algn="l">
              <a:defRPr sz="2175" b="1">
                <a:solidFill>
                  <a:srgbClr val="000000"/>
                </a:solidFill>
                <a:latin typeface="Calibri"/>
                <a:ea typeface="Calibri"/>
                <a:cs typeface="Calibri"/>
              </a:defRPr>
            </a:lvl6pPr>
            <a:lvl7pPr algn="l">
              <a:defRPr sz="2175" b="1">
                <a:solidFill>
                  <a:srgbClr val="000000"/>
                </a:solidFill>
                <a:latin typeface="Calibri"/>
                <a:ea typeface="Calibri"/>
                <a:cs typeface="Calibri"/>
              </a:defRPr>
            </a:lvl7pPr>
            <a:lvl8pPr algn="l">
              <a:defRPr sz="2175" b="1">
                <a:solidFill>
                  <a:srgbClr val="000000"/>
                </a:solidFill>
                <a:latin typeface="Calibri"/>
                <a:ea typeface="Calibri"/>
                <a:cs typeface="Calibri"/>
              </a:defRPr>
            </a:lvl8pPr>
            <a:lvl9pPr algn="l">
              <a:defRPr sz="2175" b="1">
                <a:solidFill>
                  <a:srgbClr val="000000"/>
                </a:solidFill>
                <a:latin typeface="Calibri"/>
                <a:ea typeface="Calibri"/>
                <a:cs typeface="Calibri"/>
              </a:defRPr>
            </a:lvl9pPr>
          </a:lstStyle>
          <a:p xmlns:a="http://schemas.openxmlformats.org/drawingml/2006/main">
            <a:pPr algn="l">
              <a:defRPr sz="2175" b="1">
                <a:solidFill>
                  <a:srgbClr val="000000"/>
                </a:solidFill>
                <a:latin typeface="Calibri"/>
                <a:ea typeface="Calibri"/>
                <a:cs typeface="Calibri"/>
              </a:defRPr>
            </a:pPr>
            <a:r>
              <a:rPr sz="2175" b="1">
                <a:solidFill>
                  <a:srgbClr val="000000"/>
                </a:solidFill>
                <a:latin typeface="Calibri"/>
                <a:ea typeface="Calibri"/>
                <a:cs typeface="Calibri"/>
              </a:rPr>
              <a:t>Department of Electronics and Communication Engineering</a:t>
            </a:r>
          </a:p>
        </p:txBody>
      </p:sp>
      <p:sp>
        <p:nvSpPr>
          <p:cNvPr id="7" name="object-14">
            <a:extLst xmlns:a="http://schemas.openxmlformats.org/drawingml/2006/main">
              <a:ext uri="{FF2B5EF4-FFF2-40B4-BE49-F238E27FC236}">
                <a16:creationId xmlns:a16="http://schemas.microsoft.com/office/drawing/2014/main" id="{DF6A83BE-D39E-48F4-83DC-9AD0758BB1F3}"/>
              </a:ext>
            </a:extLst>
          </p:cNvPr>
          <p:cNvSpPr>
            <a:spLocks xmlns:a="http://schemas.openxmlformats.org/drawingml/2006/main" noGrp="1"/>
          </p:cNvSpPr>
          <p:nvPr/>
        </p:nvSpPr>
        <p:spPr>
          <a:xfrm xmlns:a="http://schemas.openxmlformats.org/drawingml/2006/main">
            <a:off x="685800" y="197167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Calibri"/>
                <a:ea typeface="Calibri"/>
                <a:cs typeface="Calibri"/>
              </a:defRPr>
            </a:defPPr>
            <a:lvl1pPr algn="l">
              <a:defRPr sz="2025" b="0">
                <a:solidFill>
                  <a:srgbClr val="000000"/>
                </a:solidFill>
                <a:latin typeface="Calibri"/>
                <a:ea typeface="Calibri"/>
                <a:cs typeface="Calibri"/>
              </a:defRPr>
            </a:lvl1pPr>
            <a:lvl2pPr algn="l">
              <a:defRPr sz="2025" b="0">
                <a:solidFill>
                  <a:srgbClr val="000000"/>
                </a:solidFill>
                <a:latin typeface="Calibri"/>
                <a:ea typeface="Calibri"/>
                <a:cs typeface="Calibri"/>
              </a:defRPr>
            </a:lvl2pPr>
            <a:lvl3pPr algn="l">
              <a:defRPr sz="2025" b="0">
                <a:solidFill>
                  <a:srgbClr val="000000"/>
                </a:solidFill>
                <a:latin typeface="Calibri"/>
                <a:ea typeface="Calibri"/>
                <a:cs typeface="Calibri"/>
              </a:defRPr>
            </a:lvl3pPr>
            <a:lvl4pPr algn="l">
              <a:defRPr sz="2025" b="0">
                <a:solidFill>
                  <a:srgbClr val="000000"/>
                </a:solidFill>
                <a:latin typeface="Calibri"/>
                <a:ea typeface="Calibri"/>
                <a:cs typeface="Calibri"/>
              </a:defRPr>
            </a:lvl4pPr>
            <a:lvl5pPr algn="l">
              <a:defRPr sz="2025" b="0">
                <a:solidFill>
                  <a:srgbClr val="000000"/>
                </a:solidFill>
                <a:latin typeface="Calibri"/>
                <a:ea typeface="Calibri"/>
                <a:cs typeface="Calibri"/>
              </a:defRPr>
            </a:lvl5pPr>
            <a:lvl6pPr algn="l">
              <a:defRPr sz="2025" b="0">
                <a:solidFill>
                  <a:srgbClr val="000000"/>
                </a:solidFill>
                <a:latin typeface="Calibri"/>
                <a:ea typeface="Calibri"/>
                <a:cs typeface="Calibri"/>
              </a:defRPr>
            </a:lvl6pPr>
            <a:lvl7pPr algn="l">
              <a:defRPr sz="2025" b="0">
                <a:solidFill>
                  <a:srgbClr val="000000"/>
                </a:solidFill>
                <a:latin typeface="Calibri"/>
                <a:ea typeface="Calibri"/>
                <a:cs typeface="Calibri"/>
              </a:defRPr>
            </a:lvl7pPr>
            <a:lvl8pPr algn="l">
              <a:defRPr sz="2025" b="0">
                <a:solidFill>
                  <a:srgbClr val="000000"/>
                </a:solidFill>
                <a:latin typeface="Calibri"/>
                <a:ea typeface="Calibri"/>
                <a:cs typeface="Calibri"/>
              </a:defRPr>
            </a:lvl8pPr>
            <a:lvl9pPr algn="l">
              <a:defRPr sz="2025" b="0">
                <a:solidFill>
                  <a:srgbClr val="000000"/>
                </a:solidFill>
                <a:latin typeface="Calibri"/>
                <a:ea typeface="Calibri"/>
                <a:cs typeface="Calibri"/>
              </a:defRPr>
            </a:lvl9pPr>
          </a:lstStyle>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Maharaja Surajmal Institute of Technology, New Delhi, India</a:t>
            </a:r>
          </a:p>
        </p:txBody>
      </p:sp>
      <p:graphicFrame>
        <p:nvGraphicFramePr>
          <p:cNvPr id="8" name="">
            <a:extLst xmlns:a="http://schemas.openxmlformats.org/drawingml/2006/main">
              <a:ext uri="{FF2B5EF4-FFF2-40B4-BE49-F238E27FC236}">
                <a16:creationId xmlns:a16="http://schemas.microsoft.com/office/drawing/2014/main" id="{6D4A2E48-4820-4C78-BF86-CB961FA273A9}"/>
              </a:ext>
            </a:extLst>
          </p:cNvPr>
          <p:cNvGraphicFramePr/>
          <p:nvPr/>
        </p:nvGraphicFramePr>
        <p:xfrm>
          <a:off xmlns:a="http://schemas.openxmlformats.org/drawingml/2006/main" x="685800" y="2676525"/>
          <a:ext xmlns:a="http://schemas.openxmlformats.org/drawingml/2006/main" cx="10820400" cy="2266950"/>
        </p:xfrm>
        <a:graphic xmlns:a="http://schemas.openxmlformats.org/drawingml/2006/main">
          <a:graphicData uri="http://schemas.openxmlformats.org/drawingml/2006/table">
            <a:tbl>
              <a:tblPr/>
              <a:tblGrid>
                <a:gridCol w="2596896"/>
                <a:gridCol w="2488692"/>
                <a:gridCol w="5734812"/>
              </a:tblGrid>
              <a:tr h="566738">
                <a:tc>
                  <a:txBody>
                    <a:bodyPr wrap="square" lIns="66675" tIns="66675" rIns="66675" bIns="66675">
                      <a:noAutofit/>
                    </a:bodyPr>
                    <a:lstStyle/>
                    <a:p>
                      <a:pPr algn="l"/>
                      <a:r>
                        <a:rPr sz="1875" b="1">
                          <a:solidFill>
                            <a:srgbClr val="FFFFFF"/>
                          </a:solidFill>
                          <a:latin typeface="Calibri"/>
                          <a:ea typeface="Calibri"/>
                          <a:cs typeface="Calibri"/>
                        </a:rPr>
                        <a:t>Team member</a:t>
                      </a:r>
                    </a:p>
                  </a:txBody>
                  <a:tcPr marL="91440" marR="91440" marT="45720" marB="4572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875" b="1">
                          <a:solidFill>
                            <a:srgbClr val="FFFFFF"/>
                          </a:solidFill>
                          <a:latin typeface="Calibri"/>
                          <a:ea typeface="Calibri"/>
                          <a:cs typeface="Calibri"/>
                        </a:rPr>
                        <a:t>Enrolment number</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875" b="1">
                          <a:solidFill>
                            <a:srgbClr val="FFFFFF"/>
                          </a:solidFill>
                          <a:latin typeface="Calibri"/>
                          <a:ea typeface="Calibri"/>
                          <a:cs typeface="Calibri"/>
                        </a:rPr>
                        <a:t>Email</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566738">
                <a:tc>
                  <a:txBody>
                    <a:bodyPr wrap="square" lIns="66675" tIns="66675" rIns="66675" bIns="66675">
                      <a:noAutofit/>
                    </a:bodyPr>
                    <a:lstStyle/>
                    <a:p>
                      <a:pPr algn="l"/>
                      <a:r>
                        <a:rPr sz="1875" b="0">
                          <a:solidFill>
                            <a:srgbClr val="000000"/>
                          </a:solidFill>
                          <a:latin typeface="Calibri"/>
                          <a:ea typeface="Calibri"/>
                          <a:cs typeface="Calibri"/>
                        </a:rPr>
                        <a:t>Harsh Bhardwaj</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75" b="0">
                          <a:solidFill>
                            <a:srgbClr val="000000"/>
                          </a:solidFill>
                          <a:latin typeface="Calibri"/>
                          <a:ea typeface="Calibri"/>
                          <a:cs typeface="Calibri"/>
                        </a:rPr>
                        <a:t>03696302823</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75" b="0">
                          <a:solidFill>
                            <a:srgbClr val="000000"/>
                          </a:solidFill>
                          <a:latin typeface="Calibri"/>
                          <a:ea typeface="Calibri"/>
                          <a:cs typeface="Calibri"/>
                        </a:rPr>
                        <a:t>bhardwajharsh0312@gmail.com</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566738">
                <a:tc>
                  <a:txBody>
                    <a:bodyPr wrap="square" lIns="66675" tIns="66675" rIns="66675" bIns="66675">
                      <a:noAutofit/>
                    </a:bodyPr>
                    <a:lstStyle/>
                    <a:p>
                      <a:pPr algn="l"/>
                      <a:r>
                        <a:rPr sz="1875" b="0">
                          <a:solidFill>
                            <a:srgbClr val="000000"/>
                          </a:solidFill>
                          <a:latin typeface="Calibri"/>
                          <a:ea typeface="Calibri"/>
                          <a:cs typeface="Calibri"/>
                        </a:rPr>
                        <a:t>Shrishti Singh</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875" b="0">
                          <a:solidFill>
                            <a:srgbClr val="000000"/>
                          </a:solidFill>
                          <a:latin typeface="Calibri"/>
                          <a:ea typeface="Calibri"/>
                          <a:cs typeface="Calibri"/>
                        </a:rPr>
                        <a:t>03996302823</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875" b="0">
                          <a:solidFill>
                            <a:srgbClr val="000000"/>
                          </a:solidFill>
                          <a:latin typeface="Calibri"/>
                          <a:ea typeface="Calibri"/>
                          <a:cs typeface="Calibri"/>
                        </a:rPr>
                        <a:t>shrisht2723@gmail.com</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566738">
                <a:tc>
                  <a:txBody>
                    <a:bodyPr wrap="square" lIns="66675" tIns="66675" rIns="66675" bIns="66675">
                      <a:noAutofit/>
                    </a:bodyPr>
                    <a:lstStyle/>
                    <a:p>
                      <a:pPr algn="l"/>
                      <a:r>
                        <a:rPr sz="1875" b="0">
                          <a:solidFill>
                            <a:srgbClr val="000000"/>
                          </a:solidFill>
                          <a:latin typeface="Calibri"/>
                          <a:ea typeface="Calibri"/>
                          <a:cs typeface="Calibri"/>
                        </a:rPr>
                        <a:t>Rajat Kandpal</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75" b="0">
                          <a:solidFill>
                            <a:srgbClr val="000000"/>
                          </a:solidFill>
                          <a:latin typeface="Calibri"/>
                          <a:ea typeface="Calibri"/>
                          <a:cs typeface="Calibri"/>
                        </a:rPr>
                        <a:t>04496302823</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75" b="0">
                          <a:solidFill>
                            <a:srgbClr val="000000"/>
                          </a:solidFill>
                          <a:latin typeface="Calibri"/>
                          <a:ea typeface="Calibri"/>
                          <a:cs typeface="Calibri"/>
                        </a:rPr>
                        <a:t>rajatkandpal12@gmail.com</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bl>
          </a:graphicData>
        </a:graphic>
      </p:graphicFrame>
      <p:sp>
        <p:nvSpPr>
          <p:cNvPr id="9" name="object-15">
            <a:extLst xmlns:a="http://schemas.openxmlformats.org/drawingml/2006/main">
              <a:ext uri="{FF2B5EF4-FFF2-40B4-BE49-F238E27FC236}">
                <a16:creationId xmlns:a16="http://schemas.microsoft.com/office/drawing/2014/main" id="{CC64D85D-E6E1-4E65-BD09-CEC323A628EF}"/>
              </a:ext>
            </a:extLst>
          </p:cNvPr>
          <p:cNvSpPr>
            <a:spLocks xmlns:a="http://schemas.openxmlformats.org/drawingml/2006/main" noGrp="1"/>
          </p:cNvSpPr>
          <p:nvPr/>
        </p:nvSpPr>
        <p:spPr>
          <a:xfrm xmlns:a="http://schemas.openxmlformats.org/drawingml/2006/main">
            <a:off x="685800" y="5257800"/>
            <a:ext cx="10820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0000"/>
                </a:solidFill>
                <a:latin typeface="Calibri"/>
                <a:ea typeface="Calibri"/>
                <a:cs typeface="Calibri"/>
              </a:defRPr>
            </a:defPPr>
            <a:lvl1pPr algn="l">
              <a:defRPr sz="2175" b="1">
                <a:solidFill>
                  <a:srgbClr val="000000"/>
                </a:solidFill>
                <a:latin typeface="Calibri"/>
                <a:ea typeface="Calibri"/>
                <a:cs typeface="Calibri"/>
              </a:defRPr>
            </a:lvl1pPr>
            <a:lvl2pPr algn="l">
              <a:defRPr sz="2175" b="1">
                <a:solidFill>
                  <a:srgbClr val="000000"/>
                </a:solidFill>
                <a:latin typeface="Calibri"/>
                <a:ea typeface="Calibri"/>
                <a:cs typeface="Calibri"/>
              </a:defRPr>
            </a:lvl2pPr>
            <a:lvl3pPr algn="l">
              <a:defRPr sz="2175" b="1">
                <a:solidFill>
                  <a:srgbClr val="000000"/>
                </a:solidFill>
                <a:latin typeface="Calibri"/>
                <a:ea typeface="Calibri"/>
                <a:cs typeface="Calibri"/>
              </a:defRPr>
            </a:lvl3pPr>
            <a:lvl4pPr algn="l">
              <a:defRPr sz="2175" b="1">
                <a:solidFill>
                  <a:srgbClr val="000000"/>
                </a:solidFill>
                <a:latin typeface="Calibri"/>
                <a:ea typeface="Calibri"/>
                <a:cs typeface="Calibri"/>
              </a:defRPr>
            </a:lvl4pPr>
            <a:lvl5pPr algn="l">
              <a:defRPr sz="2175" b="1">
                <a:solidFill>
                  <a:srgbClr val="000000"/>
                </a:solidFill>
                <a:latin typeface="Calibri"/>
                <a:ea typeface="Calibri"/>
                <a:cs typeface="Calibri"/>
              </a:defRPr>
            </a:lvl5pPr>
            <a:lvl6pPr algn="l">
              <a:defRPr sz="2175" b="1">
                <a:solidFill>
                  <a:srgbClr val="000000"/>
                </a:solidFill>
                <a:latin typeface="Calibri"/>
                <a:ea typeface="Calibri"/>
                <a:cs typeface="Calibri"/>
              </a:defRPr>
            </a:lvl6pPr>
            <a:lvl7pPr algn="l">
              <a:defRPr sz="2175" b="1">
                <a:solidFill>
                  <a:srgbClr val="000000"/>
                </a:solidFill>
                <a:latin typeface="Calibri"/>
                <a:ea typeface="Calibri"/>
                <a:cs typeface="Calibri"/>
              </a:defRPr>
            </a:lvl7pPr>
            <a:lvl8pPr algn="l">
              <a:defRPr sz="2175" b="1">
                <a:solidFill>
                  <a:srgbClr val="000000"/>
                </a:solidFill>
                <a:latin typeface="Calibri"/>
                <a:ea typeface="Calibri"/>
                <a:cs typeface="Calibri"/>
              </a:defRPr>
            </a:lvl8pPr>
            <a:lvl9pPr algn="l">
              <a:defRPr sz="2175" b="1">
                <a:solidFill>
                  <a:srgbClr val="000000"/>
                </a:solidFill>
                <a:latin typeface="Calibri"/>
                <a:ea typeface="Calibri"/>
                <a:cs typeface="Calibri"/>
              </a:defRPr>
            </a:lvl9pPr>
          </a:lstStyle>
          <a:p xmlns:a="http://schemas.openxmlformats.org/drawingml/2006/main">
            <a:pPr algn="l">
              <a:defRPr sz="2175" b="1">
                <a:solidFill>
                  <a:srgbClr val="000000"/>
                </a:solidFill>
                <a:latin typeface="Calibri"/>
                <a:ea typeface="Calibri"/>
                <a:cs typeface="Calibri"/>
              </a:defRPr>
            </a:pPr>
            <a:r>
              <a:rPr sz="2175" b="1">
                <a:solidFill>
                  <a:srgbClr val="000000"/>
                </a:solidFill>
                <a:latin typeface="Calibri"/>
                <a:ea typeface="Calibri"/>
                <a:cs typeface="Calibri"/>
              </a:rPr>
              <a:t>Mentor: Ms. Jasmine, Assistant Professor</a:t>
            </a:r>
          </a:p>
        </p:txBody>
      </p:sp>
    </p:spTree>
    <p:extLst>
      <p:ext uri="{BB962C8B-B14F-4D97-AF65-F5344CB8AC3E}">
        <p14:creationId xmlns:p14="http://schemas.microsoft.com/office/powerpoint/2010/main" val="4445714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object-16">
            <a:extLst xmlns:a="http://schemas.openxmlformats.org/drawingml/2006/main">
              <a:ext uri="{FF2B5EF4-FFF2-40B4-BE49-F238E27FC236}">
                <a16:creationId xmlns:a16="http://schemas.microsoft.com/office/drawing/2014/main" id="{E4F4B322-D2DD-4137-83F2-B2523F4C6F0E}"/>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7">
            <a:extLst xmlns:a="http://schemas.openxmlformats.org/drawingml/2006/main">
              <a:ext uri="{FF2B5EF4-FFF2-40B4-BE49-F238E27FC236}">
                <a16:creationId xmlns:a16="http://schemas.microsoft.com/office/drawing/2014/main" id="{B9EBFC8D-38B7-443A-BFDC-DAB6A355E7FE}"/>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8">
            <a:extLst xmlns:a="http://schemas.openxmlformats.org/drawingml/2006/main">
              <a:ext uri="{FF2B5EF4-FFF2-40B4-BE49-F238E27FC236}">
                <a16:creationId xmlns:a16="http://schemas.microsoft.com/office/drawing/2014/main" id="{793EF717-6971-42C3-85B3-D3BEA133D02C}"/>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Presentation outline</a:t>
            </a:r>
          </a:p>
        </p:txBody>
      </p:sp>
      <p:sp>
        <p:nvSpPr>
          <p:cNvPr id="4" name="object-19">
            <a:extLst xmlns:a="http://schemas.openxmlformats.org/drawingml/2006/main">
              <a:ext uri="{FF2B5EF4-FFF2-40B4-BE49-F238E27FC236}">
                <a16:creationId xmlns:a16="http://schemas.microsoft.com/office/drawing/2014/main" id="{E51D79B5-037F-4497-B546-7D5CD6E72E7B}"/>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0">
            <a:extLst xmlns:a="http://schemas.openxmlformats.org/drawingml/2006/main">
              <a:ext uri="{FF2B5EF4-FFF2-40B4-BE49-F238E27FC236}">
                <a16:creationId xmlns:a16="http://schemas.microsoft.com/office/drawing/2014/main" id="{71B227F5-859B-427D-85BE-9936D0185A13}"/>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3</a:t>
            </a:r>
          </a:p>
        </p:txBody>
      </p:sp>
      <p:pic>
        <p:nvPicPr>
          <p:cNvPr id="6" name="">
            <a:extLst xmlns:a="http://schemas.openxmlformats.org/drawingml/2006/main">
              <a:ext uri="{FF2B5EF4-FFF2-40B4-BE49-F238E27FC236}">
                <a16:creationId xmlns:a16="http://schemas.microsoft.com/office/drawing/2014/main" id="{531EA9D2-7E88-46CB-A0A8-30CC64DE0B85}"/>
              </a:ext>
            </a:extLst>
          </p:cNvPr>
          <p:cNvPicPr>
            <a:picLocks xmlns:a="http://schemas.openxmlformats.org/drawingml/2006/main" noChangeAspect="1"/>
          </p:cNvPicPr>
          <p:nvPr/>
        </p:nvPicPr>
        <p:blipFill>
          <a:blip xmlns:r="http://schemas.openxmlformats.org/officeDocument/2006/relationships" xmlns:a="http://schemas.openxmlformats.org/drawingml/2006/main" r:embed="R4bc4570f228547f4"/>
          <a:stretch xmlns:a="http://schemas.openxmlformats.org/drawingml/2006/main"/>
        </p:blipFill>
        <p:spPr>
          <a:xfrm xmlns:a="http://schemas.openxmlformats.org/drawingml/2006/main">
            <a:off x="1219073" y="1619250"/>
            <a:ext cx="2838704" cy="4191000"/>
          </a:xfrm>
          <a:prstGeom xmlns:a="http://schemas.openxmlformats.org/drawingml/2006/main" prst="rect">
            <a:avLst/>
          </a:prstGeom>
        </p:spPr>
      </p:pic>
      <p:sp>
        <p:nvSpPr>
          <p:cNvPr id="7" name="object-21">
            <a:extLst xmlns:a="http://schemas.openxmlformats.org/drawingml/2006/main">
              <a:ext uri="{FF2B5EF4-FFF2-40B4-BE49-F238E27FC236}">
                <a16:creationId xmlns:a16="http://schemas.microsoft.com/office/drawing/2014/main" id="{6C7CF100-6AF1-432E-87CE-3E6A7E83A1A7}"/>
              </a:ext>
            </a:extLst>
          </p:cNvPr>
          <p:cNvSpPr>
            <a:spLocks xmlns:a="http://schemas.openxmlformats.org/drawingml/2006/main" noGrp="1"/>
          </p:cNvSpPr>
          <p:nvPr/>
        </p:nvSpPr>
        <p:spPr>
          <a:xfrm xmlns:a="http://schemas.openxmlformats.org/drawingml/2006/main">
            <a:off x="5219700" y="18192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95827"/>
                </a:solidFill>
                <a:latin typeface="Calibri"/>
                <a:ea typeface="Calibri"/>
                <a:cs typeface="Calibri"/>
              </a:defRPr>
            </a:defPPr>
            <a:lvl1pPr algn="l">
              <a:defRPr sz="2100" b="1">
                <a:solidFill>
                  <a:srgbClr val="B95827"/>
                </a:solidFill>
                <a:latin typeface="Calibri"/>
                <a:ea typeface="Calibri"/>
                <a:cs typeface="Calibri"/>
              </a:defRPr>
            </a:lvl1pPr>
            <a:lvl2pPr algn="l">
              <a:defRPr sz="2100" b="1">
                <a:solidFill>
                  <a:srgbClr val="B95827"/>
                </a:solidFill>
                <a:latin typeface="Calibri"/>
                <a:ea typeface="Calibri"/>
                <a:cs typeface="Calibri"/>
              </a:defRPr>
            </a:lvl2pPr>
            <a:lvl3pPr algn="l">
              <a:defRPr sz="2100" b="1">
                <a:solidFill>
                  <a:srgbClr val="B95827"/>
                </a:solidFill>
                <a:latin typeface="Calibri"/>
                <a:ea typeface="Calibri"/>
                <a:cs typeface="Calibri"/>
              </a:defRPr>
            </a:lvl3pPr>
            <a:lvl4pPr algn="l">
              <a:defRPr sz="2100" b="1">
                <a:solidFill>
                  <a:srgbClr val="B95827"/>
                </a:solidFill>
                <a:latin typeface="Calibri"/>
                <a:ea typeface="Calibri"/>
                <a:cs typeface="Calibri"/>
              </a:defRPr>
            </a:lvl4pPr>
            <a:lvl5pPr algn="l">
              <a:defRPr sz="2100" b="1">
                <a:solidFill>
                  <a:srgbClr val="B95827"/>
                </a:solidFill>
                <a:latin typeface="Calibri"/>
                <a:ea typeface="Calibri"/>
                <a:cs typeface="Calibri"/>
              </a:defRPr>
            </a:lvl5pPr>
            <a:lvl6pPr algn="l">
              <a:defRPr sz="2100" b="1">
                <a:solidFill>
                  <a:srgbClr val="B95827"/>
                </a:solidFill>
                <a:latin typeface="Calibri"/>
                <a:ea typeface="Calibri"/>
                <a:cs typeface="Calibri"/>
              </a:defRPr>
            </a:lvl6pPr>
            <a:lvl7pPr algn="l">
              <a:defRPr sz="2100" b="1">
                <a:solidFill>
                  <a:srgbClr val="B95827"/>
                </a:solidFill>
                <a:latin typeface="Calibri"/>
                <a:ea typeface="Calibri"/>
                <a:cs typeface="Calibri"/>
              </a:defRPr>
            </a:lvl7pPr>
            <a:lvl8pPr algn="l">
              <a:defRPr sz="2100" b="1">
                <a:solidFill>
                  <a:srgbClr val="B95827"/>
                </a:solidFill>
                <a:latin typeface="Calibri"/>
                <a:ea typeface="Calibri"/>
                <a:cs typeface="Calibri"/>
              </a:defRPr>
            </a:lvl8pPr>
            <a:lvl9pPr algn="l">
              <a:defRPr sz="2100" b="1">
                <a:solidFill>
                  <a:srgbClr val="B95827"/>
                </a:solidFill>
                <a:latin typeface="Calibri"/>
                <a:ea typeface="Calibri"/>
                <a:cs typeface="Calibri"/>
              </a:defRPr>
            </a:lvl9pPr>
          </a:lstStyle>
          <a:p xmlns:a="http://schemas.openxmlformats.org/drawingml/2006/main">
            <a:pPr algn="l">
              <a:defRPr sz="2100" b="1">
                <a:solidFill>
                  <a:srgbClr val="B95827"/>
                </a:solidFill>
                <a:latin typeface="Calibri"/>
                <a:ea typeface="Calibri"/>
                <a:cs typeface="Calibri"/>
              </a:defRPr>
            </a:pPr>
            <a:r>
              <a:rPr sz="2100" b="1">
                <a:solidFill>
                  <a:srgbClr val="B95827"/>
                </a:solidFill>
                <a:latin typeface="Calibri"/>
                <a:ea typeface="Calibri"/>
                <a:cs typeface="Calibri"/>
              </a:rPr>
              <a:t>01</a:t>
            </a:r>
          </a:p>
        </p:txBody>
      </p:sp>
      <p:sp>
        <p:nvSpPr>
          <p:cNvPr id="8" name="object-22">
            <a:extLst xmlns:a="http://schemas.openxmlformats.org/drawingml/2006/main">
              <a:ext uri="{FF2B5EF4-FFF2-40B4-BE49-F238E27FC236}">
                <a16:creationId xmlns:a16="http://schemas.microsoft.com/office/drawing/2014/main" id="{3D3A1921-6060-4D0C-8337-CFEAC9C1E2CC}"/>
              </a:ext>
            </a:extLst>
          </p:cNvPr>
          <p:cNvSpPr>
            <a:spLocks xmlns:a="http://schemas.openxmlformats.org/drawingml/2006/main" noGrp="1"/>
          </p:cNvSpPr>
          <p:nvPr/>
        </p:nvSpPr>
        <p:spPr>
          <a:xfrm xmlns:a="http://schemas.openxmlformats.org/drawingml/2006/main">
            <a:off x="5943600" y="1819275"/>
            <a:ext cx="5372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Problem and project objectives</a:t>
            </a:r>
          </a:p>
        </p:txBody>
      </p:sp>
      <p:sp>
        <p:nvSpPr>
          <p:cNvPr id="9" name="object-23">
            <a:extLst xmlns:a="http://schemas.openxmlformats.org/drawingml/2006/main">
              <a:ext uri="{FF2B5EF4-FFF2-40B4-BE49-F238E27FC236}">
                <a16:creationId xmlns:a16="http://schemas.microsoft.com/office/drawing/2014/main" id="{71AB9615-56FB-4F45-926F-582A4F46EFAB}"/>
              </a:ext>
            </a:extLst>
          </p:cNvPr>
          <p:cNvSpPr>
            <a:spLocks xmlns:a="http://schemas.openxmlformats.org/drawingml/2006/main" noGrp="1"/>
          </p:cNvSpPr>
          <p:nvPr/>
        </p:nvSpPr>
        <p:spPr>
          <a:xfrm xmlns:a="http://schemas.openxmlformats.org/drawingml/2006/main">
            <a:off x="5219700" y="28098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95827"/>
                </a:solidFill>
                <a:latin typeface="Calibri"/>
                <a:ea typeface="Calibri"/>
                <a:cs typeface="Calibri"/>
              </a:defRPr>
            </a:defPPr>
            <a:lvl1pPr algn="l">
              <a:defRPr sz="2100" b="1">
                <a:solidFill>
                  <a:srgbClr val="B95827"/>
                </a:solidFill>
                <a:latin typeface="Calibri"/>
                <a:ea typeface="Calibri"/>
                <a:cs typeface="Calibri"/>
              </a:defRPr>
            </a:lvl1pPr>
            <a:lvl2pPr algn="l">
              <a:defRPr sz="2100" b="1">
                <a:solidFill>
                  <a:srgbClr val="B95827"/>
                </a:solidFill>
                <a:latin typeface="Calibri"/>
                <a:ea typeface="Calibri"/>
                <a:cs typeface="Calibri"/>
              </a:defRPr>
            </a:lvl2pPr>
            <a:lvl3pPr algn="l">
              <a:defRPr sz="2100" b="1">
                <a:solidFill>
                  <a:srgbClr val="B95827"/>
                </a:solidFill>
                <a:latin typeface="Calibri"/>
                <a:ea typeface="Calibri"/>
                <a:cs typeface="Calibri"/>
              </a:defRPr>
            </a:lvl3pPr>
            <a:lvl4pPr algn="l">
              <a:defRPr sz="2100" b="1">
                <a:solidFill>
                  <a:srgbClr val="B95827"/>
                </a:solidFill>
                <a:latin typeface="Calibri"/>
                <a:ea typeface="Calibri"/>
                <a:cs typeface="Calibri"/>
              </a:defRPr>
            </a:lvl4pPr>
            <a:lvl5pPr algn="l">
              <a:defRPr sz="2100" b="1">
                <a:solidFill>
                  <a:srgbClr val="B95827"/>
                </a:solidFill>
                <a:latin typeface="Calibri"/>
                <a:ea typeface="Calibri"/>
                <a:cs typeface="Calibri"/>
              </a:defRPr>
            </a:lvl5pPr>
            <a:lvl6pPr algn="l">
              <a:defRPr sz="2100" b="1">
                <a:solidFill>
                  <a:srgbClr val="B95827"/>
                </a:solidFill>
                <a:latin typeface="Calibri"/>
                <a:ea typeface="Calibri"/>
                <a:cs typeface="Calibri"/>
              </a:defRPr>
            </a:lvl6pPr>
            <a:lvl7pPr algn="l">
              <a:defRPr sz="2100" b="1">
                <a:solidFill>
                  <a:srgbClr val="B95827"/>
                </a:solidFill>
                <a:latin typeface="Calibri"/>
                <a:ea typeface="Calibri"/>
                <a:cs typeface="Calibri"/>
              </a:defRPr>
            </a:lvl7pPr>
            <a:lvl8pPr algn="l">
              <a:defRPr sz="2100" b="1">
                <a:solidFill>
                  <a:srgbClr val="B95827"/>
                </a:solidFill>
                <a:latin typeface="Calibri"/>
                <a:ea typeface="Calibri"/>
                <a:cs typeface="Calibri"/>
              </a:defRPr>
            </a:lvl8pPr>
            <a:lvl9pPr algn="l">
              <a:defRPr sz="2100" b="1">
                <a:solidFill>
                  <a:srgbClr val="B95827"/>
                </a:solidFill>
                <a:latin typeface="Calibri"/>
                <a:ea typeface="Calibri"/>
                <a:cs typeface="Calibri"/>
              </a:defRPr>
            </a:lvl9pPr>
          </a:lstStyle>
          <a:p xmlns:a="http://schemas.openxmlformats.org/drawingml/2006/main">
            <a:pPr algn="l">
              <a:defRPr sz="2100" b="1">
                <a:solidFill>
                  <a:srgbClr val="B95827"/>
                </a:solidFill>
                <a:latin typeface="Calibri"/>
                <a:ea typeface="Calibri"/>
                <a:cs typeface="Calibri"/>
              </a:defRPr>
            </a:pPr>
            <a:r>
              <a:rPr sz="2100" b="1">
                <a:solidFill>
                  <a:srgbClr val="B95827"/>
                </a:solidFill>
                <a:latin typeface="Calibri"/>
                <a:ea typeface="Calibri"/>
                <a:cs typeface="Calibri"/>
              </a:rPr>
              <a:t>02</a:t>
            </a:r>
          </a:p>
        </p:txBody>
      </p:sp>
      <p:sp>
        <p:nvSpPr>
          <p:cNvPr id="10" name="object-24">
            <a:extLst xmlns:a="http://schemas.openxmlformats.org/drawingml/2006/main">
              <a:ext uri="{FF2B5EF4-FFF2-40B4-BE49-F238E27FC236}">
                <a16:creationId xmlns:a16="http://schemas.microsoft.com/office/drawing/2014/main" id="{035D8E7F-77DE-4E81-AB7C-5DEA9BBB155D}"/>
              </a:ext>
            </a:extLst>
          </p:cNvPr>
          <p:cNvSpPr>
            <a:spLocks xmlns:a="http://schemas.openxmlformats.org/drawingml/2006/main" noGrp="1"/>
          </p:cNvSpPr>
          <p:nvPr/>
        </p:nvSpPr>
        <p:spPr>
          <a:xfrm xmlns:a="http://schemas.openxmlformats.org/drawingml/2006/main">
            <a:off x="5943600" y="2809875"/>
            <a:ext cx="5372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Architecture, data and training</a:t>
            </a:r>
          </a:p>
        </p:txBody>
      </p:sp>
      <p:sp>
        <p:nvSpPr>
          <p:cNvPr id="11" name="object-25">
            <a:extLst xmlns:a="http://schemas.openxmlformats.org/drawingml/2006/main">
              <a:ext uri="{FF2B5EF4-FFF2-40B4-BE49-F238E27FC236}">
                <a16:creationId xmlns:a16="http://schemas.microsoft.com/office/drawing/2014/main" id="{8840084B-DE28-4CDB-A3B0-6CFD2903707A}"/>
              </a:ext>
            </a:extLst>
          </p:cNvPr>
          <p:cNvSpPr>
            <a:spLocks xmlns:a="http://schemas.openxmlformats.org/drawingml/2006/main" noGrp="1"/>
          </p:cNvSpPr>
          <p:nvPr/>
        </p:nvSpPr>
        <p:spPr>
          <a:xfrm xmlns:a="http://schemas.openxmlformats.org/drawingml/2006/main">
            <a:off x="5219700" y="38004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95827"/>
                </a:solidFill>
                <a:latin typeface="Calibri"/>
                <a:ea typeface="Calibri"/>
                <a:cs typeface="Calibri"/>
              </a:defRPr>
            </a:defPPr>
            <a:lvl1pPr algn="l">
              <a:defRPr sz="2100" b="1">
                <a:solidFill>
                  <a:srgbClr val="B95827"/>
                </a:solidFill>
                <a:latin typeface="Calibri"/>
                <a:ea typeface="Calibri"/>
                <a:cs typeface="Calibri"/>
              </a:defRPr>
            </a:lvl1pPr>
            <a:lvl2pPr algn="l">
              <a:defRPr sz="2100" b="1">
                <a:solidFill>
                  <a:srgbClr val="B95827"/>
                </a:solidFill>
                <a:latin typeface="Calibri"/>
                <a:ea typeface="Calibri"/>
                <a:cs typeface="Calibri"/>
              </a:defRPr>
            </a:lvl2pPr>
            <a:lvl3pPr algn="l">
              <a:defRPr sz="2100" b="1">
                <a:solidFill>
                  <a:srgbClr val="B95827"/>
                </a:solidFill>
                <a:latin typeface="Calibri"/>
                <a:ea typeface="Calibri"/>
                <a:cs typeface="Calibri"/>
              </a:defRPr>
            </a:lvl3pPr>
            <a:lvl4pPr algn="l">
              <a:defRPr sz="2100" b="1">
                <a:solidFill>
                  <a:srgbClr val="B95827"/>
                </a:solidFill>
                <a:latin typeface="Calibri"/>
                <a:ea typeface="Calibri"/>
                <a:cs typeface="Calibri"/>
              </a:defRPr>
            </a:lvl4pPr>
            <a:lvl5pPr algn="l">
              <a:defRPr sz="2100" b="1">
                <a:solidFill>
                  <a:srgbClr val="B95827"/>
                </a:solidFill>
                <a:latin typeface="Calibri"/>
                <a:ea typeface="Calibri"/>
                <a:cs typeface="Calibri"/>
              </a:defRPr>
            </a:lvl5pPr>
            <a:lvl6pPr algn="l">
              <a:defRPr sz="2100" b="1">
                <a:solidFill>
                  <a:srgbClr val="B95827"/>
                </a:solidFill>
                <a:latin typeface="Calibri"/>
                <a:ea typeface="Calibri"/>
                <a:cs typeface="Calibri"/>
              </a:defRPr>
            </a:lvl6pPr>
            <a:lvl7pPr algn="l">
              <a:defRPr sz="2100" b="1">
                <a:solidFill>
                  <a:srgbClr val="B95827"/>
                </a:solidFill>
                <a:latin typeface="Calibri"/>
                <a:ea typeface="Calibri"/>
                <a:cs typeface="Calibri"/>
              </a:defRPr>
            </a:lvl7pPr>
            <a:lvl8pPr algn="l">
              <a:defRPr sz="2100" b="1">
                <a:solidFill>
                  <a:srgbClr val="B95827"/>
                </a:solidFill>
                <a:latin typeface="Calibri"/>
                <a:ea typeface="Calibri"/>
                <a:cs typeface="Calibri"/>
              </a:defRPr>
            </a:lvl8pPr>
            <a:lvl9pPr algn="l">
              <a:defRPr sz="2100" b="1">
                <a:solidFill>
                  <a:srgbClr val="B95827"/>
                </a:solidFill>
                <a:latin typeface="Calibri"/>
                <a:ea typeface="Calibri"/>
                <a:cs typeface="Calibri"/>
              </a:defRPr>
            </a:lvl9pPr>
          </a:lstStyle>
          <a:p xmlns:a="http://schemas.openxmlformats.org/drawingml/2006/main">
            <a:pPr algn="l">
              <a:defRPr sz="2100" b="1">
                <a:solidFill>
                  <a:srgbClr val="B95827"/>
                </a:solidFill>
                <a:latin typeface="Calibri"/>
                <a:ea typeface="Calibri"/>
                <a:cs typeface="Calibri"/>
              </a:defRPr>
            </a:pPr>
            <a:r>
              <a:rPr sz="2100" b="1">
                <a:solidFill>
                  <a:srgbClr val="B95827"/>
                </a:solidFill>
                <a:latin typeface="Calibri"/>
                <a:ea typeface="Calibri"/>
                <a:cs typeface="Calibri"/>
              </a:rPr>
              <a:t>03</a:t>
            </a:r>
          </a:p>
        </p:txBody>
      </p:sp>
      <p:sp>
        <p:nvSpPr>
          <p:cNvPr id="12" name="object-26">
            <a:extLst xmlns:a="http://schemas.openxmlformats.org/drawingml/2006/main">
              <a:ext uri="{FF2B5EF4-FFF2-40B4-BE49-F238E27FC236}">
                <a16:creationId xmlns:a16="http://schemas.microsoft.com/office/drawing/2014/main" id="{19682BA4-0912-4541-88F0-66D530B3D9C7}"/>
              </a:ext>
            </a:extLst>
          </p:cNvPr>
          <p:cNvSpPr>
            <a:spLocks xmlns:a="http://schemas.openxmlformats.org/drawingml/2006/main" noGrp="1"/>
          </p:cNvSpPr>
          <p:nvPr/>
        </p:nvSpPr>
        <p:spPr>
          <a:xfrm xmlns:a="http://schemas.openxmlformats.org/drawingml/2006/main">
            <a:off x="5943600" y="3800475"/>
            <a:ext cx="5372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Detection, lane and steering results</a:t>
            </a:r>
          </a:p>
        </p:txBody>
      </p:sp>
      <p:sp>
        <p:nvSpPr>
          <p:cNvPr id="13" name="object-27">
            <a:extLst xmlns:a="http://schemas.openxmlformats.org/drawingml/2006/main">
              <a:ext uri="{FF2B5EF4-FFF2-40B4-BE49-F238E27FC236}">
                <a16:creationId xmlns:a16="http://schemas.microsoft.com/office/drawing/2014/main" id="{CB7DACF0-110F-4424-92A5-110DBC47DA55}"/>
              </a:ext>
            </a:extLst>
          </p:cNvPr>
          <p:cNvSpPr>
            <a:spLocks xmlns:a="http://schemas.openxmlformats.org/drawingml/2006/main" noGrp="1"/>
          </p:cNvSpPr>
          <p:nvPr/>
        </p:nvSpPr>
        <p:spPr>
          <a:xfrm xmlns:a="http://schemas.openxmlformats.org/drawingml/2006/main">
            <a:off x="5219700" y="47910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95827"/>
                </a:solidFill>
                <a:latin typeface="Calibri"/>
                <a:ea typeface="Calibri"/>
                <a:cs typeface="Calibri"/>
              </a:defRPr>
            </a:defPPr>
            <a:lvl1pPr algn="l">
              <a:defRPr sz="2100" b="1">
                <a:solidFill>
                  <a:srgbClr val="B95827"/>
                </a:solidFill>
                <a:latin typeface="Calibri"/>
                <a:ea typeface="Calibri"/>
                <a:cs typeface="Calibri"/>
              </a:defRPr>
            </a:lvl1pPr>
            <a:lvl2pPr algn="l">
              <a:defRPr sz="2100" b="1">
                <a:solidFill>
                  <a:srgbClr val="B95827"/>
                </a:solidFill>
                <a:latin typeface="Calibri"/>
                <a:ea typeface="Calibri"/>
                <a:cs typeface="Calibri"/>
              </a:defRPr>
            </a:lvl2pPr>
            <a:lvl3pPr algn="l">
              <a:defRPr sz="2100" b="1">
                <a:solidFill>
                  <a:srgbClr val="B95827"/>
                </a:solidFill>
                <a:latin typeface="Calibri"/>
                <a:ea typeface="Calibri"/>
                <a:cs typeface="Calibri"/>
              </a:defRPr>
            </a:lvl3pPr>
            <a:lvl4pPr algn="l">
              <a:defRPr sz="2100" b="1">
                <a:solidFill>
                  <a:srgbClr val="B95827"/>
                </a:solidFill>
                <a:latin typeface="Calibri"/>
                <a:ea typeface="Calibri"/>
                <a:cs typeface="Calibri"/>
              </a:defRPr>
            </a:lvl4pPr>
            <a:lvl5pPr algn="l">
              <a:defRPr sz="2100" b="1">
                <a:solidFill>
                  <a:srgbClr val="B95827"/>
                </a:solidFill>
                <a:latin typeface="Calibri"/>
                <a:ea typeface="Calibri"/>
                <a:cs typeface="Calibri"/>
              </a:defRPr>
            </a:lvl5pPr>
            <a:lvl6pPr algn="l">
              <a:defRPr sz="2100" b="1">
                <a:solidFill>
                  <a:srgbClr val="B95827"/>
                </a:solidFill>
                <a:latin typeface="Calibri"/>
                <a:ea typeface="Calibri"/>
                <a:cs typeface="Calibri"/>
              </a:defRPr>
            </a:lvl6pPr>
            <a:lvl7pPr algn="l">
              <a:defRPr sz="2100" b="1">
                <a:solidFill>
                  <a:srgbClr val="B95827"/>
                </a:solidFill>
                <a:latin typeface="Calibri"/>
                <a:ea typeface="Calibri"/>
                <a:cs typeface="Calibri"/>
              </a:defRPr>
            </a:lvl7pPr>
            <a:lvl8pPr algn="l">
              <a:defRPr sz="2100" b="1">
                <a:solidFill>
                  <a:srgbClr val="B95827"/>
                </a:solidFill>
                <a:latin typeface="Calibri"/>
                <a:ea typeface="Calibri"/>
                <a:cs typeface="Calibri"/>
              </a:defRPr>
            </a:lvl8pPr>
            <a:lvl9pPr algn="l">
              <a:defRPr sz="2100" b="1">
                <a:solidFill>
                  <a:srgbClr val="B95827"/>
                </a:solidFill>
                <a:latin typeface="Calibri"/>
                <a:ea typeface="Calibri"/>
                <a:cs typeface="Calibri"/>
              </a:defRPr>
            </a:lvl9pPr>
          </a:lstStyle>
          <a:p xmlns:a="http://schemas.openxmlformats.org/drawingml/2006/main">
            <a:pPr algn="l">
              <a:defRPr sz="2100" b="1">
                <a:solidFill>
                  <a:srgbClr val="B95827"/>
                </a:solidFill>
                <a:latin typeface="Calibri"/>
                <a:ea typeface="Calibri"/>
                <a:cs typeface="Calibri"/>
              </a:defRPr>
            </a:pPr>
            <a:r>
              <a:rPr sz="2100" b="1">
                <a:solidFill>
                  <a:srgbClr val="B95827"/>
                </a:solidFill>
                <a:latin typeface="Calibri"/>
                <a:ea typeface="Calibri"/>
                <a:cs typeface="Calibri"/>
              </a:rPr>
              <a:t>04</a:t>
            </a:r>
          </a:p>
        </p:txBody>
      </p:sp>
      <p:sp>
        <p:nvSpPr>
          <p:cNvPr id="14" name="object-28">
            <a:extLst xmlns:a="http://schemas.openxmlformats.org/drawingml/2006/main">
              <a:ext uri="{FF2B5EF4-FFF2-40B4-BE49-F238E27FC236}">
                <a16:creationId xmlns:a16="http://schemas.microsoft.com/office/drawing/2014/main" id="{55915FBF-5E3A-40A0-A31C-9940DFE57FF1}"/>
              </a:ext>
            </a:extLst>
          </p:cNvPr>
          <p:cNvSpPr>
            <a:spLocks xmlns:a="http://schemas.openxmlformats.org/drawingml/2006/main" noGrp="1"/>
          </p:cNvSpPr>
          <p:nvPr/>
        </p:nvSpPr>
        <p:spPr>
          <a:xfrm xmlns:a="http://schemas.openxmlformats.org/drawingml/2006/main">
            <a:off x="5943600" y="4791075"/>
            <a:ext cx="5372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Limitations, applications and next steps</a:t>
            </a:r>
          </a:p>
        </p:txBody>
      </p:sp>
    </p:spTree>
    <p:extLst>
      <p:ext uri="{BB962C8B-B14F-4D97-AF65-F5344CB8AC3E}">
        <p14:creationId xmlns:p14="http://schemas.microsoft.com/office/powerpoint/2010/main" val="17452573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object-29">
            <a:extLst xmlns:a="http://schemas.openxmlformats.org/drawingml/2006/main">
              <a:ext uri="{FF2B5EF4-FFF2-40B4-BE49-F238E27FC236}">
                <a16:creationId xmlns:a16="http://schemas.microsoft.com/office/drawing/2014/main" id="{A688C37E-FC98-44BA-A226-D9B0E4CEAD94}"/>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30">
            <a:extLst xmlns:a="http://schemas.openxmlformats.org/drawingml/2006/main">
              <a:ext uri="{FF2B5EF4-FFF2-40B4-BE49-F238E27FC236}">
                <a16:creationId xmlns:a16="http://schemas.microsoft.com/office/drawing/2014/main" id="{B17752B0-A5B9-4B35-91E9-1E9B19200330}"/>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31">
            <a:extLst xmlns:a="http://schemas.openxmlformats.org/drawingml/2006/main">
              <a:ext uri="{FF2B5EF4-FFF2-40B4-BE49-F238E27FC236}">
                <a16:creationId xmlns:a16="http://schemas.microsoft.com/office/drawing/2014/main" id="{FE793A1E-5626-418E-A70F-6DF6020A2585}"/>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Introduction</a:t>
            </a:r>
          </a:p>
        </p:txBody>
      </p:sp>
      <p:sp>
        <p:nvSpPr>
          <p:cNvPr id="4" name="object-32">
            <a:extLst xmlns:a="http://schemas.openxmlformats.org/drawingml/2006/main">
              <a:ext uri="{FF2B5EF4-FFF2-40B4-BE49-F238E27FC236}">
                <a16:creationId xmlns:a16="http://schemas.microsoft.com/office/drawing/2014/main" id="{1AB22F47-0A19-4FE4-83F1-70C438498DA7}"/>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33">
            <a:extLst xmlns:a="http://schemas.openxmlformats.org/drawingml/2006/main">
              <a:ext uri="{FF2B5EF4-FFF2-40B4-BE49-F238E27FC236}">
                <a16:creationId xmlns:a16="http://schemas.microsoft.com/office/drawing/2014/main" id="{01B29B52-34BB-40C0-A721-2398444DB94C}"/>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One front-camera frame supports three separately evaluated tasks</a:t>
            </a:r>
          </a:p>
        </p:txBody>
      </p:sp>
      <p:sp>
        <p:nvSpPr>
          <p:cNvPr id="6" name="object-34">
            <a:extLst xmlns:a="http://schemas.openxmlformats.org/drawingml/2006/main">
              <a:ext uri="{FF2B5EF4-FFF2-40B4-BE49-F238E27FC236}">
                <a16:creationId xmlns:a16="http://schemas.microsoft.com/office/drawing/2014/main" id="{725514CE-6652-4833-A2BC-FD00022A1BF3}"/>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4</a:t>
            </a:r>
          </a:p>
        </p:txBody>
      </p:sp>
      <p:sp>
        <p:nvSpPr>
          <p:cNvPr id="7" name="object-35">
            <a:extLst xmlns:a="http://schemas.openxmlformats.org/drawingml/2006/main">
              <a:ext uri="{FF2B5EF4-FFF2-40B4-BE49-F238E27FC236}">
                <a16:creationId xmlns:a16="http://schemas.microsoft.com/office/drawing/2014/main" id="{755FF616-A918-4D6C-8D20-CB6AA7B90609}"/>
              </a:ext>
            </a:extLst>
          </p:cNvPr>
          <p:cNvSpPr>
            <a:spLocks xmlns:a="http://schemas.openxmlformats.org/drawingml/2006/main" noGrp="1"/>
          </p:cNvSpPr>
          <p:nvPr/>
        </p:nvSpPr>
        <p:spPr>
          <a:xfrm xmlns:a="http://schemas.openxmlformats.org/drawingml/2006/main">
            <a:off x="800100" y="19716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01</a:t>
            </a:r>
          </a:p>
        </p:txBody>
      </p:sp>
      <p:sp>
        <p:nvSpPr>
          <p:cNvPr id="8" name="object-36">
            <a:extLst xmlns:a="http://schemas.openxmlformats.org/drawingml/2006/main">
              <a:ext uri="{FF2B5EF4-FFF2-40B4-BE49-F238E27FC236}">
                <a16:creationId xmlns:a16="http://schemas.microsoft.com/office/drawing/2014/main" id="{54DF4F53-F64D-42A3-A46C-A61B93F6939A}"/>
              </a:ext>
            </a:extLst>
          </p:cNvPr>
          <p:cNvSpPr>
            <a:spLocks xmlns:a="http://schemas.openxmlformats.org/drawingml/2006/main" noGrp="1"/>
          </p:cNvSpPr>
          <p:nvPr/>
        </p:nvSpPr>
        <p:spPr>
          <a:xfrm xmlns:a="http://schemas.openxmlformats.org/drawingml/2006/main">
            <a:off x="1524000" y="1971675"/>
            <a:ext cx="98488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Object detection identifies road users and traffic infrastructure.</a:t>
            </a:r>
          </a:p>
        </p:txBody>
      </p:sp>
      <p:sp>
        <p:nvSpPr>
          <p:cNvPr id="9" name="object-37">
            <a:extLst xmlns:a="http://schemas.openxmlformats.org/drawingml/2006/main">
              <a:ext uri="{FF2B5EF4-FFF2-40B4-BE49-F238E27FC236}">
                <a16:creationId xmlns:a16="http://schemas.microsoft.com/office/drawing/2014/main" id="{4C6DEC7C-861E-4E3A-9EF8-10147BCCFFA7}"/>
              </a:ext>
            </a:extLst>
          </p:cNvPr>
          <p:cNvSpPr>
            <a:spLocks xmlns:a="http://schemas.openxmlformats.org/drawingml/2006/main" noGrp="1"/>
          </p:cNvSpPr>
          <p:nvPr/>
        </p:nvSpPr>
        <p:spPr>
          <a:xfrm xmlns:a="http://schemas.openxmlformats.org/drawingml/2006/main">
            <a:off x="800100" y="295275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02</a:t>
            </a:r>
          </a:p>
        </p:txBody>
      </p:sp>
      <p:sp>
        <p:nvSpPr>
          <p:cNvPr id="10" name="object-38">
            <a:extLst xmlns:a="http://schemas.openxmlformats.org/drawingml/2006/main">
              <a:ext uri="{FF2B5EF4-FFF2-40B4-BE49-F238E27FC236}">
                <a16:creationId xmlns:a16="http://schemas.microsoft.com/office/drawing/2014/main" id="{268A8586-9C23-4D0F-897F-B1D70EFD44D7}"/>
              </a:ext>
            </a:extLst>
          </p:cNvPr>
          <p:cNvSpPr>
            <a:spLocks xmlns:a="http://schemas.openxmlformats.org/drawingml/2006/main" noGrp="1"/>
          </p:cNvSpPr>
          <p:nvPr/>
        </p:nvSpPr>
        <p:spPr>
          <a:xfrm xmlns:a="http://schemas.openxmlformats.org/drawingml/2006/main">
            <a:off x="1524000" y="2952750"/>
            <a:ext cx="98488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Lane segmentation estimates the pixels belonging to lane markings.</a:t>
            </a:r>
          </a:p>
        </p:txBody>
      </p:sp>
      <p:sp>
        <p:nvSpPr>
          <p:cNvPr id="11" name="object-39">
            <a:extLst xmlns:a="http://schemas.openxmlformats.org/drawingml/2006/main">
              <a:ext uri="{FF2B5EF4-FFF2-40B4-BE49-F238E27FC236}">
                <a16:creationId xmlns:a16="http://schemas.microsoft.com/office/drawing/2014/main" id="{96729D1D-344D-4526-A98F-410D9BE94310}"/>
              </a:ext>
            </a:extLst>
          </p:cNvPr>
          <p:cNvSpPr>
            <a:spLocks xmlns:a="http://schemas.openxmlformats.org/drawingml/2006/main" noGrp="1"/>
          </p:cNvSpPr>
          <p:nvPr/>
        </p:nvSpPr>
        <p:spPr>
          <a:xfrm xmlns:a="http://schemas.openxmlformats.org/drawingml/2006/main">
            <a:off x="800100" y="393382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03</a:t>
            </a:r>
          </a:p>
        </p:txBody>
      </p:sp>
      <p:sp>
        <p:nvSpPr>
          <p:cNvPr id="12" name="object-40">
            <a:extLst xmlns:a="http://schemas.openxmlformats.org/drawingml/2006/main">
              <a:ext uri="{FF2B5EF4-FFF2-40B4-BE49-F238E27FC236}">
                <a16:creationId xmlns:a16="http://schemas.microsoft.com/office/drawing/2014/main" id="{E36A6708-6EDB-41A8-AB4B-6F4202733C38}"/>
              </a:ext>
            </a:extLst>
          </p:cNvPr>
          <p:cNvSpPr>
            <a:spLocks xmlns:a="http://schemas.openxmlformats.org/drawingml/2006/main" noGrp="1"/>
          </p:cNvSpPr>
          <p:nvPr/>
        </p:nvSpPr>
        <p:spPr>
          <a:xfrm xmlns:a="http://schemas.openxmlformats.org/drawingml/2006/main">
            <a:off x="1524000" y="3933825"/>
            <a:ext cx="98488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Steering regression estimates a continuous steering angle.</a:t>
            </a:r>
          </a:p>
        </p:txBody>
      </p:sp>
      <p:sp>
        <p:nvSpPr>
          <p:cNvPr id="13" name="object-41">
            <a:extLst xmlns:a="http://schemas.openxmlformats.org/drawingml/2006/main">
              <a:ext uri="{FF2B5EF4-FFF2-40B4-BE49-F238E27FC236}">
                <a16:creationId xmlns:a16="http://schemas.microsoft.com/office/drawing/2014/main" id="{C54829C1-74C0-42CB-8770-0E7FF42B00E1}"/>
              </a:ext>
            </a:extLst>
          </p:cNvPr>
          <p:cNvSpPr>
            <a:spLocks xmlns:a="http://schemas.openxmlformats.org/drawingml/2006/main" noGrp="1"/>
          </p:cNvSpPr>
          <p:nvPr/>
        </p:nvSpPr>
        <p:spPr>
          <a:xfrm xmlns:a="http://schemas.openxmlformats.org/drawingml/2006/main">
            <a:off x="800100" y="491490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04</a:t>
            </a:r>
          </a:p>
        </p:txBody>
      </p:sp>
      <p:sp>
        <p:nvSpPr>
          <p:cNvPr id="14" name="object-42">
            <a:extLst xmlns:a="http://schemas.openxmlformats.org/drawingml/2006/main">
              <a:ext uri="{FF2B5EF4-FFF2-40B4-BE49-F238E27FC236}">
                <a16:creationId xmlns:a16="http://schemas.microsoft.com/office/drawing/2014/main" id="{0B397B27-B741-46E6-A2BD-1111DAD288EF}"/>
              </a:ext>
            </a:extLst>
          </p:cNvPr>
          <p:cNvSpPr>
            <a:spLocks xmlns:a="http://schemas.openxmlformats.org/drawingml/2006/main" noGrp="1"/>
          </p:cNvSpPr>
          <p:nvPr/>
        </p:nvSpPr>
        <p:spPr>
          <a:xfrm xmlns:a="http://schemas.openxmlformats.org/drawingml/2006/main">
            <a:off x="1524000" y="4914900"/>
            <a:ext cx="98488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A visual display combines the outputs for inspection.</a:t>
            </a:r>
          </a:p>
        </p:txBody>
      </p:sp>
    </p:spTree>
    <p:extLst>
      <p:ext uri="{BB962C8B-B14F-4D97-AF65-F5344CB8AC3E}">
        <p14:creationId xmlns:p14="http://schemas.microsoft.com/office/powerpoint/2010/main" val="14752505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object-43">
            <a:extLst xmlns:a="http://schemas.openxmlformats.org/drawingml/2006/main">
              <a:ext uri="{FF2B5EF4-FFF2-40B4-BE49-F238E27FC236}">
                <a16:creationId xmlns:a16="http://schemas.microsoft.com/office/drawing/2014/main" id="{3FB844A3-4E47-4C2D-B4BA-38A3DC7D005C}"/>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44">
            <a:extLst xmlns:a="http://schemas.openxmlformats.org/drawingml/2006/main">
              <a:ext uri="{FF2B5EF4-FFF2-40B4-BE49-F238E27FC236}">
                <a16:creationId xmlns:a16="http://schemas.microsoft.com/office/drawing/2014/main" id="{D2D0D8AB-8285-4132-B982-E7C3B5AC1607}"/>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45">
            <a:extLst xmlns:a="http://schemas.openxmlformats.org/drawingml/2006/main">
              <a:ext uri="{FF2B5EF4-FFF2-40B4-BE49-F238E27FC236}">
                <a16:creationId xmlns:a16="http://schemas.microsoft.com/office/drawing/2014/main" id="{F46C0438-7463-47B1-B07B-5D33D65B6153}"/>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Project objectives</a:t>
            </a:r>
          </a:p>
        </p:txBody>
      </p:sp>
      <p:sp>
        <p:nvSpPr>
          <p:cNvPr id="4" name="object-46">
            <a:extLst xmlns:a="http://schemas.openxmlformats.org/drawingml/2006/main">
              <a:ext uri="{FF2B5EF4-FFF2-40B4-BE49-F238E27FC236}">
                <a16:creationId xmlns:a16="http://schemas.microsoft.com/office/drawing/2014/main" id="{BBCD3D12-D77F-468F-A401-B72F5E4FB9A8}"/>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47">
            <a:extLst xmlns:a="http://schemas.openxmlformats.org/drawingml/2006/main">
              <a:ext uri="{FF2B5EF4-FFF2-40B4-BE49-F238E27FC236}">
                <a16:creationId xmlns:a16="http://schemas.microsoft.com/office/drawing/2014/main" id="{FC213825-9E47-4833-B4A0-66CE4E1DC6A3}"/>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5</a:t>
            </a:r>
          </a:p>
        </p:txBody>
      </p:sp>
      <p:sp>
        <p:nvSpPr>
          <p:cNvPr id="6" name="object-48">
            <a:extLst xmlns:a="http://schemas.openxmlformats.org/drawingml/2006/main">
              <a:ext uri="{FF2B5EF4-FFF2-40B4-BE49-F238E27FC236}">
                <a16:creationId xmlns:a16="http://schemas.microsoft.com/office/drawing/2014/main" id="{3D8B6D8F-C072-4515-A1E2-2389D387D541}"/>
              </a:ext>
            </a:extLst>
          </p:cNvPr>
          <p:cNvSpPr>
            <a:spLocks xmlns:a="http://schemas.openxmlformats.org/drawingml/2006/main" noGrp="1"/>
          </p:cNvSpPr>
          <p:nvPr/>
        </p:nvSpPr>
        <p:spPr>
          <a:xfrm xmlns:a="http://schemas.openxmlformats.org/drawingml/2006/main">
            <a:off x="800100" y="18573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01</a:t>
            </a:r>
          </a:p>
        </p:txBody>
      </p:sp>
      <p:sp>
        <p:nvSpPr>
          <p:cNvPr id="7" name="object-49">
            <a:extLst xmlns:a="http://schemas.openxmlformats.org/drawingml/2006/main">
              <a:ext uri="{FF2B5EF4-FFF2-40B4-BE49-F238E27FC236}">
                <a16:creationId xmlns:a16="http://schemas.microsoft.com/office/drawing/2014/main" id="{952912A8-9469-458B-B85B-69553CAD675B}"/>
              </a:ext>
            </a:extLst>
          </p:cNvPr>
          <p:cNvSpPr>
            <a:spLocks xmlns:a="http://schemas.openxmlformats.org/drawingml/2006/main" noGrp="1"/>
          </p:cNvSpPr>
          <p:nvPr/>
        </p:nvSpPr>
        <p:spPr>
          <a:xfrm xmlns:a="http://schemas.openxmlformats.org/drawingml/2006/main">
            <a:off x="1524000" y="1857375"/>
            <a:ext cx="98488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Train a compact detector for ten road-relevant COCO categories.</a:t>
            </a:r>
          </a:p>
        </p:txBody>
      </p:sp>
      <p:sp>
        <p:nvSpPr>
          <p:cNvPr id="8" name="object-50">
            <a:extLst xmlns:a="http://schemas.openxmlformats.org/drawingml/2006/main">
              <a:ext uri="{FF2B5EF4-FFF2-40B4-BE49-F238E27FC236}">
                <a16:creationId xmlns:a16="http://schemas.microsoft.com/office/drawing/2014/main" id="{24053AB0-F6A3-4A11-9F17-1CE18E7DCC7F}"/>
              </a:ext>
            </a:extLst>
          </p:cNvPr>
          <p:cNvSpPr>
            <a:spLocks xmlns:a="http://schemas.openxmlformats.org/drawingml/2006/main" noGrp="1"/>
          </p:cNvSpPr>
          <p:nvPr/>
        </p:nvSpPr>
        <p:spPr>
          <a:xfrm xmlns:a="http://schemas.openxmlformats.org/drawingml/2006/main">
            <a:off x="800100" y="28860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02</a:t>
            </a:r>
          </a:p>
        </p:txBody>
      </p:sp>
      <p:sp>
        <p:nvSpPr>
          <p:cNvPr id="9" name="object-51">
            <a:extLst xmlns:a="http://schemas.openxmlformats.org/drawingml/2006/main">
              <a:ext uri="{FF2B5EF4-FFF2-40B4-BE49-F238E27FC236}">
                <a16:creationId xmlns:a16="http://schemas.microsoft.com/office/drawing/2014/main" id="{AAD86764-B2D2-4AA4-9900-6C7D85ED69D5}"/>
              </a:ext>
            </a:extLst>
          </p:cNvPr>
          <p:cNvSpPr>
            <a:spLocks xmlns:a="http://schemas.openxmlformats.org/drawingml/2006/main" noGrp="1"/>
          </p:cNvSpPr>
          <p:nvPr/>
        </p:nvSpPr>
        <p:spPr>
          <a:xfrm xmlns:a="http://schemas.openxmlformats.org/drawingml/2006/main">
            <a:off x="1524000" y="2886075"/>
            <a:ext cx="98488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Convert TuSimple lane points into polygons for YOLO segmentation.</a:t>
            </a:r>
          </a:p>
        </p:txBody>
      </p:sp>
      <p:sp>
        <p:nvSpPr>
          <p:cNvPr id="10" name="object-52">
            <a:extLst xmlns:a="http://schemas.openxmlformats.org/drawingml/2006/main">
              <a:ext uri="{FF2B5EF4-FFF2-40B4-BE49-F238E27FC236}">
                <a16:creationId xmlns:a16="http://schemas.microsoft.com/office/drawing/2014/main" id="{0FB154FF-0FD8-4441-9D07-B80C34812CBA}"/>
              </a:ext>
            </a:extLst>
          </p:cNvPr>
          <p:cNvSpPr>
            <a:spLocks xmlns:a="http://schemas.openxmlformats.org/drawingml/2006/main" noGrp="1"/>
          </p:cNvSpPr>
          <p:nvPr/>
        </p:nvSpPr>
        <p:spPr>
          <a:xfrm xmlns:a="http://schemas.openxmlformats.org/drawingml/2006/main">
            <a:off x="800100" y="39147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03</a:t>
            </a:r>
          </a:p>
        </p:txBody>
      </p:sp>
      <p:sp>
        <p:nvSpPr>
          <p:cNvPr id="11" name="object-53">
            <a:extLst xmlns:a="http://schemas.openxmlformats.org/drawingml/2006/main">
              <a:ext uri="{FF2B5EF4-FFF2-40B4-BE49-F238E27FC236}">
                <a16:creationId xmlns:a16="http://schemas.microsoft.com/office/drawing/2014/main" id="{34ACE4BE-9F71-4802-A357-9818947EDB08}"/>
              </a:ext>
            </a:extLst>
          </p:cNvPr>
          <p:cNvSpPr>
            <a:spLocks xmlns:a="http://schemas.openxmlformats.org/drawingml/2006/main" noGrp="1"/>
          </p:cNvSpPr>
          <p:nvPr/>
        </p:nvSpPr>
        <p:spPr>
          <a:xfrm xmlns:a="http://schemas.openxmlformats.org/drawingml/2006/main">
            <a:off x="1524000" y="3914775"/>
            <a:ext cx="98488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Audit the steering checkpoint and evaluate a new frozen-CNN readout.</a:t>
            </a:r>
          </a:p>
        </p:txBody>
      </p:sp>
      <p:sp>
        <p:nvSpPr>
          <p:cNvPr id="12" name="object-54">
            <a:extLst xmlns:a="http://schemas.openxmlformats.org/drawingml/2006/main">
              <a:ext uri="{FF2B5EF4-FFF2-40B4-BE49-F238E27FC236}">
                <a16:creationId xmlns:a16="http://schemas.microsoft.com/office/drawing/2014/main" id="{21502335-F13A-4F1F-91DD-ACBC739A68A5}"/>
              </a:ext>
            </a:extLst>
          </p:cNvPr>
          <p:cNvSpPr>
            <a:spLocks xmlns:a="http://schemas.openxmlformats.org/drawingml/2006/main" noGrp="1"/>
          </p:cNvSpPr>
          <p:nvPr/>
        </p:nvSpPr>
        <p:spPr>
          <a:xfrm xmlns:a="http://schemas.openxmlformats.org/drawingml/2006/main">
            <a:off x="800100" y="49434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04</a:t>
            </a:r>
          </a:p>
        </p:txBody>
      </p:sp>
      <p:sp>
        <p:nvSpPr>
          <p:cNvPr id="13" name="object-55">
            <a:extLst xmlns:a="http://schemas.openxmlformats.org/drawingml/2006/main">
              <a:ext uri="{FF2B5EF4-FFF2-40B4-BE49-F238E27FC236}">
                <a16:creationId xmlns:a16="http://schemas.microsoft.com/office/drawing/2014/main" id="{630727C4-4223-45AB-A5FD-9A0F7DCAE588}"/>
              </a:ext>
            </a:extLst>
          </p:cNvPr>
          <p:cNvSpPr>
            <a:spLocks xmlns:a="http://schemas.openxmlformats.org/drawingml/2006/main" noGrp="1"/>
          </p:cNvSpPr>
          <p:nvPr/>
        </p:nvSpPr>
        <p:spPr>
          <a:xfrm xmlns:a="http://schemas.openxmlformats.org/drawingml/2006/main">
            <a:off x="1524000" y="4943475"/>
            <a:ext cx="98488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Document each module’s accuracy, timing and evaluation limits.</a:t>
            </a:r>
          </a:p>
        </p:txBody>
      </p:sp>
    </p:spTree>
    <p:extLst>
      <p:ext uri="{BB962C8B-B14F-4D97-AF65-F5344CB8AC3E}">
        <p14:creationId xmlns:p14="http://schemas.microsoft.com/office/powerpoint/2010/main" val="12789071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56">
            <a:extLst xmlns:a="http://schemas.openxmlformats.org/drawingml/2006/main">
              <a:ext uri="{FF2B5EF4-FFF2-40B4-BE49-F238E27FC236}">
                <a16:creationId xmlns:a16="http://schemas.microsoft.com/office/drawing/2014/main" id="{EF9E8276-B404-4F14-8A2B-3E500F21FD5E}"/>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57">
            <a:extLst xmlns:a="http://schemas.openxmlformats.org/drawingml/2006/main">
              <a:ext uri="{FF2B5EF4-FFF2-40B4-BE49-F238E27FC236}">
                <a16:creationId xmlns:a16="http://schemas.microsoft.com/office/drawing/2014/main" id="{E846DE41-9F9B-401B-84DB-AE499BDBCDE5}"/>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58">
            <a:extLst xmlns:a="http://schemas.openxmlformats.org/drawingml/2006/main">
              <a:ext uri="{FF2B5EF4-FFF2-40B4-BE49-F238E27FC236}">
                <a16:creationId xmlns:a16="http://schemas.microsoft.com/office/drawing/2014/main" id="{3A50D55D-A0EA-4624-9576-36A3224A781C}"/>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Literature review</a:t>
            </a:r>
          </a:p>
        </p:txBody>
      </p:sp>
      <p:sp>
        <p:nvSpPr>
          <p:cNvPr id="4" name="object-59">
            <a:extLst xmlns:a="http://schemas.openxmlformats.org/drawingml/2006/main">
              <a:ext uri="{FF2B5EF4-FFF2-40B4-BE49-F238E27FC236}">
                <a16:creationId xmlns:a16="http://schemas.microsoft.com/office/drawing/2014/main" id="{1704D58F-1485-49CD-86CA-3E9916CABD80}"/>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60">
            <a:extLst xmlns:a="http://schemas.openxmlformats.org/drawingml/2006/main">
              <a:ext uri="{FF2B5EF4-FFF2-40B4-BE49-F238E27FC236}">
                <a16:creationId xmlns:a16="http://schemas.microsoft.com/office/drawing/2014/main" id="{076D5DEA-8129-4B7B-A5A3-65B8FD2863CE}"/>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6</a:t>
            </a:r>
          </a:p>
        </p:txBody>
      </p:sp>
      <p:graphicFrame>
        <p:nvGraphicFramePr>
          <p:cNvPr id="6" name="">
            <a:extLst xmlns:a="http://schemas.openxmlformats.org/drawingml/2006/main">
              <a:ext uri="{FF2B5EF4-FFF2-40B4-BE49-F238E27FC236}">
                <a16:creationId xmlns:a16="http://schemas.microsoft.com/office/drawing/2014/main" id="{9DA7AE4A-3534-4FAF-B203-813E0E7412DF}"/>
              </a:ext>
            </a:extLst>
          </p:cNvPr>
          <p:cNvGraphicFramePr/>
          <p:nvPr/>
        </p:nvGraphicFramePr>
        <p:xfrm>
          <a:off xmlns:a="http://schemas.openxmlformats.org/drawingml/2006/main" x="685800" y="1619250"/>
          <a:ext xmlns:a="http://schemas.openxmlformats.org/drawingml/2006/main" cx="10820400" cy="3476625"/>
        </p:xfrm>
        <a:graphic xmlns:a="http://schemas.openxmlformats.org/drawingml/2006/main">
          <a:graphicData uri="http://schemas.openxmlformats.org/drawingml/2006/table">
            <a:tbl>
              <a:tblPr/>
              <a:tblGrid>
                <a:gridCol w="2921508"/>
                <a:gridCol w="3895344"/>
                <a:gridCol w="4003548"/>
              </a:tblGrid>
              <a:tr h="695325">
                <a:tc>
                  <a:txBody>
                    <a:bodyPr wrap="square" lIns="66675" tIns="66675" rIns="66675" bIns="66675">
                      <a:noAutofit/>
                    </a:bodyPr>
                    <a:lstStyle/>
                    <a:p>
                      <a:pPr algn="l"/>
                      <a:r>
                        <a:rPr sz="1800" b="1">
                          <a:solidFill>
                            <a:srgbClr val="FFFFFF"/>
                          </a:solidFill>
                          <a:latin typeface="Calibri"/>
                          <a:ea typeface="Calibri"/>
                          <a:cs typeface="Calibri"/>
                        </a:rPr>
                        <a:t>Work</a:t>
                      </a:r>
                    </a:p>
                  </a:txBody>
                  <a:tcPr marL="91440" marR="91440" marT="45720" marB="4572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800" b="1">
                          <a:solidFill>
                            <a:srgbClr val="FFFFFF"/>
                          </a:solidFill>
                          <a:latin typeface="Calibri"/>
                          <a:ea typeface="Calibri"/>
                          <a:cs typeface="Calibri"/>
                        </a:rPr>
                        <a:t>Contribution</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800" b="1">
                          <a:solidFill>
                            <a:srgbClr val="FFFFFF"/>
                          </a:solidFill>
                          <a:latin typeface="Calibri"/>
                          <a:ea typeface="Calibri"/>
                          <a:cs typeface="Calibri"/>
                        </a:rPr>
                        <a:t>Relevance to AutoDrive</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695325">
                <a:tc>
                  <a:txBody>
                    <a:bodyPr wrap="square" lIns="66675" tIns="66675" rIns="66675" bIns="66675">
                      <a:noAutofit/>
                    </a:bodyPr>
                    <a:lstStyle/>
                    <a:p>
                      <a:pPr algn="l"/>
                      <a:r>
                        <a:rPr sz="1800" b="0">
                          <a:solidFill>
                            <a:srgbClr val="000000"/>
                          </a:solidFill>
                          <a:latin typeface="Calibri"/>
                          <a:ea typeface="Calibri"/>
                          <a:cs typeface="Calibri"/>
                        </a:rPr>
                        <a:t>DAVE-2, Bojarski et al. (2016)</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00" b="0">
                          <a:solidFill>
                            <a:srgbClr val="000000"/>
                          </a:solidFill>
                          <a:latin typeface="Calibri"/>
                          <a:ea typeface="Calibri"/>
                          <a:cs typeface="Calibri"/>
                        </a:rPr>
                        <a:t>Camera images to steering angle</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00" b="0">
                          <a:solidFill>
                            <a:srgbClr val="000000"/>
                          </a:solidFill>
                          <a:latin typeface="Calibri"/>
                          <a:ea typeface="Calibri"/>
                          <a:cs typeface="Calibri"/>
                        </a:rPr>
                        <a:t>Reference architecture for steering regression</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695325">
                <a:tc>
                  <a:txBody>
                    <a:bodyPr wrap="square" lIns="66675" tIns="66675" rIns="66675" bIns="66675">
                      <a:noAutofit/>
                    </a:bodyPr>
                    <a:lstStyle/>
                    <a:p>
                      <a:pPr algn="l"/>
                      <a:r>
                        <a:rPr sz="1800" b="0">
                          <a:solidFill>
                            <a:srgbClr val="000000"/>
                          </a:solidFill>
                          <a:latin typeface="Calibri"/>
                          <a:ea typeface="Calibri"/>
                          <a:cs typeface="Calibri"/>
                        </a:rPr>
                        <a:t>SCNN and LaneNet (2018)</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800" b="0">
                          <a:solidFill>
                            <a:srgbClr val="000000"/>
                          </a:solidFill>
                          <a:latin typeface="Calibri"/>
                          <a:ea typeface="Calibri"/>
                          <a:cs typeface="Calibri"/>
                        </a:rPr>
                        <a:t>Lane structure and instance segmentation</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800" b="0">
                          <a:solidFill>
                            <a:srgbClr val="000000"/>
                          </a:solidFill>
                          <a:latin typeface="Calibri"/>
                          <a:ea typeface="Calibri"/>
                          <a:cs typeface="Calibri"/>
                        </a:rPr>
                        <a:t>Context for learning lane markings</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695325">
                <a:tc>
                  <a:txBody>
                    <a:bodyPr wrap="square" lIns="66675" tIns="66675" rIns="66675" bIns="66675">
                      <a:noAutofit/>
                    </a:bodyPr>
                    <a:lstStyle/>
                    <a:p>
                      <a:pPr algn="l"/>
                      <a:r>
                        <a:rPr sz="1800" b="0">
                          <a:solidFill>
                            <a:srgbClr val="000000"/>
                          </a:solidFill>
                          <a:latin typeface="Calibri"/>
                          <a:ea typeface="Calibri"/>
                          <a:cs typeface="Calibri"/>
                        </a:rPr>
                        <a:t>Ultralytics YOLO11 (2024)</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00" b="0">
                          <a:solidFill>
                            <a:srgbClr val="000000"/>
                          </a:solidFill>
                          <a:latin typeface="Calibri"/>
                          <a:ea typeface="Calibri"/>
                          <a:cs typeface="Calibri"/>
                        </a:rPr>
                        <a:t>Object detection and instance segmentation</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00" b="0">
                          <a:solidFill>
                            <a:srgbClr val="000000"/>
                          </a:solidFill>
                          <a:latin typeface="Calibri"/>
                          <a:ea typeface="Calibri"/>
                          <a:cs typeface="Calibri"/>
                        </a:rPr>
                        <a:t>Implemented perception models</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695325">
                <a:tc>
                  <a:txBody>
                    <a:bodyPr wrap="square" lIns="66675" tIns="66675" rIns="66675" bIns="66675">
                      <a:noAutofit/>
                    </a:bodyPr>
                    <a:lstStyle/>
                    <a:p>
                      <a:pPr algn="l"/>
                      <a:r>
                        <a:rPr sz="1800" b="0">
                          <a:solidFill>
                            <a:srgbClr val="000000"/>
                          </a:solidFill>
                          <a:latin typeface="Calibri"/>
                          <a:ea typeface="Calibri"/>
                          <a:cs typeface="Calibri"/>
                        </a:rPr>
                        <a:t>TuSimple benchmark (2017)</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800" b="0">
                          <a:solidFill>
                            <a:srgbClr val="000000"/>
                          </a:solidFill>
                          <a:latin typeface="Calibri"/>
                          <a:ea typeface="Calibri"/>
                          <a:cs typeface="Calibri"/>
                        </a:rPr>
                        <a:t>Lane annotations and evaluation protocol</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800" b="0">
                          <a:solidFill>
                            <a:srgbClr val="000000"/>
                          </a:solidFill>
                          <a:latin typeface="Calibri"/>
                          <a:ea typeface="Calibri"/>
                          <a:cs typeface="Calibri"/>
                        </a:rPr>
                        <a:t>Lane dataset and metric caveats</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bl>
          </a:graphicData>
        </a:graphic>
      </p:graphicFrame>
      <p:sp>
        <p:nvSpPr>
          <p:cNvPr id="7" name="object-61">
            <a:extLst xmlns:a="http://schemas.openxmlformats.org/drawingml/2006/main">
              <a:ext uri="{FF2B5EF4-FFF2-40B4-BE49-F238E27FC236}">
                <a16:creationId xmlns:a16="http://schemas.microsoft.com/office/drawing/2014/main" id="{F2DB02E4-CE6C-4E57-AF7A-79F96286826E}"/>
              </a:ext>
            </a:extLst>
          </p:cNvPr>
          <p:cNvSpPr>
            <a:spLocks xmlns:a="http://schemas.openxmlformats.org/drawingml/2006/main" noGrp="1"/>
          </p:cNvSpPr>
          <p:nvPr/>
        </p:nvSpPr>
        <p:spPr>
          <a:xfrm xmlns:a="http://schemas.openxmlformats.org/drawingml/2006/main">
            <a:off x="685800" y="540067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00000"/>
                </a:solidFill>
                <a:latin typeface="Calibri"/>
                <a:ea typeface="Calibri"/>
                <a:cs typeface="Calibri"/>
              </a:defRPr>
            </a:defPPr>
            <a:lvl1pPr algn="l">
              <a:defRPr sz="2100" b="1">
                <a:solidFill>
                  <a:srgbClr val="000000"/>
                </a:solidFill>
                <a:latin typeface="Calibri"/>
                <a:ea typeface="Calibri"/>
                <a:cs typeface="Calibri"/>
              </a:defRPr>
            </a:lvl1pPr>
            <a:lvl2pPr algn="l">
              <a:defRPr sz="2100" b="1">
                <a:solidFill>
                  <a:srgbClr val="000000"/>
                </a:solidFill>
                <a:latin typeface="Calibri"/>
                <a:ea typeface="Calibri"/>
                <a:cs typeface="Calibri"/>
              </a:defRPr>
            </a:lvl2pPr>
            <a:lvl3pPr algn="l">
              <a:defRPr sz="2100" b="1">
                <a:solidFill>
                  <a:srgbClr val="000000"/>
                </a:solidFill>
                <a:latin typeface="Calibri"/>
                <a:ea typeface="Calibri"/>
                <a:cs typeface="Calibri"/>
              </a:defRPr>
            </a:lvl3pPr>
            <a:lvl4pPr algn="l">
              <a:defRPr sz="2100" b="1">
                <a:solidFill>
                  <a:srgbClr val="000000"/>
                </a:solidFill>
                <a:latin typeface="Calibri"/>
                <a:ea typeface="Calibri"/>
                <a:cs typeface="Calibri"/>
              </a:defRPr>
            </a:lvl4pPr>
            <a:lvl5pPr algn="l">
              <a:defRPr sz="2100" b="1">
                <a:solidFill>
                  <a:srgbClr val="000000"/>
                </a:solidFill>
                <a:latin typeface="Calibri"/>
                <a:ea typeface="Calibri"/>
                <a:cs typeface="Calibri"/>
              </a:defRPr>
            </a:lvl5pPr>
            <a:lvl6pPr algn="l">
              <a:defRPr sz="2100" b="1">
                <a:solidFill>
                  <a:srgbClr val="000000"/>
                </a:solidFill>
                <a:latin typeface="Calibri"/>
                <a:ea typeface="Calibri"/>
                <a:cs typeface="Calibri"/>
              </a:defRPr>
            </a:lvl6pPr>
            <a:lvl7pPr algn="l">
              <a:defRPr sz="2100" b="1">
                <a:solidFill>
                  <a:srgbClr val="000000"/>
                </a:solidFill>
                <a:latin typeface="Calibri"/>
                <a:ea typeface="Calibri"/>
                <a:cs typeface="Calibri"/>
              </a:defRPr>
            </a:lvl7pPr>
            <a:lvl8pPr algn="l">
              <a:defRPr sz="2100" b="1">
                <a:solidFill>
                  <a:srgbClr val="000000"/>
                </a:solidFill>
                <a:latin typeface="Calibri"/>
                <a:ea typeface="Calibri"/>
                <a:cs typeface="Calibri"/>
              </a:defRPr>
            </a:lvl8pPr>
            <a:lvl9pPr algn="l">
              <a:defRPr sz="2100" b="1">
                <a:solidFill>
                  <a:srgbClr val="000000"/>
                </a:solidFill>
                <a:latin typeface="Calibri"/>
                <a:ea typeface="Calibri"/>
                <a:cs typeface="Calibri"/>
              </a:defRPr>
            </a:lvl9pPr>
          </a:lstStyle>
          <a:p xmlns:a="http://schemas.openxmlformats.org/drawingml/2006/main">
            <a:pPr algn="l">
              <a:defRPr sz="2100" b="1">
                <a:solidFill>
                  <a:srgbClr val="000000"/>
                </a:solidFill>
                <a:latin typeface="Calibri"/>
                <a:ea typeface="Calibri"/>
                <a:cs typeface="Calibri"/>
              </a:defRPr>
            </a:pPr>
            <a:r>
              <a:rPr sz="2100" b="1">
                <a:solidFill>
                  <a:srgbClr val="000000"/>
                </a:solidFill>
                <a:latin typeface="Calibri"/>
                <a:ea typeface="Calibri"/>
                <a:cs typeface="Calibri"/>
              </a:rPr>
              <a:t>Contribution: integration, annotation conversion and component evaluation</a:t>
            </a:r>
          </a:p>
        </p:txBody>
      </p:sp>
    </p:spTree>
    <p:extLst>
      <p:ext uri="{BB962C8B-B14F-4D97-AF65-F5344CB8AC3E}">
        <p14:creationId xmlns:p14="http://schemas.microsoft.com/office/powerpoint/2010/main" val="4465689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7077202B-2BD0-4EDD-8E26-FCE3F7C8FCE6}"/>
              </a:ext>
            </a:extLst>
          </p:cNvPr>
          <p:cNvCxnSpPr>
            <a:stCxn xmlns:a="http://schemas.openxmlformats.org/drawingml/2006/main" id="13" idx="3"/>
            <a:endCxn xmlns:a="http://schemas.openxmlformats.org/drawingml/2006/main" id="14" idx="1"/>
          </p:cNvCxnSpPr>
          <p:nvPr/>
        </p:nvCxnSpPr>
        <p:spPr>
          <a:xfrm xmlns:a="http://schemas.openxmlformats.org/drawingml/2006/main" flipV="1">
            <a:off x="9477375" y="3671888"/>
            <a:ext cx="828675" cy="1409700"/>
          </a:xfrm>
          <a:prstGeom xmlns:a="http://schemas.openxmlformats.org/drawingml/2006/main" prst="bentConnector3">
            <a:avLst>
              <a:gd name="adj1" fmla="val 50000"/>
            </a:avLst>
          </a:prstGeom>
          <a:ln xmlns:a="http://schemas.openxmlformats.org/drawingml/2006/main" w="19050">
            <a:solidFill>
              <a:srgbClr val="000000"/>
            </a:solidFill>
            <a:prstDash val="solid"/>
            <a:headEnd type="triangle" w="med" len="med"/>
          </a:ln>
        </p:spPr>
      </p:cxnSp>
      <p:cxnSp>
        <p:nvCxnSpPr>
          <p:cNvPr id="22" name="">
            <a:extLst xmlns:a="http://schemas.openxmlformats.org/drawingml/2006/main">
              <a:ext uri="{FF2B5EF4-FFF2-40B4-BE49-F238E27FC236}">
                <a16:creationId xmlns:a16="http://schemas.microsoft.com/office/drawing/2014/main" id="{A52E66CF-86F1-4827-83A4-F6BA80530F0E}"/>
              </a:ext>
            </a:extLst>
          </p:cNvPr>
          <p:cNvCxnSpPr>
            <a:stCxn xmlns:a="http://schemas.openxmlformats.org/drawingml/2006/main" id="12" idx="3"/>
            <a:endCxn xmlns:a="http://schemas.openxmlformats.org/drawingml/2006/main" id="14" idx="1"/>
          </p:cNvCxnSpPr>
          <p:nvPr/>
        </p:nvCxnSpPr>
        <p:spPr>
          <a:xfrm xmlns:a="http://schemas.openxmlformats.org/drawingml/2006/main" flipV="1">
            <a:off x="9477375" y="3671888"/>
            <a:ext cx="828675" cy="19050"/>
          </a:xfrm>
          <a:prstGeom xmlns:a="http://schemas.openxmlformats.org/drawingml/2006/main" prst="bentConnector3">
            <a:avLst>
              <a:gd name="adj1" fmla="val 50000"/>
            </a:avLst>
          </a:prstGeom>
          <a:ln xmlns:a="http://schemas.openxmlformats.org/drawingml/2006/main" w="19050">
            <a:solidFill>
              <a:srgbClr val="000000"/>
            </a:solidFill>
            <a:prstDash val="solid"/>
            <a:headEnd type="triangle" w="med" len="med"/>
          </a:ln>
        </p:spPr>
      </p:cxnSp>
      <p:cxnSp>
        <p:nvCxnSpPr>
          <p:cNvPr id="21" name="">
            <a:extLst xmlns:a="http://schemas.openxmlformats.org/drawingml/2006/main">
              <a:ext uri="{FF2B5EF4-FFF2-40B4-BE49-F238E27FC236}">
                <a16:creationId xmlns:a16="http://schemas.microsoft.com/office/drawing/2014/main" id="{85C5E273-1BF1-4FA1-8FD8-D868026C1BE6}"/>
              </a:ext>
            </a:extLst>
          </p:cNvPr>
          <p:cNvCxnSpPr>
            <a:stCxn xmlns:a="http://schemas.openxmlformats.org/drawingml/2006/main" id="11" idx="3"/>
            <a:endCxn xmlns:a="http://schemas.openxmlformats.org/drawingml/2006/main" id="14" idx="1"/>
          </p:cNvCxnSpPr>
          <p:nvPr/>
        </p:nvCxnSpPr>
        <p:spPr>
          <a:xfrm xmlns:a="http://schemas.openxmlformats.org/drawingml/2006/main">
            <a:off x="9477375" y="2300288"/>
            <a:ext cx="828675" cy="1371600"/>
          </a:xfrm>
          <a:prstGeom xmlns:a="http://schemas.openxmlformats.org/drawingml/2006/main" prst="bentConnector3">
            <a:avLst>
              <a:gd name="adj1" fmla="val 50000"/>
            </a:avLst>
          </a:prstGeom>
          <a:ln xmlns:a="http://schemas.openxmlformats.org/drawingml/2006/main" w="19050">
            <a:solidFill>
              <a:srgbClr val="000000"/>
            </a:solidFill>
            <a:prstDash val="solid"/>
            <a:headEnd type="triangle" w="med" len="med"/>
          </a:ln>
        </p:spPr>
      </p:cxnSp>
      <p:cxnSp>
        <p:nvCxnSpPr>
          <p:cNvPr id="20" name="">
            <a:extLst xmlns:a="http://schemas.openxmlformats.org/drawingml/2006/main">
              <a:ext uri="{FF2B5EF4-FFF2-40B4-BE49-F238E27FC236}">
                <a16:creationId xmlns:a16="http://schemas.microsoft.com/office/drawing/2014/main" id="{32DD46BC-12E0-4246-8B10-764A9BAC0F7B}"/>
              </a:ext>
            </a:extLst>
          </p:cNvPr>
          <p:cNvCxnSpPr>
            <a:stCxn xmlns:a="http://schemas.openxmlformats.org/drawingml/2006/main" id="10" idx="3"/>
            <a:endCxn xmlns:a="http://schemas.openxmlformats.org/drawingml/2006/main" id="13" idx="1"/>
          </p:cNvCxnSpPr>
          <p:nvPr/>
        </p:nvCxnSpPr>
        <p:spPr>
          <a:xfrm xmlns:a="http://schemas.openxmlformats.org/drawingml/2006/main">
            <a:off x="6238875" y="5081588"/>
            <a:ext cx="952500" cy="0"/>
          </a:xfrm>
          <a:prstGeom xmlns:a="http://schemas.openxmlformats.org/drawingml/2006/main" prst="straightConnector1">
            <a:avLst/>
          </a:prstGeom>
          <a:ln xmlns:a="http://schemas.openxmlformats.org/drawingml/2006/main" w="19050">
            <a:solidFill>
              <a:srgbClr val="000000"/>
            </a:solidFill>
            <a:prstDash val="solid"/>
            <a:headEnd type="triangle" w="med" len="med"/>
          </a:ln>
        </p:spPr>
      </p:cxnSp>
      <p:cxnSp>
        <p:nvCxnSpPr>
          <p:cNvPr id="19" name="">
            <a:extLst xmlns:a="http://schemas.openxmlformats.org/drawingml/2006/main">
              <a:ext uri="{FF2B5EF4-FFF2-40B4-BE49-F238E27FC236}">
                <a16:creationId xmlns:a16="http://schemas.microsoft.com/office/drawing/2014/main" id="{9EDC9CE2-C51C-4043-9540-69C04B52BB87}"/>
              </a:ext>
            </a:extLst>
          </p:cNvPr>
          <p:cNvCxnSpPr>
            <a:stCxn xmlns:a="http://schemas.openxmlformats.org/drawingml/2006/main" id="9" idx="3"/>
            <a:endCxn xmlns:a="http://schemas.openxmlformats.org/drawingml/2006/main" id="12" idx="1"/>
          </p:cNvCxnSpPr>
          <p:nvPr/>
        </p:nvCxnSpPr>
        <p:spPr>
          <a:xfrm xmlns:a="http://schemas.openxmlformats.org/drawingml/2006/main">
            <a:off x="6238875" y="3690938"/>
            <a:ext cx="952500" cy="0"/>
          </a:xfrm>
          <a:prstGeom xmlns:a="http://schemas.openxmlformats.org/drawingml/2006/main" prst="straightConnector1">
            <a:avLst/>
          </a:prstGeom>
          <a:ln xmlns:a="http://schemas.openxmlformats.org/drawingml/2006/main" w="19050">
            <a:solidFill>
              <a:srgbClr val="000000"/>
            </a:solidFill>
            <a:prstDash val="solid"/>
            <a:headEnd type="triangle" w="med" len="med"/>
          </a:ln>
        </p:spPr>
      </p:cxnSp>
      <p:cxnSp>
        <p:nvCxnSpPr>
          <p:cNvPr id="18" name="">
            <a:extLst xmlns:a="http://schemas.openxmlformats.org/drawingml/2006/main">
              <a:ext uri="{FF2B5EF4-FFF2-40B4-BE49-F238E27FC236}">
                <a16:creationId xmlns:a16="http://schemas.microsoft.com/office/drawing/2014/main" id="{D43AA69A-358A-4C51-A538-D1DC9A57C851}"/>
              </a:ext>
            </a:extLst>
          </p:cNvPr>
          <p:cNvCxnSpPr>
            <a:stCxn xmlns:a="http://schemas.openxmlformats.org/drawingml/2006/main" id="8" idx="3"/>
            <a:endCxn xmlns:a="http://schemas.openxmlformats.org/drawingml/2006/main" id="11" idx="1"/>
          </p:cNvCxnSpPr>
          <p:nvPr/>
        </p:nvCxnSpPr>
        <p:spPr>
          <a:xfrm xmlns:a="http://schemas.openxmlformats.org/drawingml/2006/main">
            <a:off x="6238875" y="2300288"/>
            <a:ext cx="952500" cy="0"/>
          </a:xfrm>
          <a:prstGeom xmlns:a="http://schemas.openxmlformats.org/drawingml/2006/main" prst="straightConnector1">
            <a:avLst/>
          </a:prstGeom>
          <a:ln xmlns:a="http://schemas.openxmlformats.org/drawingml/2006/main" w="19050">
            <a:solidFill>
              <a:srgbClr val="000000"/>
            </a:solidFill>
            <a:prstDash val="solid"/>
            <a:headEnd type="triangle" w="med" len="med"/>
          </a:ln>
        </p:spPr>
      </p:cxnSp>
      <p:cxnSp>
        <p:nvCxnSpPr>
          <p:cNvPr id="17" name="">
            <a:extLst xmlns:a="http://schemas.openxmlformats.org/drawingml/2006/main">
              <a:ext uri="{FF2B5EF4-FFF2-40B4-BE49-F238E27FC236}">
                <a16:creationId xmlns:a16="http://schemas.microsoft.com/office/drawing/2014/main" id="{BFC39DC2-6E1E-45FC-BD20-112CE98DF083}"/>
              </a:ext>
            </a:extLst>
          </p:cNvPr>
          <p:cNvCxnSpPr>
            <a:stCxn xmlns:a="http://schemas.openxmlformats.org/drawingml/2006/main" id="7" idx="3"/>
            <a:endCxn xmlns:a="http://schemas.openxmlformats.org/drawingml/2006/main" id="10" idx="1"/>
          </p:cNvCxnSpPr>
          <p:nvPr/>
        </p:nvCxnSpPr>
        <p:spPr>
          <a:xfrm xmlns:a="http://schemas.openxmlformats.org/drawingml/2006/main">
            <a:off x="2686050" y="3671888"/>
            <a:ext cx="1076325" cy="1409700"/>
          </a:xfrm>
          <a:prstGeom xmlns:a="http://schemas.openxmlformats.org/drawingml/2006/main" prst="bentConnector3">
            <a:avLst>
              <a:gd name="adj1" fmla="val 50000"/>
            </a:avLst>
          </a:prstGeom>
          <a:ln xmlns:a="http://schemas.openxmlformats.org/drawingml/2006/main" w="19050">
            <a:solidFill>
              <a:srgbClr val="000000"/>
            </a:solidFill>
            <a:prstDash val="solid"/>
            <a:headEnd type="triangle" w="med" len="med"/>
          </a:ln>
        </p:spPr>
      </p:cxnSp>
      <p:cxnSp>
        <p:nvCxnSpPr>
          <p:cNvPr id="16" name="">
            <a:extLst xmlns:a="http://schemas.openxmlformats.org/drawingml/2006/main">
              <a:ext uri="{FF2B5EF4-FFF2-40B4-BE49-F238E27FC236}">
                <a16:creationId xmlns:a16="http://schemas.microsoft.com/office/drawing/2014/main" id="{4534B299-7CEB-460A-BC06-13AA6946C37E}"/>
              </a:ext>
            </a:extLst>
          </p:cNvPr>
          <p:cNvCxnSpPr>
            <a:stCxn xmlns:a="http://schemas.openxmlformats.org/drawingml/2006/main" id="7" idx="3"/>
            <a:endCxn xmlns:a="http://schemas.openxmlformats.org/drawingml/2006/main" id="9" idx="1"/>
          </p:cNvCxnSpPr>
          <p:nvPr/>
        </p:nvCxnSpPr>
        <p:spPr>
          <a:xfrm xmlns:a="http://schemas.openxmlformats.org/drawingml/2006/main">
            <a:off x="2686050" y="3671888"/>
            <a:ext cx="1076325" cy="19050"/>
          </a:xfrm>
          <a:prstGeom xmlns:a="http://schemas.openxmlformats.org/drawingml/2006/main" prst="bentConnector3">
            <a:avLst>
              <a:gd name="adj1" fmla="val 50000"/>
            </a:avLst>
          </a:prstGeom>
          <a:ln xmlns:a="http://schemas.openxmlformats.org/drawingml/2006/main" w="19050">
            <a:solidFill>
              <a:srgbClr val="000000"/>
            </a:solidFill>
            <a:prstDash val="solid"/>
            <a:headEnd type="triangle" w="med" len="med"/>
          </a:ln>
        </p:spPr>
      </p:cxnSp>
      <p:cxnSp>
        <p:nvCxnSpPr>
          <p:cNvPr id="15" name="">
            <a:extLst xmlns:a="http://schemas.openxmlformats.org/drawingml/2006/main">
              <a:ext uri="{FF2B5EF4-FFF2-40B4-BE49-F238E27FC236}">
                <a16:creationId xmlns:a16="http://schemas.microsoft.com/office/drawing/2014/main" id="{7150B25C-6A7B-4E15-8FA4-4DFB5E715855}"/>
              </a:ext>
            </a:extLst>
          </p:cNvPr>
          <p:cNvCxnSpPr>
            <a:stCxn xmlns:a="http://schemas.openxmlformats.org/drawingml/2006/main" id="7" idx="3"/>
            <a:endCxn xmlns:a="http://schemas.openxmlformats.org/drawingml/2006/main" id="8" idx="1"/>
          </p:cNvCxnSpPr>
          <p:nvPr/>
        </p:nvCxnSpPr>
        <p:spPr>
          <a:xfrm xmlns:a="http://schemas.openxmlformats.org/drawingml/2006/main" flipV="1">
            <a:off x="2686050" y="2300288"/>
            <a:ext cx="1076325" cy="1371600"/>
          </a:xfrm>
          <a:prstGeom xmlns:a="http://schemas.openxmlformats.org/drawingml/2006/main" prst="bentConnector3">
            <a:avLst>
              <a:gd name="adj1" fmla="val 50000"/>
            </a:avLst>
          </a:prstGeom>
          <a:ln xmlns:a="http://schemas.openxmlformats.org/drawingml/2006/main" w="19050">
            <a:solidFill>
              <a:srgbClr val="000000"/>
            </a:solidFill>
            <a:prstDash val="solid"/>
            <a:headEnd type="triangle" w="med" len="med"/>
          </a:ln>
        </p:spPr>
      </p:cxnSp>
      <p:sp>
        <p:nvSpPr>
          <p:cNvPr id="25" name="object-62">
            <a:extLst xmlns:a="http://schemas.openxmlformats.org/drawingml/2006/main">
              <a:ext uri="{FF2B5EF4-FFF2-40B4-BE49-F238E27FC236}">
                <a16:creationId xmlns:a16="http://schemas.microsoft.com/office/drawing/2014/main" id="{8F32028D-FD46-45FF-9BA0-EE1032BC1FF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63">
            <a:extLst xmlns:a="http://schemas.openxmlformats.org/drawingml/2006/main">
              <a:ext uri="{FF2B5EF4-FFF2-40B4-BE49-F238E27FC236}">
                <a16:creationId xmlns:a16="http://schemas.microsoft.com/office/drawing/2014/main" id="{5119CB90-5128-4A82-9AC2-29C490243E71}"/>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64">
            <a:extLst xmlns:a="http://schemas.openxmlformats.org/drawingml/2006/main">
              <a:ext uri="{FF2B5EF4-FFF2-40B4-BE49-F238E27FC236}">
                <a16:creationId xmlns:a16="http://schemas.microsoft.com/office/drawing/2014/main" id="{0AFBA054-09BB-45E5-97E7-BD767DB5C585}"/>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Integrated AutoDrive architecture</a:t>
            </a:r>
          </a:p>
        </p:txBody>
      </p:sp>
      <p:sp>
        <p:nvSpPr>
          <p:cNvPr id="4" name="object-65">
            <a:extLst xmlns:a="http://schemas.openxmlformats.org/drawingml/2006/main">
              <a:ext uri="{FF2B5EF4-FFF2-40B4-BE49-F238E27FC236}">
                <a16:creationId xmlns:a16="http://schemas.microsoft.com/office/drawing/2014/main" id="{4D27CC48-0797-4EBE-9BDF-F1FE729192A9}"/>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66">
            <a:extLst xmlns:a="http://schemas.openxmlformats.org/drawingml/2006/main">
              <a:ext uri="{FF2B5EF4-FFF2-40B4-BE49-F238E27FC236}">
                <a16:creationId xmlns:a16="http://schemas.microsoft.com/office/drawing/2014/main" id="{52FF1786-5EEA-4DEE-8E7B-666FB824DD21}"/>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Parallel branches process the same camera frame</a:t>
            </a:r>
          </a:p>
        </p:txBody>
      </p:sp>
      <p:sp>
        <p:nvSpPr>
          <p:cNvPr id="6" name="object-67">
            <a:extLst xmlns:a="http://schemas.openxmlformats.org/drawingml/2006/main">
              <a:ext uri="{FF2B5EF4-FFF2-40B4-BE49-F238E27FC236}">
                <a16:creationId xmlns:a16="http://schemas.microsoft.com/office/drawing/2014/main" id="{A5037D96-86B8-4902-A57C-E8A112054D34}"/>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7</a:t>
            </a:r>
          </a:p>
        </p:txBody>
      </p:sp>
      <p:sp>
        <p:nvSpPr>
          <p:cNvPr id="7" name="object-68">
            <a:extLst xmlns:a="http://schemas.openxmlformats.org/drawingml/2006/main">
              <a:ext uri="{FF2B5EF4-FFF2-40B4-BE49-F238E27FC236}">
                <a16:creationId xmlns:a16="http://schemas.microsoft.com/office/drawing/2014/main" id="{5A60F1AE-3562-46F9-B206-2B7E5BA6041F}"/>
              </a:ext>
            </a:extLst>
          </p:cNvPr>
          <p:cNvSpPr>
            <a:spLocks xmlns:a="http://schemas.openxmlformats.org/drawingml/2006/main" noGrp="1"/>
          </p:cNvSpPr>
          <p:nvPr/>
        </p:nvSpPr>
        <p:spPr>
          <a:xfrm xmlns:a="http://schemas.openxmlformats.org/drawingml/2006/main">
            <a:off x="685800" y="3133725"/>
            <a:ext cx="2000250" cy="10763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2100">
                <a:solidFill>
                  <a:srgbClr val="000000"/>
                </a:solidFill>
                <a:latin typeface="Calibri"/>
                <a:ea typeface="Calibri"/>
                <a:cs typeface="Calibri"/>
              </a:defRPr>
            </a:defPPr>
            <a:lvl1pPr algn="ctr">
              <a:defRPr sz="2100">
                <a:solidFill>
                  <a:srgbClr val="000000"/>
                </a:solidFill>
                <a:latin typeface="Calibri"/>
                <a:ea typeface="Calibri"/>
                <a:cs typeface="Calibri"/>
              </a:defRPr>
            </a:lvl1pPr>
            <a:lvl2pPr algn="ctr">
              <a:defRPr sz="2100">
                <a:solidFill>
                  <a:srgbClr val="000000"/>
                </a:solidFill>
                <a:latin typeface="Calibri"/>
                <a:ea typeface="Calibri"/>
                <a:cs typeface="Calibri"/>
              </a:defRPr>
            </a:lvl2pPr>
            <a:lvl3pPr algn="ctr">
              <a:defRPr sz="2100">
                <a:solidFill>
                  <a:srgbClr val="000000"/>
                </a:solidFill>
                <a:latin typeface="Calibri"/>
                <a:ea typeface="Calibri"/>
                <a:cs typeface="Calibri"/>
              </a:defRPr>
            </a:lvl3pPr>
            <a:lvl4pPr algn="ctr">
              <a:defRPr sz="2100">
                <a:solidFill>
                  <a:srgbClr val="000000"/>
                </a:solidFill>
                <a:latin typeface="Calibri"/>
                <a:ea typeface="Calibri"/>
                <a:cs typeface="Calibri"/>
              </a:defRPr>
            </a:lvl4pPr>
            <a:lvl5pPr algn="ctr">
              <a:defRPr sz="2100">
                <a:solidFill>
                  <a:srgbClr val="000000"/>
                </a:solidFill>
                <a:latin typeface="Calibri"/>
                <a:ea typeface="Calibri"/>
                <a:cs typeface="Calibri"/>
              </a:defRPr>
            </a:lvl5pPr>
            <a:lvl6pPr algn="ctr">
              <a:defRPr sz="2100">
                <a:solidFill>
                  <a:srgbClr val="000000"/>
                </a:solidFill>
                <a:latin typeface="Calibri"/>
                <a:ea typeface="Calibri"/>
                <a:cs typeface="Calibri"/>
              </a:defRPr>
            </a:lvl6pPr>
            <a:lvl7pPr algn="ctr">
              <a:defRPr sz="2100">
                <a:solidFill>
                  <a:srgbClr val="000000"/>
                </a:solidFill>
                <a:latin typeface="Calibri"/>
                <a:ea typeface="Calibri"/>
                <a:cs typeface="Calibri"/>
              </a:defRPr>
            </a:lvl7pPr>
            <a:lvl8pPr algn="ctr">
              <a:defRPr sz="2100">
                <a:solidFill>
                  <a:srgbClr val="000000"/>
                </a:solidFill>
                <a:latin typeface="Calibri"/>
                <a:ea typeface="Calibri"/>
                <a:cs typeface="Calibri"/>
              </a:defRPr>
            </a:lvl8pPr>
            <a:lvl9pPr algn="ctr">
              <a:defRPr sz="2100">
                <a:solidFill>
                  <a:srgbClr val="000000"/>
                </a:solidFill>
                <a:latin typeface="Calibri"/>
                <a:ea typeface="Calibri"/>
                <a:cs typeface="Calibri"/>
              </a:defRPr>
            </a:lvl9pPr>
          </a:lstStyle>
          <a:p xmlns:a="http://schemas.openxmlformats.org/drawingml/2006/main">
            <a:pPr algn="ctr">
              <a:defRPr sz="2100">
                <a:solidFill>
                  <a:srgbClr val="000000"/>
                </a:solidFill>
                <a:latin typeface="Calibri"/>
                <a:ea typeface="Calibri"/>
                <a:cs typeface="Calibri"/>
              </a:defRPr>
            </a:pPr>
            <a:r>
              <a:rPr sz="2100">
                <a:solidFill>
                  <a:srgbClr val="000000"/>
                </a:solidFill>
                <a:latin typeface="Calibri"/>
                <a:ea typeface="Calibri"/>
                <a:cs typeface="Calibri"/>
              </a:rPr>
              <a:t>Front camera</a:t>
            </a:r>
          </a:p>
          <a:p xmlns:a="http://schemas.openxmlformats.org/drawingml/2006/main">
            <a:pPr algn="ctr">
              <a:defRPr sz="2100">
                <a:solidFill>
                  <a:srgbClr val="000000"/>
                </a:solidFill>
                <a:latin typeface="Calibri"/>
                <a:ea typeface="Calibri"/>
                <a:cs typeface="Calibri"/>
              </a:defRPr>
            </a:pPr>
            <a:r>
              <a:rPr sz="2100">
                <a:solidFill>
                  <a:srgbClr val="000000"/>
                </a:solidFill>
                <a:latin typeface="Calibri"/>
                <a:ea typeface="Calibri"/>
                <a:cs typeface="Calibri"/>
              </a:rPr>
              <a:t>RGB frame</a:t>
            </a:r>
          </a:p>
        </p:txBody>
      </p:sp>
      <p:sp>
        <p:nvSpPr>
          <p:cNvPr id="8" name="object-69">
            <a:extLst xmlns:a="http://schemas.openxmlformats.org/drawingml/2006/main">
              <a:ext uri="{FF2B5EF4-FFF2-40B4-BE49-F238E27FC236}">
                <a16:creationId xmlns:a16="http://schemas.microsoft.com/office/drawing/2014/main" id="{2644584D-0BDB-46CC-9B37-F73A2DB0275E}"/>
              </a:ext>
            </a:extLst>
          </p:cNvPr>
          <p:cNvSpPr>
            <a:spLocks xmlns:a="http://schemas.openxmlformats.org/drawingml/2006/main" noGrp="1"/>
          </p:cNvSpPr>
          <p:nvPr/>
        </p:nvSpPr>
        <p:spPr>
          <a:xfrm xmlns:a="http://schemas.openxmlformats.org/drawingml/2006/main">
            <a:off x="3762375" y="1866900"/>
            <a:ext cx="24765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2025">
                <a:solidFill>
                  <a:srgbClr val="000000"/>
                </a:solidFill>
                <a:latin typeface="Calibri"/>
                <a:ea typeface="Calibri"/>
                <a:cs typeface="Calibri"/>
              </a:defRPr>
            </a:defPPr>
            <a:lvl1pPr algn="ctr">
              <a:defRPr sz="2025">
                <a:solidFill>
                  <a:srgbClr val="000000"/>
                </a:solidFill>
                <a:latin typeface="Calibri"/>
                <a:ea typeface="Calibri"/>
                <a:cs typeface="Calibri"/>
              </a:defRPr>
            </a:lvl1pPr>
            <a:lvl2pPr algn="ctr">
              <a:defRPr sz="2025">
                <a:solidFill>
                  <a:srgbClr val="000000"/>
                </a:solidFill>
                <a:latin typeface="Calibri"/>
                <a:ea typeface="Calibri"/>
                <a:cs typeface="Calibri"/>
              </a:defRPr>
            </a:lvl2pPr>
            <a:lvl3pPr algn="ctr">
              <a:defRPr sz="2025">
                <a:solidFill>
                  <a:srgbClr val="000000"/>
                </a:solidFill>
                <a:latin typeface="Calibri"/>
                <a:ea typeface="Calibri"/>
                <a:cs typeface="Calibri"/>
              </a:defRPr>
            </a:lvl3pPr>
            <a:lvl4pPr algn="ctr">
              <a:defRPr sz="2025">
                <a:solidFill>
                  <a:srgbClr val="000000"/>
                </a:solidFill>
                <a:latin typeface="Calibri"/>
                <a:ea typeface="Calibri"/>
                <a:cs typeface="Calibri"/>
              </a:defRPr>
            </a:lvl4pPr>
            <a:lvl5pPr algn="ctr">
              <a:defRPr sz="2025">
                <a:solidFill>
                  <a:srgbClr val="000000"/>
                </a:solidFill>
                <a:latin typeface="Calibri"/>
                <a:ea typeface="Calibri"/>
                <a:cs typeface="Calibri"/>
              </a:defRPr>
            </a:lvl5pPr>
            <a:lvl6pPr algn="ctr">
              <a:defRPr sz="2025">
                <a:solidFill>
                  <a:srgbClr val="000000"/>
                </a:solidFill>
                <a:latin typeface="Calibri"/>
                <a:ea typeface="Calibri"/>
                <a:cs typeface="Calibri"/>
              </a:defRPr>
            </a:lvl6pPr>
            <a:lvl7pPr algn="ctr">
              <a:defRPr sz="2025">
                <a:solidFill>
                  <a:srgbClr val="000000"/>
                </a:solidFill>
                <a:latin typeface="Calibri"/>
                <a:ea typeface="Calibri"/>
                <a:cs typeface="Calibri"/>
              </a:defRPr>
            </a:lvl7pPr>
            <a:lvl8pPr algn="ctr">
              <a:defRPr sz="2025">
                <a:solidFill>
                  <a:srgbClr val="000000"/>
                </a:solidFill>
                <a:latin typeface="Calibri"/>
                <a:ea typeface="Calibri"/>
                <a:cs typeface="Calibri"/>
              </a:defRPr>
            </a:lvl8pPr>
            <a:lvl9pPr algn="ctr">
              <a:defRPr sz="2025">
                <a:solidFill>
                  <a:srgbClr val="000000"/>
                </a:solidFill>
                <a:latin typeface="Calibri"/>
                <a:ea typeface="Calibri"/>
                <a:cs typeface="Calibri"/>
              </a:defRPr>
            </a:lvl9pPr>
          </a:lstStyle>
          <a:p xmlns:a="http://schemas.openxmlformats.org/drawingml/2006/main">
            <a:pPr algn="ctr">
              <a:defRPr sz="2025">
                <a:solidFill>
                  <a:srgbClr val="000000"/>
                </a:solidFill>
                <a:latin typeface="Calibri"/>
                <a:ea typeface="Calibri"/>
                <a:cs typeface="Calibri"/>
              </a:defRPr>
            </a:pPr>
            <a:r>
              <a:rPr sz="2025">
                <a:solidFill>
                  <a:srgbClr val="000000"/>
                </a:solidFill>
                <a:latin typeface="Calibri"/>
                <a:ea typeface="Calibri"/>
                <a:cs typeface="Calibri"/>
              </a:rPr>
              <a:t>YOLO11s</a:t>
            </a:r>
          </a:p>
          <a:p xmlns:a="http://schemas.openxmlformats.org/drawingml/2006/main">
            <a:pPr algn="ctr">
              <a:defRPr sz="2025">
                <a:solidFill>
                  <a:srgbClr val="000000"/>
                </a:solidFill>
                <a:latin typeface="Calibri"/>
                <a:ea typeface="Calibri"/>
                <a:cs typeface="Calibri"/>
              </a:defRPr>
            </a:pPr>
            <a:r>
              <a:rPr sz="2025">
                <a:solidFill>
                  <a:srgbClr val="000000"/>
                </a:solidFill>
                <a:latin typeface="Calibri"/>
                <a:ea typeface="Calibri"/>
                <a:cs typeface="Calibri"/>
              </a:rPr>
              <a:t>Object detection</a:t>
            </a:r>
          </a:p>
        </p:txBody>
      </p:sp>
      <p:sp>
        <p:nvSpPr>
          <p:cNvPr id="9" name="object-70">
            <a:extLst xmlns:a="http://schemas.openxmlformats.org/drawingml/2006/main">
              <a:ext uri="{FF2B5EF4-FFF2-40B4-BE49-F238E27FC236}">
                <a16:creationId xmlns:a16="http://schemas.microsoft.com/office/drawing/2014/main" id="{CD8E2488-C48A-43E0-BB60-7381504BF25D}"/>
              </a:ext>
            </a:extLst>
          </p:cNvPr>
          <p:cNvSpPr>
            <a:spLocks xmlns:a="http://schemas.openxmlformats.org/drawingml/2006/main" noGrp="1"/>
          </p:cNvSpPr>
          <p:nvPr/>
        </p:nvSpPr>
        <p:spPr>
          <a:xfrm xmlns:a="http://schemas.openxmlformats.org/drawingml/2006/main">
            <a:off x="3762375" y="3257550"/>
            <a:ext cx="24765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2025">
                <a:solidFill>
                  <a:srgbClr val="000000"/>
                </a:solidFill>
                <a:latin typeface="Calibri"/>
                <a:ea typeface="Calibri"/>
                <a:cs typeface="Calibri"/>
              </a:defRPr>
            </a:defPPr>
            <a:lvl1pPr algn="ctr">
              <a:defRPr sz="2025">
                <a:solidFill>
                  <a:srgbClr val="000000"/>
                </a:solidFill>
                <a:latin typeface="Calibri"/>
                <a:ea typeface="Calibri"/>
                <a:cs typeface="Calibri"/>
              </a:defRPr>
            </a:lvl1pPr>
            <a:lvl2pPr algn="ctr">
              <a:defRPr sz="2025">
                <a:solidFill>
                  <a:srgbClr val="000000"/>
                </a:solidFill>
                <a:latin typeface="Calibri"/>
                <a:ea typeface="Calibri"/>
                <a:cs typeface="Calibri"/>
              </a:defRPr>
            </a:lvl2pPr>
            <a:lvl3pPr algn="ctr">
              <a:defRPr sz="2025">
                <a:solidFill>
                  <a:srgbClr val="000000"/>
                </a:solidFill>
                <a:latin typeface="Calibri"/>
                <a:ea typeface="Calibri"/>
                <a:cs typeface="Calibri"/>
              </a:defRPr>
            </a:lvl3pPr>
            <a:lvl4pPr algn="ctr">
              <a:defRPr sz="2025">
                <a:solidFill>
                  <a:srgbClr val="000000"/>
                </a:solidFill>
                <a:latin typeface="Calibri"/>
                <a:ea typeface="Calibri"/>
                <a:cs typeface="Calibri"/>
              </a:defRPr>
            </a:lvl4pPr>
            <a:lvl5pPr algn="ctr">
              <a:defRPr sz="2025">
                <a:solidFill>
                  <a:srgbClr val="000000"/>
                </a:solidFill>
                <a:latin typeface="Calibri"/>
                <a:ea typeface="Calibri"/>
                <a:cs typeface="Calibri"/>
              </a:defRPr>
            </a:lvl5pPr>
            <a:lvl6pPr algn="ctr">
              <a:defRPr sz="2025">
                <a:solidFill>
                  <a:srgbClr val="000000"/>
                </a:solidFill>
                <a:latin typeface="Calibri"/>
                <a:ea typeface="Calibri"/>
                <a:cs typeface="Calibri"/>
              </a:defRPr>
            </a:lvl6pPr>
            <a:lvl7pPr algn="ctr">
              <a:defRPr sz="2025">
                <a:solidFill>
                  <a:srgbClr val="000000"/>
                </a:solidFill>
                <a:latin typeface="Calibri"/>
                <a:ea typeface="Calibri"/>
                <a:cs typeface="Calibri"/>
              </a:defRPr>
            </a:lvl7pPr>
            <a:lvl8pPr algn="ctr">
              <a:defRPr sz="2025">
                <a:solidFill>
                  <a:srgbClr val="000000"/>
                </a:solidFill>
                <a:latin typeface="Calibri"/>
                <a:ea typeface="Calibri"/>
                <a:cs typeface="Calibri"/>
              </a:defRPr>
            </a:lvl8pPr>
            <a:lvl9pPr algn="ctr">
              <a:defRPr sz="2025">
                <a:solidFill>
                  <a:srgbClr val="000000"/>
                </a:solidFill>
                <a:latin typeface="Calibri"/>
                <a:ea typeface="Calibri"/>
                <a:cs typeface="Calibri"/>
              </a:defRPr>
            </a:lvl9pPr>
          </a:lstStyle>
          <a:p xmlns:a="http://schemas.openxmlformats.org/drawingml/2006/main">
            <a:pPr algn="ctr">
              <a:defRPr sz="2025">
                <a:solidFill>
                  <a:srgbClr val="000000"/>
                </a:solidFill>
                <a:latin typeface="Calibri"/>
                <a:ea typeface="Calibri"/>
                <a:cs typeface="Calibri"/>
              </a:defRPr>
            </a:pPr>
            <a:r>
              <a:rPr sz="2025">
                <a:solidFill>
                  <a:srgbClr val="000000"/>
                </a:solidFill>
                <a:latin typeface="Calibri"/>
                <a:ea typeface="Calibri"/>
                <a:cs typeface="Calibri"/>
              </a:rPr>
              <a:t>YOLO11s-seg</a:t>
            </a:r>
          </a:p>
          <a:p xmlns:a="http://schemas.openxmlformats.org/drawingml/2006/main">
            <a:pPr algn="ctr">
              <a:defRPr sz="2025">
                <a:solidFill>
                  <a:srgbClr val="000000"/>
                </a:solidFill>
                <a:latin typeface="Calibri"/>
                <a:ea typeface="Calibri"/>
                <a:cs typeface="Calibri"/>
              </a:defRPr>
            </a:pPr>
            <a:r>
              <a:rPr sz="2025">
                <a:solidFill>
                  <a:srgbClr val="000000"/>
                </a:solidFill>
                <a:latin typeface="Calibri"/>
                <a:ea typeface="Calibri"/>
                <a:cs typeface="Calibri"/>
              </a:rPr>
              <a:t>Lane segmentation</a:t>
            </a:r>
          </a:p>
        </p:txBody>
      </p:sp>
      <p:sp>
        <p:nvSpPr>
          <p:cNvPr id="10" name="object-71">
            <a:extLst xmlns:a="http://schemas.openxmlformats.org/drawingml/2006/main">
              <a:ext uri="{FF2B5EF4-FFF2-40B4-BE49-F238E27FC236}">
                <a16:creationId xmlns:a16="http://schemas.microsoft.com/office/drawing/2014/main" id="{7D41EF58-F877-47F1-8EAD-0D7688A124D3}"/>
              </a:ext>
            </a:extLst>
          </p:cNvPr>
          <p:cNvSpPr>
            <a:spLocks xmlns:a="http://schemas.openxmlformats.org/drawingml/2006/main" noGrp="1"/>
          </p:cNvSpPr>
          <p:nvPr/>
        </p:nvSpPr>
        <p:spPr>
          <a:xfrm xmlns:a="http://schemas.openxmlformats.org/drawingml/2006/main">
            <a:off x="3762375" y="4648200"/>
            <a:ext cx="24765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2025">
                <a:solidFill>
                  <a:srgbClr val="000000"/>
                </a:solidFill>
                <a:latin typeface="Calibri"/>
                <a:ea typeface="Calibri"/>
                <a:cs typeface="Calibri"/>
              </a:defRPr>
            </a:defPPr>
            <a:lvl1pPr algn="ctr">
              <a:defRPr sz="2025">
                <a:solidFill>
                  <a:srgbClr val="000000"/>
                </a:solidFill>
                <a:latin typeface="Calibri"/>
                <a:ea typeface="Calibri"/>
                <a:cs typeface="Calibri"/>
              </a:defRPr>
            </a:lvl1pPr>
            <a:lvl2pPr algn="ctr">
              <a:defRPr sz="2025">
                <a:solidFill>
                  <a:srgbClr val="000000"/>
                </a:solidFill>
                <a:latin typeface="Calibri"/>
                <a:ea typeface="Calibri"/>
                <a:cs typeface="Calibri"/>
              </a:defRPr>
            </a:lvl2pPr>
            <a:lvl3pPr algn="ctr">
              <a:defRPr sz="2025">
                <a:solidFill>
                  <a:srgbClr val="000000"/>
                </a:solidFill>
                <a:latin typeface="Calibri"/>
                <a:ea typeface="Calibri"/>
                <a:cs typeface="Calibri"/>
              </a:defRPr>
            </a:lvl3pPr>
            <a:lvl4pPr algn="ctr">
              <a:defRPr sz="2025">
                <a:solidFill>
                  <a:srgbClr val="000000"/>
                </a:solidFill>
                <a:latin typeface="Calibri"/>
                <a:ea typeface="Calibri"/>
                <a:cs typeface="Calibri"/>
              </a:defRPr>
            </a:lvl4pPr>
            <a:lvl5pPr algn="ctr">
              <a:defRPr sz="2025">
                <a:solidFill>
                  <a:srgbClr val="000000"/>
                </a:solidFill>
                <a:latin typeface="Calibri"/>
                <a:ea typeface="Calibri"/>
                <a:cs typeface="Calibri"/>
              </a:defRPr>
            </a:lvl5pPr>
            <a:lvl6pPr algn="ctr">
              <a:defRPr sz="2025">
                <a:solidFill>
                  <a:srgbClr val="000000"/>
                </a:solidFill>
                <a:latin typeface="Calibri"/>
                <a:ea typeface="Calibri"/>
                <a:cs typeface="Calibri"/>
              </a:defRPr>
            </a:lvl6pPr>
            <a:lvl7pPr algn="ctr">
              <a:defRPr sz="2025">
                <a:solidFill>
                  <a:srgbClr val="000000"/>
                </a:solidFill>
                <a:latin typeface="Calibri"/>
                <a:ea typeface="Calibri"/>
                <a:cs typeface="Calibri"/>
              </a:defRPr>
            </a:lvl7pPr>
            <a:lvl8pPr algn="ctr">
              <a:defRPr sz="2025">
                <a:solidFill>
                  <a:srgbClr val="000000"/>
                </a:solidFill>
                <a:latin typeface="Calibri"/>
                <a:ea typeface="Calibri"/>
                <a:cs typeface="Calibri"/>
              </a:defRPr>
            </a:lvl8pPr>
            <a:lvl9pPr algn="ctr">
              <a:defRPr sz="2025">
                <a:solidFill>
                  <a:srgbClr val="000000"/>
                </a:solidFill>
                <a:latin typeface="Calibri"/>
                <a:ea typeface="Calibri"/>
                <a:cs typeface="Calibri"/>
              </a:defRPr>
            </a:lvl9pPr>
          </a:lstStyle>
          <a:p xmlns:a="http://schemas.openxmlformats.org/drawingml/2006/main">
            <a:pPr algn="ctr">
              <a:defRPr sz="2025">
                <a:solidFill>
                  <a:srgbClr val="000000"/>
                </a:solidFill>
                <a:latin typeface="Calibri"/>
                <a:ea typeface="Calibri"/>
                <a:cs typeface="Calibri"/>
              </a:defRPr>
            </a:pPr>
            <a:r>
              <a:rPr sz="2025">
                <a:solidFill>
                  <a:srgbClr val="000000"/>
                </a:solidFill>
                <a:latin typeface="Calibri"/>
                <a:ea typeface="Calibri"/>
                <a:cs typeface="Calibri"/>
              </a:rPr>
              <a:t>CNN</a:t>
            </a:r>
          </a:p>
          <a:p xmlns:a="http://schemas.openxmlformats.org/drawingml/2006/main">
            <a:pPr algn="ctr">
              <a:defRPr sz="2025">
                <a:solidFill>
                  <a:srgbClr val="000000"/>
                </a:solidFill>
                <a:latin typeface="Calibri"/>
                <a:ea typeface="Calibri"/>
                <a:cs typeface="Calibri"/>
              </a:defRPr>
            </a:pPr>
            <a:r>
              <a:rPr sz="2025">
                <a:solidFill>
                  <a:srgbClr val="000000"/>
                </a:solidFill>
                <a:latin typeface="Calibri"/>
                <a:ea typeface="Calibri"/>
                <a:cs typeface="Calibri"/>
              </a:rPr>
              <a:t>Steering regression</a:t>
            </a:r>
          </a:p>
        </p:txBody>
      </p:sp>
      <p:sp>
        <p:nvSpPr>
          <p:cNvPr id="11" name="object-72">
            <a:extLst xmlns:a="http://schemas.openxmlformats.org/drawingml/2006/main">
              <a:ext uri="{FF2B5EF4-FFF2-40B4-BE49-F238E27FC236}">
                <a16:creationId xmlns:a16="http://schemas.microsoft.com/office/drawing/2014/main" id="{6029CDEF-1FA2-4312-BF1C-7DC8737F3247}"/>
              </a:ext>
            </a:extLst>
          </p:cNvPr>
          <p:cNvSpPr>
            <a:spLocks xmlns:a="http://schemas.openxmlformats.org/drawingml/2006/main" noGrp="1"/>
          </p:cNvSpPr>
          <p:nvPr/>
        </p:nvSpPr>
        <p:spPr>
          <a:xfrm xmlns:a="http://schemas.openxmlformats.org/drawingml/2006/main">
            <a:off x="7191375" y="1866900"/>
            <a:ext cx="22860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000000"/>
                </a:solidFill>
                <a:latin typeface="Calibri"/>
                <a:ea typeface="Calibri"/>
                <a:cs typeface="Calibri"/>
              </a:defRPr>
            </a:defPPr>
            <a:lvl1pPr algn="ctr">
              <a:defRPr sz="1875">
                <a:solidFill>
                  <a:srgbClr val="000000"/>
                </a:solidFill>
                <a:latin typeface="Calibri"/>
                <a:ea typeface="Calibri"/>
                <a:cs typeface="Calibri"/>
              </a:defRPr>
            </a:lvl1pPr>
            <a:lvl2pPr algn="ctr">
              <a:defRPr sz="1875">
                <a:solidFill>
                  <a:srgbClr val="000000"/>
                </a:solidFill>
                <a:latin typeface="Calibri"/>
                <a:ea typeface="Calibri"/>
                <a:cs typeface="Calibri"/>
              </a:defRPr>
            </a:lvl2pPr>
            <a:lvl3pPr algn="ctr">
              <a:defRPr sz="1875">
                <a:solidFill>
                  <a:srgbClr val="000000"/>
                </a:solidFill>
                <a:latin typeface="Calibri"/>
                <a:ea typeface="Calibri"/>
                <a:cs typeface="Calibri"/>
              </a:defRPr>
            </a:lvl3pPr>
            <a:lvl4pPr algn="ctr">
              <a:defRPr sz="1875">
                <a:solidFill>
                  <a:srgbClr val="000000"/>
                </a:solidFill>
                <a:latin typeface="Calibri"/>
                <a:ea typeface="Calibri"/>
                <a:cs typeface="Calibri"/>
              </a:defRPr>
            </a:lvl4pPr>
            <a:lvl5pPr algn="ctr">
              <a:defRPr sz="1875">
                <a:solidFill>
                  <a:srgbClr val="000000"/>
                </a:solidFill>
                <a:latin typeface="Calibri"/>
                <a:ea typeface="Calibri"/>
                <a:cs typeface="Calibri"/>
              </a:defRPr>
            </a:lvl5pPr>
            <a:lvl6pPr algn="ctr">
              <a:defRPr sz="1875">
                <a:solidFill>
                  <a:srgbClr val="000000"/>
                </a:solidFill>
                <a:latin typeface="Calibri"/>
                <a:ea typeface="Calibri"/>
                <a:cs typeface="Calibri"/>
              </a:defRPr>
            </a:lvl6pPr>
            <a:lvl7pPr algn="ctr">
              <a:defRPr sz="1875">
                <a:solidFill>
                  <a:srgbClr val="000000"/>
                </a:solidFill>
                <a:latin typeface="Calibri"/>
                <a:ea typeface="Calibri"/>
                <a:cs typeface="Calibri"/>
              </a:defRPr>
            </a:lvl7pPr>
            <a:lvl8pPr algn="ctr">
              <a:defRPr sz="1875">
                <a:solidFill>
                  <a:srgbClr val="000000"/>
                </a:solidFill>
                <a:latin typeface="Calibri"/>
                <a:ea typeface="Calibri"/>
                <a:cs typeface="Calibri"/>
              </a:defRPr>
            </a:lvl8pPr>
            <a:lvl9pPr algn="ctr">
              <a:defRPr sz="1875">
                <a:solidFill>
                  <a:srgbClr val="000000"/>
                </a:solidFill>
                <a:latin typeface="Calibri"/>
                <a:ea typeface="Calibri"/>
                <a:cs typeface="Calibri"/>
              </a:defRPr>
            </a:lvl9pPr>
          </a:lstStyle>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Bounding boxes</a:t>
            </a:r>
          </a:p>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and class labels</a:t>
            </a:r>
          </a:p>
        </p:txBody>
      </p:sp>
      <p:sp>
        <p:nvSpPr>
          <p:cNvPr id="12" name="object-73">
            <a:extLst xmlns:a="http://schemas.openxmlformats.org/drawingml/2006/main">
              <a:ext uri="{FF2B5EF4-FFF2-40B4-BE49-F238E27FC236}">
                <a16:creationId xmlns:a16="http://schemas.microsoft.com/office/drawing/2014/main" id="{D8BCCF09-9F00-40D1-A7BC-E82C48BBF241}"/>
              </a:ext>
            </a:extLst>
          </p:cNvPr>
          <p:cNvSpPr>
            <a:spLocks xmlns:a="http://schemas.openxmlformats.org/drawingml/2006/main" noGrp="1"/>
          </p:cNvSpPr>
          <p:nvPr/>
        </p:nvSpPr>
        <p:spPr>
          <a:xfrm xmlns:a="http://schemas.openxmlformats.org/drawingml/2006/main">
            <a:off x="7191375" y="3257550"/>
            <a:ext cx="22860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000000"/>
                </a:solidFill>
                <a:latin typeface="Calibri"/>
                <a:ea typeface="Calibri"/>
                <a:cs typeface="Calibri"/>
              </a:defRPr>
            </a:defPPr>
            <a:lvl1pPr algn="ctr">
              <a:defRPr sz="1875">
                <a:solidFill>
                  <a:srgbClr val="000000"/>
                </a:solidFill>
                <a:latin typeface="Calibri"/>
                <a:ea typeface="Calibri"/>
                <a:cs typeface="Calibri"/>
              </a:defRPr>
            </a:lvl1pPr>
            <a:lvl2pPr algn="ctr">
              <a:defRPr sz="1875">
                <a:solidFill>
                  <a:srgbClr val="000000"/>
                </a:solidFill>
                <a:latin typeface="Calibri"/>
                <a:ea typeface="Calibri"/>
                <a:cs typeface="Calibri"/>
              </a:defRPr>
            </a:lvl2pPr>
            <a:lvl3pPr algn="ctr">
              <a:defRPr sz="1875">
                <a:solidFill>
                  <a:srgbClr val="000000"/>
                </a:solidFill>
                <a:latin typeface="Calibri"/>
                <a:ea typeface="Calibri"/>
                <a:cs typeface="Calibri"/>
              </a:defRPr>
            </a:lvl3pPr>
            <a:lvl4pPr algn="ctr">
              <a:defRPr sz="1875">
                <a:solidFill>
                  <a:srgbClr val="000000"/>
                </a:solidFill>
                <a:latin typeface="Calibri"/>
                <a:ea typeface="Calibri"/>
                <a:cs typeface="Calibri"/>
              </a:defRPr>
            </a:lvl4pPr>
            <a:lvl5pPr algn="ctr">
              <a:defRPr sz="1875">
                <a:solidFill>
                  <a:srgbClr val="000000"/>
                </a:solidFill>
                <a:latin typeface="Calibri"/>
                <a:ea typeface="Calibri"/>
                <a:cs typeface="Calibri"/>
              </a:defRPr>
            </a:lvl5pPr>
            <a:lvl6pPr algn="ctr">
              <a:defRPr sz="1875">
                <a:solidFill>
                  <a:srgbClr val="000000"/>
                </a:solidFill>
                <a:latin typeface="Calibri"/>
                <a:ea typeface="Calibri"/>
                <a:cs typeface="Calibri"/>
              </a:defRPr>
            </a:lvl6pPr>
            <a:lvl7pPr algn="ctr">
              <a:defRPr sz="1875">
                <a:solidFill>
                  <a:srgbClr val="000000"/>
                </a:solidFill>
                <a:latin typeface="Calibri"/>
                <a:ea typeface="Calibri"/>
                <a:cs typeface="Calibri"/>
              </a:defRPr>
            </a:lvl7pPr>
            <a:lvl8pPr algn="ctr">
              <a:defRPr sz="1875">
                <a:solidFill>
                  <a:srgbClr val="000000"/>
                </a:solidFill>
                <a:latin typeface="Calibri"/>
                <a:ea typeface="Calibri"/>
                <a:cs typeface="Calibri"/>
              </a:defRPr>
            </a:lvl8pPr>
            <a:lvl9pPr algn="ctr">
              <a:defRPr sz="1875">
                <a:solidFill>
                  <a:srgbClr val="000000"/>
                </a:solidFill>
                <a:latin typeface="Calibri"/>
                <a:ea typeface="Calibri"/>
                <a:cs typeface="Calibri"/>
              </a:defRPr>
            </a:lvl9pPr>
          </a:lstStyle>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Lane masks</a:t>
            </a:r>
          </a:p>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and geometry cues</a:t>
            </a:r>
          </a:p>
        </p:txBody>
      </p:sp>
      <p:sp>
        <p:nvSpPr>
          <p:cNvPr id="13" name="object-74">
            <a:extLst xmlns:a="http://schemas.openxmlformats.org/drawingml/2006/main">
              <a:ext uri="{FF2B5EF4-FFF2-40B4-BE49-F238E27FC236}">
                <a16:creationId xmlns:a16="http://schemas.microsoft.com/office/drawing/2014/main" id="{3C554033-4383-41B6-9969-0135AA99520E}"/>
              </a:ext>
            </a:extLst>
          </p:cNvPr>
          <p:cNvSpPr>
            <a:spLocks xmlns:a="http://schemas.openxmlformats.org/drawingml/2006/main" noGrp="1"/>
          </p:cNvSpPr>
          <p:nvPr/>
        </p:nvSpPr>
        <p:spPr>
          <a:xfrm xmlns:a="http://schemas.openxmlformats.org/drawingml/2006/main">
            <a:off x="7191375" y="4648200"/>
            <a:ext cx="22860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000000"/>
                </a:solidFill>
                <a:latin typeface="Calibri"/>
                <a:ea typeface="Calibri"/>
                <a:cs typeface="Calibri"/>
              </a:defRPr>
            </a:defPPr>
            <a:lvl1pPr algn="ctr">
              <a:defRPr sz="1875">
                <a:solidFill>
                  <a:srgbClr val="000000"/>
                </a:solidFill>
                <a:latin typeface="Calibri"/>
                <a:ea typeface="Calibri"/>
                <a:cs typeface="Calibri"/>
              </a:defRPr>
            </a:lvl1pPr>
            <a:lvl2pPr algn="ctr">
              <a:defRPr sz="1875">
                <a:solidFill>
                  <a:srgbClr val="000000"/>
                </a:solidFill>
                <a:latin typeface="Calibri"/>
                <a:ea typeface="Calibri"/>
                <a:cs typeface="Calibri"/>
              </a:defRPr>
            </a:lvl2pPr>
            <a:lvl3pPr algn="ctr">
              <a:defRPr sz="1875">
                <a:solidFill>
                  <a:srgbClr val="000000"/>
                </a:solidFill>
                <a:latin typeface="Calibri"/>
                <a:ea typeface="Calibri"/>
                <a:cs typeface="Calibri"/>
              </a:defRPr>
            </a:lvl3pPr>
            <a:lvl4pPr algn="ctr">
              <a:defRPr sz="1875">
                <a:solidFill>
                  <a:srgbClr val="000000"/>
                </a:solidFill>
                <a:latin typeface="Calibri"/>
                <a:ea typeface="Calibri"/>
                <a:cs typeface="Calibri"/>
              </a:defRPr>
            </a:lvl4pPr>
            <a:lvl5pPr algn="ctr">
              <a:defRPr sz="1875">
                <a:solidFill>
                  <a:srgbClr val="000000"/>
                </a:solidFill>
                <a:latin typeface="Calibri"/>
                <a:ea typeface="Calibri"/>
                <a:cs typeface="Calibri"/>
              </a:defRPr>
            </a:lvl5pPr>
            <a:lvl6pPr algn="ctr">
              <a:defRPr sz="1875">
                <a:solidFill>
                  <a:srgbClr val="000000"/>
                </a:solidFill>
                <a:latin typeface="Calibri"/>
                <a:ea typeface="Calibri"/>
                <a:cs typeface="Calibri"/>
              </a:defRPr>
            </a:lvl6pPr>
            <a:lvl7pPr algn="ctr">
              <a:defRPr sz="1875">
                <a:solidFill>
                  <a:srgbClr val="000000"/>
                </a:solidFill>
                <a:latin typeface="Calibri"/>
                <a:ea typeface="Calibri"/>
                <a:cs typeface="Calibri"/>
              </a:defRPr>
            </a:lvl7pPr>
            <a:lvl8pPr algn="ctr">
              <a:defRPr sz="1875">
                <a:solidFill>
                  <a:srgbClr val="000000"/>
                </a:solidFill>
                <a:latin typeface="Calibri"/>
                <a:ea typeface="Calibri"/>
                <a:cs typeface="Calibri"/>
              </a:defRPr>
            </a:lvl8pPr>
            <a:lvl9pPr algn="ctr">
              <a:defRPr sz="1875">
                <a:solidFill>
                  <a:srgbClr val="000000"/>
                </a:solidFill>
                <a:latin typeface="Calibri"/>
                <a:ea typeface="Calibri"/>
                <a:cs typeface="Calibri"/>
              </a:defRPr>
            </a:lvl9pPr>
          </a:lstStyle>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Estimated</a:t>
            </a:r>
          </a:p>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steering angle</a:t>
            </a:r>
          </a:p>
        </p:txBody>
      </p:sp>
      <p:sp>
        <p:nvSpPr>
          <p:cNvPr id="14" name="object-75">
            <a:extLst xmlns:a="http://schemas.openxmlformats.org/drawingml/2006/main">
              <a:ext uri="{FF2B5EF4-FFF2-40B4-BE49-F238E27FC236}">
                <a16:creationId xmlns:a16="http://schemas.microsoft.com/office/drawing/2014/main" id="{C8372673-F188-4274-A83E-56D39C206E18}"/>
              </a:ext>
            </a:extLst>
          </p:cNvPr>
          <p:cNvSpPr>
            <a:spLocks xmlns:a="http://schemas.openxmlformats.org/drawingml/2006/main" noGrp="1"/>
          </p:cNvSpPr>
          <p:nvPr/>
        </p:nvSpPr>
        <p:spPr>
          <a:xfrm xmlns:a="http://schemas.openxmlformats.org/drawingml/2006/main">
            <a:off x="10306050" y="3124200"/>
            <a:ext cx="13525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000000"/>
                </a:solidFill>
                <a:latin typeface="Calibri"/>
                <a:ea typeface="Calibri"/>
                <a:cs typeface="Calibri"/>
              </a:defRPr>
            </a:defPPr>
            <a:lvl1pPr algn="ctr">
              <a:defRPr sz="1875">
                <a:solidFill>
                  <a:srgbClr val="000000"/>
                </a:solidFill>
                <a:latin typeface="Calibri"/>
                <a:ea typeface="Calibri"/>
                <a:cs typeface="Calibri"/>
              </a:defRPr>
            </a:lvl1pPr>
            <a:lvl2pPr algn="ctr">
              <a:defRPr sz="1875">
                <a:solidFill>
                  <a:srgbClr val="000000"/>
                </a:solidFill>
                <a:latin typeface="Calibri"/>
                <a:ea typeface="Calibri"/>
                <a:cs typeface="Calibri"/>
              </a:defRPr>
            </a:lvl2pPr>
            <a:lvl3pPr algn="ctr">
              <a:defRPr sz="1875">
                <a:solidFill>
                  <a:srgbClr val="000000"/>
                </a:solidFill>
                <a:latin typeface="Calibri"/>
                <a:ea typeface="Calibri"/>
                <a:cs typeface="Calibri"/>
              </a:defRPr>
            </a:lvl3pPr>
            <a:lvl4pPr algn="ctr">
              <a:defRPr sz="1875">
                <a:solidFill>
                  <a:srgbClr val="000000"/>
                </a:solidFill>
                <a:latin typeface="Calibri"/>
                <a:ea typeface="Calibri"/>
                <a:cs typeface="Calibri"/>
              </a:defRPr>
            </a:lvl4pPr>
            <a:lvl5pPr algn="ctr">
              <a:defRPr sz="1875">
                <a:solidFill>
                  <a:srgbClr val="000000"/>
                </a:solidFill>
                <a:latin typeface="Calibri"/>
                <a:ea typeface="Calibri"/>
                <a:cs typeface="Calibri"/>
              </a:defRPr>
            </a:lvl5pPr>
            <a:lvl6pPr algn="ctr">
              <a:defRPr sz="1875">
                <a:solidFill>
                  <a:srgbClr val="000000"/>
                </a:solidFill>
                <a:latin typeface="Calibri"/>
                <a:ea typeface="Calibri"/>
                <a:cs typeface="Calibri"/>
              </a:defRPr>
            </a:lvl6pPr>
            <a:lvl7pPr algn="ctr">
              <a:defRPr sz="1875">
                <a:solidFill>
                  <a:srgbClr val="000000"/>
                </a:solidFill>
                <a:latin typeface="Calibri"/>
                <a:ea typeface="Calibri"/>
                <a:cs typeface="Calibri"/>
              </a:defRPr>
            </a:lvl7pPr>
            <a:lvl8pPr algn="ctr">
              <a:defRPr sz="1875">
                <a:solidFill>
                  <a:srgbClr val="000000"/>
                </a:solidFill>
                <a:latin typeface="Calibri"/>
                <a:ea typeface="Calibri"/>
                <a:cs typeface="Calibri"/>
              </a:defRPr>
            </a:lvl8pPr>
            <a:lvl9pPr algn="ctr">
              <a:defRPr sz="1875">
                <a:solidFill>
                  <a:srgbClr val="000000"/>
                </a:solidFill>
                <a:latin typeface="Calibri"/>
                <a:ea typeface="Calibri"/>
                <a:cs typeface="Calibri"/>
              </a:defRPr>
            </a:lvl9pPr>
          </a:lstStyle>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Visual</a:t>
            </a:r>
          </a:p>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display</a:t>
            </a:r>
          </a:p>
        </p:txBody>
      </p:sp>
      <p:sp>
        <p:nvSpPr>
          <p:cNvPr id="24" name="object-76">
            <a:extLst xmlns:a="http://schemas.openxmlformats.org/drawingml/2006/main">
              <a:ext uri="{FF2B5EF4-FFF2-40B4-BE49-F238E27FC236}">
                <a16:creationId xmlns:a16="http://schemas.microsoft.com/office/drawing/2014/main" id="{7E8B9C8D-F546-484B-B5FF-B0F1AA6991BA}"/>
              </a:ext>
            </a:extLst>
          </p:cNvPr>
          <p:cNvSpPr>
            <a:spLocks xmlns:a="http://schemas.openxmlformats.org/drawingml/2006/main" noGrp="1"/>
          </p:cNvSpPr>
          <p:nvPr/>
        </p:nvSpPr>
        <p:spPr>
          <a:xfrm xmlns:a="http://schemas.openxmlformats.org/drawingml/2006/main">
            <a:off x="685800" y="5934075"/>
            <a:ext cx="108204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defRPr sz="1800" b="1">
                <a:solidFill>
                  <a:srgbClr val="000000"/>
                </a:solidFill>
                <a:latin typeface="Calibri"/>
                <a:ea typeface="Calibri"/>
                <a:cs typeface="Calibri"/>
              </a:defRPr>
            </a:pPr>
            <a:r>
              <a:rPr sz="1800" b="1">
                <a:solidFill>
                  <a:srgbClr val="000000"/>
                </a:solidFill>
                <a:latin typeface="Calibri"/>
                <a:ea typeface="Calibri"/>
                <a:cs typeface="Calibri"/>
              </a:rPr>
              <a:t>Research prototype. No validated closed-loop vehicle control.</a:t>
            </a:r>
          </a:p>
        </p:txBody>
      </p:sp>
    </p:spTree>
    <p:extLst>
      <p:ext uri="{BB962C8B-B14F-4D97-AF65-F5344CB8AC3E}">
        <p14:creationId xmlns:p14="http://schemas.microsoft.com/office/powerpoint/2010/main" val="7569756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bject-77">
            <a:extLst xmlns:a="http://schemas.openxmlformats.org/drawingml/2006/main">
              <a:ext uri="{FF2B5EF4-FFF2-40B4-BE49-F238E27FC236}">
                <a16:creationId xmlns:a16="http://schemas.microsoft.com/office/drawing/2014/main" id="{39FDB8AA-5037-40EB-BD58-5869D38FC816}"/>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78">
            <a:extLst xmlns:a="http://schemas.openxmlformats.org/drawingml/2006/main">
              <a:ext uri="{FF2B5EF4-FFF2-40B4-BE49-F238E27FC236}">
                <a16:creationId xmlns:a16="http://schemas.microsoft.com/office/drawing/2014/main" id="{2C3A7C8B-7FB1-46B4-9A2B-01AAD56060CF}"/>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79">
            <a:extLst xmlns:a="http://schemas.openxmlformats.org/drawingml/2006/main">
              <a:ext uri="{FF2B5EF4-FFF2-40B4-BE49-F238E27FC236}">
                <a16:creationId xmlns:a16="http://schemas.microsoft.com/office/drawing/2014/main" id="{A9C9380F-CABE-412B-844A-C39FC274E45D}"/>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Datasets and preprocessing</a:t>
            </a:r>
          </a:p>
        </p:txBody>
      </p:sp>
      <p:sp>
        <p:nvSpPr>
          <p:cNvPr id="4" name="object-80">
            <a:extLst xmlns:a="http://schemas.openxmlformats.org/drawingml/2006/main">
              <a:ext uri="{FF2B5EF4-FFF2-40B4-BE49-F238E27FC236}">
                <a16:creationId xmlns:a16="http://schemas.microsoft.com/office/drawing/2014/main" id="{494F7FE9-2A1A-447C-B5BA-AC63A40144B2}"/>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81">
            <a:extLst xmlns:a="http://schemas.openxmlformats.org/drawingml/2006/main">
              <a:ext uri="{FF2B5EF4-FFF2-40B4-BE49-F238E27FC236}">
                <a16:creationId xmlns:a16="http://schemas.microsoft.com/office/drawing/2014/main" id="{D4D8F217-6E21-4BD6-9164-D5F05E01907C}"/>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8</a:t>
            </a:r>
          </a:p>
        </p:txBody>
      </p:sp>
      <p:graphicFrame>
        <p:nvGraphicFramePr>
          <p:cNvPr id="6" name="">
            <a:extLst xmlns:a="http://schemas.openxmlformats.org/drawingml/2006/main">
              <a:ext uri="{FF2B5EF4-FFF2-40B4-BE49-F238E27FC236}">
                <a16:creationId xmlns:a16="http://schemas.microsoft.com/office/drawing/2014/main" id="{E06CF367-4362-4832-B695-65E0AEA8EB12}"/>
              </a:ext>
            </a:extLst>
          </p:cNvPr>
          <p:cNvGraphicFramePr/>
          <p:nvPr/>
        </p:nvGraphicFramePr>
        <p:xfrm>
          <a:off xmlns:a="http://schemas.openxmlformats.org/drawingml/2006/main" x="685800" y="1695450"/>
          <a:ext xmlns:a="http://schemas.openxmlformats.org/drawingml/2006/main" cx="10820400" cy="2514600"/>
        </p:xfrm>
        <a:graphic xmlns:a="http://schemas.openxmlformats.org/drawingml/2006/main">
          <a:graphicData uri="http://schemas.openxmlformats.org/drawingml/2006/table">
            <a:tbl>
              <a:tblPr/>
              <a:tblGrid>
                <a:gridCol w="2380488"/>
                <a:gridCol w="2705100"/>
                <a:gridCol w="2705100"/>
                <a:gridCol w="3029712"/>
              </a:tblGrid>
              <a:tr h="628650">
                <a:tc>
                  <a:txBody>
                    <a:bodyPr wrap="square" lIns="66675" tIns="66675" rIns="66675" bIns="66675">
                      <a:noAutofit/>
                    </a:bodyPr>
                    <a:lstStyle/>
                    <a:p>
                      <a:pPr algn="l"/>
                      <a:r>
                        <a:rPr sz="1800" b="1">
                          <a:solidFill>
                            <a:srgbClr val="FFFFFF"/>
                          </a:solidFill>
                          <a:latin typeface="Calibri"/>
                          <a:ea typeface="Calibri"/>
                          <a:cs typeface="Calibri"/>
                        </a:rPr>
                        <a:t>Module</a:t>
                      </a:r>
                    </a:p>
                  </a:txBody>
                  <a:tcPr marL="91440" marR="91440" marT="45720" marB="4572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800" b="1">
                          <a:solidFill>
                            <a:srgbClr val="FFFFFF"/>
                          </a:solidFill>
                          <a:latin typeface="Calibri"/>
                          <a:ea typeface="Calibri"/>
                          <a:cs typeface="Calibri"/>
                        </a:rPr>
                        <a:t>Training data</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800" b="1">
                          <a:solidFill>
                            <a:srgbClr val="FFFFFF"/>
                          </a:solidFill>
                          <a:latin typeface="Calibri"/>
                          <a:ea typeface="Calibri"/>
                          <a:cs typeface="Calibri"/>
                        </a:rPr>
                        <a:t>Evaluation data</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800" b="1">
                          <a:solidFill>
                            <a:srgbClr val="FFFFFF"/>
                          </a:solidFill>
                          <a:latin typeface="Calibri"/>
                          <a:ea typeface="Calibri"/>
                          <a:cs typeface="Calibri"/>
                        </a:rPr>
                        <a:t>Preprocessing</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628650">
                <a:tc>
                  <a:txBody>
                    <a:bodyPr wrap="square" lIns="66675" tIns="66675" rIns="66675" bIns="66675">
                      <a:noAutofit/>
                    </a:bodyPr>
                    <a:lstStyle/>
                    <a:p>
                      <a:pPr algn="l"/>
                      <a:r>
                        <a:rPr sz="1800" b="0">
                          <a:solidFill>
                            <a:srgbClr val="000000"/>
                          </a:solidFill>
                          <a:latin typeface="Calibri"/>
                          <a:ea typeface="Calibri"/>
                          <a:cs typeface="Calibri"/>
                        </a:rPr>
                        <a:t>Detection</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00" b="0">
                          <a:solidFill>
                            <a:srgbClr val="000000"/>
                          </a:solidFill>
                          <a:latin typeface="Calibri"/>
                          <a:ea typeface="Calibri"/>
                          <a:cs typeface="Calibri"/>
                        </a:rPr>
                        <a:t>8,080 COCO-10 images</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00" b="0">
                          <a:solidFill>
                            <a:srgbClr val="000000"/>
                          </a:solidFill>
                          <a:latin typeface="Calibri"/>
                          <a:ea typeface="Calibri"/>
                          <a:cs typeface="Calibri"/>
                        </a:rPr>
                        <a:t>975 validation + 525 test</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00" b="0">
                          <a:solidFill>
                            <a:srgbClr val="000000"/>
                          </a:solidFill>
                          <a:latin typeface="Calibri"/>
                          <a:ea typeface="Calibri"/>
                          <a:cs typeface="Calibri"/>
                        </a:rPr>
                        <a:t>640 × 640 input, ten classes</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628650">
                <a:tc>
                  <a:txBody>
                    <a:bodyPr wrap="square" lIns="66675" tIns="66675" rIns="66675" bIns="66675">
                      <a:noAutofit/>
                    </a:bodyPr>
                    <a:lstStyle/>
                    <a:p>
                      <a:pPr algn="l"/>
                      <a:r>
                        <a:rPr sz="1800" b="0">
                          <a:solidFill>
                            <a:srgbClr val="000000"/>
                          </a:solidFill>
                          <a:latin typeface="Calibri"/>
                          <a:ea typeface="Calibri"/>
                          <a:cs typeface="Calibri"/>
                        </a:rPr>
                        <a:t>Lane segmentation</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800" b="0">
                          <a:solidFill>
                            <a:srgbClr val="000000"/>
                          </a:solidFill>
                          <a:latin typeface="Calibri"/>
                          <a:ea typeface="Calibri"/>
                          <a:cs typeface="Calibri"/>
                        </a:rPr>
                        <a:t>2,900 TuSimple frames</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800" b="0">
                          <a:solidFill>
                            <a:srgbClr val="000000"/>
                          </a:solidFill>
                          <a:latin typeface="Calibri"/>
                          <a:ea typeface="Calibri"/>
                          <a:cs typeface="Calibri"/>
                        </a:rPr>
                        <a:t>726 validation frames</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800" b="0">
                          <a:solidFill>
                            <a:srgbClr val="000000"/>
                          </a:solidFill>
                          <a:latin typeface="Calibri"/>
                          <a:ea typeface="Calibri"/>
                          <a:cs typeface="Calibri"/>
                        </a:rPr>
                        <a:t>Lane points converted to narrow polygons</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628650">
                <a:tc>
                  <a:txBody>
                    <a:bodyPr wrap="square" lIns="66675" tIns="66675" rIns="66675" bIns="66675">
                      <a:noAutofit/>
                    </a:bodyPr>
                    <a:lstStyle/>
                    <a:p>
                      <a:pPr algn="l"/>
                      <a:r>
                        <a:rPr sz="1800" b="0">
                          <a:solidFill>
                            <a:srgbClr val="000000"/>
                          </a:solidFill>
                          <a:latin typeface="Calibri"/>
                          <a:ea typeface="Calibri"/>
                          <a:cs typeface="Calibri"/>
                        </a:rPr>
                        <a:t>Steering</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00" b="0">
                          <a:solidFill>
                            <a:srgbClr val="000000"/>
                          </a:solidFill>
                          <a:latin typeface="Calibri"/>
                          <a:ea typeface="Calibri"/>
                          <a:cs typeface="Calibri"/>
                        </a:rPr>
                        <a:t>36,324 ordered training rows</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00" b="0">
                          <a:solidFill>
                            <a:srgbClr val="000000"/>
                          </a:solidFill>
                          <a:latin typeface="Calibri"/>
                          <a:ea typeface="Calibri"/>
                          <a:cs typeface="Calibri"/>
                        </a:rPr>
                        <a:t>9,082 validation rows</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00" b="0">
                          <a:solidFill>
                            <a:srgbClr val="000000"/>
                          </a:solidFill>
                          <a:latin typeface="Calibri"/>
                          <a:ea typeface="Calibri"/>
                          <a:cs typeface="Calibri"/>
                        </a:rPr>
                        <a:t>Bottom 150-row crop, 200 × 66 resize</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bl>
          </a:graphicData>
        </a:graphic>
      </p:graphicFrame>
      <p:sp>
        <p:nvSpPr>
          <p:cNvPr id="7" name="object-82">
            <a:extLst xmlns:a="http://schemas.openxmlformats.org/drawingml/2006/main">
              <a:ext uri="{FF2B5EF4-FFF2-40B4-BE49-F238E27FC236}">
                <a16:creationId xmlns:a16="http://schemas.microsoft.com/office/drawing/2014/main" id="{C8B7ED3B-C9CF-42E1-BF2A-E3DF046EBC0F}"/>
              </a:ext>
            </a:extLst>
          </p:cNvPr>
          <p:cNvSpPr>
            <a:spLocks xmlns:a="http://schemas.openxmlformats.org/drawingml/2006/main" noGrp="1"/>
          </p:cNvSpPr>
          <p:nvPr/>
        </p:nvSpPr>
        <p:spPr>
          <a:xfrm xmlns:a="http://schemas.openxmlformats.org/drawingml/2006/main">
            <a:off x="685800" y="4600575"/>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0000"/>
                </a:solidFill>
                <a:latin typeface="Calibri"/>
                <a:ea typeface="Calibri"/>
                <a:cs typeface="Calibri"/>
              </a:defRPr>
            </a:defPPr>
            <a:lvl1pPr algn="l">
              <a:defRPr sz="2175" b="1">
                <a:solidFill>
                  <a:srgbClr val="000000"/>
                </a:solidFill>
                <a:latin typeface="Calibri"/>
                <a:ea typeface="Calibri"/>
                <a:cs typeface="Calibri"/>
              </a:defRPr>
            </a:lvl1pPr>
            <a:lvl2pPr algn="l">
              <a:defRPr sz="2175" b="1">
                <a:solidFill>
                  <a:srgbClr val="000000"/>
                </a:solidFill>
                <a:latin typeface="Calibri"/>
                <a:ea typeface="Calibri"/>
                <a:cs typeface="Calibri"/>
              </a:defRPr>
            </a:lvl2pPr>
            <a:lvl3pPr algn="l">
              <a:defRPr sz="2175" b="1">
                <a:solidFill>
                  <a:srgbClr val="000000"/>
                </a:solidFill>
                <a:latin typeface="Calibri"/>
                <a:ea typeface="Calibri"/>
                <a:cs typeface="Calibri"/>
              </a:defRPr>
            </a:lvl3pPr>
            <a:lvl4pPr algn="l">
              <a:defRPr sz="2175" b="1">
                <a:solidFill>
                  <a:srgbClr val="000000"/>
                </a:solidFill>
                <a:latin typeface="Calibri"/>
                <a:ea typeface="Calibri"/>
                <a:cs typeface="Calibri"/>
              </a:defRPr>
            </a:lvl4pPr>
            <a:lvl5pPr algn="l">
              <a:defRPr sz="2175" b="1">
                <a:solidFill>
                  <a:srgbClr val="000000"/>
                </a:solidFill>
                <a:latin typeface="Calibri"/>
                <a:ea typeface="Calibri"/>
                <a:cs typeface="Calibri"/>
              </a:defRPr>
            </a:lvl5pPr>
            <a:lvl6pPr algn="l">
              <a:defRPr sz="2175" b="1">
                <a:solidFill>
                  <a:srgbClr val="000000"/>
                </a:solidFill>
                <a:latin typeface="Calibri"/>
                <a:ea typeface="Calibri"/>
                <a:cs typeface="Calibri"/>
              </a:defRPr>
            </a:lvl6pPr>
            <a:lvl7pPr algn="l">
              <a:defRPr sz="2175" b="1">
                <a:solidFill>
                  <a:srgbClr val="000000"/>
                </a:solidFill>
                <a:latin typeface="Calibri"/>
                <a:ea typeface="Calibri"/>
                <a:cs typeface="Calibri"/>
              </a:defRPr>
            </a:lvl7pPr>
            <a:lvl8pPr algn="l">
              <a:defRPr sz="2175" b="1">
                <a:solidFill>
                  <a:srgbClr val="000000"/>
                </a:solidFill>
                <a:latin typeface="Calibri"/>
                <a:ea typeface="Calibri"/>
                <a:cs typeface="Calibri"/>
              </a:defRPr>
            </a:lvl8pPr>
            <a:lvl9pPr algn="l">
              <a:defRPr sz="2175" b="1">
                <a:solidFill>
                  <a:srgbClr val="000000"/>
                </a:solidFill>
                <a:latin typeface="Calibri"/>
                <a:ea typeface="Calibri"/>
                <a:cs typeface="Calibri"/>
              </a:defRPr>
            </a:lvl9pPr>
          </a:lstStyle>
          <a:p xmlns:a="http://schemas.openxmlformats.org/drawingml/2006/main">
            <a:pPr algn="l">
              <a:defRPr sz="2175" b="1">
                <a:solidFill>
                  <a:srgbClr val="000000"/>
                </a:solidFill>
                <a:latin typeface="Calibri"/>
                <a:ea typeface="Calibri"/>
                <a:cs typeface="Calibri"/>
              </a:defRPr>
            </a:pPr>
            <a:r>
              <a:rPr sz="2175" b="1">
                <a:solidFill>
                  <a:srgbClr val="000000"/>
                </a:solidFill>
                <a:latin typeface="Calibri"/>
                <a:ea typeface="Calibri"/>
                <a:cs typeface="Calibri"/>
              </a:rPr>
              <a:t>Lane annotations: 3,626 valid frames and 2,732 validation lane instances</a:t>
            </a:r>
          </a:p>
        </p:txBody>
      </p:sp>
      <p:sp>
        <p:nvSpPr>
          <p:cNvPr id="8" name="object-83">
            <a:extLst xmlns:a="http://schemas.openxmlformats.org/drawingml/2006/main">
              <a:ext uri="{FF2B5EF4-FFF2-40B4-BE49-F238E27FC236}">
                <a16:creationId xmlns:a16="http://schemas.microsoft.com/office/drawing/2014/main" id="{EE153B89-853A-4E2B-A534-1B3C74D76B7D}"/>
              </a:ext>
            </a:extLst>
          </p:cNvPr>
          <p:cNvSpPr>
            <a:spLocks xmlns:a="http://schemas.openxmlformats.org/drawingml/2006/main" noGrp="1"/>
          </p:cNvSpPr>
          <p:nvPr/>
        </p:nvSpPr>
        <p:spPr>
          <a:xfrm xmlns:a="http://schemas.openxmlformats.org/drawingml/2006/main">
            <a:off x="685800" y="56007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The existing steering split is not an independent test drive.</a:t>
            </a:r>
          </a:p>
        </p:txBody>
      </p:sp>
    </p:spTree>
    <p:extLst>
      <p:ext uri="{BB962C8B-B14F-4D97-AF65-F5344CB8AC3E}">
        <p14:creationId xmlns:p14="http://schemas.microsoft.com/office/powerpoint/2010/main" val="637054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8A872B8A-EA94-4D46-A113-2594793DE770}"/>
              </a:ext>
            </a:extLst>
          </p:cNvPr>
          <p:cNvCxnSpPr>
            <a:stCxn xmlns:a="http://schemas.openxmlformats.org/drawingml/2006/main" id="9" idx="3"/>
            <a:endCxn xmlns:a="http://schemas.openxmlformats.org/drawingml/2006/main" id="10" idx="1"/>
          </p:cNvCxnSpPr>
          <p:nvPr/>
        </p:nvCxnSpPr>
        <p:spPr>
          <a:xfrm xmlns:a="http://schemas.openxmlformats.org/drawingml/2006/main">
            <a:off x="9239250" y="4848225"/>
            <a:ext cx="857250" cy="0"/>
          </a:xfrm>
          <a:prstGeom xmlns:a="http://schemas.openxmlformats.org/drawingml/2006/main" prst="straightConnector1">
            <a:avLst/>
          </a:prstGeom>
          <a:ln xmlns:a="http://schemas.openxmlformats.org/drawingml/2006/main" w="19050">
            <a:solidFill>
              <a:srgbClr val="000000"/>
            </a:solidFill>
            <a:prstDash val="solid"/>
            <a:headEnd type="triangle" w="med" len="med"/>
          </a:ln>
        </p:spPr>
      </p:cxnSp>
      <p:cxnSp>
        <p:nvCxnSpPr>
          <p:cNvPr id="12" name="">
            <a:extLst xmlns:a="http://schemas.openxmlformats.org/drawingml/2006/main">
              <a:ext uri="{FF2B5EF4-FFF2-40B4-BE49-F238E27FC236}">
                <a16:creationId xmlns:a16="http://schemas.microsoft.com/office/drawing/2014/main" id="{C5DB07A4-E5F8-4324-824C-D3C4212D4843}"/>
              </a:ext>
            </a:extLst>
          </p:cNvPr>
          <p:cNvCxnSpPr>
            <a:stCxn xmlns:a="http://schemas.openxmlformats.org/drawingml/2006/main" id="8" idx="3"/>
            <a:endCxn xmlns:a="http://schemas.openxmlformats.org/drawingml/2006/main" id="9" idx="1"/>
          </p:cNvCxnSpPr>
          <p:nvPr/>
        </p:nvCxnSpPr>
        <p:spPr>
          <a:xfrm xmlns:a="http://schemas.openxmlformats.org/drawingml/2006/main">
            <a:off x="6048375" y="4848225"/>
            <a:ext cx="857250" cy="0"/>
          </a:xfrm>
          <a:prstGeom xmlns:a="http://schemas.openxmlformats.org/drawingml/2006/main" prst="straightConnector1">
            <a:avLst/>
          </a:prstGeom>
          <a:ln xmlns:a="http://schemas.openxmlformats.org/drawingml/2006/main" w="19050">
            <a:solidFill>
              <a:srgbClr val="000000"/>
            </a:solidFill>
            <a:prstDash val="solid"/>
            <a:headEnd type="triangle" w="med" len="med"/>
          </a:ln>
        </p:spPr>
      </p:cxnSp>
      <p:cxnSp>
        <p:nvCxnSpPr>
          <p:cNvPr id="11" name="">
            <a:extLst xmlns:a="http://schemas.openxmlformats.org/drawingml/2006/main">
              <a:ext uri="{FF2B5EF4-FFF2-40B4-BE49-F238E27FC236}">
                <a16:creationId xmlns:a16="http://schemas.microsoft.com/office/drawing/2014/main" id="{E12C7DA8-846A-4F51-9074-B15C81F240FE}"/>
              </a:ext>
            </a:extLst>
          </p:cNvPr>
          <p:cNvCxnSpPr>
            <a:stCxn xmlns:a="http://schemas.openxmlformats.org/drawingml/2006/main" id="7" idx="3"/>
            <a:endCxn xmlns:a="http://schemas.openxmlformats.org/drawingml/2006/main" id="8" idx="1"/>
          </p:cNvCxnSpPr>
          <p:nvPr/>
        </p:nvCxnSpPr>
        <p:spPr>
          <a:xfrm xmlns:a="http://schemas.openxmlformats.org/drawingml/2006/main">
            <a:off x="2857500" y="4848225"/>
            <a:ext cx="857250" cy="0"/>
          </a:xfrm>
          <a:prstGeom xmlns:a="http://schemas.openxmlformats.org/drawingml/2006/main" prst="straightConnector1">
            <a:avLst/>
          </a:prstGeom>
          <a:ln xmlns:a="http://schemas.openxmlformats.org/drawingml/2006/main" w="19050">
            <a:solidFill>
              <a:srgbClr val="000000"/>
            </a:solidFill>
            <a:prstDash val="solid"/>
            <a:headEnd type="triangle" w="med" len="med"/>
          </a:ln>
        </p:spPr>
      </p:cxnSp>
      <p:sp>
        <p:nvSpPr>
          <p:cNvPr id="15" name="object-84">
            <a:extLst xmlns:a="http://schemas.openxmlformats.org/drawingml/2006/main">
              <a:ext uri="{FF2B5EF4-FFF2-40B4-BE49-F238E27FC236}">
                <a16:creationId xmlns:a16="http://schemas.microsoft.com/office/drawing/2014/main" id="{C5383B87-C0A5-4222-8579-DAB6CA4D4D7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85">
            <a:extLst xmlns:a="http://schemas.openxmlformats.org/drawingml/2006/main">
              <a:ext uri="{FF2B5EF4-FFF2-40B4-BE49-F238E27FC236}">
                <a16:creationId xmlns:a16="http://schemas.microsoft.com/office/drawing/2014/main" id="{BC7E576E-87DB-48D4-BF77-D9B2A0B4F40F}"/>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86">
            <a:extLst xmlns:a="http://schemas.openxmlformats.org/drawingml/2006/main">
              <a:ext uri="{FF2B5EF4-FFF2-40B4-BE49-F238E27FC236}">
                <a16:creationId xmlns:a16="http://schemas.microsoft.com/office/drawing/2014/main" id="{4E48718A-299F-4681-8689-50E56174BD7C}"/>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Perception models</a:t>
            </a:r>
          </a:p>
        </p:txBody>
      </p:sp>
      <p:sp>
        <p:nvSpPr>
          <p:cNvPr id="4" name="object-87">
            <a:extLst xmlns:a="http://schemas.openxmlformats.org/drawingml/2006/main">
              <a:ext uri="{FF2B5EF4-FFF2-40B4-BE49-F238E27FC236}">
                <a16:creationId xmlns:a16="http://schemas.microsoft.com/office/drawing/2014/main" id="{DB900341-AF86-4ED8-BF95-AA2D081EC037}"/>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88">
            <a:extLst xmlns:a="http://schemas.openxmlformats.org/drawingml/2006/main">
              <a:ext uri="{FF2B5EF4-FFF2-40B4-BE49-F238E27FC236}">
                <a16:creationId xmlns:a16="http://schemas.microsoft.com/office/drawing/2014/main" id="{66D3788D-D02F-488C-AD73-DA0F51005F1B}"/>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9</a:t>
            </a:r>
          </a:p>
        </p:txBody>
      </p:sp>
      <p:graphicFrame>
        <p:nvGraphicFramePr>
          <p:cNvPr id="6" name="">
            <a:extLst xmlns:a="http://schemas.openxmlformats.org/drawingml/2006/main">
              <a:ext uri="{FF2B5EF4-FFF2-40B4-BE49-F238E27FC236}">
                <a16:creationId xmlns:a16="http://schemas.microsoft.com/office/drawing/2014/main" id="{0A80CE41-BBA6-4585-BA8E-8B8ECFDD22D4}"/>
              </a:ext>
            </a:extLst>
          </p:cNvPr>
          <p:cNvGraphicFramePr/>
          <p:nvPr/>
        </p:nvGraphicFramePr>
        <p:xfrm>
          <a:off xmlns:a="http://schemas.openxmlformats.org/drawingml/2006/main" x="685800" y="1666875"/>
          <a:ext xmlns:a="http://schemas.openxmlformats.org/drawingml/2006/main" cx="10820400" cy="1943100"/>
        </p:xfrm>
        <a:graphic xmlns:a="http://schemas.openxmlformats.org/drawingml/2006/main">
          <a:graphicData uri="http://schemas.openxmlformats.org/drawingml/2006/table">
            <a:tbl>
              <a:tblPr/>
              <a:tblGrid>
                <a:gridCol w="2596896"/>
                <a:gridCol w="3354324"/>
                <a:gridCol w="2488692"/>
                <a:gridCol w="2380488"/>
              </a:tblGrid>
              <a:tr h="647700">
                <a:tc>
                  <a:txBody>
                    <a:bodyPr wrap="square" lIns="66675" tIns="66675" rIns="66675" bIns="66675">
                      <a:noAutofit/>
                    </a:bodyPr>
                    <a:lstStyle/>
                    <a:p>
                      <a:pPr algn="l"/>
                      <a:r>
                        <a:rPr sz="2100" b="1">
                          <a:solidFill>
                            <a:srgbClr val="FFFFFF"/>
                          </a:solidFill>
                          <a:latin typeface="Calibri"/>
                          <a:ea typeface="Calibri"/>
                          <a:cs typeface="Calibri"/>
                        </a:rPr>
                        <a:t>Model</a:t>
                      </a:r>
                    </a:p>
                  </a:txBody>
                  <a:tcPr marL="91440" marR="91440" marT="45720" marB="4572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2100" b="1">
                          <a:solidFill>
                            <a:srgbClr val="FFFFFF"/>
                          </a:solidFill>
                          <a:latin typeface="Calibri"/>
                          <a:ea typeface="Calibri"/>
                          <a:cs typeface="Calibri"/>
                        </a:rPr>
                        <a:t>Task</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2100" b="1">
                          <a:solidFill>
                            <a:srgbClr val="FFFFFF"/>
                          </a:solidFill>
                          <a:latin typeface="Calibri"/>
                          <a:ea typeface="Calibri"/>
                          <a:cs typeface="Calibri"/>
                        </a:rPr>
                        <a:t>Parameters</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2100" b="1">
                          <a:solidFill>
                            <a:srgbClr val="FFFFFF"/>
                          </a:solidFill>
                          <a:latin typeface="Calibri"/>
                          <a:ea typeface="Calibri"/>
                          <a:cs typeface="Calibri"/>
                        </a:rPr>
                        <a:t>Fused compute</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647700">
                <a:tc>
                  <a:txBody>
                    <a:bodyPr wrap="square" lIns="66675" tIns="66675" rIns="66675" bIns="66675">
                      <a:noAutofit/>
                    </a:bodyPr>
                    <a:lstStyle/>
                    <a:p>
                      <a:pPr algn="l"/>
                      <a:r>
                        <a:rPr sz="2100" b="0">
                          <a:solidFill>
                            <a:srgbClr val="000000"/>
                          </a:solidFill>
                          <a:latin typeface="Calibri"/>
                          <a:ea typeface="Calibri"/>
                          <a:cs typeface="Calibri"/>
                        </a:rPr>
                        <a:t>YOLO11s</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2100" b="0">
                          <a:solidFill>
                            <a:srgbClr val="000000"/>
                          </a:solidFill>
                          <a:latin typeface="Calibri"/>
                          <a:ea typeface="Calibri"/>
                          <a:cs typeface="Calibri"/>
                        </a:rPr>
                        <a:t>10-class object detection</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2100" b="0">
                          <a:solidFill>
                            <a:srgbClr val="000000"/>
                          </a:solidFill>
                          <a:latin typeface="Calibri"/>
                          <a:ea typeface="Calibri"/>
                          <a:cs typeface="Calibri"/>
                        </a:rPr>
                        <a:t>9,416,670</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2100" b="0">
                          <a:solidFill>
                            <a:srgbClr val="000000"/>
                          </a:solidFill>
                          <a:latin typeface="Calibri"/>
                          <a:ea typeface="Calibri"/>
                          <a:cs typeface="Calibri"/>
                        </a:rPr>
                        <a:t>21.4 GFLOPs</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647700">
                <a:tc>
                  <a:txBody>
                    <a:bodyPr wrap="square" lIns="66675" tIns="66675" rIns="66675" bIns="66675">
                      <a:noAutofit/>
                    </a:bodyPr>
                    <a:lstStyle/>
                    <a:p>
                      <a:pPr algn="l"/>
                      <a:r>
                        <a:rPr sz="2100" b="0">
                          <a:solidFill>
                            <a:srgbClr val="000000"/>
                          </a:solidFill>
                          <a:latin typeface="Calibri"/>
                          <a:ea typeface="Calibri"/>
                          <a:cs typeface="Calibri"/>
                        </a:rPr>
                        <a:t>YOLO11s-seg</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2100" b="0">
                          <a:solidFill>
                            <a:srgbClr val="000000"/>
                          </a:solidFill>
                          <a:latin typeface="Calibri"/>
                          <a:ea typeface="Calibri"/>
                          <a:cs typeface="Calibri"/>
                        </a:rPr>
                        <a:t>1-class lane masks</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2100" b="0">
                          <a:solidFill>
                            <a:srgbClr val="000000"/>
                          </a:solidFill>
                          <a:latin typeface="Calibri"/>
                          <a:ea typeface="Calibri"/>
                          <a:cs typeface="Calibri"/>
                        </a:rPr>
                        <a:t>10,067,203</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2100" b="0">
                          <a:solidFill>
                            <a:srgbClr val="000000"/>
                          </a:solidFill>
                          <a:latin typeface="Calibri"/>
                          <a:ea typeface="Calibri"/>
                          <a:cs typeface="Calibri"/>
                        </a:rPr>
                        <a:t>32.9 GFLOPs</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bl>
          </a:graphicData>
        </a:graphic>
      </p:graphicFrame>
      <p:sp>
        <p:nvSpPr>
          <p:cNvPr id="7" name="object-89">
            <a:extLst xmlns:a="http://schemas.openxmlformats.org/drawingml/2006/main">
              <a:ext uri="{FF2B5EF4-FFF2-40B4-BE49-F238E27FC236}">
                <a16:creationId xmlns:a16="http://schemas.microsoft.com/office/drawing/2014/main" id="{7644C061-6D31-4366-8AB2-4751E6E0BBEF}"/>
              </a:ext>
            </a:extLst>
          </p:cNvPr>
          <p:cNvSpPr>
            <a:spLocks xmlns:a="http://schemas.openxmlformats.org/drawingml/2006/main" noGrp="1"/>
          </p:cNvSpPr>
          <p:nvPr/>
        </p:nvSpPr>
        <p:spPr>
          <a:xfrm xmlns:a="http://schemas.openxmlformats.org/drawingml/2006/main">
            <a:off x="857250" y="4371975"/>
            <a:ext cx="20002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2100">
                <a:solidFill>
                  <a:srgbClr val="000000"/>
                </a:solidFill>
                <a:latin typeface="Calibri"/>
                <a:ea typeface="Calibri"/>
                <a:cs typeface="Calibri"/>
              </a:defRPr>
            </a:defPPr>
            <a:lvl1pPr algn="ctr">
              <a:defRPr sz="2100">
                <a:solidFill>
                  <a:srgbClr val="000000"/>
                </a:solidFill>
                <a:latin typeface="Calibri"/>
                <a:ea typeface="Calibri"/>
                <a:cs typeface="Calibri"/>
              </a:defRPr>
            </a:lvl1pPr>
            <a:lvl2pPr algn="ctr">
              <a:defRPr sz="2100">
                <a:solidFill>
                  <a:srgbClr val="000000"/>
                </a:solidFill>
                <a:latin typeface="Calibri"/>
                <a:ea typeface="Calibri"/>
                <a:cs typeface="Calibri"/>
              </a:defRPr>
            </a:lvl2pPr>
            <a:lvl3pPr algn="ctr">
              <a:defRPr sz="2100">
                <a:solidFill>
                  <a:srgbClr val="000000"/>
                </a:solidFill>
                <a:latin typeface="Calibri"/>
                <a:ea typeface="Calibri"/>
                <a:cs typeface="Calibri"/>
              </a:defRPr>
            </a:lvl3pPr>
            <a:lvl4pPr algn="ctr">
              <a:defRPr sz="2100">
                <a:solidFill>
                  <a:srgbClr val="000000"/>
                </a:solidFill>
                <a:latin typeface="Calibri"/>
                <a:ea typeface="Calibri"/>
                <a:cs typeface="Calibri"/>
              </a:defRPr>
            </a:lvl4pPr>
            <a:lvl5pPr algn="ctr">
              <a:defRPr sz="2100">
                <a:solidFill>
                  <a:srgbClr val="000000"/>
                </a:solidFill>
                <a:latin typeface="Calibri"/>
                <a:ea typeface="Calibri"/>
                <a:cs typeface="Calibri"/>
              </a:defRPr>
            </a:lvl5pPr>
            <a:lvl6pPr algn="ctr">
              <a:defRPr sz="2100">
                <a:solidFill>
                  <a:srgbClr val="000000"/>
                </a:solidFill>
                <a:latin typeface="Calibri"/>
                <a:ea typeface="Calibri"/>
                <a:cs typeface="Calibri"/>
              </a:defRPr>
            </a:lvl6pPr>
            <a:lvl7pPr algn="ctr">
              <a:defRPr sz="2100">
                <a:solidFill>
                  <a:srgbClr val="000000"/>
                </a:solidFill>
                <a:latin typeface="Calibri"/>
                <a:ea typeface="Calibri"/>
                <a:cs typeface="Calibri"/>
              </a:defRPr>
            </a:lvl7pPr>
            <a:lvl8pPr algn="ctr">
              <a:defRPr sz="2100">
                <a:solidFill>
                  <a:srgbClr val="000000"/>
                </a:solidFill>
                <a:latin typeface="Calibri"/>
                <a:ea typeface="Calibri"/>
                <a:cs typeface="Calibri"/>
              </a:defRPr>
            </a:lvl8pPr>
            <a:lvl9pPr algn="ctr">
              <a:defRPr sz="2100">
                <a:solidFill>
                  <a:srgbClr val="000000"/>
                </a:solidFill>
                <a:latin typeface="Calibri"/>
                <a:ea typeface="Calibri"/>
                <a:cs typeface="Calibri"/>
              </a:defRPr>
            </a:lvl9pPr>
          </a:lstStyle>
          <a:p xmlns:a="http://schemas.openxmlformats.org/drawingml/2006/main">
            <a:pPr algn="ctr">
              <a:defRPr sz="2100">
                <a:solidFill>
                  <a:srgbClr val="000000"/>
                </a:solidFill>
                <a:latin typeface="Calibri"/>
                <a:ea typeface="Calibri"/>
                <a:cs typeface="Calibri"/>
              </a:defRPr>
            </a:pPr>
            <a:r>
              <a:rPr sz="2100">
                <a:solidFill>
                  <a:srgbClr val="000000"/>
                </a:solidFill>
                <a:latin typeface="Calibri"/>
                <a:ea typeface="Calibri"/>
                <a:cs typeface="Calibri"/>
              </a:rPr>
              <a:t>640 × 640</a:t>
            </a:r>
          </a:p>
          <a:p xmlns:a="http://schemas.openxmlformats.org/drawingml/2006/main">
            <a:pPr algn="ctr">
              <a:defRPr sz="2100">
                <a:solidFill>
                  <a:srgbClr val="000000"/>
                </a:solidFill>
                <a:latin typeface="Calibri"/>
                <a:ea typeface="Calibri"/>
                <a:cs typeface="Calibri"/>
              </a:defRPr>
            </a:pPr>
            <a:r>
              <a:rPr sz="2100">
                <a:solidFill>
                  <a:srgbClr val="000000"/>
                </a:solidFill>
                <a:latin typeface="Calibri"/>
                <a:ea typeface="Calibri"/>
                <a:cs typeface="Calibri"/>
              </a:rPr>
              <a:t>image</a:t>
            </a:r>
          </a:p>
        </p:txBody>
      </p:sp>
      <p:sp>
        <p:nvSpPr>
          <p:cNvPr id="8" name="object-90">
            <a:extLst xmlns:a="http://schemas.openxmlformats.org/drawingml/2006/main">
              <a:ext uri="{FF2B5EF4-FFF2-40B4-BE49-F238E27FC236}">
                <a16:creationId xmlns:a16="http://schemas.microsoft.com/office/drawing/2014/main" id="{7BB2A6E9-9DB5-4AF2-89A5-75C855C3F30B}"/>
              </a:ext>
            </a:extLst>
          </p:cNvPr>
          <p:cNvSpPr>
            <a:spLocks xmlns:a="http://schemas.openxmlformats.org/drawingml/2006/main" noGrp="1"/>
          </p:cNvSpPr>
          <p:nvPr/>
        </p:nvSpPr>
        <p:spPr>
          <a:xfrm xmlns:a="http://schemas.openxmlformats.org/drawingml/2006/main">
            <a:off x="3714750" y="4371975"/>
            <a:ext cx="2333625"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950">
                <a:solidFill>
                  <a:srgbClr val="000000"/>
                </a:solidFill>
                <a:latin typeface="Calibri"/>
                <a:ea typeface="Calibri"/>
                <a:cs typeface="Calibri"/>
              </a:defRPr>
            </a:defPPr>
            <a:lvl1pPr algn="ctr">
              <a:defRPr sz="1950">
                <a:solidFill>
                  <a:srgbClr val="000000"/>
                </a:solidFill>
                <a:latin typeface="Calibri"/>
                <a:ea typeface="Calibri"/>
                <a:cs typeface="Calibri"/>
              </a:defRPr>
            </a:lvl1pPr>
            <a:lvl2pPr algn="ctr">
              <a:defRPr sz="1950">
                <a:solidFill>
                  <a:srgbClr val="000000"/>
                </a:solidFill>
                <a:latin typeface="Calibri"/>
                <a:ea typeface="Calibri"/>
                <a:cs typeface="Calibri"/>
              </a:defRPr>
            </a:lvl2pPr>
            <a:lvl3pPr algn="ctr">
              <a:defRPr sz="1950">
                <a:solidFill>
                  <a:srgbClr val="000000"/>
                </a:solidFill>
                <a:latin typeface="Calibri"/>
                <a:ea typeface="Calibri"/>
                <a:cs typeface="Calibri"/>
              </a:defRPr>
            </a:lvl3pPr>
            <a:lvl4pPr algn="ctr">
              <a:defRPr sz="1950">
                <a:solidFill>
                  <a:srgbClr val="000000"/>
                </a:solidFill>
                <a:latin typeface="Calibri"/>
                <a:ea typeface="Calibri"/>
                <a:cs typeface="Calibri"/>
              </a:defRPr>
            </a:lvl4pPr>
            <a:lvl5pPr algn="ctr">
              <a:defRPr sz="1950">
                <a:solidFill>
                  <a:srgbClr val="000000"/>
                </a:solidFill>
                <a:latin typeface="Calibri"/>
                <a:ea typeface="Calibri"/>
                <a:cs typeface="Calibri"/>
              </a:defRPr>
            </a:lvl5pPr>
            <a:lvl6pPr algn="ctr">
              <a:defRPr sz="1950">
                <a:solidFill>
                  <a:srgbClr val="000000"/>
                </a:solidFill>
                <a:latin typeface="Calibri"/>
                <a:ea typeface="Calibri"/>
                <a:cs typeface="Calibri"/>
              </a:defRPr>
            </a:lvl6pPr>
            <a:lvl7pPr algn="ctr">
              <a:defRPr sz="1950">
                <a:solidFill>
                  <a:srgbClr val="000000"/>
                </a:solidFill>
                <a:latin typeface="Calibri"/>
                <a:ea typeface="Calibri"/>
                <a:cs typeface="Calibri"/>
              </a:defRPr>
            </a:lvl7pPr>
            <a:lvl8pPr algn="ctr">
              <a:defRPr sz="1950">
                <a:solidFill>
                  <a:srgbClr val="000000"/>
                </a:solidFill>
                <a:latin typeface="Calibri"/>
                <a:ea typeface="Calibri"/>
                <a:cs typeface="Calibri"/>
              </a:defRPr>
            </a:lvl8pPr>
            <a:lvl9pPr algn="ctr">
              <a:defRPr sz="1950">
                <a:solidFill>
                  <a:srgbClr val="000000"/>
                </a:solidFill>
                <a:latin typeface="Calibri"/>
                <a:ea typeface="Calibri"/>
                <a:cs typeface="Calibri"/>
              </a:defRPr>
            </a:lvl9pPr>
          </a:lstStyle>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Backbone</a:t>
            </a:r>
          </a:p>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feature extraction</a:t>
            </a:r>
          </a:p>
        </p:txBody>
      </p:sp>
      <p:sp>
        <p:nvSpPr>
          <p:cNvPr id="9" name="object-91">
            <a:extLst xmlns:a="http://schemas.openxmlformats.org/drawingml/2006/main">
              <a:ext uri="{FF2B5EF4-FFF2-40B4-BE49-F238E27FC236}">
                <a16:creationId xmlns:a16="http://schemas.microsoft.com/office/drawing/2014/main" id="{98536CB2-7595-4637-9D68-31F1049E11E4}"/>
              </a:ext>
            </a:extLst>
          </p:cNvPr>
          <p:cNvSpPr>
            <a:spLocks xmlns:a="http://schemas.openxmlformats.org/drawingml/2006/main" noGrp="1"/>
          </p:cNvSpPr>
          <p:nvPr/>
        </p:nvSpPr>
        <p:spPr>
          <a:xfrm xmlns:a="http://schemas.openxmlformats.org/drawingml/2006/main">
            <a:off x="6905625" y="4371975"/>
            <a:ext cx="2333625"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950">
                <a:solidFill>
                  <a:srgbClr val="000000"/>
                </a:solidFill>
                <a:latin typeface="Calibri"/>
                <a:ea typeface="Calibri"/>
                <a:cs typeface="Calibri"/>
              </a:defRPr>
            </a:defPPr>
            <a:lvl1pPr algn="ctr">
              <a:defRPr sz="1950">
                <a:solidFill>
                  <a:srgbClr val="000000"/>
                </a:solidFill>
                <a:latin typeface="Calibri"/>
                <a:ea typeface="Calibri"/>
                <a:cs typeface="Calibri"/>
              </a:defRPr>
            </a:lvl1pPr>
            <a:lvl2pPr algn="ctr">
              <a:defRPr sz="1950">
                <a:solidFill>
                  <a:srgbClr val="000000"/>
                </a:solidFill>
                <a:latin typeface="Calibri"/>
                <a:ea typeface="Calibri"/>
                <a:cs typeface="Calibri"/>
              </a:defRPr>
            </a:lvl2pPr>
            <a:lvl3pPr algn="ctr">
              <a:defRPr sz="1950">
                <a:solidFill>
                  <a:srgbClr val="000000"/>
                </a:solidFill>
                <a:latin typeface="Calibri"/>
                <a:ea typeface="Calibri"/>
                <a:cs typeface="Calibri"/>
              </a:defRPr>
            </a:lvl3pPr>
            <a:lvl4pPr algn="ctr">
              <a:defRPr sz="1950">
                <a:solidFill>
                  <a:srgbClr val="000000"/>
                </a:solidFill>
                <a:latin typeface="Calibri"/>
                <a:ea typeface="Calibri"/>
                <a:cs typeface="Calibri"/>
              </a:defRPr>
            </a:lvl4pPr>
            <a:lvl5pPr algn="ctr">
              <a:defRPr sz="1950">
                <a:solidFill>
                  <a:srgbClr val="000000"/>
                </a:solidFill>
                <a:latin typeface="Calibri"/>
                <a:ea typeface="Calibri"/>
                <a:cs typeface="Calibri"/>
              </a:defRPr>
            </a:lvl5pPr>
            <a:lvl6pPr algn="ctr">
              <a:defRPr sz="1950">
                <a:solidFill>
                  <a:srgbClr val="000000"/>
                </a:solidFill>
                <a:latin typeface="Calibri"/>
                <a:ea typeface="Calibri"/>
                <a:cs typeface="Calibri"/>
              </a:defRPr>
            </a:lvl6pPr>
            <a:lvl7pPr algn="ctr">
              <a:defRPr sz="1950">
                <a:solidFill>
                  <a:srgbClr val="000000"/>
                </a:solidFill>
                <a:latin typeface="Calibri"/>
                <a:ea typeface="Calibri"/>
                <a:cs typeface="Calibri"/>
              </a:defRPr>
            </a:lvl7pPr>
            <a:lvl8pPr algn="ctr">
              <a:defRPr sz="1950">
                <a:solidFill>
                  <a:srgbClr val="000000"/>
                </a:solidFill>
                <a:latin typeface="Calibri"/>
                <a:ea typeface="Calibri"/>
                <a:cs typeface="Calibri"/>
              </a:defRPr>
            </a:lvl8pPr>
            <a:lvl9pPr algn="ctr">
              <a:defRPr sz="1950">
                <a:solidFill>
                  <a:srgbClr val="000000"/>
                </a:solidFill>
                <a:latin typeface="Calibri"/>
                <a:ea typeface="Calibri"/>
                <a:cs typeface="Calibri"/>
              </a:defRPr>
            </a:lvl9pPr>
          </a:lstStyle>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Neck</a:t>
            </a:r>
          </a:p>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feature aggregation</a:t>
            </a:r>
          </a:p>
        </p:txBody>
      </p:sp>
      <p:sp>
        <p:nvSpPr>
          <p:cNvPr id="10" name="object-92">
            <a:extLst xmlns:a="http://schemas.openxmlformats.org/drawingml/2006/main">
              <a:ext uri="{FF2B5EF4-FFF2-40B4-BE49-F238E27FC236}">
                <a16:creationId xmlns:a16="http://schemas.microsoft.com/office/drawing/2014/main" id="{1FDF1758-88BA-45B4-90A3-80EB23D27340}"/>
              </a:ext>
            </a:extLst>
          </p:cNvPr>
          <p:cNvSpPr>
            <a:spLocks xmlns:a="http://schemas.openxmlformats.org/drawingml/2006/main" noGrp="1"/>
          </p:cNvSpPr>
          <p:nvPr/>
        </p:nvSpPr>
        <p:spPr>
          <a:xfrm xmlns:a="http://schemas.openxmlformats.org/drawingml/2006/main">
            <a:off x="10096500" y="4371975"/>
            <a:ext cx="1428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000000"/>
                </a:solidFill>
                <a:latin typeface="Calibri"/>
                <a:ea typeface="Calibri"/>
                <a:cs typeface="Calibri"/>
              </a:defRPr>
            </a:defPPr>
            <a:lvl1pPr algn="ctr">
              <a:defRPr sz="1875">
                <a:solidFill>
                  <a:srgbClr val="000000"/>
                </a:solidFill>
                <a:latin typeface="Calibri"/>
                <a:ea typeface="Calibri"/>
                <a:cs typeface="Calibri"/>
              </a:defRPr>
            </a:lvl1pPr>
            <a:lvl2pPr algn="ctr">
              <a:defRPr sz="1875">
                <a:solidFill>
                  <a:srgbClr val="000000"/>
                </a:solidFill>
                <a:latin typeface="Calibri"/>
                <a:ea typeface="Calibri"/>
                <a:cs typeface="Calibri"/>
              </a:defRPr>
            </a:lvl2pPr>
            <a:lvl3pPr algn="ctr">
              <a:defRPr sz="1875">
                <a:solidFill>
                  <a:srgbClr val="000000"/>
                </a:solidFill>
                <a:latin typeface="Calibri"/>
                <a:ea typeface="Calibri"/>
                <a:cs typeface="Calibri"/>
              </a:defRPr>
            </a:lvl3pPr>
            <a:lvl4pPr algn="ctr">
              <a:defRPr sz="1875">
                <a:solidFill>
                  <a:srgbClr val="000000"/>
                </a:solidFill>
                <a:latin typeface="Calibri"/>
                <a:ea typeface="Calibri"/>
                <a:cs typeface="Calibri"/>
              </a:defRPr>
            </a:lvl4pPr>
            <a:lvl5pPr algn="ctr">
              <a:defRPr sz="1875">
                <a:solidFill>
                  <a:srgbClr val="000000"/>
                </a:solidFill>
                <a:latin typeface="Calibri"/>
                <a:ea typeface="Calibri"/>
                <a:cs typeface="Calibri"/>
              </a:defRPr>
            </a:lvl5pPr>
            <a:lvl6pPr algn="ctr">
              <a:defRPr sz="1875">
                <a:solidFill>
                  <a:srgbClr val="000000"/>
                </a:solidFill>
                <a:latin typeface="Calibri"/>
                <a:ea typeface="Calibri"/>
                <a:cs typeface="Calibri"/>
              </a:defRPr>
            </a:lvl6pPr>
            <a:lvl7pPr algn="ctr">
              <a:defRPr sz="1875">
                <a:solidFill>
                  <a:srgbClr val="000000"/>
                </a:solidFill>
                <a:latin typeface="Calibri"/>
                <a:ea typeface="Calibri"/>
                <a:cs typeface="Calibri"/>
              </a:defRPr>
            </a:lvl7pPr>
            <a:lvl8pPr algn="ctr">
              <a:defRPr sz="1875">
                <a:solidFill>
                  <a:srgbClr val="000000"/>
                </a:solidFill>
                <a:latin typeface="Calibri"/>
                <a:ea typeface="Calibri"/>
                <a:cs typeface="Calibri"/>
              </a:defRPr>
            </a:lvl8pPr>
            <a:lvl9pPr algn="ctr">
              <a:defRPr sz="1875">
                <a:solidFill>
                  <a:srgbClr val="000000"/>
                </a:solidFill>
                <a:latin typeface="Calibri"/>
                <a:ea typeface="Calibri"/>
                <a:cs typeface="Calibri"/>
              </a:defRPr>
            </a:lvl9pPr>
          </a:lstStyle>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Prediction</a:t>
            </a:r>
          </a:p>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head</a:t>
            </a:r>
          </a:p>
        </p:txBody>
      </p:sp>
      <p:sp>
        <p:nvSpPr>
          <p:cNvPr id="14" name="object-93">
            <a:extLst xmlns:a="http://schemas.openxmlformats.org/drawingml/2006/main">
              <a:ext uri="{FF2B5EF4-FFF2-40B4-BE49-F238E27FC236}">
                <a16:creationId xmlns:a16="http://schemas.microsoft.com/office/drawing/2014/main" id="{3F6337B0-27F8-4B2E-A3AA-6A06ADBD00E9}"/>
              </a:ext>
            </a:extLst>
          </p:cNvPr>
          <p:cNvSpPr>
            <a:spLocks xmlns:a="http://schemas.openxmlformats.org/drawingml/2006/main" noGrp="1"/>
          </p:cNvSpPr>
          <p:nvPr/>
        </p:nvSpPr>
        <p:spPr>
          <a:xfrm xmlns:a="http://schemas.openxmlformats.org/drawingml/2006/main">
            <a:off x="685800" y="576262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Detection: boxes and classes. Segmentation: boxes, masks and confidence.</a:t>
            </a:r>
          </a:p>
        </p:txBody>
      </p:sp>
    </p:spTree>
    <p:extLst>
      <p:ext uri="{BB962C8B-B14F-4D97-AF65-F5344CB8AC3E}">
        <p14:creationId xmlns:p14="http://schemas.microsoft.com/office/powerpoint/2010/main" val="125863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94099062-FA05-49B3-A8BF-5BA1922717C4}"/>
              </a:ext>
            </a:extLst>
          </p:cNvPr>
          <p:cNvCxnSpPr>
            <a:stCxn xmlns:a="http://schemas.openxmlformats.org/drawingml/2006/main" id="8" idx="3"/>
            <a:endCxn xmlns:a="http://schemas.openxmlformats.org/drawingml/2006/main" id="9" idx="1"/>
          </p:cNvCxnSpPr>
          <p:nvPr/>
        </p:nvCxnSpPr>
        <p:spPr>
          <a:xfrm xmlns:a="http://schemas.openxmlformats.org/drawingml/2006/main">
            <a:off x="8667750" y="2443163"/>
            <a:ext cx="419100" cy="0"/>
          </a:xfrm>
          <a:prstGeom xmlns:a="http://schemas.openxmlformats.org/drawingml/2006/main" prst="straightConnector1">
            <a:avLst/>
          </a:prstGeom>
          <a:ln xmlns:a="http://schemas.openxmlformats.org/drawingml/2006/main" w="19050">
            <a:solidFill>
              <a:srgbClr val="000000"/>
            </a:solidFill>
            <a:prstDash val="solid"/>
            <a:headEnd type="triangle" w="med" len="med"/>
          </a:ln>
        </p:spPr>
      </p:cxnSp>
      <p:cxnSp>
        <p:nvCxnSpPr>
          <p:cNvPr id="11" name="">
            <a:extLst xmlns:a="http://schemas.openxmlformats.org/drawingml/2006/main">
              <a:ext uri="{FF2B5EF4-FFF2-40B4-BE49-F238E27FC236}">
                <a16:creationId xmlns:a16="http://schemas.microsoft.com/office/drawing/2014/main" id="{3352BEEC-B594-45B8-97B8-807314191DBE}"/>
              </a:ext>
            </a:extLst>
          </p:cNvPr>
          <p:cNvCxnSpPr>
            <a:stCxn xmlns:a="http://schemas.openxmlformats.org/drawingml/2006/main" id="7" idx="3"/>
            <a:endCxn xmlns:a="http://schemas.openxmlformats.org/drawingml/2006/main" id="8" idx="1"/>
          </p:cNvCxnSpPr>
          <p:nvPr/>
        </p:nvCxnSpPr>
        <p:spPr>
          <a:xfrm xmlns:a="http://schemas.openxmlformats.org/drawingml/2006/main">
            <a:off x="5867400" y="2443163"/>
            <a:ext cx="419100" cy="0"/>
          </a:xfrm>
          <a:prstGeom xmlns:a="http://schemas.openxmlformats.org/drawingml/2006/main" prst="straightConnector1">
            <a:avLst/>
          </a:prstGeom>
          <a:ln xmlns:a="http://schemas.openxmlformats.org/drawingml/2006/main" w="19050">
            <a:solidFill>
              <a:srgbClr val="000000"/>
            </a:solidFill>
            <a:prstDash val="solid"/>
            <a:headEnd type="triangle" w="med" len="med"/>
          </a:ln>
        </p:spPr>
      </p:cxnSp>
      <p:cxnSp>
        <p:nvCxnSpPr>
          <p:cNvPr id="10" name="">
            <a:extLst xmlns:a="http://schemas.openxmlformats.org/drawingml/2006/main">
              <a:ext uri="{FF2B5EF4-FFF2-40B4-BE49-F238E27FC236}">
                <a16:creationId xmlns:a16="http://schemas.microsoft.com/office/drawing/2014/main" id="{F63EA710-FC69-4FD9-B5C3-ACB698E4FE3A}"/>
              </a:ext>
            </a:extLst>
          </p:cNvPr>
          <p:cNvCxnSpPr>
            <a:stCxn xmlns:a="http://schemas.openxmlformats.org/drawingml/2006/main" id="6" idx="3"/>
            <a:endCxn xmlns:a="http://schemas.openxmlformats.org/drawingml/2006/main" id="7" idx="1"/>
          </p:cNvCxnSpPr>
          <p:nvPr/>
        </p:nvCxnSpPr>
        <p:spPr>
          <a:xfrm xmlns:a="http://schemas.openxmlformats.org/drawingml/2006/main">
            <a:off x="3067050" y="2443163"/>
            <a:ext cx="419100" cy="0"/>
          </a:xfrm>
          <a:prstGeom xmlns:a="http://schemas.openxmlformats.org/drawingml/2006/main" prst="straightConnector1">
            <a:avLst/>
          </a:prstGeom>
          <a:ln xmlns:a="http://schemas.openxmlformats.org/drawingml/2006/main" w="19050">
            <a:solidFill>
              <a:srgbClr val="000000"/>
            </a:solidFill>
            <a:prstDash val="solid"/>
            <a:headEnd type="triangle" w="med" len="med"/>
          </a:ln>
        </p:spPr>
      </p:cxnSp>
      <p:sp>
        <p:nvSpPr>
          <p:cNvPr id="19" name="object-94">
            <a:extLst xmlns:a="http://schemas.openxmlformats.org/drawingml/2006/main">
              <a:ext uri="{FF2B5EF4-FFF2-40B4-BE49-F238E27FC236}">
                <a16:creationId xmlns:a16="http://schemas.microsoft.com/office/drawing/2014/main" id="{53732C6D-399A-412F-ABDA-B0270B77847A}"/>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95">
            <a:extLst xmlns:a="http://schemas.openxmlformats.org/drawingml/2006/main">
              <a:ext uri="{FF2B5EF4-FFF2-40B4-BE49-F238E27FC236}">
                <a16:creationId xmlns:a16="http://schemas.microsoft.com/office/drawing/2014/main" id="{FE7F7B8C-B649-4147-A0D5-0BAD086F8291}"/>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96">
            <a:extLst xmlns:a="http://schemas.openxmlformats.org/drawingml/2006/main">
              <a:ext uri="{FF2B5EF4-FFF2-40B4-BE49-F238E27FC236}">
                <a16:creationId xmlns:a16="http://schemas.microsoft.com/office/drawing/2014/main" id="{8C8854BD-D845-4C01-8927-51542AC7A6E1}"/>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Steering model and new readout</a:t>
            </a:r>
          </a:p>
        </p:txBody>
      </p:sp>
      <p:sp>
        <p:nvSpPr>
          <p:cNvPr id="4" name="object-97">
            <a:extLst xmlns:a="http://schemas.openxmlformats.org/drawingml/2006/main">
              <a:ext uri="{FF2B5EF4-FFF2-40B4-BE49-F238E27FC236}">
                <a16:creationId xmlns:a16="http://schemas.microsoft.com/office/drawing/2014/main" id="{246309ED-8AF3-433A-9D23-22C2CCE52800}"/>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98">
            <a:extLst xmlns:a="http://schemas.openxmlformats.org/drawingml/2006/main">
              <a:ext uri="{FF2B5EF4-FFF2-40B4-BE49-F238E27FC236}">
                <a16:creationId xmlns:a16="http://schemas.microsoft.com/office/drawing/2014/main" id="{62988B8F-0FF8-4FF1-813F-FFF5020E7C54}"/>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10</a:t>
            </a:r>
          </a:p>
        </p:txBody>
      </p:sp>
      <p:sp>
        <p:nvSpPr>
          <p:cNvPr id="6" name="object-99">
            <a:extLst xmlns:a="http://schemas.openxmlformats.org/drawingml/2006/main">
              <a:ext uri="{FF2B5EF4-FFF2-40B4-BE49-F238E27FC236}">
                <a16:creationId xmlns:a16="http://schemas.microsoft.com/office/drawing/2014/main" id="{A5ECF1DE-97AE-4055-933F-9A79D73A4236}"/>
              </a:ext>
            </a:extLst>
          </p:cNvPr>
          <p:cNvSpPr>
            <a:spLocks xmlns:a="http://schemas.openxmlformats.org/drawingml/2006/main" noGrp="1"/>
          </p:cNvSpPr>
          <p:nvPr/>
        </p:nvSpPr>
        <p:spPr>
          <a:xfrm xmlns:a="http://schemas.openxmlformats.org/drawingml/2006/main">
            <a:off x="685800" y="1924050"/>
            <a:ext cx="2381250" cy="10382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950">
                <a:solidFill>
                  <a:srgbClr val="000000"/>
                </a:solidFill>
                <a:latin typeface="Calibri"/>
                <a:ea typeface="Calibri"/>
                <a:cs typeface="Calibri"/>
              </a:defRPr>
            </a:defPPr>
            <a:lvl1pPr algn="ctr">
              <a:defRPr sz="1950">
                <a:solidFill>
                  <a:srgbClr val="000000"/>
                </a:solidFill>
                <a:latin typeface="Calibri"/>
                <a:ea typeface="Calibri"/>
                <a:cs typeface="Calibri"/>
              </a:defRPr>
            </a:lvl1pPr>
            <a:lvl2pPr algn="ctr">
              <a:defRPr sz="1950">
                <a:solidFill>
                  <a:srgbClr val="000000"/>
                </a:solidFill>
                <a:latin typeface="Calibri"/>
                <a:ea typeface="Calibri"/>
                <a:cs typeface="Calibri"/>
              </a:defRPr>
            </a:lvl2pPr>
            <a:lvl3pPr algn="ctr">
              <a:defRPr sz="1950">
                <a:solidFill>
                  <a:srgbClr val="000000"/>
                </a:solidFill>
                <a:latin typeface="Calibri"/>
                <a:ea typeface="Calibri"/>
                <a:cs typeface="Calibri"/>
              </a:defRPr>
            </a:lvl3pPr>
            <a:lvl4pPr algn="ctr">
              <a:defRPr sz="1950">
                <a:solidFill>
                  <a:srgbClr val="000000"/>
                </a:solidFill>
                <a:latin typeface="Calibri"/>
                <a:ea typeface="Calibri"/>
                <a:cs typeface="Calibri"/>
              </a:defRPr>
            </a:lvl4pPr>
            <a:lvl5pPr algn="ctr">
              <a:defRPr sz="1950">
                <a:solidFill>
                  <a:srgbClr val="000000"/>
                </a:solidFill>
                <a:latin typeface="Calibri"/>
                <a:ea typeface="Calibri"/>
                <a:cs typeface="Calibri"/>
              </a:defRPr>
            </a:lvl5pPr>
            <a:lvl6pPr algn="ctr">
              <a:defRPr sz="1950">
                <a:solidFill>
                  <a:srgbClr val="000000"/>
                </a:solidFill>
                <a:latin typeface="Calibri"/>
                <a:ea typeface="Calibri"/>
                <a:cs typeface="Calibri"/>
              </a:defRPr>
            </a:lvl6pPr>
            <a:lvl7pPr algn="ctr">
              <a:defRPr sz="1950">
                <a:solidFill>
                  <a:srgbClr val="000000"/>
                </a:solidFill>
                <a:latin typeface="Calibri"/>
                <a:ea typeface="Calibri"/>
                <a:cs typeface="Calibri"/>
              </a:defRPr>
            </a:lvl7pPr>
            <a:lvl8pPr algn="ctr">
              <a:defRPr sz="1950">
                <a:solidFill>
                  <a:srgbClr val="000000"/>
                </a:solidFill>
                <a:latin typeface="Calibri"/>
                <a:ea typeface="Calibri"/>
                <a:cs typeface="Calibri"/>
              </a:defRPr>
            </a:lvl8pPr>
            <a:lvl9pPr algn="ctr">
              <a:defRPr sz="1950">
                <a:solidFill>
                  <a:srgbClr val="000000"/>
                </a:solidFill>
                <a:latin typeface="Calibri"/>
                <a:ea typeface="Calibri"/>
                <a:cs typeface="Calibri"/>
              </a:defRPr>
            </a:lvl9pPr>
          </a:lstStyle>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RGB frame</a:t>
            </a:r>
          </a:p>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Crop and resize</a:t>
            </a:r>
          </a:p>
        </p:txBody>
      </p:sp>
      <p:sp>
        <p:nvSpPr>
          <p:cNvPr id="7" name="object-100">
            <a:extLst xmlns:a="http://schemas.openxmlformats.org/drawingml/2006/main">
              <a:ext uri="{FF2B5EF4-FFF2-40B4-BE49-F238E27FC236}">
                <a16:creationId xmlns:a16="http://schemas.microsoft.com/office/drawing/2014/main" id="{2ACBB84D-7678-4B95-98D7-16B36AD4BA18}"/>
              </a:ext>
            </a:extLst>
          </p:cNvPr>
          <p:cNvSpPr>
            <a:spLocks xmlns:a="http://schemas.openxmlformats.org/drawingml/2006/main" noGrp="1"/>
          </p:cNvSpPr>
          <p:nvPr/>
        </p:nvSpPr>
        <p:spPr>
          <a:xfrm xmlns:a="http://schemas.openxmlformats.org/drawingml/2006/main">
            <a:off x="3486150" y="1924050"/>
            <a:ext cx="2381250" cy="10382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950">
                <a:solidFill>
                  <a:srgbClr val="000000"/>
                </a:solidFill>
                <a:latin typeface="Calibri"/>
                <a:ea typeface="Calibri"/>
                <a:cs typeface="Calibri"/>
              </a:defRPr>
            </a:defPPr>
            <a:lvl1pPr algn="ctr">
              <a:defRPr sz="1950">
                <a:solidFill>
                  <a:srgbClr val="000000"/>
                </a:solidFill>
                <a:latin typeface="Calibri"/>
                <a:ea typeface="Calibri"/>
                <a:cs typeface="Calibri"/>
              </a:defRPr>
            </a:lvl1pPr>
            <a:lvl2pPr algn="ctr">
              <a:defRPr sz="1950">
                <a:solidFill>
                  <a:srgbClr val="000000"/>
                </a:solidFill>
                <a:latin typeface="Calibri"/>
                <a:ea typeface="Calibri"/>
                <a:cs typeface="Calibri"/>
              </a:defRPr>
            </a:lvl2pPr>
            <a:lvl3pPr algn="ctr">
              <a:defRPr sz="1950">
                <a:solidFill>
                  <a:srgbClr val="000000"/>
                </a:solidFill>
                <a:latin typeface="Calibri"/>
                <a:ea typeface="Calibri"/>
                <a:cs typeface="Calibri"/>
              </a:defRPr>
            </a:lvl3pPr>
            <a:lvl4pPr algn="ctr">
              <a:defRPr sz="1950">
                <a:solidFill>
                  <a:srgbClr val="000000"/>
                </a:solidFill>
                <a:latin typeface="Calibri"/>
                <a:ea typeface="Calibri"/>
                <a:cs typeface="Calibri"/>
              </a:defRPr>
            </a:lvl4pPr>
            <a:lvl5pPr algn="ctr">
              <a:defRPr sz="1950">
                <a:solidFill>
                  <a:srgbClr val="000000"/>
                </a:solidFill>
                <a:latin typeface="Calibri"/>
                <a:ea typeface="Calibri"/>
                <a:cs typeface="Calibri"/>
              </a:defRPr>
            </a:lvl5pPr>
            <a:lvl6pPr algn="ctr">
              <a:defRPr sz="1950">
                <a:solidFill>
                  <a:srgbClr val="000000"/>
                </a:solidFill>
                <a:latin typeface="Calibri"/>
                <a:ea typeface="Calibri"/>
                <a:cs typeface="Calibri"/>
              </a:defRPr>
            </a:lvl6pPr>
            <a:lvl7pPr algn="ctr">
              <a:defRPr sz="1950">
                <a:solidFill>
                  <a:srgbClr val="000000"/>
                </a:solidFill>
                <a:latin typeface="Calibri"/>
                <a:ea typeface="Calibri"/>
                <a:cs typeface="Calibri"/>
              </a:defRPr>
            </a:lvl7pPr>
            <a:lvl8pPr algn="ctr">
              <a:defRPr sz="1950">
                <a:solidFill>
                  <a:srgbClr val="000000"/>
                </a:solidFill>
                <a:latin typeface="Calibri"/>
                <a:ea typeface="Calibri"/>
                <a:cs typeface="Calibri"/>
              </a:defRPr>
            </a:lvl8pPr>
            <a:lvl9pPr algn="ctr">
              <a:defRPr sz="1950">
                <a:solidFill>
                  <a:srgbClr val="000000"/>
                </a:solidFill>
                <a:latin typeface="Calibri"/>
                <a:ea typeface="Calibri"/>
                <a:cs typeface="Calibri"/>
              </a:defRPr>
            </a:lvl9pPr>
          </a:lstStyle>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Frozen CNN</a:t>
            </a:r>
          </a:p>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5 convolutions</a:t>
            </a:r>
          </a:p>
        </p:txBody>
      </p:sp>
      <p:sp>
        <p:nvSpPr>
          <p:cNvPr id="8" name="object-101">
            <a:extLst xmlns:a="http://schemas.openxmlformats.org/drawingml/2006/main">
              <a:ext uri="{FF2B5EF4-FFF2-40B4-BE49-F238E27FC236}">
                <a16:creationId xmlns:a16="http://schemas.microsoft.com/office/drawing/2014/main" id="{60F624F3-8A6A-4D90-991F-F1713A34E015}"/>
              </a:ext>
            </a:extLst>
          </p:cNvPr>
          <p:cNvSpPr>
            <a:spLocks xmlns:a="http://schemas.openxmlformats.org/drawingml/2006/main" noGrp="1"/>
          </p:cNvSpPr>
          <p:nvPr/>
        </p:nvSpPr>
        <p:spPr>
          <a:xfrm xmlns:a="http://schemas.openxmlformats.org/drawingml/2006/main">
            <a:off x="6286500" y="1924050"/>
            <a:ext cx="2381250" cy="10382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950">
                <a:solidFill>
                  <a:srgbClr val="000000"/>
                </a:solidFill>
                <a:latin typeface="Calibri"/>
                <a:ea typeface="Calibri"/>
                <a:cs typeface="Calibri"/>
              </a:defRPr>
            </a:defPPr>
            <a:lvl1pPr algn="ctr">
              <a:defRPr sz="1950">
                <a:solidFill>
                  <a:srgbClr val="000000"/>
                </a:solidFill>
                <a:latin typeface="Calibri"/>
                <a:ea typeface="Calibri"/>
                <a:cs typeface="Calibri"/>
              </a:defRPr>
            </a:lvl1pPr>
            <a:lvl2pPr algn="ctr">
              <a:defRPr sz="1950">
                <a:solidFill>
                  <a:srgbClr val="000000"/>
                </a:solidFill>
                <a:latin typeface="Calibri"/>
                <a:ea typeface="Calibri"/>
                <a:cs typeface="Calibri"/>
              </a:defRPr>
            </a:lvl2pPr>
            <a:lvl3pPr algn="ctr">
              <a:defRPr sz="1950">
                <a:solidFill>
                  <a:srgbClr val="000000"/>
                </a:solidFill>
                <a:latin typeface="Calibri"/>
                <a:ea typeface="Calibri"/>
                <a:cs typeface="Calibri"/>
              </a:defRPr>
            </a:lvl3pPr>
            <a:lvl4pPr algn="ctr">
              <a:defRPr sz="1950">
                <a:solidFill>
                  <a:srgbClr val="000000"/>
                </a:solidFill>
                <a:latin typeface="Calibri"/>
                <a:ea typeface="Calibri"/>
                <a:cs typeface="Calibri"/>
              </a:defRPr>
            </a:lvl4pPr>
            <a:lvl5pPr algn="ctr">
              <a:defRPr sz="1950">
                <a:solidFill>
                  <a:srgbClr val="000000"/>
                </a:solidFill>
                <a:latin typeface="Calibri"/>
                <a:ea typeface="Calibri"/>
                <a:cs typeface="Calibri"/>
              </a:defRPr>
            </a:lvl5pPr>
            <a:lvl6pPr algn="ctr">
              <a:defRPr sz="1950">
                <a:solidFill>
                  <a:srgbClr val="000000"/>
                </a:solidFill>
                <a:latin typeface="Calibri"/>
                <a:ea typeface="Calibri"/>
                <a:cs typeface="Calibri"/>
              </a:defRPr>
            </a:lvl6pPr>
            <a:lvl7pPr algn="ctr">
              <a:defRPr sz="1950">
                <a:solidFill>
                  <a:srgbClr val="000000"/>
                </a:solidFill>
                <a:latin typeface="Calibri"/>
                <a:ea typeface="Calibri"/>
                <a:cs typeface="Calibri"/>
              </a:defRPr>
            </a:lvl7pPr>
            <a:lvl8pPr algn="ctr">
              <a:defRPr sz="1950">
                <a:solidFill>
                  <a:srgbClr val="000000"/>
                </a:solidFill>
                <a:latin typeface="Calibri"/>
                <a:ea typeface="Calibri"/>
                <a:cs typeface="Calibri"/>
              </a:defRPr>
            </a:lvl8pPr>
            <a:lvl9pPr algn="ctr">
              <a:defRPr sz="1950">
                <a:solidFill>
                  <a:srgbClr val="000000"/>
                </a:solidFill>
                <a:latin typeface="Calibri"/>
                <a:ea typeface="Calibri"/>
                <a:cs typeface="Calibri"/>
              </a:defRPr>
            </a:lvl9pPr>
          </a:lstStyle>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1,152</a:t>
            </a:r>
          </a:p>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features</a:t>
            </a:r>
          </a:p>
        </p:txBody>
      </p:sp>
      <p:sp>
        <p:nvSpPr>
          <p:cNvPr id="9" name="object-102">
            <a:extLst xmlns:a="http://schemas.openxmlformats.org/drawingml/2006/main">
              <a:ext uri="{FF2B5EF4-FFF2-40B4-BE49-F238E27FC236}">
                <a16:creationId xmlns:a16="http://schemas.microsoft.com/office/drawing/2014/main" id="{4061805C-F605-45D9-889E-CBB979498C00}"/>
              </a:ext>
            </a:extLst>
          </p:cNvPr>
          <p:cNvSpPr>
            <a:spLocks xmlns:a="http://schemas.openxmlformats.org/drawingml/2006/main" noGrp="1"/>
          </p:cNvSpPr>
          <p:nvPr/>
        </p:nvSpPr>
        <p:spPr>
          <a:xfrm xmlns:a="http://schemas.openxmlformats.org/drawingml/2006/main">
            <a:off x="9086850" y="1924050"/>
            <a:ext cx="2381250" cy="10382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950">
                <a:solidFill>
                  <a:srgbClr val="000000"/>
                </a:solidFill>
                <a:latin typeface="Calibri"/>
                <a:ea typeface="Calibri"/>
                <a:cs typeface="Calibri"/>
              </a:defRPr>
            </a:defPPr>
            <a:lvl1pPr algn="ctr">
              <a:defRPr sz="1950">
                <a:solidFill>
                  <a:srgbClr val="000000"/>
                </a:solidFill>
                <a:latin typeface="Calibri"/>
                <a:ea typeface="Calibri"/>
                <a:cs typeface="Calibri"/>
              </a:defRPr>
            </a:lvl1pPr>
            <a:lvl2pPr algn="ctr">
              <a:defRPr sz="1950">
                <a:solidFill>
                  <a:srgbClr val="000000"/>
                </a:solidFill>
                <a:latin typeface="Calibri"/>
                <a:ea typeface="Calibri"/>
                <a:cs typeface="Calibri"/>
              </a:defRPr>
            </a:lvl2pPr>
            <a:lvl3pPr algn="ctr">
              <a:defRPr sz="1950">
                <a:solidFill>
                  <a:srgbClr val="000000"/>
                </a:solidFill>
                <a:latin typeface="Calibri"/>
                <a:ea typeface="Calibri"/>
                <a:cs typeface="Calibri"/>
              </a:defRPr>
            </a:lvl3pPr>
            <a:lvl4pPr algn="ctr">
              <a:defRPr sz="1950">
                <a:solidFill>
                  <a:srgbClr val="000000"/>
                </a:solidFill>
                <a:latin typeface="Calibri"/>
                <a:ea typeface="Calibri"/>
                <a:cs typeface="Calibri"/>
              </a:defRPr>
            </a:lvl4pPr>
            <a:lvl5pPr algn="ctr">
              <a:defRPr sz="1950">
                <a:solidFill>
                  <a:srgbClr val="000000"/>
                </a:solidFill>
                <a:latin typeface="Calibri"/>
                <a:ea typeface="Calibri"/>
                <a:cs typeface="Calibri"/>
              </a:defRPr>
            </a:lvl5pPr>
            <a:lvl6pPr algn="ctr">
              <a:defRPr sz="1950">
                <a:solidFill>
                  <a:srgbClr val="000000"/>
                </a:solidFill>
                <a:latin typeface="Calibri"/>
                <a:ea typeface="Calibri"/>
                <a:cs typeface="Calibri"/>
              </a:defRPr>
            </a:lvl6pPr>
            <a:lvl7pPr algn="ctr">
              <a:defRPr sz="1950">
                <a:solidFill>
                  <a:srgbClr val="000000"/>
                </a:solidFill>
                <a:latin typeface="Calibri"/>
                <a:ea typeface="Calibri"/>
                <a:cs typeface="Calibri"/>
              </a:defRPr>
            </a:lvl7pPr>
            <a:lvl8pPr algn="ctr">
              <a:defRPr sz="1950">
                <a:solidFill>
                  <a:srgbClr val="000000"/>
                </a:solidFill>
                <a:latin typeface="Calibri"/>
                <a:ea typeface="Calibri"/>
                <a:cs typeface="Calibri"/>
              </a:defRPr>
            </a:lvl8pPr>
            <a:lvl9pPr algn="ctr">
              <a:defRPr sz="1950">
                <a:solidFill>
                  <a:srgbClr val="000000"/>
                </a:solidFill>
                <a:latin typeface="Calibri"/>
                <a:ea typeface="Calibri"/>
                <a:cs typeface="Calibri"/>
              </a:defRPr>
            </a:lvl9pPr>
          </a:lstStyle>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Linear readout</a:t>
            </a:r>
          </a:p>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Angle in degrees</a:t>
            </a:r>
          </a:p>
        </p:txBody>
      </p:sp>
      <p:sp>
        <p:nvSpPr>
          <p:cNvPr id="13" name="object-103">
            <a:extLst xmlns:a="http://schemas.openxmlformats.org/drawingml/2006/main">
              <a:ext uri="{FF2B5EF4-FFF2-40B4-BE49-F238E27FC236}">
                <a16:creationId xmlns:a16="http://schemas.microsoft.com/office/drawing/2014/main" id="{0E699161-84EB-4957-9619-F7C4C51315F3}"/>
              </a:ext>
            </a:extLst>
          </p:cNvPr>
          <p:cNvSpPr>
            <a:spLocks xmlns:a="http://schemas.openxmlformats.org/drawingml/2006/main" noGrp="1"/>
          </p:cNvSpPr>
          <p:nvPr/>
        </p:nvSpPr>
        <p:spPr>
          <a:xfrm xmlns:a="http://schemas.openxmlformats.org/drawingml/2006/main">
            <a:off x="800100" y="35718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95827"/>
                </a:solidFill>
                <a:latin typeface="Calibri"/>
                <a:ea typeface="Calibri"/>
                <a:cs typeface="Calibri"/>
              </a:defRPr>
            </a:defPPr>
            <a:lvl1pPr algn="l">
              <a:defRPr sz="2025" b="1">
                <a:solidFill>
                  <a:srgbClr val="B95827"/>
                </a:solidFill>
                <a:latin typeface="Calibri"/>
                <a:ea typeface="Calibri"/>
                <a:cs typeface="Calibri"/>
              </a:defRPr>
            </a:lvl1pPr>
            <a:lvl2pPr algn="l">
              <a:defRPr sz="2025" b="1">
                <a:solidFill>
                  <a:srgbClr val="B95827"/>
                </a:solidFill>
                <a:latin typeface="Calibri"/>
                <a:ea typeface="Calibri"/>
                <a:cs typeface="Calibri"/>
              </a:defRPr>
            </a:lvl2pPr>
            <a:lvl3pPr algn="l">
              <a:defRPr sz="2025" b="1">
                <a:solidFill>
                  <a:srgbClr val="B95827"/>
                </a:solidFill>
                <a:latin typeface="Calibri"/>
                <a:ea typeface="Calibri"/>
                <a:cs typeface="Calibri"/>
              </a:defRPr>
            </a:lvl3pPr>
            <a:lvl4pPr algn="l">
              <a:defRPr sz="2025" b="1">
                <a:solidFill>
                  <a:srgbClr val="B95827"/>
                </a:solidFill>
                <a:latin typeface="Calibri"/>
                <a:ea typeface="Calibri"/>
                <a:cs typeface="Calibri"/>
              </a:defRPr>
            </a:lvl4pPr>
            <a:lvl5pPr algn="l">
              <a:defRPr sz="2025" b="1">
                <a:solidFill>
                  <a:srgbClr val="B95827"/>
                </a:solidFill>
                <a:latin typeface="Calibri"/>
                <a:ea typeface="Calibri"/>
                <a:cs typeface="Calibri"/>
              </a:defRPr>
            </a:lvl5pPr>
            <a:lvl6pPr algn="l">
              <a:defRPr sz="2025" b="1">
                <a:solidFill>
                  <a:srgbClr val="B95827"/>
                </a:solidFill>
                <a:latin typeface="Calibri"/>
                <a:ea typeface="Calibri"/>
                <a:cs typeface="Calibri"/>
              </a:defRPr>
            </a:lvl6pPr>
            <a:lvl7pPr algn="l">
              <a:defRPr sz="2025" b="1">
                <a:solidFill>
                  <a:srgbClr val="B95827"/>
                </a:solidFill>
                <a:latin typeface="Calibri"/>
                <a:ea typeface="Calibri"/>
                <a:cs typeface="Calibri"/>
              </a:defRPr>
            </a:lvl7pPr>
            <a:lvl8pPr algn="l">
              <a:defRPr sz="2025" b="1">
                <a:solidFill>
                  <a:srgbClr val="B95827"/>
                </a:solidFill>
                <a:latin typeface="Calibri"/>
                <a:ea typeface="Calibri"/>
                <a:cs typeface="Calibri"/>
              </a:defRPr>
            </a:lvl8pPr>
            <a:lvl9pPr algn="l">
              <a:defRPr sz="2025" b="1">
                <a:solidFill>
                  <a:srgbClr val="B95827"/>
                </a:solidFill>
                <a:latin typeface="Calibri"/>
                <a:ea typeface="Calibri"/>
                <a:cs typeface="Calibri"/>
              </a:defRPr>
            </a:lvl9pPr>
          </a:lstStyle>
          <a:p xmlns:a="http://schemas.openxmlformats.org/drawingml/2006/main">
            <a:pPr algn="l">
              <a:defRPr sz="2025" b="1">
                <a:solidFill>
                  <a:srgbClr val="B95827"/>
                </a:solidFill>
                <a:latin typeface="Calibri"/>
                <a:ea typeface="Calibri"/>
                <a:cs typeface="Calibri"/>
              </a:defRPr>
            </a:pPr>
            <a:r>
              <a:rPr sz="2025" b="1">
                <a:solidFill>
                  <a:srgbClr val="B95827"/>
                </a:solidFill>
                <a:latin typeface="Calibri"/>
                <a:ea typeface="Calibri"/>
                <a:cs typeface="Calibri"/>
              </a:rPr>
              <a:t>01</a:t>
            </a:r>
          </a:p>
        </p:txBody>
      </p:sp>
      <p:sp>
        <p:nvSpPr>
          <p:cNvPr id="14" name="object-104">
            <a:extLst xmlns:a="http://schemas.openxmlformats.org/drawingml/2006/main">
              <a:ext uri="{FF2B5EF4-FFF2-40B4-BE49-F238E27FC236}">
                <a16:creationId xmlns:a16="http://schemas.microsoft.com/office/drawing/2014/main" id="{D9B58299-D19F-4B9C-8A6F-E0C7E8965ACB}"/>
              </a:ext>
            </a:extLst>
          </p:cNvPr>
          <p:cNvSpPr>
            <a:spLocks xmlns:a="http://schemas.openxmlformats.org/drawingml/2006/main" noGrp="1"/>
          </p:cNvSpPr>
          <p:nvPr/>
        </p:nvSpPr>
        <p:spPr>
          <a:xfrm xmlns:a="http://schemas.openxmlformats.org/drawingml/2006/main">
            <a:off x="1524000" y="3571875"/>
            <a:ext cx="9848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Calibri"/>
                <a:ea typeface="Calibri"/>
                <a:cs typeface="Calibri"/>
              </a:defRPr>
            </a:defPPr>
            <a:lvl1pPr algn="l">
              <a:defRPr sz="2025" b="0">
                <a:solidFill>
                  <a:srgbClr val="000000"/>
                </a:solidFill>
                <a:latin typeface="Calibri"/>
                <a:ea typeface="Calibri"/>
                <a:cs typeface="Calibri"/>
              </a:defRPr>
            </a:lvl1pPr>
            <a:lvl2pPr algn="l">
              <a:defRPr sz="2025" b="0">
                <a:solidFill>
                  <a:srgbClr val="000000"/>
                </a:solidFill>
                <a:latin typeface="Calibri"/>
                <a:ea typeface="Calibri"/>
                <a:cs typeface="Calibri"/>
              </a:defRPr>
            </a:lvl2pPr>
            <a:lvl3pPr algn="l">
              <a:defRPr sz="2025" b="0">
                <a:solidFill>
                  <a:srgbClr val="000000"/>
                </a:solidFill>
                <a:latin typeface="Calibri"/>
                <a:ea typeface="Calibri"/>
                <a:cs typeface="Calibri"/>
              </a:defRPr>
            </a:lvl3pPr>
            <a:lvl4pPr algn="l">
              <a:defRPr sz="2025" b="0">
                <a:solidFill>
                  <a:srgbClr val="000000"/>
                </a:solidFill>
                <a:latin typeface="Calibri"/>
                <a:ea typeface="Calibri"/>
                <a:cs typeface="Calibri"/>
              </a:defRPr>
            </a:lvl4pPr>
            <a:lvl5pPr algn="l">
              <a:defRPr sz="2025" b="0">
                <a:solidFill>
                  <a:srgbClr val="000000"/>
                </a:solidFill>
                <a:latin typeface="Calibri"/>
                <a:ea typeface="Calibri"/>
                <a:cs typeface="Calibri"/>
              </a:defRPr>
            </a:lvl5pPr>
            <a:lvl6pPr algn="l">
              <a:defRPr sz="2025" b="0">
                <a:solidFill>
                  <a:srgbClr val="000000"/>
                </a:solidFill>
                <a:latin typeface="Calibri"/>
                <a:ea typeface="Calibri"/>
                <a:cs typeface="Calibri"/>
              </a:defRPr>
            </a:lvl6pPr>
            <a:lvl7pPr algn="l">
              <a:defRPr sz="2025" b="0">
                <a:solidFill>
                  <a:srgbClr val="000000"/>
                </a:solidFill>
                <a:latin typeface="Calibri"/>
                <a:ea typeface="Calibri"/>
                <a:cs typeface="Calibri"/>
              </a:defRPr>
            </a:lvl7pPr>
            <a:lvl8pPr algn="l">
              <a:defRPr sz="2025" b="0">
                <a:solidFill>
                  <a:srgbClr val="000000"/>
                </a:solidFill>
                <a:latin typeface="Calibri"/>
                <a:ea typeface="Calibri"/>
                <a:cs typeface="Calibri"/>
              </a:defRPr>
            </a:lvl8pPr>
            <a:lvl9pPr algn="l">
              <a:defRPr sz="2025" b="0">
                <a:solidFill>
                  <a:srgbClr val="000000"/>
                </a:solidFill>
                <a:latin typeface="Calibri"/>
                <a:ea typeface="Calibri"/>
                <a:cs typeface="Calibri"/>
              </a:defRPr>
            </a:lvl9pPr>
          </a:lstStyle>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The saved CNN contains 1,595,511 parameters, including a 1,164-unit dense layer.</a:t>
            </a:r>
          </a:p>
        </p:txBody>
      </p:sp>
      <p:sp>
        <p:nvSpPr>
          <p:cNvPr id="15" name="object-105">
            <a:extLst xmlns:a="http://schemas.openxmlformats.org/drawingml/2006/main">
              <a:ext uri="{FF2B5EF4-FFF2-40B4-BE49-F238E27FC236}">
                <a16:creationId xmlns:a16="http://schemas.microsoft.com/office/drawing/2014/main" id="{99F4B163-4735-4B0F-8C20-C23CBCC63DA2}"/>
              </a:ext>
            </a:extLst>
          </p:cNvPr>
          <p:cNvSpPr>
            <a:spLocks xmlns:a="http://schemas.openxmlformats.org/drawingml/2006/main" noGrp="1"/>
          </p:cNvSpPr>
          <p:nvPr/>
        </p:nvSpPr>
        <p:spPr>
          <a:xfrm xmlns:a="http://schemas.openxmlformats.org/drawingml/2006/main">
            <a:off x="800100" y="441960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95827"/>
                </a:solidFill>
                <a:latin typeface="Calibri"/>
                <a:ea typeface="Calibri"/>
                <a:cs typeface="Calibri"/>
              </a:defRPr>
            </a:defPPr>
            <a:lvl1pPr algn="l">
              <a:defRPr sz="2025" b="1">
                <a:solidFill>
                  <a:srgbClr val="B95827"/>
                </a:solidFill>
                <a:latin typeface="Calibri"/>
                <a:ea typeface="Calibri"/>
                <a:cs typeface="Calibri"/>
              </a:defRPr>
            </a:lvl1pPr>
            <a:lvl2pPr algn="l">
              <a:defRPr sz="2025" b="1">
                <a:solidFill>
                  <a:srgbClr val="B95827"/>
                </a:solidFill>
                <a:latin typeface="Calibri"/>
                <a:ea typeface="Calibri"/>
                <a:cs typeface="Calibri"/>
              </a:defRPr>
            </a:lvl2pPr>
            <a:lvl3pPr algn="l">
              <a:defRPr sz="2025" b="1">
                <a:solidFill>
                  <a:srgbClr val="B95827"/>
                </a:solidFill>
                <a:latin typeface="Calibri"/>
                <a:ea typeface="Calibri"/>
                <a:cs typeface="Calibri"/>
              </a:defRPr>
            </a:lvl3pPr>
            <a:lvl4pPr algn="l">
              <a:defRPr sz="2025" b="1">
                <a:solidFill>
                  <a:srgbClr val="B95827"/>
                </a:solidFill>
                <a:latin typeface="Calibri"/>
                <a:ea typeface="Calibri"/>
                <a:cs typeface="Calibri"/>
              </a:defRPr>
            </a:lvl4pPr>
            <a:lvl5pPr algn="l">
              <a:defRPr sz="2025" b="1">
                <a:solidFill>
                  <a:srgbClr val="B95827"/>
                </a:solidFill>
                <a:latin typeface="Calibri"/>
                <a:ea typeface="Calibri"/>
                <a:cs typeface="Calibri"/>
              </a:defRPr>
            </a:lvl5pPr>
            <a:lvl6pPr algn="l">
              <a:defRPr sz="2025" b="1">
                <a:solidFill>
                  <a:srgbClr val="B95827"/>
                </a:solidFill>
                <a:latin typeface="Calibri"/>
                <a:ea typeface="Calibri"/>
                <a:cs typeface="Calibri"/>
              </a:defRPr>
            </a:lvl6pPr>
            <a:lvl7pPr algn="l">
              <a:defRPr sz="2025" b="1">
                <a:solidFill>
                  <a:srgbClr val="B95827"/>
                </a:solidFill>
                <a:latin typeface="Calibri"/>
                <a:ea typeface="Calibri"/>
                <a:cs typeface="Calibri"/>
              </a:defRPr>
            </a:lvl7pPr>
            <a:lvl8pPr algn="l">
              <a:defRPr sz="2025" b="1">
                <a:solidFill>
                  <a:srgbClr val="B95827"/>
                </a:solidFill>
                <a:latin typeface="Calibri"/>
                <a:ea typeface="Calibri"/>
                <a:cs typeface="Calibri"/>
              </a:defRPr>
            </a:lvl8pPr>
            <a:lvl9pPr algn="l">
              <a:defRPr sz="2025" b="1">
                <a:solidFill>
                  <a:srgbClr val="B95827"/>
                </a:solidFill>
                <a:latin typeface="Calibri"/>
                <a:ea typeface="Calibri"/>
                <a:cs typeface="Calibri"/>
              </a:defRPr>
            </a:lvl9pPr>
          </a:lstStyle>
          <a:p xmlns:a="http://schemas.openxmlformats.org/drawingml/2006/main">
            <a:pPr algn="l">
              <a:defRPr sz="2025" b="1">
                <a:solidFill>
                  <a:srgbClr val="B95827"/>
                </a:solidFill>
                <a:latin typeface="Calibri"/>
                <a:ea typeface="Calibri"/>
                <a:cs typeface="Calibri"/>
              </a:defRPr>
            </a:pPr>
            <a:r>
              <a:rPr sz="2025" b="1">
                <a:solidFill>
                  <a:srgbClr val="B95827"/>
                </a:solidFill>
                <a:latin typeface="Calibri"/>
                <a:ea typeface="Calibri"/>
                <a:cs typeface="Calibri"/>
              </a:rPr>
              <a:t>02</a:t>
            </a:r>
          </a:p>
        </p:txBody>
      </p:sp>
      <p:sp>
        <p:nvSpPr>
          <p:cNvPr id="16" name="object-106">
            <a:extLst xmlns:a="http://schemas.openxmlformats.org/drawingml/2006/main">
              <a:ext uri="{FF2B5EF4-FFF2-40B4-BE49-F238E27FC236}">
                <a16:creationId xmlns:a16="http://schemas.microsoft.com/office/drawing/2014/main" id="{91AE2A52-6021-4C95-B9DC-D8C32280F32A}"/>
              </a:ext>
            </a:extLst>
          </p:cNvPr>
          <p:cNvSpPr>
            <a:spLocks xmlns:a="http://schemas.openxmlformats.org/drawingml/2006/main" noGrp="1"/>
          </p:cNvSpPr>
          <p:nvPr/>
        </p:nvSpPr>
        <p:spPr>
          <a:xfrm xmlns:a="http://schemas.openxmlformats.org/drawingml/2006/main">
            <a:off x="1524000" y="4419600"/>
            <a:ext cx="9848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Calibri"/>
                <a:ea typeface="Calibri"/>
                <a:cs typeface="Calibri"/>
              </a:defRPr>
            </a:defPPr>
            <a:lvl1pPr algn="l">
              <a:defRPr sz="2025" b="0">
                <a:solidFill>
                  <a:srgbClr val="000000"/>
                </a:solidFill>
                <a:latin typeface="Calibri"/>
                <a:ea typeface="Calibri"/>
                <a:cs typeface="Calibri"/>
              </a:defRPr>
            </a:lvl1pPr>
            <a:lvl2pPr algn="l">
              <a:defRPr sz="2025" b="0">
                <a:solidFill>
                  <a:srgbClr val="000000"/>
                </a:solidFill>
                <a:latin typeface="Calibri"/>
                <a:ea typeface="Calibri"/>
                <a:cs typeface="Calibri"/>
              </a:defRPr>
            </a:lvl2pPr>
            <a:lvl3pPr algn="l">
              <a:defRPr sz="2025" b="0">
                <a:solidFill>
                  <a:srgbClr val="000000"/>
                </a:solidFill>
                <a:latin typeface="Calibri"/>
                <a:ea typeface="Calibri"/>
                <a:cs typeface="Calibri"/>
              </a:defRPr>
            </a:lvl3pPr>
            <a:lvl4pPr algn="l">
              <a:defRPr sz="2025" b="0">
                <a:solidFill>
                  <a:srgbClr val="000000"/>
                </a:solidFill>
                <a:latin typeface="Calibri"/>
                <a:ea typeface="Calibri"/>
                <a:cs typeface="Calibri"/>
              </a:defRPr>
            </a:lvl4pPr>
            <a:lvl5pPr algn="l">
              <a:defRPr sz="2025" b="0">
                <a:solidFill>
                  <a:srgbClr val="000000"/>
                </a:solidFill>
                <a:latin typeface="Calibri"/>
                <a:ea typeface="Calibri"/>
                <a:cs typeface="Calibri"/>
              </a:defRPr>
            </a:lvl5pPr>
            <a:lvl6pPr algn="l">
              <a:defRPr sz="2025" b="0">
                <a:solidFill>
                  <a:srgbClr val="000000"/>
                </a:solidFill>
                <a:latin typeface="Calibri"/>
                <a:ea typeface="Calibri"/>
                <a:cs typeface="Calibri"/>
              </a:defRPr>
            </a:lvl6pPr>
            <a:lvl7pPr algn="l">
              <a:defRPr sz="2025" b="0">
                <a:solidFill>
                  <a:srgbClr val="000000"/>
                </a:solidFill>
                <a:latin typeface="Calibri"/>
                <a:ea typeface="Calibri"/>
                <a:cs typeface="Calibri"/>
              </a:defRPr>
            </a:lvl7pPr>
            <a:lvl8pPr algn="l">
              <a:defRPr sz="2025" b="0">
                <a:solidFill>
                  <a:srgbClr val="000000"/>
                </a:solidFill>
                <a:latin typeface="Calibri"/>
                <a:ea typeface="Calibri"/>
                <a:cs typeface="Calibri"/>
              </a:defRPr>
            </a:lvl8pPr>
            <a:lvl9pPr algn="l">
              <a:defRPr sz="2025" b="0">
                <a:solidFill>
                  <a:srgbClr val="000000"/>
                </a:solidFill>
                <a:latin typeface="Calibri"/>
                <a:ea typeface="Calibri"/>
                <a:cs typeface="Calibri"/>
              </a:defRPr>
            </a:lvl9pPr>
          </a:lstStyle>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The new experiment freezes the backbone and fits a Huber-loss readout.</a:t>
            </a:r>
          </a:p>
        </p:txBody>
      </p:sp>
      <p:sp>
        <p:nvSpPr>
          <p:cNvPr id="17" name="object-107">
            <a:extLst xmlns:a="http://schemas.openxmlformats.org/drawingml/2006/main">
              <a:ext uri="{FF2B5EF4-FFF2-40B4-BE49-F238E27FC236}">
                <a16:creationId xmlns:a16="http://schemas.microsoft.com/office/drawing/2014/main" id="{47A6AC5D-1B5E-46B4-B69F-92804D16627D}"/>
              </a:ext>
            </a:extLst>
          </p:cNvPr>
          <p:cNvSpPr>
            <a:spLocks xmlns:a="http://schemas.openxmlformats.org/drawingml/2006/main" noGrp="1"/>
          </p:cNvSpPr>
          <p:nvPr/>
        </p:nvSpPr>
        <p:spPr>
          <a:xfrm xmlns:a="http://schemas.openxmlformats.org/drawingml/2006/main">
            <a:off x="800100" y="526732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95827"/>
                </a:solidFill>
                <a:latin typeface="Calibri"/>
                <a:ea typeface="Calibri"/>
                <a:cs typeface="Calibri"/>
              </a:defRPr>
            </a:defPPr>
            <a:lvl1pPr algn="l">
              <a:defRPr sz="2025" b="1">
                <a:solidFill>
                  <a:srgbClr val="B95827"/>
                </a:solidFill>
                <a:latin typeface="Calibri"/>
                <a:ea typeface="Calibri"/>
                <a:cs typeface="Calibri"/>
              </a:defRPr>
            </a:lvl1pPr>
            <a:lvl2pPr algn="l">
              <a:defRPr sz="2025" b="1">
                <a:solidFill>
                  <a:srgbClr val="B95827"/>
                </a:solidFill>
                <a:latin typeface="Calibri"/>
                <a:ea typeface="Calibri"/>
                <a:cs typeface="Calibri"/>
              </a:defRPr>
            </a:lvl2pPr>
            <a:lvl3pPr algn="l">
              <a:defRPr sz="2025" b="1">
                <a:solidFill>
                  <a:srgbClr val="B95827"/>
                </a:solidFill>
                <a:latin typeface="Calibri"/>
                <a:ea typeface="Calibri"/>
                <a:cs typeface="Calibri"/>
              </a:defRPr>
            </a:lvl3pPr>
            <a:lvl4pPr algn="l">
              <a:defRPr sz="2025" b="1">
                <a:solidFill>
                  <a:srgbClr val="B95827"/>
                </a:solidFill>
                <a:latin typeface="Calibri"/>
                <a:ea typeface="Calibri"/>
                <a:cs typeface="Calibri"/>
              </a:defRPr>
            </a:lvl4pPr>
            <a:lvl5pPr algn="l">
              <a:defRPr sz="2025" b="1">
                <a:solidFill>
                  <a:srgbClr val="B95827"/>
                </a:solidFill>
                <a:latin typeface="Calibri"/>
                <a:ea typeface="Calibri"/>
                <a:cs typeface="Calibri"/>
              </a:defRPr>
            </a:lvl5pPr>
            <a:lvl6pPr algn="l">
              <a:defRPr sz="2025" b="1">
                <a:solidFill>
                  <a:srgbClr val="B95827"/>
                </a:solidFill>
                <a:latin typeface="Calibri"/>
                <a:ea typeface="Calibri"/>
                <a:cs typeface="Calibri"/>
              </a:defRPr>
            </a:lvl6pPr>
            <a:lvl7pPr algn="l">
              <a:defRPr sz="2025" b="1">
                <a:solidFill>
                  <a:srgbClr val="B95827"/>
                </a:solidFill>
                <a:latin typeface="Calibri"/>
                <a:ea typeface="Calibri"/>
                <a:cs typeface="Calibri"/>
              </a:defRPr>
            </a:lvl7pPr>
            <a:lvl8pPr algn="l">
              <a:defRPr sz="2025" b="1">
                <a:solidFill>
                  <a:srgbClr val="B95827"/>
                </a:solidFill>
                <a:latin typeface="Calibri"/>
                <a:ea typeface="Calibri"/>
                <a:cs typeface="Calibri"/>
              </a:defRPr>
            </a:lvl8pPr>
            <a:lvl9pPr algn="l">
              <a:defRPr sz="2025" b="1">
                <a:solidFill>
                  <a:srgbClr val="B95827"/>
                </a:solidFill>
                <a:latin typeface="Calibri"/>
                <a:ea typeface="Calibri"/>
                <a:cs typeface="Calibri"/>
              </a:defRPr>
            </a:lvl9pPr>
          </a:lstStyle>
          <a:p xmlns:a="http://schemas.openxmlformats.org/drawingml/2006/main">
            <a:pPr algn="l">
              <a:defRPr sz="2025" b="1">
                <a:solidFill>
                  <a:srgbClr val="B95827"/>
                </a:solidFill>
                <a:latin typeface="Calibri"/>
                <a:ea typeface="Calibri"/>
                <a:cs typeface="Calibri"/>
              </a:defRPr>
            </a:pPr>
            <a:r>
              <a:rPr sz="2025" b="1">
                <a:solidFill>
                  <a:srgbClr val="B95827"/>
                </a:solidFill>
                <a:latin typeface="Calibri"/>
                <a:ea typeface="Calibri"/>
                <a:cs typeface="Calibri"/>
              </a:rPr>
              <a:t>03</a:t>
            </a:r>
          </a:p>
        </p:txBody>
      </p:sp>
      <p:sp>
        <p:nvSpPr>
          <p:cNvPr id="18" name="object-108">
            <a:extLst xmlns:a="http://schemas.openxmlformats.org/drawingml/2006/main">
              <a:ext uri="{FF2B5EF4-FFF2-40B4-BE49-F238E27FC236}">
                <a16:creationId xmlns:a16="http://schemas.microsoft.com/office/drawing/2014/main" id="{22FF977E-3CD8-4E03-B240-5C840800C1D3}"/>
              </a:ext>
            </a:extLst>
          </p:cNvPr>
          <p:cNvSpPr>
            <a:spLocks xmlns:a="http://schemas.openxmlformats.org/drawingml/2006/main" noGrp="1"/>
          </p:cNvSpPr>
          <p:nvPr/>
        </p:nvSpPr>
        <p:spPr>
          <a:xfrm xmlns:a="http://schemas.openxmlformats.org/drawingml/2006/main">
            <a:off x="1524000" y="5267325"/>
            <a:ext cx="9848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Calibri"/>
                <a:ea typeface="Calibri"/>
                <a:cs typeface="Calibri"/>
              </a:defRPr>
            </a:defPPr>
            <a:lvl1pPr algn="l">
              <a:defRPr sz="2025" b="0">
                <a:solidFill>
                  <a:srgbClr val="000000"/>
                </a:solidFill>
                <a:latin typeface="Calibri"/>
                <a:ea typeface="Calibri"/>
                <a:cs typeface="Calibri"/>
              </a:defRPr>
            </a:lvl1pPr>
            <a:lvl2pPr algn="l">
              <a:defRPr sz="2025" b="0">
                <a:solidFill>
                  <a:srgbClr val="000000"/>
                </a:solidFill>
                <a:latin typeface="Calibri"/>
                <a:ea typeface="Calibri"/>
                <a:cs typeface="Calibri"/>
              </a:defRPr>
            </a:lvl2pPr>
            <a:lvl3pPr algn="l">
              <a:defRPr sz="2025" b="0">
                <a:solidFill>
                  <a:srgbClr val="000000"/>
                </a:solidFill>
                <a:latin typeface="Calibri"/>
                <a:ea typeface="Calibri"/>
                <a:cs typeface="Calibri"/>
              </a:defRPr>
            </a:lvl3pPr>
            <a:lvl4pPr algn="l">
              <a:defRPr sz="2025" b="0">
                <a:solidFill>
                  <a:srgbClr val="000000"/>
                </a:solidFill>
                <a:latin typeface="Calibri"/>
                <a:ea typeface="Calibri"/>
                <a:cs typeface="Calibri"/>
              </a:defRPr>
            </a:lvl4pPr>
            <a:lvl5pPr algn="l">
              <a:defRPr sz="2025" b="0">
                <a:solidFill>
                  <a:srgbClr val="000000"/>
                </a:solidFill>
                <a:latin typeface="Calibri"/>
                <a:ea typeface="Calibri"/>
                <a:cs typeface="Calibri"/>
              </a:defRPr>
            </a:lvl5pPr>
            <a:lvl6pPr algn="l">
              <a:defRPr sz="2025" b="0">
                <a:solidFill>
                  <a:srgbClr val="000000"/>
                </a:solidFill>
                <a:latin typeface="Calibri"/>
                <a:ea typeface="Calibri"/>
                <a:cs typeface="Calibri"/>
              </a:defRPr>
            </a:lvl6pPr>
            <a:lvl7pPr algn="l">
              <a:defRPr sz="2025" b="0">
                <a:solidFill>
                  <a:srgbClr val="000000"/>
                </a:solidFill>
                <a:latin typeface="Calibri"/>
                <a:ea typeface="Calibri"/>
                <a:cs typeface="Calibri"/>
              </a:defRPr>
            </a:lvl7pPr>
            <a:lvl8pPr algn="l">
              <a:defRPr sz="2025" b="0">
                <a:solidFill>
                  <a:srgbClr val="000000"/>
                </a:solidFill>
                <a:latin typeface="Calibri"/>
                <a:ea typeface="Calibri"/>
                <a:cs typeface="Calibri"/>
              </a:defRPr>
            </a:lvl8pPr>
            <a:lvl9pPr algn="l">
              <a:defRPr sz="2025" b="0">
                <a:solidFill>
                  <a:srgbClr val="000000"/>
                </a:solidFill>
                <a:latin typeface="Calibri"/>
                <a:ea typeface="Calibri"/>
                <a:cs typeface="Calibri"/>
              </a:defRPr>
            </a:lvl9pPr>
          </a:lstStyle>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The canonical 252,219-parameter DAVE-2 remains a reference configuration.</a:t>
            </a:r>
          </a:p>
        </p:txBody>
      </p:sp>
    </p:spTree>
    <p:extLst>
      <p:ext uri="{BB962C8B-B14F-4D97-AF65-F5344CB8AC3E}">
        <p14:creationId xmlns:p14="http://schemas.microsoft.com/office/powerpoint/2010/main" val="5673889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bject-109">
            <a:extLst xmlns:a="http://schemas.openxmlformats.org/drawingml/2006/main">
              <a:ext uri="{FF2B5EF4-FFF2-40B4-BE49-F238E27FC236}">
                <a16:creationId xmlns:a16="http://schemas.microsoft.com/office/drawing/2014/main" id="{E44FCB10-AE74-48C9-853B-ECCE68BF3F9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10">
            <a:extLst xmlns:a="http://schemas.openxmlformats.org/drawingml/2006/main">
              <a:ext uri="{FF2B5EF4-FFF2-40B4-BE49-F238E27FC236}">
                <a16:creationId xmlns:a16="http://schemas.microsoft.com/office/drawing/2014/main" id="{F16CC00B-2F74-4774-8C22-B00A9D36C688}"/>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11">
            <a:extLst xmlns:a="http://schemas.openxmlformats.org/drawingml/2006/main">
              <a:ext uri="{FF2B5EF4-FFF2-40B4-BE49-F238E27FC236}">
                <a16:creationId xmlns:a16="http://schemas.microsoft.com/office/drawing/2014/main" id="{A648E4E1-9691-488B-9562-122BB2FDA6E8}"/>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Training setup and requirements</a:t>
            </a:r>
          </a:p>
        </p:txBody>
      </p:sp>
      <p:sp>
        <p:nvSpPr>
          <p:cNvPr id="4" name="object-112">
            <a:extLst xmlns:a="http://schemas.openxmlformats.org/drawingml/2006/main">
              <a:ext uri="{FF2B5EF4-FFF2-40B4-BE49-F238E27FC236}">
                <a16:creationId xmlns:a16="http://schemas.microsoft.com/office/drawing/2014/main" id="{F115A89B-29F1-4F60-BC4B-EBA2EB35EF04}"/>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13">
            <a:extLst xmlns:a="http://schemas.openxmlformats.org/drawingml/2006/main">
              <a:ext uri="{FF2B5EF4-FFF2-40B4-BE49-F238E27FC236}">
                <a16:creationId xmlns:a16="http://schemas.microsoft.com/office/drawing/2014/main" id="{50706814-2E3D-4077-857E-30BA8602036A}"/>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11</a:t>
            </a:r>
          </a:p>
        </p:txBody>
      </p:sp>
      <p:graphicFrame>
        <p:nvGraphicFramePr>
          <p:cNvPr id="6" name="">
            <a:extLst xmlns:a="http://schemas.openxmlformats.org/drawingml/2006/main">
              <a:ext uri="{FF2B5EF4-FFF2-40B4-BE49-F238E27FC236}">
                <a16:creationId xmlns:a16="http://schemas.microsoft.com/office/drawing/2014/main" id="{DC7DEFBD-CE7D-4447-866D-8A780057E1C8}"/>
              </a:ext>
            </a:extLst>
          </p:cNvPr>
          <p:cNvGraphicFramePr/>
          <p:nvPr/>
        </p:nvGraphicFramePr>
        <p:xfrm>
          <a:off xmlns:a="http://schemas.openxmlformats.org/drawingml/2006/main" x="685800" y="1724025"/>
          <a:ext xmlns:a="http://schemas.openxmlformats.org/drawingml/2006/main" cx="10820400" cy="2457450"/>
        </p:xfrm>
        <a:graphic xmlns:a="http://schemas.openxmlformats.org/drawingml/2006/main">
          <a:graphicData uri="http://schemas.openxmlformats.org/drawingml/2006/table">
            <a:tbl>
              <a:tblPr/>
              <a:tblGrid>
                <a:gridCol w="2921508"/>
                <a:gridCol w="1298448"/>
                <a:gridCol w="1298448"/>
                <a:gridCol w="1731264"/>
                <a:gridCol w="3570732"/>
              </a:tblGrid>
              <a:tr h="614363">
                <a:tc>
                  <a:txBody>
                    <a:bodyPr wrap="square" lIns="66675" tIns="66675" rIns="66675" bIns="66675">
                      <a:noAutofit/>
                    </a:bodyPr>
                    <a:lstStyle/>
                    <a:p>
                      <a:pPr algn="l"/>
                      <a:r>
                        <a:rPr sz="1875" b="1">
                          <a:solidFill>
                            <a:srgbClr val="FFFFFF"/>
                          </a:solidFill>
                          <a:latin typeface="Calibri"/>
                          <a:ea typeface="Calibri"/>
                          <a:cs typeface="Calibri"/>
                        </a:rPr>
                        <a:t>Run</a:t>
                      </a:r>
                    </a:p>
                  </a:txBody>
                  <a:tcPr marL="91440" marR="91440" marT="45720" marB="4572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875" b="1">
                          <a:solidFill>
                            <a:srgbClr val="FFFFFF"/>
                          </a:solidFill>
                          <a:latin typeface="Calibri"/>
                          <a:ea typeface="Calibri"/>
                          <a:cs typeface="Calibri"/>
                        </a:rPr>
                        <a:t>Epochs</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875" b="1">
                          <a:solidFill>
                            <a:srgbClr val="FFFFFF"/>
                          </a:solidFill>
                          <a:latin typeface="Calibri"/>
                          <a:ea typeface="Calibri"/>
                          <a:cs typeface="Calibri"/>
                        </a:rPr>
                        <a:t>Batch</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875" b="1">
                          <a:solidFill>
                            <a:srgbClr val="FFFFFF"/>
                          </a:solidFill>
                          <a:latin typeface="Calibri"/>
                          <a:ea typeface="Calibri"/>
                          <a:cs typeface="Calibri"/>
                        </a:rPr>
                        <a:t>Input</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875" b="1">
                          <a:solidFill>
                            <a:srgbClr val="FFFFFF"/>
                          </a:solidFill>
                          <a:latin typeface="Calibri"/>
                          <a:ea typeface="Calibri"/>
                          <a:cs typeface="Calibri"/>
                        </a:rPr>
                        <a:t>Hardware / time</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614363">
                <a:tc>
                  <a:txBody>
                    <a:bodyPr wrap="square" lIns="66675" tIns="66675" rIns="66675" bIns="66675">
                      <a:noAutofit/>
                    </a:bodyPr>
                    <a:lstStyle/>
                    <a:p>
                      <a:pPr algn="l"/>
                      <a:r>
                        <a:rPr sz="1875" b="0">
                          <a:solidFill>
                            <a:srgbClr val="000000"/>
                          </a:solidFill>
                          <a:latin typeface="Calibri"/>
                          <a:ea typeface="Calibri"/>
                          <a:cs typeface="Calibri"/>
                        </a:rPr>
                        <a:t>Detection</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75" b="0">
                          <a:solidFill>
                            <a:srgbClr val="000000"/>
                          </a:solidFill>
                          <a:latin typeface="Calibri"/>
                          <a:ea typeface="Calibri"/>
                          <a:cs typeface="Calibri"/>
                        </a:rPr>
                        <a:t>50</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75" b="0">
                          <a:solidFill>
                            <a:srgbClr val="000000"/>
                          </a:solidFill>
                          <a:latin typeface="Calibri"/>
                          <a:ea typeface="Calibri"/>
                          <a:cs typeface="Calibri"/>
                        </a:rPr>
                        <a:t>16</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75" b="0">
                          <a:solidFill>
                            <a:srgbClr val="000000"/>
                          </a:solidFill>
                          <a:latin typeface="Calibri"/>
                          <a:ea typeface="Calibri"/>
                          <a:cs typeface="Calibri"/>
                        </a:rPr>
                        <a:t>640 × 640</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75" b="0">
                          <a:solidFill>
                            <a:srgbClr val="000000"/>
                          </a:solidFill>
                          <a:latin typeface="Calibri"/>
                          <a:ea typeface="Calibri"/>
                          <a:cs typeface="Calibri"/>
                        </a:rPr>
                        <a:t>Colab Tesla T4 / 2.14 h</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614363">
                <a:tc>
                  <a:txBody>
                    <a:bodyPr wrap="square" lIns="66675" tIns="66675" rIns="66675" bIns="66675">
                      <a:noAutofit/>
                    </a:bodyPr>
                    <a:lstStyle/>
                    <a:p>
                      <a:pPr algn="l"/>
                      <a:r>
                        <a:rPr sz="1875" b="0">
                          <a:solidFill>
                            <a:srgbClr val="000000"/>
                          </a:solidFill>
                          <a:latin typeface="Calibri"/>
                          <a:ea typeface="Calibri"/>
                          <a:cs typeface="Calibri"/>
                        </a:rPr>
                        <a:t>Lane segmentation</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875" b="0">
                          <a:solidFill>
                            <a:srgbClr val="000000"/>
                          </a:solidFill>
                          <a:latin typeface="Calibri"/>
                          <a:ea typeface="Calibri"/>
                          <a:cs typeface="Calibri"/>
                        </a:rPr>
                        <a:t>60</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875" b="0">
                          <a:solidFill>
                            <a:srgbClr val="000000"/>
                          </a:solidFill>
                          <a:latin typeface="Calibri"/>
                          <a:ea typeface="Calibri"/>
                          <a:cs typeface="Calibri"/>
                        </a:rPr>
                        <a:t>16</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875" b="0">
                          <a:solidFill>
                            <a:srgbClr val="000000"/>
                          </a:solidFill>
                          <a:latin typeface="Calibri"/>
                          <a:ea typeface="Calibri"/>
                          <a:cs typeface="Calibri"/>
                        </a:rPr>
                        <a:t>640 × 640</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875" b="0">
                          <a:solidFill>
                            <a:srgbClr val="000000"/>
                          </a:solidFill>
                          <a:latin typeface="Calibri"/>
                          <a:ea typeface="Calibri"/>
                          <a:cs typeface="Calibri"/>
                        </a:rPr>
                        <a:t>Colab Tesla T4 / 2.31 h</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614363">
                <a:tc>
                  <a:txBody>
                    <a:bodyPr wrap="square" lIns="66675" tIns="66675" rIns="66675" bIns="66675">
                      <a:noAutofit/>
                    </a:bodyPr>
                    <a:lstStyle/>
                    <a:p>
                      <a:pPr algn="l"/>
                      <a:r>
                        <a:rPr sz="1875" b="0">
                          <a:solidFill>
                            <a:srgbClr val="000000"/>
                          </a:solidFill>
                          <a:latin typeface="Calibri"/>
                          <a:ea typeface="Calibri"/>
                          <a:cs typeface="Calibri"/>
                        </a:rPr>
                        <a:t>Original steering setup</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75" b="0">
                          <a:solidFill>
                            <a:srgbClr val="000000"/>
                          </a:solidFill>
                          <a:latin typeface="Calibri"/>
                          <a:ea typeface="Calibri"/>
                          <a:cs typeface="Calibri"/>
                        </a:rPr>
                        <a:t>30</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75" b="0">
                          <a:solidFill>
                            <a:srgbClr val="000000"/>
                          </a:solidFill>
                          <a:latin typeface="Calibri"/>
                          <a:ea typeface="Calibri"/>
                          <a:cs typeface="Calibri"/>
                        </a:rPr>
                        <a:t>100</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75" b="0">
                          <a:solidFill>
                            <a:srgbClr val="000000"/>
                          </a:solidFill>
                          <a:latin typeface="Calibri"/>
                          <a:ea typeface="Calibri"/>
                          <a:cs typeface="Calibri"/>
                        </a:rPr>
                        <a:t>66 × 200</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875" b="0">
                          <a:solidFill>
                            <a:srgbClr val="000000"/>
                          </a:solidFill>
                          <a:latin typeface="Calibri"/>
                          <a:ea typeface="Calibri"/>
                          <a:cs typeface="Calibri"/>
                        </a:rPr>
                        <a:t>Historical training time not recorded</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bl>
          </a:graphicData>
        </a:graphic>
      </p:graphicFrame>
      <p:sp>
        <p:nvSpPr>
          <p:cNvPr id="7" name="object-114">
            <a:extLst xmlns:a="http://schemas.openxmlformats.org/drawingml/2006/main">
              <a:ext uri="{FF2B5EF4-FFF2-40B4-BE49-F238E27FC236}">
                <a16:creationId xmlns:a16="http://schemas.microsoft.com/office/drawing/2014/main" id="{8CA1D957-BB77-4756-B603-778DC35E8AEE}"/>
              </a:ext>
            </a:extLst>
          </p:cNvPr>
          <p:cNvSpPr>
            <a:spLocks xmlns:a="http://schemas.openxmlformats.org/drawingml/2006/main" noGrp="1"/>
          </p:cNvSpPr>
          <p:nvPr/>
        </p:nvSpPr>
        <p:spPr>
          <a:xfrm xmlns:a="http://schemas.openxmlformats.org/drawingml/2006/main">
            <a:off x="685800" y="4581525"/>
            <a:ext cx="108204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Software: Python, PyTorch, Ultralytics, TensorFlow, OpenCV and NumPy</a:t>
            </a:r>
          </a:p>
        </p:txBody>
      </p:sp>
      <p:sp>
        <p:nvSpPr>
          <p:cNvPr id="8" name="object-115">
            <a:extLst xmlns:a="http://schemas.openxmlformats.org/drawingml/2006/main">
              <a:ext uri="{FF2B5EF4-FFF2-40B4-BE49-F238E27FC236}">
                <a16:creationId xmlns:a16="http://schemas.microsoft.com/office/drawing/2014/main" id="{5FE76B2D-66BD-4E06-BF91-1BCABF3E2C0C}"/>
              </a:ext>
            </a:extLst>
          </p:cNvPr>
          <p:cNvSpPr>
            <a:spLocks xmlns:a="http://schemas.openxmlformats.org/drawingml/2006/main" noGrp="1"/>
          </p:cNvSpPr>
          <p:nvPr/>
        </p:nvSpPr>
        <p:spPr>
          <a:xfrm xmlns:a="http://schemas.openxmlformats.org/drawingml/2006/main">
            <a:off x="685800" y="55626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00000"/>
                </a:solidFill>
                <a:latin typeface="Calibri"/>
                <a:ea typeface="Calibri"/>
                <a:cs typeface="Calibri"/>
              </a:defRPr>
            </a:defPPr>
            <a:lvl1pPr algn="l">
              <a:defRPr sz="2100" b="1">
                <a:solidFill>
                  <a:srgbClr val="000000"/>
                </a:solidFill>
                <a:latin typeface="Calibri"/>
                <a:ea typeface="Calibri"/>
                <a:cs typeface="Calibri"/>
              </a:defRPr>
            </a:lvl1pPr>
            <a:lvl2pPr algn="l">
              <a:defRPr sz="2100" b="1">
                <a:solidFill>
                  <a:srgbClr val="000000"/>
                </a:solidFill>
                <a:latin typeface="Calibri"/>
                <a:ea typeface="Calibri"/>
                <a:cs typeface="Calibri"/>
              </a:defRPr>
            </a:lvl2pPr>
            <a:lvl3pPr algn="l">
              <a:defRPr sz="2100" b="1">
                <a:solidFill>
                  <a:srgbClr val="000000"/>
                </a:solidFill>
                <a:latin typeface="Calibri"/>
                <a:ea typeface="Calibri"/>
                <a:cs typeface="Calibri"/>
              </a:defRPr>
            </a:lvl3pPr>
            <a:lvl4pPr algn="l">
              <a:defRPr sz="2100" b="1">
                <a:solidFill>
                  <a:srgbClr val="000000"/>
                </a:solidFill>
                <a:latin typeface="Calibri"/>
                <a:ea typeface="Calibri"/>
                <a:cs typeface="Calibri"/>
              </a:defRPr>
            </a:lvl4pPr>
            <a:lvl5pPr algn="l">
              <a:defRPr sz="2100" b="1">
                <a:solidFill>
                  <a:srgbClr val="000000"/>
                </a:solidFill>
                <a:latin typeface="Calibri"/>
                <a:ea typeface="Calibri"/>
                <a:cs typeface="Calibri"/>
              </a:defRPr>
            </a:lvl5pPr>
            <a:lvl6pPr algn="l">
              <a:defRPr sz="2100" b="1">
                <a:solidFill>
                  <a:srgbClr val="000000"/>
                </a:solidFill>
                <a:latin typeface="Calibri"/>
                <a:ea typeface="Calibri"/>
                <a:cs typeface="Calibri"/>
              </a:defRPr>
            </a:lvl6pPr>
            <a:lvl7pPr algn="l">
              <a:defRPr sz="2100" b="1">
                <a:solidFill>
                  <a:srgbClr val="000000"/>
                </a:solidFill>
                <a:latin typeface="Calibri"/>
                <a:ea typeface="Calibri"/>
                <a:cs typeface="Calibri"/>
              </a:defRPr>
            </a:lvl7pPr>
            <a:lvl8pPr algn="l">
              <a:defRPr sz="2100" b="1">
                <a:solidFill>
                  <a:srgbClr val="000000"/>
                </a:solidFill>
                <a:latin typeface="Calibri"/>
                <a:ea typeface="Calibri"/>
                <a:cs typeface="Calibri"/>
              </a:defRPr>
            </a:lvl8pPr>
            <a:lvl9pPr algn="l">
              <a:defRPr sz="2100" b="1">
                <a:solidFill>
                  <a:srgbClr val="000000"/>
                </a:solidFill>
                <a:latin typeface="Calibri"/>
                <a:ea typeface="Calibri"/>
                <a:cs typeface="Calibri"/>
              </a:defRPr>
            </a:lvl9pPr>
          </a:lstStyle>
          <a:p xmlns:a="http://schemas.openxmlformats.org/drawingml/2006/main">
            <a:pPr algn="l">
              <a:defRPr sz="2100" b="1">
                <a:solidFill>
                  <a:srgbClr val="000000"/>
                </a:solidFill>
                <a:latin typeface="Calibri"/>
                <a:ea typeface="Calibri"/>
                <a:cs typeface="Calibri"/>
              </a:defRPr>
            </a:pPr>
            <a:r>
              <a:rPr sz="2100" b="1">
                <a:solidFill>
                  <a:srgbClr val="000000"/>
                </a:solidFill>
                <a:latin typeface="Calibri"/>
                <a:ea typeface="Calibri"/>
                <a:cs typeface="Calibri"/>
              </a:rPr>
              <a:t>New steering readout: local Intel Pentium 4415U CPU</a:t>
            </a:r>
          </a:p>
        </p:txBody>
      </p:sp>
    </p:spTree>
    <p:extLst>
      <p:ext uri="{BB962C8B-B14F-4D97-AF65-F5344CB8AC3E}">
        <p14:creationId xmlns:p14="http://schemas.microsoft.com/office/powerpoint/2010/main" val="13648527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bject-116">
            <a:extLst xmlns:a="http://schemas.openxmlformats.org/drawingml/2006/main">
              <a:ext uri="{FF2B5EF4-FFF2-40B4-BE49-F238E27FC236}">
                <a16:creationId xmlns:a16="http://schemas.microsoft.com/office/drawing/2014/main" id="{6645CCAC-A98B-461E-9D92-0BE1AB17A61F}"/>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17">
            <a:extLst xmlns:a="http://schemas.openxmlformats.org/drawingml/2006/main">
              <a:ext uri="{FF2B5EF4-FFF2-40B4-BE49-F238E27FC236}">
                <a16:creationId xmlns:a16="http://schemas.microsoft.com/office/drawing/2014/main" id="{33C5AB82-0FCE-4C90-BF2A-8CA13FD819CA}"/>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18">
            <a:extLst xmlns:a="http://schemas.openxmlformats.org/drawingml/2006/main">
              <a:ext uri="{FF2B5EF4-FFF2-40B4-BE49-F238E27FC236}">
                <a16:creationId xmlns:a16="http://schemas.microsoft.com/office/drawing/2014/main" id="{5EAC77F5-BCD7-42B2-B1E1-023EF4195E01}"/>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Object detection results</a:t>
            </a:r>
          </a:p>
        </p:txBody>
      </p:sp>
      <p:sp>
        <p:nvSpPr>
          <p:cNvPr id="4" name="object-119">
            <a:extLst xmlns:a="http://schemas.openxmlformats.org/drawingml/2006/main">
              <a:ext uri="{FF2B5EF4-FFF2-40B4-BE49-F238E27FC236}">
                <a16:creationId xmlns:a16="http://schemas.microsoft.com/office/drawing/2014/main" id="{25FD59B7-D350-46BA-BBCC-EF76C9F1C59A}"/>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20">
            <a:extLst xmlns:a="http://schemas.openxmlformats.org/drawingml/2006/main">
              <a:ext uri="{FF2B5EF4-FFF2-40B4-BE49-F238E27FC236}">
                <a16:creationId xmlns:a16="http://schemas.microsoft.com/office/drawing/2014/main" id="{1B5360F8-8E2E-410F-9ADB-95E8BF31CE33}"/>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Held-out test: 525 images and 3,116 annotated instances</a:t>
            </a:r>
          </a:p>
        </p:txBody>
      </p:sp>
      <p:sp>
        <p:nvSpPr>
          <p:cNvPr id="6" name="object-121">
            <a:extLst xmlns:a="http://schemas.openxmlformats.org/drawingml/2006/main">
              <a:ext uri="{FF2B5EF4-FFF2-40B4-BE49-F238E27FC236}">
                <a16:creationId xmlns:a16="http://schemas.microsoft.com/office/drawing/2014/main" id="{9896446C-C8A1-4429-80F2-DBD5D6B075D3}"/>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12</a:t>
            </a:r>
          </a:p>
        </p:txBody>
      </p:sp>
      <p:graphicFrame>
        <p:nvGraphicFramePr>
          <p:cNvPr id="7" name="Chart">
            <a:extLst xmlns:a="http://schemas.openxmlformats.org/drawingml/2006/main">
              <a:ext uri="{FF2B5EF4-FFF2-40B4-BE49-F238E27FC236}">
                <a16:creationId xmlns:a16="http://schemas.microsoft.com/office/drawing/2014/main" id="{D61DD458-088F-4812-B804-F31EF3024929}"/>
              </a:ext>
            </a:extLst>
          </p:cNvPr>
          <p:cNvGraphicFramePr/>
          <p:nvPr/>
        </p:nvGraphicFramePr>
        <p:xfrm>
          <a:off xmlns:a="http://schemas.openxmlformats.org/drawingml/2006/main" x="685800" y="1981200"/>
          <a:ext xmlns:a="http://schemas.openxmlformats.org/drawingml/2006/main" cx="7353300" cy="3514725"/>
        </p:xfrm>
        <a:graphic xmlns:a="http://schemas.openxmlformats.org/drawingml/2006/main">
          <a:graphicData uri="http://schemas.openxmlformats.org/drawingml/2006/chart">
            <c:chart xmlns:r="http://schemas.openxmlformats.org/officeDocument/2006/relationships" xmlns:c="http://schemas.openxmlformats.org/drawingml/2006/chart" r:id="Rd4f03e7210cd4d47"/>
          </a:graphicData>
        </a:graphic>
      </p:graphicFrame>
      <p:sp>
        <p:nvSpPr>
          <p:cNvPr id="8" name="object-122">
            <a:extLst xmlns:a="http://schemas.openxmlformats.org/drawingml/2006/main">
              <a:ext uri="{FF2B5EF4-FFF2-40B4-BE49-F238E27FC236}">
                <a16:creationId xmlns:a16="http://schemas.microsoft.com/office/drawing/2014/main" id="{AF970620-2FAB-43B3-89B0-672D04A70F14}"/>
              </a:ext>
            </a:extLst>
          </p:cNvPr>
          <p:cNvSpPr>
            <a:spLocks xmlns:a="http://schemas.openxmlformats.org/drawingml/2006/main" noGrp="1"/>
          </p:cNvSpPr>
          <p:nvPr/>
        </p:nvSpPr>
        <p:spPr>
          <a:xfrm xmlns:a="http://schemas.openxmlformats.org/drawingml/2006/main">
            <a:off x="8524875" y="2133600"/>
            <a:ext cx="28575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Calibri"/>
                <a:ea typeface="Calibri"/>
                <a:cs typeface="Calibri"/>
              </a:defRPr>
            </a:defPPr>
            <a:lvl1pPr algn="l">
              <a:defRPr sz="4800" b="1">
                <a:solidFill>
                  <a:srgbClr val="000000"/>
                </a:solidFill>
                <a:latin typeface="Calibri"/>
                <a:ea typeface="Calibri"/>
                <a:cs typeface="Calibri"/>
              </a:defRPr>
            </a:lvl1pPr>
            <a:lvl2pPr algn="l">
              <a:defRPr sz="4800" b="1">
                <a:solidFill>
                  <a:srgbClr val="000000"/>
                </a:solidFill>
                <a:latin typeface="Calibri"/>
                <a:ea typeface="Calibri"/>
                <a:cs typeface="Calibri"/>
              </a:defRPr>
            </a:lvl2pPr>
            <a:lvl3pPr algn="l">
              <a:defRPr sz="4800" b="1">
                <a:solidFill>
                  <a:srgbClr val="000000"/>
                </a:solidFill>
                <a:latin typeface="Calibri"/>
                <a:ea typeface="Calibri"/>
                <a:cs typeface="Calibri"/>
              </a:defRPr>
            </a:lvl3pPr>
            <a:lvl4pPr algn="l">
              <a:defRPr sz="4800" b="1">
                <a:solidFill>
                  <a:srgbClr val="000000"/>
                </a:solidFill>
                <a:latin typeface="Calibri"/>
                <a:ea typeface="Calibri"/>
                <a:cs typeface="Calibri"/>
              </a:defRPr>
            </a:lvl4pPr>
            <a:lvl5pPr algn="l">
              <a:defRPr sz="4800" b="1">
                <a:solidFill>
                  <a:srgbClr val="000000"/>
                </a:solidFill>
                <a:latin typeface="Calibri"/>
                <a:ea typeface="Calibri"/>
                <a:cs typeface="Calibri"/>
              </a:defRPr>
            </a:lvl5pPr>
            <a:lvl6pPr algn="l">
              <a:defRPr sz="4800" b="1">
                <a:solidFill>
                  <a:srgbClr val="000000"/>
                </a:solidFill>
                <a:latin typeface="Calibri"/>
                <a:ea typeface="Calibri"/>
                <a:cs typeface="Calibri"/>
              </a:defRPr>
            </a:lvl6pPr>
            <a:lvl7pPr algn="l">
              <a:defRPr sz="4800" b="1">
                <a:solidFill>
                  <a:srgbClr val="000000"/>
                </a:solidFill>
                <a:latin typeface="Calibri"/>
                <a:ea typeface="Calibri"/>
                <a:cs typeface="Calibri"/>
              </a:defRPr>
            </a:lvl7pPr>
            <a:lvl8pPr algn="l">
              <a:defRPr sz="4800" b="1">
                <a:solidFill>
                  <a:srgbClr val="000000"/>
                </a:solidFill>
                <a:latin typeface="Calibri"/>
                <a:ea typeface="Calibri"/>
                <a:cs typeface="Calibri"/>
              </a:defRPr>
            </a:lvl8pPr>
            <a:lvl9pPr algn="l">
              <a:defRPr sz="4800" b="1">
                <a:solidFill>
                  <a:srgbClr val="000000"/>
                </a:solidFill>
                <a:latin typeface="Calibri"/>
                <a:ea typeface="Calibri"/>
                <a:cs typeface="Calibri"/>
              </a:defRPr>
            </a:lvl9pPr>
          </a:lstStyle>
          <a:p xmlns:a="http://schemas.openxmlformats.org/drawingml/2006/main">
            <a:pPr algn="l">
              <a:defRPr sz="4800" b="1">
                <a:solidFill>
                  <a:srgbClr val="000000"/>
                </a:solidFill>
                <a:latin typeface="Calibri"/>
                <a:ea typeface="Calibri"/>
                <a:cs typeface="Calibri"/>
              </a:defRPr>
            </a:pPr>
            <a:r>
              <a:rPr sz="4800" b="1">
                <a:solidFill>
                  <a:srgbClr val="000000"/>
                </a:solidFill>
                <a:latin typeface="Calibri"/>
                <a:ea typeface="Calibri"/>
                <a:cs typeface="Calibri"/>
              </a:rPr>
              <a:t>71.2%</a:t>
            </a:r>
          </a:p>
        </p:txBody>
      </p:sp>
      <p:sp>
        <p:nvSpPr>
          <p:cNvPr id="9" name="object-123">
            <a:extLst xmlns:a="http://schemas.openxmlformats.org/drawingml/2006/main">
              <a:ext uri="{FF2B5EF4-FFF2-40B4-BE49-F238E27FC236}">
                <a16:creationId xmlns:a16="http://schemas.microsoft.com/office/drawing/2014/main" id="{8750801A-ABEA-41FB-AB97-7EC4AA5F3D8C}"/>
              </a:ext>
            </a:extLst>
          </p:cNvPr>
          <p:cNvSpPr>
            <a:spLocks xmlns:a="http://schemas.openxmlformats.org/drawingml/2006/main" noGrp="1"/>
          </p:cNvSpPr>
          <p:nvPr/>
        </p:nvSpPr>
        <p:spPr>
          <a:xfrm xmlns:a="http://schemas.openxmlformats.org/drawingml/2006/main">
            <a:off x="8553450" y="2924175"/>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Calibri"/>
                <a:ea typeface="Calibri"/>
                <a:cs typeface="Calibri"/>
              </a:defRPr>
            </a:defPPr>
            <a:lvl1pPr algn="l">
              <a:defRPr sz="2250" b="0">
                <a:solidFill>
                  <a:srgbClr val="000000"/>
                </a:solidFill>
                <a:latin typeface="Calibri"/>
                <a:ea typeface="Calibri"/>
                <a:cs typeface="Calibri"/>
              </a:defRPr>
            </a:lvl1pPr>
            <a:lvl2pPr algn="l">
              <a:defRPr sz="2250" b="0">
                <a:solidFill>
                  <a:srgbClr val="000000"/>
                </a:solidFill>
                <a:latin typeface="Calibri"/>
                <a:ea typeface="Calibri"/>
                <a:cs typeface="Calibri"/>
              </a:defRPr>
            </a:lvl2pPr>
            <a:lvl3pPr algn="l">
              <a:defRPr sz="2250" b="0">
                <a:solidFill>
                  <a:srgbClr val="000000"/>
                </a:solidFill>
                <a:latin typeface="Calibri"/>
                <a:ea typeface="Calibri"/>
                <a:cs typeface="Calibri"/>
              </a:defRPr>
            </a:lvl3pPr>
            <a:lvl4pPr algn="l">
              <a:defRPr sz="2250" b="0">
                <a:solidFill>
                  <a:srgbClr val="000000"/>
                </a:solidFill>
                <a:latin typeface="Calibri"/>
                <a:ea typeface="Calibri"/>
                <a:cs typeface="Calibri"/>
              </a:defRPr>
            </a:lvl4pPr>
            <a:lvl5pPr algn="l">
              <a:defRPr sz="2250" b="0">
                <a:solidFill>
                  <a:srgbClr val="000000"/>
                </a:solidFill>
                <a:latin typeface="Calibri"/>
                <a:ea typeface="Calibri"/>
                <a:cs typeface="Calibri"/>
              </a:defRPr>
            </a:lvl5pPr>
            <a:lvl6pPr algn="l">
              <a:defRPr sz="2250" b="0">
                <a:solidFill>
                  <a:srgbClr val="000000"/>
                </a:solidFill>
                <a:latin typeface="Calibri"/>
                <a:ea typeface="Calibri"/>
                <a:cs typeface="Calibri"/>
              </a:defRPr>
            </a:lvl6pPr>
            <a:lvl7pPr algn="l">
              <a:defRPr sz="2250" b="0">
                <a:solidFill>
                  <a:srgbClr val="000000"/>
                </a:solidFill>
                <a:latin typeface="Calibri"/>
                <a:ea typeface="Calibri"/>
                <a:cs typeface="Calibri"/>
              </a:defRPr>
            </a:lvl7pPr>
            <a:lvl8pPr algn="l">
              <a:defRPr sz="2250" b="0">
                <a:solidFill>
                  <a:srgbClr val="000000"/>
                </a:solidFill>
                <a:latin typeface="Calibri"/>
                <a:ea typeface="Calibri"/>
                <a:cs typeface="Calibri"/>
              </a:defRPr>
            </a:lvl8pPr>
            <a:lvl9pPr algn="l">
              <a:defRPr sz="2250" b="0">
                <a:solidFill>
                  <a:srgbClr val="000000"/>
                </a:solidFill>
                <a:latin typeface="Calibri"/>
                <a:ea typeface="Calibri"/>
                <a:cs typeface="Calibri"/>
              </a:defRPr>
            </a:lvl9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precision</a:t>
            </a:r>
          </a:p>
        </p:txBody>
      </p:sp>
      <p:sp>
        <p:nvSpPr>
          <p:cNvPr id="10" name="object-124">
            <a:extLst xmlns:a="http://schemas.openxmlformats.org/drawingml/2006/main">
              <a:ext uri="{FF2B5EF4-FFF2-40B4-BE49-F238E27FC236}">
                <a16:creationId xmlns:a16="http://schemas.microsoft.com/office/drawing/2014/main" id="{A4B1DE1D-8F35-43F3-89E3-650D188C5603}"/>
              </a:ext>
            </a:extLst>
          </p:cNvPr>
          <p:cNvSpPr>
            <a:spLocks xmlns:a="http://schemas.openxmlformats.org/drawingml/2006/main" noGrp="1"/>
          </p:cNvSpPr>
          <p:nvPr/>
        </p:nvSpPr>
        <p:spPr>
          <a:xfrm xmlns:a="http://schemas.openxmlformats.org/drawingml/2006/main">
            <a:off x="8524875" y="3743325"/>
            <a:ext cx="28575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Calibri"/>
                <a:ea typeface="Calibri"/>
                <a:cs typeface="Calibri"/>
              </a:defRPr>
            </a:defPPr>
            <a:lvl1pPr algn="l">
              <a:defRPr sz="4800" b="1">
                <a:solidFill>
                  <a:srgbClr val="000000"/>
                </a:solidFill>
                <a:latin typeface="Calibri"/>
                <a:ea typeface="Calibri"/>
                <a:cs typeface="Calibri"/>
              </a:defRPr>
            </a:lvl1pPr>
            <a:lvl2pPr algn="l">
              <a:defRPr sz="4800" b="1">
                <a:solidFill>
                  <a:srgbClr val="000000"/>
                </a:solidFill>
                <a:latin typeface="Calibri"/>
                <a:ea typeface="Calibri"/>
                <a:cs typeface="Calibri"/>
              </a:defRPr>
            </a:lvl2pPr>
            <a:lvl3pPr algn="l">
              <a:defRPr sz="4800" b="1">
                <a:solidFill>
                  <a:srgbClr val="000000"/>
                </a:solidFill>
                <a:latin typeface="Calibri"/>
                <a:ea typeface="Calibri"/>
                <a:cs typeface="Calibri"/>
              </a:defRPr>
            </a:lvl3pPr>
            <a:lvl4pPr algn="l">
              <a:defRPr sz="4800" b="1">
                <a:solidFill>
                  <a:srgbClr val="000000"/>
                </a:solidFill>
                <a:latin typeface="Calibri"/>
                <a:ea typeface="Calibri"/>
                <a:cs typeface="Calibri"/>
              </a:defRPr>
            </a:lvl4pPr>
            <a:lvl5pPr algn="l">
              <a:defRPr sz="4800" b="1">
                <a:solidFill>
                  <a:srgbClr val="000000"/>
                </a:solidFill>
                <a:latin typeface="Calibri"/>
                <a:ea typeface="Calibri"/>
                <a:cs typeface="Calibri"/>
              </a:defRPr>
            </a:lvl5pPr>
            <a:lvl6pPr algn="l">
              <a:defRPr sz="4800" b="1">
                <a:solidFill>
                  <a:srgbClr val="000000"/>
                </a:solidFill>
                <a:latin typeface="Calibri"/>
                <a:ea typeface="Calibri"/>
                <a:cs typeface="Calibri"/>
              </a:defRPr>
            </a:lvl6pPr>
            <a:lvl7pPr algn="l">
              <a:defRPr sz="4800" b="1">
                <a:solidFill>
                  <a:srgbClr val="000000"/>
                </a:solidFill>
                <a:latin typeface="Calibri"/>
                <a:ea typeface="Calibri"/>
                <a:cs typeface="Calibri"/>
              </a:defRPr>
            </a:lvl7pPr>
            <a:lvl8pPr algn="l">
              <a:defRPr sz="4800" b="1">
                <a:solidFill>
                  <a:srgbClr val="000000"/>
                </a:solidFill>
                <a:latin typeface="Calibri"/>
                <a:ea typeface="Calibri"/>
                <a:cs typeface="Calibri"/>
              </a:defRPr>
            </a:lvl8pPr>
            <a:lvl9pPr algn="l">
              <a:defRPr sz="4800" b="1">
                <a:solidFill>
                  <a:srgbClr val="000000"/>
                </a:solidFill>
                <a:latin typeface="Calibri"/>
                <a:ea typeface="Calibri"/>
                <a:cs typeface="Calibri"/>
              </a:defRPr>
            </a:lvl9pPr>
          </a:lstStyle>
          <a:p xmlns:a="http://schemas.openxmlformats.org/drawingml/2006/main">
            <a:pPr algn="l">
              <a:defRPr sz="4800" b="1">
                <a:solidFill>
                  <a:srgbClr val="000000"/>
                </a:solidFill>
                <a:latin typeface="Calibri"/>
                <a:ea typeface="Calibri"/>
                <a:cs typeface="Calibri"/>
              </a:defRPr>
            </a:pPr>
            <a:r>
              <a:rPr sz="4800" b="1">
                <a:solidFill>
                  <a:srgbClr val="000000"/>
                </a:solidFill>
                <a:latin typeface="Calibri"/>
                <a:ea typeface="Calibri"/>
                <a:cs typeface="Calibri"/>
              </a:rPr>
              <a:t>61.4%</a:t>
            </a:r>
          </a:p>
        </p:txBody>
      </p:sp>
      <p:sp>
        <p:nvSpPr>
          <p:cNvPr id="11" name="object-125">
            <a:extLst xmlns:a="http://schemas.openxmlformats.org/drawingml/2006/main">
              <a:ext uri="{FF2B5EF4-FFF2-40B4-BE49-F238E27FC236}">
                <a16:creationId xmlns:a16="http://schemas.microsoft.com/office/drawing/2014/main" id="{E5F633C8-B8CA-424D-8F65-A44D4B262D27}"/>
              </a:ext>
            </a:extLst>
          </p:cNvPr>
          <p:cNvSpPr>
            <a:spLocks xmlns:a="http://schemas.openxmlformats.org/drawingml/2006/main" noGrp="1"/>
          </p:cNvSpPr>
          <p:nvPr/>
        </p:nvSpPr>
        <p:spPr>
          <a:xfrm xmlns:a="http://schemas.openxmlformats.org/drawingml/2006/main">
            <a:off x="8553450" y="4533900"/>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Calibri"/>
                <a:ea typeface="Calibri"/>
                <a:cs typeface="Calibri"/>
              </a:defRPr>
            </a:defPPr>
            <a:lvl1pPr algn="l">
              <a:defRPr sz="2250" b="0">
                <a:solidFill>
                  <a:srgbClr val="000000"/>
                </a:solidFill>
                <a:latin typeface="Calibri"/>
                <a:ea typeface="Calibri"/>
                <a:cs typeface="Calibri"/>
              </a:defRPr>
            </a:lvl1pPr>
            <a:lvl2pPr algn="l">
              <a:defRPr sz="2250" b="0">
                <a:solidFill>
                  <a:srgbClr val="000000"/>
                </a:solidFill>
                <a:latin typeface="Calibri"/>
                <a:ea typeface="Calibri"/>
                <a:cs typeface="Calibri"/>
              </a:defRPr>
            </a:lvl2pPr>
            <a:lvl3pPr algn="l">
              <a:defRPr sz="2250" b="0">
                <a:solidFill>
                  <a:srgbClr val="000000"/>
                </a:solidFill>
                <a:latin typeface="Calibri"/>
                <a:ea typeface="Calibri"/>
                <a:cs typeface="Calibri"/>
              </a:defRPr>
            </a:lvl3pPr>
            <a:lvl4pPr algn="l">
              <a:defRPr sz="2250" b="0">
                <a:solidFill>
                  <a:srgbClr val="000000"/>
                </a:solidFill>
                <a:latin typeface="Calibri"/>
                <a:ea typeface="Calibri"/>
                <a:cs typeface="Calibri"/>
              </a:defRPr>
            </a:lvl4pPr>
            <a:lvl5pPr algn="l">
              <a:defRPr sz="2250" b="0">
                <a:solidFill>
                  <a:srgbClr val="000000"/>
                </a:solidFill>
                <a:latin typeface="Calibri"/>
                <a:ea typeface="Calibri"/>
                <a:cs typeface="Calibri"/>
              </a:defRPr>
            </a:lvl5pPr>
            <a:lvl6pPr algn="l">
              <a:defRPr sz="2250" b="0">
                <a:solidFill>
                  <a:srgbClr val="000000"/>
                </a:solidFill>
                <a:latin typeface="Calibri"/>
                <a:ea typeface="Calibri"/>
                <a:cs typeface="Calibri"/>
              </a:defRPr>
            </a:lvl6pPr>
            <a:lvl7pPr algn="l">
              <a:defRPr sz="2250" b="0">
                <a:solidFill>
                  <a:srgbClr val="000000"/>
                </a:solidFill>
                <a:latin typeface="Calibri"/>
                <a:ea typeface="Calibri"/>
                <a:cs typeface="Calibri"/>
              </a:defRPr>
            </a:lvl7pPr>
            <a:lvl8pPr algn="l">
              <a:defRPr sz="2250" b="0">
                <a:solidFill>
                  <a:srgbClr val="000000"/>
                </a:solidFill>
                <a:latin typeface="Calibri"/>
                <a:ea typeface="Calibri"/>
                <a:cs typeface="Calibri"/>
              </a:defRPr>
            </a:lvl8pPr>
            <a:lvl9pPr algn="l">
              <a:defRPr sz="2250" b="0">
                <a:solidFill>
                  <a:srgbClr val="000000"/>
                </a:solidFill>
                <a:latin typeface="Calibri"/>
                <a:ea typeface="Calibri"/>
                <a:cs typeface="Calibri"/>
              </a:defRPr>
            </a:lvl9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recall</a:t>
            </a:r>
          </a:p>
        </p:txBody>
      </p:sp>
      <p:sp>
        <p:nvSpPr>
          <p:cNvPr id="12" name="object-126">
            <a:extLst xmlns:a="http://schemas.openxmlformats.org/drawingml/2006/main">
              <a:ext uri="{FF2B5EF4-FFF2-40B4-BE49-F238E27FC236}">
                <a16:creationId xmlns:a16="http://schemas.microsoft.com/office/drawing/2014/main" id="{479A076D-C7B9-4D5D-B964-4DF65BC1BB8F}"/>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0000"/>
                </a:solidFill>
                <a:latin typeface="Calibri"/>
                <a:ea typeface="Calibri"/>
                <a:cs typeface="Calibri"/>
              </a:defRPr>
            </a:defPPr>
            <a:lvl1pPr algn="l">
              <a:defRPr sz="1875" b="1">
                <a:solidFill>
                  <a:srgbClr val="000000"/>
                </a:solidFill>
                <a:latin typeface="Calibri"/>
                <a:ea typeface="Calibri"/>
                <a:cs typeface="Calibri"/>
              </a:defRPr>
            </a:lvl1pPr>
            <a:lvl2pPr algn="l">
              <a:defRPr sz="1875" b="1">
                <a:solidFill>
                  <a:srgbClr val="000000"/>
                </a:solidFill>
                <a:latin typeface="Calibri"/>
                <a:ea typeface="Calibri"/>
                <a:cs typeface="Calibri"/>
              </a:defRPr>
            </a:lvl2pPr>
            <a:lvl3pPr algn="l">
              <a:defRPr sz="1875" b="1">
                <a:solidFill>
                  <a:srgbClr val="000000"/>
                </a:solidFill>
                <a:latin typeface="Calibri"/>
                <a:ea typeface="Calibri"/>
                <a:cs typeface="Calibri"/>
              </a:defRPr>
            </a:lvl3pPr>
            <a:lvl4pPr algn="l">
              <a:defRPr sz="1875" b="1">
                <a:solidFill>
                  <a:srgbClr val="000000"/>
                </a:solidFill>
                <a:latin typeface="Calibri"/>
                <a:ea typeface="Calibri"/>
                <a:cs typeface="Calibri"/>
              </a:defRPr>
            </a:lvl4pPr>
            <a:lvl5pPr algn="l">
              <a:defRPr sz="1875" b="1">
                <a:solidFill>
                  <a:srgbClr val="000000"/>
                </a:solidFill>
                <a:latin typeface="Calibri"/>
                <a:ea typeface="Calibri"/>
                <a:cs typeface="Calibri"/>
              </a:defRPr>
            </a:lvl5pPr>
            <a:lvl6pPr algn="l">
              <a:defRPr sz="1875" b="1">
                <a:solidFill>
                  <a:srgbClr val="000000"/>
                </a:solidFill>
                <a:latin typeface="Calibri"/>
                <a:ea typeface="Calibri"/>
                <a:cs typeface="Calibri"/>
              </a:defRPr>
            </a:lvl6pPr>
            <a:lvl7pPr algn="l">
              <a:defRPr sz="1875" b="1">
                <a:solidFill>
                  <a:srgbClr val="000000"/>
                </a:solidFill>
                <a:latin typeface="Calibri"/>
                <a:ea typeface="Calibri"/>
                <a:cs typeface="Calibri"/>
              </a:defRPr>
            </a:lvl7pPr>
            <a:lvl8pPr algn="l">
              <a:defRPr sz="1875" b="1">
                <a:solidFill>
                  <a:srgbClr val="000000"/>
                </a:solidFill>
                <a:latin typeface="Calibri"/>
                <a:ea typeface="Calibri"/>
                <a:cs typeface="Calibri"/>
              </a:defRPr>
            </a:lvl8pPr>
            <a:lvl9pPr algn="l">
              <a:defRPr sz="1875" b="1">
                <a:solidFill>
                  <a:srgbClr val="000000"/>
                </a:solidFill>
                <a:latin typeface="Calibri"/>
                <a:ea typeface="Calibri"/>
                <a:cs typeface="Calibri"/>
              </a:defRPr>
            </a:lvl9pPr>
          </a:lstStyle>
          <a:p xmlns:a="http://schemas.openxmlformats.org/drawingml/2006/main">
            <a:pPr algn="l">
              <a:defRPr sz="1875" b="1">
                <a:solidFill>
                  <a:srgbClr val="000000"/>
                </a:solidFill>
                <a:latin typeface="Calibri"/>
                <a:ea typeface="Calibri"/>
                <a:cs typeface="Calibri"/>
              </a:defRPr>
            </a:pPr>
            <a:r>
              <a:rPr sz="1875" b="1">
                <a:solidFill>
                  <a:srgbClr val="000000"/>
                </a:solidFill>
                <a:latin typeface="Calibri"/>
                <a:ea typeface="Calibri"/>
                <a:cs typeface="Calibri"/>
              </a:rPr>
              <a:t>mAP is a detection metric. It is not classification accuracy.</a:t>
            </a:r>
          </a:p>
        </p:txBody>
      </p:sp>
    </p:spTree>
    <p:extLst>
      <p:ext uri="{BB962C8B-B14F-4D97-AF65-F5344CB8AC3E}">
        <p14:creationId xmlns:p14="http://schemas.microsoft.com/office/powerpoint/2010/main" val="43777685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bject-127">
            <a:extLst xmlns:a="http://schemas.openxmlformats.org/drawingml/2006/main">
              <a:ext uri="{FF2B5EF4-FFF2-40B4-BE49-F238E27FC236}">
                <a16:creationId xmlns:a16="http://schemas.microsoft.com/office/drawing/2014/main" id="{AA7043BC-3B10-417A-8D11-169E3F95CFEF}"/>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28">
            <a:extLst xmlns:a="http://schemas.openxmlformats.org/drawingml/2006/main">
              <a:ext uri="{FF2B5EF4-FFF2-40B4-BE49-F238E27FC236}">
                <a16:creationId xmlns:a16="http://schemas.microsoft.com/office/drawing/2014/main" id="{04CD6C6D-5B1A-4252-AAB3-38A5918D51AA}"/>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29">
            <a:extLst xmlns:a="http://schemas.openxmlformats.org/drawingml/2006/main">
              <a:ext uri="{FF2B5EF4-FFF2-40B4-BE49-F238E27FC236}">
                <a16:creationId xmlns:a16="http://schemas.microsoft.com/office/drawing/2014/main" id="{369495E5-C5B1-4B43-8B95-5D304330707A}"/>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Lane segmentation results</a:t>
            </a:r>
          </a:p>
        </p:txBody>
      </p:sp>
      <p:sp>
        <p:nvSpPr>
          <p:cNvPr id="4" name="object-130">
            <a:extLst xmlns:a="http://schemas.openxmlformats.org/drawingml/2006/main">
              <a:ext uri="{FF2B5EF4-FFF2-40B4-BE49-F238E27FC236}">
                <a16:creationId xmlns:a16="http://schemas.microsoft.com/office/drawing/2014/main" id="{F4154A1E-9D48-4F49-91D4-5382C18CDCF9}"/>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31">
            <a:extLst xmlns:a="http://schemas.openxmlformats.org/drawingml/2006/main">
              <a:ext uri="{FF2B5EF4-FFF2-40B4-BE49-F238E27FC236}">
                <a16:creationId xmlns:a16="http://schemas.microsoft.com/office/drawing/2014/main" id="{ED759AD9-74FC-418E-B6E9-C59B1C384975}"/>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Validation: 726 frames and 2,732 annotated lane instances</a:t>
            </a:r>
          </a:p>
        </p:txBody>
      </p:sp>
      <p:sp>
        <p:nvSpPr>
          <p:cNvPr id="6" name="object-132">
            <a:extLst xmlns:a="http://schemas.openxmlformats.org/drawingml/2006/main">
              <a:ext uri="{FF2B5EF4-FFF2-40B4-BE49-F238E27FC236}">
                <a16:creationId xmlns:a16="http://schemas.microsoft.com/office/drawing/2014/main" id="{60CCB2F0-C5A4-469D-9912-D0AAD094C501}"/>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13</a:t>
            </a:r>
          </a:p>
        </p:txBody>
      </p:sp>
      <p:graphicFrame>
        <p:nvGraphicFramePr>
          <p:cNvPr id="7" name="Chart">
            <a:extLst xmlns:a="http://schemas.openxmlformats.org/drawingml/2006/main">
              <a:ext uri="{FF2B5EF4-FFF2-40B4-BE49-F238E27FC236}">
                <a16:creationId xmlns:a16="http://schemas.microsoft.com/office/drawing/2014/main" id="{4D9511DF-5711-4617-A72E-3C39EBE37A63}"/>
              </a:ext>
            </a:extLst>
          </p:cNvPr>
          <p:cNvGraphicFramePr/>
          <p:nvPr/>
        </p:nvGraphicFramePr>
        <p:xfrm>
          <a:off xmlns:a="http://schemas.openxmlformats.org/drawingml/2006/main" x="685800" y="1990725"/>
          <a:ext xmlns:a="http://schemas.openxmlformats.org/drawingml/2006/main" cx="7429500" cy="3476625"/>
        </p:xfrm>
        <a:graphic xmlns:a="http://schemas.openxmlformats.org/drawingml/2006/main">
          <a:graphicData uri="http://schemas.openxmlformats.org/drawingml/2006/chart">
            <c:chart xmlns:r="http://schemas.openxmlformats.org/officeDocument/2006/relationships" xmlns:c="http://schemas.openxmlformats.org/drawingml/2006/chart" r:id="R3f8ec3c670b8449f"/>
          </a:graphicData>
        </a:graphic>
      </p:graphicFrame>
      <p:sp>
        <p:nvSpPr>
          <p:cNvPr id="8" name="object-133">
            <a:extLst xmlns:a="http://schemas.openxmlformats.org/drawingml/2006/main">
              <a:ext uri="{FF2B5EF4-FFF2-40B4-BE49-F238E27FC236}">
                <a16:creationId xmlns:a16="http://schemas.microsoft.com/office/drawing/2014/main" id="{7764737A-6CB2-4901-B813-328BF9DF3BDD}"/>
              </a:ext>
            </a:extLst>
          </p:cNvPr>
          <p:cNvSpPr>
            <a:spLocks xmlns:a="http://schemas.openxmlformats.org/drawingml/2006/main" noGrp="1"/>
          </p:cNvSpPr>
          <p:nvPr/>
        </p:nvSpPr>
        <p:spPr>
          <a:xfrm xmlns:a="http://schemas.openxmlformats.org/drawingml/2006/main">
            <a:off x="8572500" y="2124075"/>
            <a:ext cx="27813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Calibri"/>
                <a:ea typeface="Calibri"/>
                <a:cs typeface="Calibri"/>
              </a:defRPr>
            </a:defPPr>
            <a:lvl1pPr algn="l">
              <a:defRPr sz="4800" b="1">
                <a:solidFill>
                  <a:srgbClr val="000000"/>
                </a:solidFill>
                <a:latin typeface="Calibri"/>
                <a:ea typeface="Calibri"/>
                <a:cs typeface="Calibri"/>
              </a:defRPr>
            </a:lvl1pPr>
            <a:lvl2pPr algn="l">
              <a:defRPr sz="4800" b="1">
                <a:solidFill>
                  <a:srgbClr val="000000"/>
                </a:solidFill>
                <a:latin typeface="Calibri"/>
                <a:ea typeface="Calibri"/>
                <a:cs typeface="Calibri"/>
              </a:defRPr>
            </a:lvl2pPr>
            <a:lvl3pPr algn="l">
              <a:defRPr sz="4800" b="1">
                <a:solidFill>
                  <a:srgbClr val="000000"/>
                </a:solidFill>
                <a:latin typeface="Calibri"/>
                <a:ea typeface="Calibri"/>
                <a:cs typeface="Calibri"/>
              </a:defRPr>
            </a:lvl3pPr>
            <a:lvl4pPr algn="l">
              <a:defRPr sz="4800" b="1">
                <a:solidFill>
                  <a:srgbClr val="000000"/>
                </a:solidFill>
                <a:latin typeface="Calibri"/>
                <a:ea typeface="Calibri"/>
                <a:cs typeface="Calibri"/>
              </a:defRPr>
            </a:lvl4pPr>
            <a:lvl5pPr algn="l">
              <a:defRPr sz="4800" b="1">
                <a:solidFill>
                  <a:srgbClr val="000000"/>
                </a:solidFill>
                <a:latin typeface="Calibri"/>
                <a:ea typeface="Calibri"/>
                <a:cs typeface="Calibri"/>
              </a:defRPr>
            </a:lvl5pPr>
            <a:lvl6pPr algn="l">
              <a:defRPr sz="4800" b="1">
                <a:solidFill>
                  <a:srgbClr val="000000"/>
                </a:solidFill>
                <a:latin typeface="Calibri"/>
                <a:ea typeface="Calibri"/>
                <a:cs typeface="Calibri"/>
              </a:defRPr>
            </a:lvl6pPr>
            <a:lvl7pPr algn="l">
              <a:defRPr sz="4800" b="1">
                <a:solidFill>
                  <a:srgbClr val="000000"/>
                </a:solidFill>
                <a:latin typeface="Calibri"/>
                <a:ea typeface="Calibri"/>
                <a:cs typeface="Calibri"/>
              </a:defRPr>
            </a:lvl7pPr>
            <a:lvl8pPr algn="l">
              <a:defRPr sz="4800" b="1">
                <a:solidFill>
                  <a:srgbClr val="000000"/>
                </a:solidFill>
                <a:latin typeface="Calibri"/>
                <a:ea typeface="Calibri"/>
                <a:cs typeface="Calibri"/>
              </a:defRPr>
            </a:lvl8pPr>
            <a:lvl9pPr algn="l">
              <a:defRPr sz="4800" b="1">
                <a:solidFill>
                  <a:srgbClr val="000000"/>
                </a:solidFill>
                <a:latin typeface="Calibri"/>
                <a:ea typeface="Calibri"/>
                <a:cs typeface="Calibri"/>
              </a:defRPr>
            </a:lvl9pPr>
          </a:lstStyle>
          <a:p xmlns:a="http://schemas.openxmlformats.org/drawingml/2006/main">
            <a:pPr algn="l">
              <a:defRPr sz="4800" b="1">
                <a:solidFill>
                  <a:srgbClr val="000000"/>
                </a:solidFill>
                <a:latin typeface="Calibri"/>
                <a:ea typeface="Calibri"/>
                <a:cs typeface="Calibri"/>
              </a:defRPr>
            </a:pPr>
            <a:r>
              <a:rPr sz="4800" b="1">
                <a:solidFill>
                  <a:srgbClr val="000000"/>
                </a:solidFill>
                <a:latin typeface="Calibri"/>
                <a:ea typeface="Calibri"/>
                <a:cs typeface="Calibri"/>
              </a:rPr>
              <a:t>99.2%</a:t>
            </a:r>
          </a:p>
        </p:txBody>
      </p:sp>
      <p:sp>
        <p:nvSpPr>
          <p:cNvPr id="9" name="object-134">
            <a:extLst xmlns:a="http://schemas.openxmlformats.org/drawingml/2006/main">
              <a:ext uri="{FF2B5EF4-FFF2-40B4-BE49-F238E27FC236}">
                <a16:creationId xmlns:a16="http://schemas.microsoft.com/office/drawing/2014/main" id="{7299EAF2-8852-4666-95BD-C46332F75B36}"/>
              </a:ext>
            </a:extLst>
          </p:cNvPr>
          <p:cNvSpPr>
            <a:spLocks xmlns:a="http://schemas.openxmlformats.org/drawingml/2006/main" noGrp="1"/>
          </p:cNvSpPr>
          <p:nvPr/>
        </p:nvSpPr>
        <p:spPr>
          <a:xfrm xmlns:a="http://schemas.openxmlformats.org/drawingml/2006/main">
            <a:off x="8572500" y="2943225"/>
            <a:ext cx="2781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box mAP50</a:t>
            </a:r>
          </a:p>
        </p:txBody>
      </p:sp>
      <p:sp>
        <p:nvSpPr>
          <p:cNvPr id="10" name="object-135">
            <a:extLst xmlns:a="http://schemas.openxmlformats.org/drawingml/2006/main">
              <a:ext uri="{FF2B5EF4-FFF2-40B4-BE49-F238E27FC236}">
                <a16:creationId xmlns:a16="http://schemas.microsoft.com/office/drawing/2014/main" id="{3BEE06BE-6415-42E7-B7B3-1E9E44990810}"/>
              </a:ext>
            </a:extLst>
          </p:cNvPr>
          <p:cNvSpPr>
            <a:spLocks xmlns:a="http://schemas.openxmlformats.org/drawingml/2006/main" noGrp="1"/>
          </p:cNvSpPr>
          <p:nvPr/>
        </p:nvSpPr>
        <p:spPr>
          <a:xfrm xmlns:a="http://schemas.openxmlformats.org/drawingml/2006/main">
            <a:off x="8572500" y="3790950"/>
            <a:ext cx="27813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Calibri"/>
                <a:ea typeface="Calibri"/>
                <a:cs typeface="Calibri"/>
              </a:defRPr>
            </a:defPPr>
            <a:lvl1pPr algn="l">
              <a:defRPr sz="4800" b="1">
                <a:solidFill>
                  <a:srgbClr val="000000"/>
                </a:solidFill>
                <a:latin typeface="Calibri"/>
                <a:ea typeface="Calibri"/>
                <a:cs typeface="Calibri"/>
              </a:defRPr>
            </a:lvl1pPr>
            <a:lvl2pPr algn="l">
              <a:defRPr sz="4800" b="1">
                <a:solidFill>
                  <a:srgbClr val="000000"/>
                </a:solidFill>
                <a:latin typeface="Calibri"/>
                <a:ea typeface="Calibri"/>
                <a:cs typeface="Calibri"/>
              </a:defRPr>
            </a:lvl2pPr>
            <a:lvl3pPr algn="l">
              <a:defRPr sz="4800" b="1">
                <a:solidFill>
                  <a:srgbClr val="000000"/>
                </a:solidFill>
                <a:latin typeface="Calibri"/>
                <a:ea typeface="Calibri"/>
                <a:cs typeface="Calibri"/>
              </a:defRPr>
            </a:lvl3pPr>
            <a:lvl4pPr algn="l">
              <a:defRPr sz="4800" b="1">
                <a:solidFill>
                  <a:srgbClr val="000000"/>
                </a:solidFill>
                <a:latin typeface="Calibri"/>
                <a:ea typeface="Calibri"/>
                <a:cs typeface="Calibri"/>
              </a:defRPr>
            </a:lvl4pPr>
            <a:lvl5pPr algn="l">
              <a:defRPr sz="4800" b="1">
                <a:solidFill>
                  <a:srgbClr val="000000"/>
                </a:solidFill>
                <a:latin typeface="Calibri"/>
                <a:ea typeface="Calibri"/>
                <a:cs typeface="Calibri"/>
              </a:defRPr>
            </a:lvl5pPr>
            <a:lvl6pPr algn="l">
              <a:defRPr sz="4800" b="1">
                <a:solidFill>
                  <a:srgbClr val="000000"/>
                </a:solidFill>
                <a:latin typeface="Calibri"/>
                <a:ea typeface="Calibri"/>
                <a:cs typeface="Calibri"/>
              </a:defRPr>
            </a:lvl6pPr>
            <a:lvl7pPr algn="l">
              <a:defRPr sz="4800" b="1">
                <a:solidFill>
                  <a:srgbClr val="000000"/>
                </a:solidFill>
                <a:latin typeface="Calibri"/>
                <a:ea typeface="Calibri"/>
                <a:cs typeface="Calibri"/>
              </a:defRPr>
            </a:lvl7pPr>
            <a:lvl8pPr algn="l">
              <a:defRPr sz="4800" b="1">
                <a:solidFill>
                  <a:srgbClr val="000000"/>
                </a:solidFill>
                <a:latin typeface="Calibri"/>
                <a:ea typeface="Calibri"/>
                <a:cs typeface="Calibri"/>
              </a:defRPr>
            </a:lvl8pPr>
            <a:lvl9pPr algn="l">
              <a:defRPr sz="4800" b="1">
                <a:solidFill>
                  <a:srgbClr val="000000"/>
                </a:solidFill>
                <a:latin typeface="Calibri"/>
                <a:ea typeface="Calibri"/>
                <a:cs typeface="Calibri"/>
              </a:defRPr>
            </a:lvl9pPr>
          </a:lstStyle>
          <a:p xmlns:a="http://schemas.openxmlformats.org/drawingml/2006/main">
            <a:pPr algn="l">
              <a:defRPr sz="4800" b="1">
                <a:solidFill>
                  <a:srgbClr val="000000"/>
                </a:solidFill>
                <a:latin typeface="Calibri"/>
                <a:ea typeface="Calibri"/>
                <a:cs typeface="Calibri"/>
              </a:defRPr>
            </a:pPr>
            <a:r>
              <a:rPr sz="4800" b="1">
                <a:solidFill>
                  <a:srgbClr val="000000"/>
                </a:solidFill>
                <a:latin typeface="Calibri"/>
                <a:ea typeface="Calibri"/>
                <a:cs typeface="Calibri"/>
              </a:rPr>
              <a:t>38.9%</a:t>
            </a:r>
          </a:p>
        </p:txBody>
      </p:sp>
      <p:sp>
        <p:nvSpPr>
          <p:cNvPr id="11" name="object-136">
            <a:extLst xmlns:a="http://schemas.openxmlformats.org/drawingml/2006/main">
              <a:ext uri="{FF2B5EF4-FFF2-40B4-BE49-F238E27FC236}">
                <a16:creationId xmlns:a16="http://schemas.microsoft.com/office/drawing/2014/main" id="{841322CD-4550-48F9-BEE6-152BD2F4FC4C}"/>
              </a:ext>
            </a:extLst>
          </p:cNvPr>
          <p:cNvSpPr>
            <a:spLocks xmlns:a="http://schemas.openxmlformats.org/drawingml/2006/main" noGrp="1"/>
          </p:cNvSpPr>
          <p:nvPr/>
        </p:nvSpPr>
        <p:spPr>
          <a:xfrm xmlns:a="http://schemas.openxmlformats.org/drawingml/2006/main">
            <a:off x="8572500" y="4610100"/>
            <a:ext cx="28384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mask mAP50–95</a:t>
            </a:r>
          </a:p>
        </p:txBody>
      </p:sp>
      <p:sp>
        <p:nvSpPr>
          <p:cNvPr id="12" name="object-137">
            <a:extLst xmlns:a="http://schemas.openxmlformats.org/drawingml/2006/main">
              <a:ext uri="{FF2B5EF4-FFF2-40B4-BE49-F238E27FC236}">
                <a16:creationId xmlns:a16="http://schemas.microsoft.com/office/drawing/2014/main" id="{E6EF7D3B-BFC2-4371-985A-77268C5CCE04}"/>
              </a:ext>
            </a:extLst>
          </p:cNvPr>
          <p:cNvSpPr>
            <a:spLocks xmlns:a="http://schemas.openxmlformats.org/drawingml/2006/main" noGrp="1"/>
          </p:cNvSpPr>
          <p:nvPr/>
        </p:nvSpPr>
        <p:spPr>
          <a:xfrm xmlns:a="http://schemas.openxmlformats.org/drawingml/2006/main">
            <a:off x="685800" y="58293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defRPr sz="1800" b="1">
                <a:solidFill>
                  <a:srgbClr val="000000"/>
                </a:solidFill>
                <a:latin typeface="Calibri"/>
                <a:ea typeface="Calibri"/>
                <a:cs typeface="Calibri"/>
              </a:defRPr>
            </a:pPr>
            <a:r>
              <a:rPr sz="1800" b="1">
                <a:solidFill>
                  <a:srgbClr val="000000"/>
                </a:solidFill>
                <a:latin typeface="Calibri"/>
                <a:ea typeface="Calibri"/>
                <a:cs typeface="Calibri"/>
              </a:rPr>
              <a:t>Thin lane masks make IoU sensitive to small offsets. These are not official TuSimple leaderboard scores.</a:t>
            </a:r>
          </a:p>
        </p:txBody>
      </p:sp>
    </p:spTree>
    <p:extLst>
      <p:ext uri="{BB962C8B-B14F-4D97-AF65-F5344CB8AC3E}">
        <p14:creationId xmlns:p14="http://schemas.microsoft.com/office/powerpoint/2010/main" val="9245340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bject-138">
            <a:extLst xmlns:a="http://schemas.openxmlformats.org/drawingml/2006/main">
              <a:ext uri="{FF2B5EF4-FFF2-40B4-BE49-F238E27FC236}">
                <a16:creationId xmlns:a16="http://schemas.microsoft.com/office/drawing/2014/main" id="{1E7CA89E-6BCB-4F55-9282-9EC421E70D67}"/>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39">
            <a:extLst xmlns:a="http://schemas.openxmlformats.org/drawingml/2006/main">
              <a:ext uri="{FF2B5EF4-FFF2-40B4-BE49-F238E27FC236}">
                <a16:creationId xmlns:a16="http://schemas.microsoft.com/office/drawing/2014/main" id="{89D6BE2D-9CAB-433B-A0AA-594C87865F98}"/>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40">
            <a:extLst xmlns:a="http://schemas.openxmlformats.org/drawingml/2006/main">
              <a:ext uri="{FF2B5EF4-FFF2-40B4-BE49-F238E27FC236}">
                <a16:creationId xmlns:a16="http://schemas.microsoft.com/office/drawing/2014/main" id="{6F59398C-6164-4AE1-9706-DA70EDCBA685}"/>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Detection training progress</a:t>
            </a:r>
          </a:p>
        </p:txBody>
      </p:sp>
      <p:sp>
        <p:nvSpPr>
          <p:cNvPr id="4" name="object-141">
            <a:extLst xmlns:a="http://schemas.openxmlformats.org/drawingml/2006/main">
              <a:ext uri="{FF2B5EF4-FFF2-40B4-BE49-F238E27FC236}">
                <a16:creationId xmlns:a16="http://schemas.microsoft.com/office/drawing/2014/main" id="{032B4F33-C96F-4AD2-9AC1-503F9B2DDE37}"/>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42">
            <a:extLst xmlns:a="http://schemas.openxmlformats.org/drawingml/2006/main">
              <a:ext uri="{FF2B5EF4-FFF2-40B4-BE49-F238E27FC236}">
                <a16:creationId xmlns:a16="http://schemas.microsoft.com/office/drawing/2014/main" id="{0956D2A8-5082-4ED3-9987-5E2592677E71}"/>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50 recorded epochs on the perception training run</a:t>
            </a:r>
          </a:p>
        </p:txBody>
      </p:sp>
      <p:sp>
        <p:nvSpPr>
          <p:cNvPr id="6" name="object-143">
            <a:extLst xmlns:a="http://schemas.openxmlformats.org/drawingml/2006/main">
              <a:ext uri="{FF2B5EF4-FFF2-40B4-BE49-F238E27FC236}">
                <a16:creationId xmlns:a16="http://schemas.microsoft.com/office/drawing/2014/main" id="{810B523E-CD5A-4DE0-A735-04D35A83D284}"/>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14</a:t>
            </a:r>
          </a:p>
        </p:txBody>
      </p:sp>
      <p:pic>
        <p:nvPicPr>
          <p:cNvPr id="7" name="">
            <a:extLst xmlns:a="http://schemas.openxmlformats.org/drawingml/2006/main">
              <a:ext uri="{FF2B5EF4-FFF2-40B4-BE49-F238E27FC236}">
                <a16:creationId xmlns:a16="http://schemas.microsoft.com/office/drawing/2014/main" id="{8168AFB4-0968-4BB1-A9C4-1FEADBD9F600}"/>
              </a:ext>
            </a:extLst>
          </p:cNvPr>
          <p:cNvPicPr>
            <a:picLocks xmlns:a="http://schemas.openxmlformats.org/drawingml/2006/main" noChangeAspect="1"/>
          </p:cNvPicPr>
          <p:nvPr/>
        </p:nvPicPr>
        <p:blipFill>
          <a:blip xmlns:r="http://schemas.openxmlformats.org/officeDocument/2006/relationships" xmlns:a="http://schemas.openxmlformats.org/drawingml/2006/main" r:embed="R2c76b2c2573d4159"/>
          <a:stretch xmlns:a="http://schemas.openxmlformats.org/drawingml/2006/main"/>
        </p:blipFill>
        <p:spPr>
          <a:xfrm xmlns:a="http://schemas.openxmlformats.org/drawingml/2006/main">
            <a:off x="1048771" y="1866900"/>
            <a:ext cx="10094459" cy="3819525"/>
          </a:xfrm>
          <a:prstGeom xmlns:a="http://schemas.openxmlformats.org/drawingml/2006/main" prst="rect">
            <a:avLst/>
          </a:prstGeom>
        </p:spPr>
      </p:pic>
      <p:sp>
        <p:nvSpPr>
          <p:cNvPr id="8" name="object-144">
            <a:extLst xmlns:a="http://schemas.openxmlformats.org/drawingml/2006/main">
              <a:ext uri="{FF2B5EF4-FFF2-40B4-BE49-F238E27FC236}">
                <a16:creationId xmlns:a16="http://schemas.microsoft.com/office/drawing/2014/main" id="{942CF87B-1CD1-4B2E-BF6A-90CD98DFC77A}"/>
              </a:ext>
            </a:extLst>
          </p:cNvPr>
          <p:cNvSpPr>
            <a:spLocks xmlns:a="http://schemas.openxmlformats.org/drawingml/2006/main" noGrp="1"/>
          </p:cNvSpPr>
          <p:nvPr/>
        </p:nvSpPr>
        <p:spPr>
          <a:xfrm xmlns:a="http://schemas.openxmlformats.org/drawingml/2006/main">
            <a:off x="685800" y="586740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0000"/>
                </a:solidFill>
                <a:latin typeface="Calibri"/>
                <a:ea typeface="Calibri"/>
                <a:cs typeface="Calibri"/>
              </a:defRPr>
            </a:defPPr>
            <a:lvl1pPr algn="l">
              <a:defRPr sz="2175" b="1">
                <a:solidFill>
                  <a:srgbClr val="000000"/>
                </a:solidFill>
                <a:latin typeface="Calibri"/>
                <a:ea typeface="Calibri"/>
                <a:cs typeface="Calibri"/>
              </a:defRPr>
            </a:lvl1pPr>
            <a:lvl2pPr algn="l">
              <a:defRPr sz="2175" b="1">
                <a:solidFill>
                  <a:srgbClr val="000000"/>
                </a:solidFill>
                <a:latin typeface="Calibri"/>
                <a:ea typeface="Calibri"/>
                <a:cs typeface="Calibri"/>
              </a:defRPr>
            </a:lvl2pPr>
            <a:lvl3pPr algn="l">
              <a:defRPr sz="2175" b="1">
                <a:solidFill>
                  <a:srgbClr val="000000"/>
                </a:solidFill>
                <a:latin typeface="Calibri"/>
                <a:ea typeface="Calibri"/>
                <a:cs typeface="Calibri"/>
              </a:defRPr>
            </a:lvl3pPr>
            <a:lvl4pPr algn="l">
              <a:defRPr sz="2175" b="1">
                <a:solidFill>
                  <a:srgbClr val="000000"/>
                </a:solidFill>
                <a:latin typeface="Calibri"/>
                <a:ea typeface="Calibri"/>
                <a:cs typeface="Calibri"/>
              </a:defRPr>
            </a:lvl4pPr>
            <a:lvl5pPr algn="l">
              <a:defRPr sz="2175" b="1">
                <a:solidFill>
                  <a:srgbClr val="000000"/>
                </a:solidFill>
                <a:latin typeface="Calibri"/>
                <a:ea typeface="Calibri"/>
                <a:cs typeface="Calibri"/>
              </a:defRPr>
            </a:lvl5pPr>
            <a:lvl6pPr algn="l">
              <a:defRPr sz="2175" b="1">
                <a:solidFill>
                  <a:srgbClr val="000000"/>
                </a:solidFill>
                <a:latin typeface="Calibri"/>
                <a:ea typeface="Calibri"/>
                <a:cs typeface="Calibri"/>
              </a:defRPr>
            </a:lvl6pPr>
            <a:lvl7pPr algn="l">
              <a:defRPr sz="2175" b="1">
                <a:solidFill>
                  <a:srgbClr val="000000"/>
                </a:solidFill>
                <a:latin typeface="Calibri"/>
                <a:ea typeface="Calibri"/>
                <a:cs typeface="Calibri"/>
              </a:defRPr>
            </a:lvl7pPr>
            <a:lvl8pPr algn="l">
              <a:defRPr sz="2175" b="1">
                <a:solidFill>
                  <a:srgbClr val="000000"/>
                </a:solidFill>
                <a:latin typeface="Calibri"/>
                <a:ea typeface="Calibri"/>
                <a:cs typeface="Calibri"/>
              </a:defRPr>
            </a:lvl8pPr>
            <a:lvl9pPr algn="l">
              <a:defRPr sz="2175" b="1">
                <a:solidFill>
                  <a:srgbClr val="000000"/>
                </a:solidFill>
                <a:latin typeface="Calibri"/>
                <a:ea typeface="Calibri"/>
                <a:cs typeface="Calibri"/>
              </a:defRPr>
            </a:lvl9pPr>
          </a:lstStyle>
          <a:p xmlns:a="http://schemas.openxmlformats.org/drawingml/2006/main">
            <a:pPr algn="l">
              <a:defRPr sz="2175" b="1">
                <a:solidFill>
                  <a:srgbClr val="000000"/>
                </a:solidFill>
                <a:latin typeface="Calibri"/>
                <a:ea typeface="Calibri"/>
                <a:cs typeface="Calibri"/>
              </a:defRPr>
            </a:pPr>
            <a:r>
              <a:rPr sz="2175" b="1">
                <a:solidFill>
                  <a:srgbClr val="000000"/>
                </a:solidFill>
                <a:latin typeface="Calibri"/>
                <a:ea typeface="Calibri"/>
                <a:cs typeface="Calibri"/>
              </a:rPr>
              <a:t>Validation mAP50–95: 0.331 at epoch 1, 0.482 at epoch 50</a:t>
            </a:r>
          </a:p>
        </p:txBody>
      </p:sp>
    </p:spTree>
    <p:extLst>
      <p:ext uri="{BB962C8B-B14F-4D97-AF65-F5344CB8AC3E}">
        <p14:creationId xmlns:p14="http://schemas.microsoft.com/office/powerpoint/2010/main" val="147085336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bject-145">
            <a:extLst xmlns:a="http://schemas.openxmlformats.org/drawingml/2006/main">
              <a:ext uri="{FF2B5EF4-FFF2-40B4-BE49-F238E27FC236}">
                <a16:creationId xmlns:a16="http://schemas.microsoft.com/office/drawing/2014/main" id="{C68C03E9-64CF-4B04-92B6-DB3C7493A841}"/>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46">
            <a:extLst xmlns:a="http://schemas.openxmlformats.org/drawingml/2006/main">
              <a:ext uri="{FF2B5EF4-FFF2-40B4-BE49-F238E27FC236}">
                <a16:creationId xmlns:a16="http://schemas.microsoft.com/office/drawing/2014/main" id="{CE3AC2AC-FE6E-40CB-8FBC-651CFE6CE1E9}"/>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47">
            <a:extLst xmlns:a="http://schemas.openxmlformats.org/drawingml/2006/main">
              <a:ext uri="{FF2B5EF4-FFF2-40B4-BE49-F238E27FC236}">
                <a16:creationId xmlns:a16="http://schemas.microsoft.com/office/drawing/2014/main" id="{AF446CC7-6693-46F5-883E-F73B80117F4A}"/>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Lane training progress</a:t>
            </a:r>
          </a:p>
        </p:txBody>
      </p:sp>
      <p:sp>
        <p:nvSpPr>
          <p:cNvPr id="4" name="object-148">
            <a:extLst xmlns:a="http://schemas.openxmlformats.org/drawingml/2006/main">
              <a:ext uri="{FF2B5EF4-FFF2-40B4-BE49-F238E27FC236}">
                <a16:creationId xmlns:a16="http://schemas.microsoft.com/office/drawing/2014/main" id="{41403F33-B96A-427E-A92A-7AC76B02FBB1}"/>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49">
            <a:extLst xmlns:a="http://schemas.openxmlformats.org/drawingml/2006/main">
              <a:ext uri="{FF2B5EF4-FFF2-40B4-BE49-F238E27FC236}">
                <a16:creationId xmlns:a16="http://schemas.microsoft.com/office/drawing/2014/main" id="{9B5DDF70-0823-4A15-9755-60F603AEBE8C}"/>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60 recorded epochs on the perception training run</a:t>
            </a:r>
          </a:p>
        </p:txBody>
      </p:sp>
      <p:sp>
        <p:nvSpPr>
          <p:cNvPr id="6" name="object-150">
            <a:extLst xmlns:a="http://schemas.openxmlformats.org/drawingml/2006/main">
              <a:ext uri="{FF2B5EF4-FFF2-40B4-BE49-F238E27FC236}">
                <a16:creationId xmlns:a16="http://schemas.microsoft.com/office/drawing/2014/main" id="{F03580B4-38AC-498B-8331-0E62C6FF0AA6}"/>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15</a:t>
            </a:r>
          </a:p>
        </p:txBody>
      </p:sp>
      <p:pic>
        <p:nvPicPr>
          <p:cNvPr id="7" name="">
            <a:extLst xmlns:a="http://schemas.openxmlformats.org/drawingml/2006/main">
              <a:ext uri="{FF2B5EF4-FFF2-40B4-BE49-F238E27FC236}">
                <a16:creationId xmlns:a16="http://schemas.microsoft.com/office/drawing/2014/main" id="{0F119D7F-EF07-4D38-A35E-448D51D88CCB}"/>
              </a:ext>
            </a:extLst>
          </p:cNvPr>
          <p:cNvPicPr>
            <a:picLocks xmlns:a="http://schemas.openxmlformats.org/drawingml/2006/main" noChangeAspect="1"/>
          </p:cNvPicPr>
          <p:nvPr/>
        </p:nvPicPr>
        <p:blipFill>
          <a:blip xmlns:r="http://schemas.openxmlformats.org/officeDocument/2006/relationships" xmlns:a="http://schemas.openxmlformats.org/drawingml/2006/main" r:embed="R4faf78988e884d05"/>
          <a:stretch xmlns:a="http://schemas.openxmlformats.org/drawingml/2006/main"/>
        </p:blipFill>
        <p:spPr>
          <a:xfrm xmlns:a="http://schemas.openxmlformats.org/drawingml/2006/main">
            <a:off x="1048771" y="1866900"/>
            <a:ext cx="10094459" cy="3819525"/>
          </a:xfrm>
          <a:prstGeom xmlns:a="http://schemas.openxmlformats.org/drawingml/2006/main" prst="rect">
            <a:avLst/>
          </a:prstGeom>
        </p:spPr>
      </p:pic>
      <p:sp>
        <p:nvSpPr>
          <p:cNvPr id="8" name="object-151">
            <a:extLst xmlns:a="http://schemas.openxmlformats.org/drawingml/2006/main">
              <a:ext uri="{FF2B5EF4-FFF2-40B4-BE49-F238E27FC236}">
                <a16:creationId xmlns:a16="http://schemas.microsoft.com/office/drawing/2014/main" id="{5A27B2D9-E849-48B2-A885-F3DF4E316409}"/>
              </a:ext>
            </a:extLst>
          </p:cNvPr>
          <p:cNvSpPr>
            <a:spLocks xmlns:a="http://schemas.openxmlformats.org/drawingml/2006/main" noGrp="1"/>
          </p:cNvSpPr>
          <p:nvPr/>
        </p:nvSpPr>
        <p:spPr>
          <a:xfrm xmlns:a="http://schemas.openxmlformats.org/drawingml/2006/main">
            <a:off x="685800" y="586740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0000"/>
                </a:solidFill>
                <a:latin typeface="Calibri"/>
                <a:ea typeface="Calibri"/>
                <a:cs typeface="Calibri"/>
              </a:defRPr>
            </a:defPPr>
            <a:lvl1pPr algn="l">
              <a:defRPr sz="2175" b="1">
                <a:solidFill>
                  <a:srgbClr val="000000"/>
                </a:solidFill>
                <a:latin typeface="Calibri"/>
                <a:ea typeface="Calibri"/>
                <a:cs typeface="Calibri"/>
              </a:defRPr>
            </a:lvl1pPr>
            <a:lvl2pPr algn="l">
              <a:defRPr sz="2175" b="1">
                <a:solidFill>
                  <a:srgbClr val="000000"/>
                </a:solidFill>
                <a:latin typeface="Calibri"/>
                <a:ea typeface="Calibri"/>
                <a:cs typeface="Calibri"/>
              </a:defRPr>
            </a:lvl2pPr>
            <a:lvl3pPr algn="l">
              <a:defRPr sz="2175" b="1">
                <a:solidFill>
                  <a:srgbClr val="000000"/>
                </a:solidFill>
                <a:latin typeface="Calibri"/>
                <a:ea typeface="Calibri"/>
                <a:cs typeface="Calibri"/>
              </a:defRPr>
            </a:lvl3pPr>
            <a:lvl4pPr algn="l">
              <a:defRPr sz="2175" b="1">
                <a:solidFill>
                  <a:srgbClr val="000000"/>
                </a:solidFill>
                <a:latin typeface="Calibri"/>
                <a:ea typeface="Calibri"/>
                <a:cs typeface="Calibri"/>
              </a:defRPr>
            </a:lvl4pPr>
            <a:lvl5pPr algn="l">
              <a:defRPr sz="2175" b="1">
                <a:solidFill>
                  <a:srgbClr val="000000"/>
                </a:solidFill>
                <a:latin typeface="Calibri"/>
                <a:ea typeface="Calibri"/>
                <a:cs typeface="Calibri"/>
              </a:defRPr>
            </a:lvl5pPr>
            <a:lvl6pPr algn="l">
              <a:defRPr sz="2175" b="1">
                <a:solidFill>
                  <a:srgbClr val="000000"/>
                </a:solidFill>
                <a:latin typeface="Calibri"/>
                <a:ea typeface="Calibri"/>
                <a:cs typeface="Calibri"/>
              </a:defRPr>
            </a:lvl6pPr>
            <a:lvl7pPr algn="l">
              <a:defRPr sz="2175" b="1">
                <a:solidFill>
                  <a:srgbClr val="000000"/>
                </a:solidFill>
                <a:latin typeface="Calibri"/>
                <a:ea typeface="Calibri"/>
                <a:cs typeface="Calibri"/>
              </a:defRPr>
            </a:lvl7pPr>
            <a:lvl8pPr algn="l">
              <a:defRPr sz="2175" b="1">
                <a:solidFill>
                  <a:srgbClr val="000000"/>
                </a:solidFill>
                <a:latin typeface="Calibri"/>
                <a:ea typeface="Calibri"/>
                <a:cs typeface="Calibri"/>
              </a:defRPr>
            </a:lvl8pPr>
            <a:lvl9pPr algn="l">
              <a:defRPr sz="2175" b="1">
                <a:solidFill>
                  <a:srgbClr val="000000"/>
                </a:solidFill>
                <a:latin typeface="Calibri"/>
                <a:ea typeface="Calibri"/>
                <a:cs typeface="Calibri"/>
              </a:defRPr>
            </a:lvl9pPr>
          </a:lstStyle>
          <a:p xmlns:a="http://schemas.openxmlformats.org/drawingml/2006/main">
            <a:pPr algn="l">
              <a:defRPr sz="2175" b="1">
                <a:solidFill>
                  <a:srgbClr val="000000"/>
                </a:solidFill>
                <a:latin typeface="Calibri"/>
                <a:ea typeface="Calibri"/>
                <a:cs typeface="Calibri"/>
              </a:defRPr>
            </a:pPr>
            <a:r>
              <a:rPr sz="2175" b="1">
                <a:solidFill>
                  <a:srgbClr val="000000"/>
                </a:solidFill>
                <a:latin typeface="Calibri"/>
                <a:ea typeface="Calibri"/>
                <a:cs typeface="Calibri"/>
              </a:rPr>
              <a:t>Mask mAP50–95: 0.173 at epoch 1, 0.363 at epoch 60</a:t>
            </a:r>
          </a:p>
        </p:txBody>
      </p:sp>
    </p:spTree>
    <p:extLst>
      <p:ext uri="{BB962C8B-B14F-4D97-AF65-F5344CB8AC3E}">
        <p14:creationId xmlns:p14="http://schemas.microsoft.com/office/powerpoint/2010/main" val="137144892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bject-152">
            <a:extLst xmlns:a="http://schemas.openxmlformats.org/drawingml/2006/main">
              <a:ext uri="{FF2B5EF4-FFF2-40B4-BE49-F238E27FC236}">
                <a16:creationId xmlns:a16="http://schemas.microsoft.com/office/drawing/2014/main" id="{64388061-07BA-4763-9863-6BE5F8E00E4C}"/>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53">
            <a:extLst xmlns:a="http://schemas.openxmlformats.org/drawingml/2006/main">
              <a:ext uri="{FF2B5EF4-FFF2-40B4-BE49-F238E27FC236}">
                <a16:creationId xmlns:a16="http://schemas.microsoft.com/office/drawing/2014/main" id="{72530A97-07A2-4176-B326-AEED1D064179}"/>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54">
            <a:extLst xmlns:a="http://schemas.openxmlformats.org/drawingml/2006/main">
              <a:ext uri="{FF2B5EF4-FFF2-40B4-BE49-F238E27FC236}">
                <a16:creationId xmlns:a16="http://schemas.microsoft.com/office/drawing/2014/main" id="{0125FA66-FB9F-49BF-8AB9-00470D86520A}"/>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Steering results and baselines</a:t>
            </a:r>
          </a:p>
        </p:txBody>
      </p:sp>
      <p:sp>
        <p:nvSpPr>
          <p:cNvPr id="4" name="object-155">
            <a:extLst xmlns:a="http://schemas.openxmlformats.org/drawingml/2006/main">
              <a:ext uri="{FF2B5EF4-FFF2-40B4-BE49-F238E27FC236}">
                <a16:creationId xmlns:a16="http://schemas.microsoft.com/office/drawing/2014/main" id="{48310652-3EC1-4296-ADFE-0D6C6BC4ED8D}"/>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56">
            <a:extLst xmlns:a="http://schemas.openxmlformats.org/drawingml/2006/main">
              <a:ext uri="{FF2B5EF4-FFF2-40B4-BE49-F238E27FC236}">
                <a16:creationId xmlns:a16="http://schemas.microsoft.com/office/drawing/2014/main" id="{495748EB-A574-4079-A98D-E2E6EAD2C5A1}"/>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Same 9,082 validation frames for all four models</a:t>
            </a:r>
          </a:p>
        </p:txBody>
      </p:sp>
      <p:sp>
        <p:nvSpPr>
          <p:cNvPr id="6" name="object-157">
            <a:extLst xmlns:a="http://schemas.openxmlformats.org/drawingml/2006/main">
              <a:ext uri="{FF2B5EF4-FFF2-40B4-BE49-F238E27FC236}">
                <a16:creationId xmlns:a16="http://schemas.microsoft.com/office/drawing/2014/main" id="{6D85C7F7-8691-4FF2-A09C-E01115B66683}"/>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16</a:t>
            </a:r>
          </a:p>
        </p:txBody>
      </p:sp>
      <p:graphicFrame>
        <p:nvGraphicFramePr>
          <p:cNvPr id="7" name="Chart">
            <a:extLst xmlns:a="http://schemas.openxmlformats.org/drawingml/2006/main">
              <a:ext uri="{FF2B5EF4-FFF2-40B4-BE49-F238E27FC236}">
                <a16:creationId xmlns:a16="http://schemas.microsoft.com/office/drawing/2014/main" id="{AFB6A741-8C5E-47E9-AFB7-547131ABAF70}"/>
              </a:ext>
            </a:extLst>
          </p:cNvPr>
          <p:cNvGraphicFramePr/>
          <p:nvPr/>
        </p:nvGraphicFramePr>
        <p:xfrm>
          <a:off xmlns:a="http://schemas.openxmlformats.org/drawingml/2006/main" x="685800" y="2000250"/>
          <a:ext xmlns:a="http://schemas.openxmlformats.org/drawingml/2006/main" cx="7524750" cy="3371850"/>
        </p:xfrm>
        <a:graphic xmlns:a="http://schemas.openxmlformats.org/drawingml/2006/main">
          <a:graphicData uri="http://schemas.openxmlformats.org/drawingml/2006/chart">
            <c:chart xmlns:r="http://schemas.openxmlformats.org/officeDocument/2006/relationships" xmlns:c="http://schemas.openxmlformats.org/drawingml/2006/chart" r:id="Rcabc1d2eab214a7c"/>
          </a:graphicData>
        </a:graphic>
      </p:graphicFrame>
      <p:sp>
        <p:nvSpPr>
          <p:cNvPr id="8" name="object-158">
            <a:extLst xmlns:a="http://schemas.openxmlformats.org/drawingml/2006/main">
              <a:ext uri="{FF2B5EF4-FFF2-40B4-BE49-F238E27FC236}">
                <a16:creationId xmlns:a16="http://schemas.microsoft.com/office/drawing/2014/main" id="{65AA3E46-D59F-4402-995C-5881602F3EF3}"/>
              </a:ext>
            </a:extLst>
          </p:cNvPr>
          <p:cNvSpPr>
            <a:spLocks xmlns:a="http://schemas.openxmlformats.org/drawingml/2006/main" noGrp="1"/>
          </p:cNvSpPr>
          <p:nvPr/>
        </p:nvSpPr>
        <p:spPr>
          <a:xfrm xmlns:a="http://schemas.openxmlformats.org/drawingml/2006/main">
            <a:off x="8763000" y="2114550"/>
            <a:ext cx="2695575"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Calibri"/>
                <a:ea typeface="Calibri"/>
                <a:cs typeface="Calibri"/>
              </a:defRPr>
            </a:defPPr>
            <a:lvl1pPr algn="l">
              <a:defRPr sz="4800" b="1">
                <a:solidFill>
                  <a:srgbClr val="000000"/>
                </a:solidFill>
                <a:latin typeface="Calibri"/>
                <a:ea typeface="Calibri"/>
                <a:cs typeface="Calibri"/>
              </a:defRPr>
            </a:lvl1pPr>
            <a:lvl2pPr algn="l">
              <a:defRPr sz="4800" b="1">
                <a:solidFill>
                  <a:srgbClr val="000000"/>
                </a:solidFill>
                <a:latin typeface="Calibri"/>
                <a:ea typeface="Calibri"/>
                <a:cs typeface="Calibri"/>
              </a:defRPr>
            </a:lvl2pPr>
            <a:lvl3pPr algn="l">
              <a:defRPr sz="4800" b="1">
                <a:solidFill>
                  <a:srgbClr val="000000"/>
                </a:solidFill>
                <a:latin typeface="Calibri"/>
                <a:ea typeface="Calibri"/>
                <a:cs typeface="Calibri"/>
              </a:defRPr>
            </a:lvl3pPr>
            <a:lvl4pPr algn="l">
              <a:defRPr sz="4800" b="1">
                <a:solidFill>
                  <a:srgbClr val="000000"/>
                </a:solidFill>
                <a:latin typeface="Calibri"/>
                <a:ea typeface="Calibri"/>
                <a:cs typeface="Calibri"/>
              </a:defRPr>
            </a:lvl4pPr>
            <a:lvl5pPr algn="l">
              <a:defRPr sz="4800" b="1">
                <a:solidFill>
                  <a:srgbClr val="000000"/>
                </a:solidFill>
                <a:latin typeface="Calibri"/>
                <a:ea typeface="Calibri"/>
                <a:cs typeface="Calibri"/>
              </a:defRPr>
            </a:lvl5pPr>
            <a:lvl6pPr algn="l">
              <a:defRPr sz="4800" b="1">
                <a:solidFill>
                  <a:srgbClr val="000000"/>
                </a:solidFill>
                <a:latin typeface="Calibri"/>
                <a:ea typeface="Calibri"/>
                <a:cs typeface="Calibri"/>
              </a:defRPr>
            </a:lvl6pPr>
            <a:lvl7pPr algn="l">
              <a:defRPr sz="4800" b="1">
                <a:solidFill>
                  <a:srgbClr val="000000"/>
                </a:solidFill>
                <a:latin typeface="Calibri"/>
                <a:ea typeface="Calibri"/>
                <a:cs typeface="Calibri"/>
              </a:defRPr>
            </a:lvl7pPr>
            <a:lvl8pPr algn="l">
              <a:defRPr sz="4800" b="1">
                <a:solidFill>
                  <a:srgbClr val="000000"/>
                </a:solidFill>
                <a:latin typeface="Calibri"/>
                <a:ea typeface="Calibri"/>
                <a:cs typeface="Calibri"/>
              </a:defRPr>
            </a:lvl8pPr>
            <a:lvl9pPr algn="l">
              <a:defRPr sz="4800" b="1">
                <a:solidFill>
                  <a:srgbClr val="000000"/>
                </a:solidFill>
                <a:latin typeface="Calibri"/>
                <a:ea typeface="Calibri"/>
                <a:cs typeface="Calibri"/>
              </a:defRPr>
            </a:lvl9pPr>
          </a:lstStyle>
          <a:p xmlns:a="http://schemas.openxmlformats.org/drawingml/2006/main">
            <a:pPr algn="l">
              <a:defRPr sz="4800" b="1">
                <a:solidFill>
                  <a:srgbClr val="000000"/>
                </a:solidFill>
                <a:latin typeface="Calibri"/>
                <a:ea typeface="Calibri"/>
                <a:cs typeface="Calibri"/>
              </a:defRPr>
            </a:pPr>
            <a:r>
              <a:rPr sz="4800" b="1">
                <a:solidFill>
                  <a:srgbClr val="000000"/>
                </a:solidFill>
                <a:latin typeface="Calibri"/>
                <a:ea typeface="Calibri"/>
                <a:cs typeface="Calibri"/>
              </a:rPr>
              <a:t>36.9%</a:t>
            </a:r>
          </a:p>
        </p:txBody>
      </p:sp>
      <p:sp>
        <p:nvSpPr>
          <p:cNvPr id="9" name="object-159">
            <a:extLst xmlns:a="http://schemas.openxmlformats.org/drawingml/2006/main">
              <a:ext uri="{FF2B5EF4-FFF2-40B4-BE49-F238E27FC236}">
                <a16:creationId xmlns:a16="http://schemas.microsoft.com/office/drawing/2014/main" id="{AC2534B7-C0F4-4044-991E-4E53F74569C4}"/>
              </a:ext>
            </a:extLst>
          </p:cNvPr>
          <p:cNvSpPr>
            <a:spLocks xmlns:a="http://schemas.openxmlformats.org/drawingml/2006/main" noGrp="1"/>
          </p:cNvSpPr>
          <p:nvPr/>
        </p:nvSpPr>
        <p:spPr>
          <a:xfrm xmlns:a="http://schemas.openxmlformats.org/drawingml/2006/main">
            <a:off x="8763000" y="2962275"/>
            <a:ext cx="27432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lower MAE than</a:t>
            </a:r>
          </a:p>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the original RGB CNN</a:t>
            </a:r>
          </a:p>
        </p:txBody>
      </p:sp>
      <p:sp>
        <p:nvSpPr>
          <p:cNvPr id="10" name="object-160">
            <a:extLst xmlns:a="http://schemas.openxmlformats.org/drawingml/2006/main">
              <a:ext uri="{FF2B5EF4-FFF2-40B4-BE49-F238E27FC236}">
                <a16:creationId xmlns:a16="http://schemas.microsoft.com/office/drawing/2014/main" id="{B6C9CBAB-151F-4C5F-AC1B-8396BF0D762B}"/>
              </a:ext>
            </a:extLst>
          </p:cNvPr>
          <p:cNvSpPr>
            <a:spLocks xmlns:a="http://schemas.openxmlformats.org/drawingml/2006/main" noGrp="1"/>
          </p:cNvSpPr>
          <p:nvPr/>
        </p:nvSpPr>
        <p:spPr>
          <a:xfrm xmlns:a="http://schemas.openxmlformats.org/drawingml/2006/main">
            <a:off x="8763000" y="4391025"/>
            <a:ext cx="27432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Calibri"/>
                <a:ea typeface="Calibri"/>
                <a:cs typeface="Calibri"/>
              </a:defRPr>
            </a:defPPr>
            <a:lvl1pPr algn="l">
              <a:defRPr sz="2400" b="1">
                <a:solidFill>
                  <a:srgbClr val="000000"/>
                </a:solidFill>
                <a:latin typeface="Calibri"/>
                <a:ea typeface="Calibri"/>
                <a:cs typeface="Calibri"/>
              </a:defRPr>
            </a:lvl1pPr>
            <a:lvl2pPr algn="l">
              <a:defRPr sz="2400" b="1">
                <a:solidFill>
                  <a:srgbClr val="000000"/>
                </a:solidFill>
                <a:latin typeface="Calibri"/>
                <a:ea typeface="Calibri"/>
                <a:cs typeface="Calibri"/>
              </a:defRPr>
            </a:lvl2pPr>
            <a:lvl3pPr algn="l">
              <a:defRPr sz="2400" b="1">
                <a:solidFill>
                  <a:srgbClr val="000000"/>
                </a:solidFill>
                <a:latin typeface="Calibri"/>
                <a:ea typeface="Calibri"/>
                <a:cs typeface="Calibri"/>
              </a:defRPr>
            </a:lvl3pPr>
            <a:lvl4pPr algn="l">
              <a:defRPr sz="2400" b="1">
                <a:solidFill>
                  <a:srgbClr val="000000"/>
                </a:solidFill>
                <a:latin typeface="Calibri"/>
                <a:ea typeface="Calibri"/>
                <a:cs typeface="Calibri"/>
              </a:defRPr>
            </a:lvl4pPr>
            <a:lvl5pPr algn="l">
              <a:defRPr sz="2400" b="1">
                <a:solidFill>
                  <a:srgbClr val="000000"/>
                </a:solidFill>
                <a:latin typeface="Calibri"/>
                <a:ea typeface="Calibri"/>
                <a:cs typeface="Calibri"/>
              </a:defRPr>
            </a:lvl5pPr>
            <a:lvl6pPr algn="l">
              <a:defRPr sz="2400" b="1">
                <a:solidFill>
                  <a:srgbClr val="000000"/>
                </a:solidFill>
                <a:latin typeface="Calibri"/>
                <a:ea typeface="Calibri"/>
                <a:cs typeface="Calibri"/>
              </a:defRPr>
            </a:lvl6pPr>
            <a:lvl7pPr algn="l">
              <a:defRPr sz="2400" b="1">
                <a:solidFill>
                  <a:srgbClr val="000000"/>
                </a:solidFill>
                <a:latin typeface="Calibri"/>
                <a:ea typeface="Calibri"/>
                <a:cs typeface="Calibri"/>
              </a:defRPr>
            </a:lvl7pPr>
            <a:lvl8pPr algn="l">
              <a:defRPr sz="2400" b="1">
                <a:solidFill>
                  <a:srgbClr val="000000"/>
                </a:solidFill>
                <a:latin typeface="Calibri"/>
                <a:ea typeface="Calibri"/>
                <a:cs typeface="Calibri"/>
              </a:defRPr>
            </a:lvl8pPr>
            <a:lvl9pPr algn="l">
              <a:defRPr sz="2400" b="1">
                <a:solidFill>
                  <a:srgbClr val="000000"/>
                </a:solidFill>
                <a:latin typeface="Calibri"/>
                <a:ea typeface="Calibri"/>
                <a:cs typeface="Calibri"/>
              </a:defRPr>
            </a:lvl9pPr>
          </a:lstStyle>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14.6822° MAE</a:t>
            </a:r>
          </a:p>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R² = −0.1336</a:t>
            </a:r>
          </a:p>
        </p:txBody>
      </p:sp>
      <p:sp>
        <p:nvSpPr>
          <p:cNvPr id="11" name="object-161">
            <a:extLst xmlns:a="http://schemas.openxmlformats.org/drawingml/2006/main">
              <a:ext uri="{FF2B5EF4-FFF2-40B4-BE49-F238E27FC236}">
                <a16:creationId xmlns:a16="http://schemas.microsoft.com/office/drawing/2014/main" id="{BE24E721-BC19-4B2B-986C-57C2038A3284}"/>
              </a:ext>
            </a:extLst>
          </p:cNvPr>
          <p:cNvSpPr>
            <a:spLocks xmlns:a="http://schemas.openxmlformats.org/drawingml/2006/main" noGrp="1"/>
          </p:cNvSpPr>
          <p:nvPr/>
        </p:nvSpPr>
        <p:spPr>
          <a:xfrm xmlns:a="http://schemas.openxmlformats.org/drawingml/2006/main">
            <a:off x="685800" y="5848350"/>
            <a:ext cx="10820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0000"/>
                </a:solidFill>
                <a:latin typeface="Calibri"/>
                <a:ea typeface="Calibri"/>
                <a:cs typeface="Calibri"/>
              </a:defRPr>
            </a:defPPr>
            <a:lvl1pPr algn="l">
              <a:defRPr sz="1875" b="1">
                <a:solidFill>
                  <a:srgbClr val="000000"/>
                </a:solidFill>
                <a:latin typeface="Calibri"/>
                <a:ea typeface="Calibri"/>
                <a:cs typeface="Calibri"/>
              </a:defRPr>
            </a:lvl1pPr>
            <a:lvl2pPr algn="l">
              <a:defRPr sz="1875" b="1">
                <a:solidFill>
                  <a:srgbClr val="000000"/>
                </a:solidFill>
                <a:latin typeface="Calibri"/>
                <a:ea typeface="Calibri"/>
                <a:cs typeface="Calibri"/>
              </a:defRPr>
            </a:lvl2pPr>
            <a:lvl3pPr algn="l">
              <a:defRPr sz="1875" b="1">
                <a:solidFill>
                  <a:srgbClr val="000000"/>
                </a:solidFill>
                <a:latin typeface="Calibri"/>
                <a:ea typeface="Calibri"/>
                <a:cs typeface="Calibri"/>
              </a:defRPr>
            </a:lvl3pPr>
            <a:lvl4pPr algn="l">
              <a:defRPr sz="1875" b="1">
                <a:solidFill>
                  <a:srgbClr val="000000"/>
                </a:solidFill>
                <a:latin typeface="Calibri"/>
                <a:ea typeface="Calibri"/>
                <a:cs typeface="Calibri"/>
              </a:defRPr>
            </a:lvl4pPr>
            <a:lvl5pPr algn="l">
              <a:defRPr sz="1875" b="1">
                <a:solidFill>
                  <a:srgbClr val="000000"/>
                </a:solidFill>
                <a:latin typeface="Calibri"/>
                <a:ea typeface="Calibri"/>
                <a:cs typeface="Calibri"/>
              </a:defRPr>
            </a:lvl5pPr>
            <a:lvl6pPr algn="l">
              <a:defRPr sz="1875" b="1">
                <a:solidFill>
                  <a:srgbClr val="000000"/>
                </a:solidFill>
                <a:latin typeface="Calibri"/>
                <a:ea typeface="Calibri"/>
                <a:cs typeface="Calibri"/>
              </a:defRPr>
            </a:lvl6pPr>
            <a:lvl7pPr algn="l">
              <a:defRPr sz="1875" b="1">
                <a:solidFill>
                  <a:srgbClr val="000000"/>
                </a:solidFill>
                <a:latin typeface="Calibri"/>
                <a:ea typeface="Calibri"/>
                <a:cs typeface="Calibri"/>
              </a:defRPr>
            </a:lvl7pPr>
            <a:lvl8pPr algn="l">
              <a:defRPr sz="1875" b="1">
                <a:solidFill>
                  <a:srgbClr val="000000"/>
                </a:solidFill>
                <a:latin typeface="Calibri"/>
                <a:ea typeface="Calibri"/>
                <a:cs typeface="Calibri"/>
              </a:defRPr>
            </a:lvl8pPr>
            <a:lvl9pPr algn="l">
              <a:defRPr sz="1875" b="1">
                <a:solidFill>
                  <a:srgbClr val="000000"/>
                </a:solidFill>
                <a:latin typeface="Calibri"/>
                <a:ea typeface="Calibri"/>
                <a:cs typeface="Calibri"/>
              </a:defRPr>
            </a:lvl9pPr>
          </a:lstStyle>
          <a:p xmlns:a="http://schemas.openxmlformats.org/drawingml/2006/main">
            <a:pPr algn="l">
              <a:defRPr sz="1875" b="1">
                <a:solidFill>
                  <a:srgbClr val="000000"/>
                </a:solidFill>
                <a:latin typeface="Calibri"/>
                <a:ea typeface="Calibri"/>
                <a:cs typeface="Calibri"/>
              </a:defRPr>
            </a:pPr>
            <a:r>
              <a:rPr sz="1875" b="1">
                <a:solidFill>
                  <a:srgbClr val="000000"/>
                </a:solidFill>
                <a:latin typeface="Calibri"/>
                <a:ea typeface="Calibri"/>
                <a:cs typeface="Calibri"/>
              </a:rPr>
              <a:t>Constant baselines remain stronger. Reliable image-conditioned steering is not established.</a:t>
            </a:r>
          </a:p>
        </p:txBody>
      </p:sp>
    </p:spTree>
    <p:extLst>
      <p:ext uri="{BB962C8B-B14F-4D97-AF65-F5344CB8AC3E}">
        <p14:creationId xmlns:p14="http://schemas.microsoft.com/office/powerpoint/2010/main" val="213230126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bject-162">
            <a:extLst xmlns:a="http://schemas.openxmlformats.org/drawingml/2006/main">
              <a:ext uri="{FF2B5EF4-FFF2-40B4-BE49-F238E27FC236}">
                <a16:creationId xmlns:a16="http://schemas.microsoft.com/office/drawing/2014/main" id="{036F8250-A7EA-45F2-8BC5-E619997089E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63">
            <a:extLst xmlns:a="http://schemas.openxmlformats.org/drawingml/2006/main">
              <a:ext uri="{FF2B5EF4-FFF2-40B4-BE49-F238E27FC236}">
                <a16:creationId xmlns:a16="http://schemas.microsoft.com/office/drawing/2014/main" id="{AC4A0698-673B-4DCE-85E5-1B553CEF5C4E}"/>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64">
            <a:extLst xmlns:a="http://schemas.openxmlformats.org/drawingml/2006/main">
              <a:ext uri="{FF2B5EF4-FFF2-40B4-BE49-F238E27FC236}">
                <a16:creationId xmlns:a16="http://schemas.microsoft.com/office/drawing/2014/main" id="{2088A70C-374D-4100-972F-E4952F96E59E}"/>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Lane prediction examples</a:t>
            </a:r>
          </a:p>
        </p:txBody>
      </p:sp>
      <p:sp>
        <p:nvSpPr>
          <p:cNvPr id="4" name="object-165">
            <a:extLst xmlns:a="http://schemas.openxmlformats.org/drawingml/2006/main">
              <a:ext uri="{FF2B5EF4-FFF2-40B4-BE49-F238E27FC236}">
                <a16:creationId xmlns:a16="http://schemas.microsoft.com/office/drawing/2014/main" id="{F0F122F9-BF75-410C-B989-305508186802}"/>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66">
            <a:extLst xmlns:a="http://schemas.openxmlformats.org/drawingml/2006/main">
              <a:ext uri="{FF2B5EF4-FFF2-40B4-BE49-F238E27FC236}">
                <a16:creationId xmlns:a16="http://schemas.microsoft.com/office/drawing/2014/main" id="{BEFA4C16-3D16-45BE-8C4A-DF31A3F633BB}"/>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17</a:t>
            </a:r>
          </a:p>
        </p:txBody>
      </p:sp>
      <p:pic>
        <p:nvPicPr>
          <p:cNvPr id="6" name="">
            <a:extLst xmlns:a="http://schemas.openxmlformats.org/drawingml/2006/main">
              <a:ext uri="{FF2B5EF4-FFF2-40B4-BE49-F238E27FC236}">
                <a16:creationId xmlns:a16="http://schemas.microsoft.com/office/drawing/2014/main" id="{1C3D3ADF-9B4B-4562-A73A-D74771E61EC0}"/>
              </a:ext>
            </a:extLst>
          </p:cNvPr>
          <p:cNvPicPr>
            <a:picLocks xmlns:a="http://schemas.openxmlformats.org/drawingml/2006/main" noChangeAspect="1"/>
          </p:cNvPicPr>
          <p:nvPr/>
        </p:nvPicPr>
        <p:blipFill>
          <a:blip xmlns:r="http://schemas.openxmlformats.org/officeDocument/2006/relationships" xmlns:a="http://schemas.openxmlformats.org/drawingml/2006/main" r:embed="R471ddeeadb7f425c"/>
          <a:stretch xmlns:a="http://schemas.openxmlformats.org/drawingml/2006/main"/>
        </p:blipFill>
        <p:spPr>
          <a:xfrm xmlns:a="http://schemas.openxmlformats.org/drawingml/2006/main">
            <a:off x="1577947" y="1524000"/>
            <a:ext cx="5549956" cy="4724400"/>
          </a:xfrm>
          <a:prstGeom xmlns:a="http://schemas.openxmlformats.org/drawingml/2006/main" prst="rect">
            <a:avLst/>
          </a:prstGeom>
        </p:spPr>
      </p:pic>
      <p:sp>
        <p:nvSpPr>
          <p:cNvPr id="7" name="object-167">
            <a:extLst xmlns:a="http://schemas.openxmlformats.org/drawingml/2006/main">
              <a:ext uri="{FF2B5EF4-FFF2-40B4-BE49-F238E27FC236}">
                <a16:creationId xmlns:a16="http://schemas.microsoft.com/office/drawing/2014/main" id="{2C34124F-29CB-49F4-BC69-FA3692DE3A44}"/>
              </a:ext>
            </a:extLst>
          </p:cNvPr>
          <p:cNvSpPr>
            <a:spLocks xmlns:a="http://schemas.openxmlformats.org/drawingml/2006/main" noGrp="1"/>
          </p:cNvSpPr>
          <p:nvPr/>
        </p:nvSpPr>
        <p:spPr>
          <a:xfrm xmlns:a="http://schemas.openxmlformats.org/drawingml/2006/main">
            <a:off x="8448675" y="1828800"/>
            <a:ext cx="3048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000000"/>
                </a:solidFill>
                <a:latin typeface="Calibri"/>
                <a:ea typeface="Calibri"/>
                <a:cs typeface="Calibri"/>
              </a:defRPr>
            </a:defPPr>
            <a:lvl1pPr algn="l">
              <a:defRPr sz="2250" b="1">
                <a:solidFill>
                  <a:srgbClr val="000000"/>
                </a:solidFill>
                <a:latin typeface="Calibri"/>
                <a:ea typeface="Calibri"/>
                <a:cs typeface="Calibri"/>
              </a:defRPr>
            </a:lvl1pPr>
            <a:lvl2pPr algn="l">
              <a:defRPr sz="2250" b="1">
                <a:solidFill>
                  <a:srgbClr val="000000"/>
                </a:solidFill>
                <a:latin typeface="Calibri"/>
                <a:ea typeface="Calibri"/>
                <a:cs typeface="Calibri"/>
              </a:defRPr>
            </a:lvl2pPr>
            <a:lvl3pPr algn="l">
              <a:defRPr sz="2250" b="1">
                <a:solidFill>
                  <a:srgbClr val="000000"/>
                </a:solidFill>
                <a:latin typeface="Calibri"/>
                <a:ea typeface="Calibri"/>
                <a:cs typeface="Calibri"/>
              </a:defRPr>
            </a:lvl3pPr>
            <a:lvl4pPr algn="l">
              <a:defRPr sz="2250" b="1">
                <a:solidFill>
                  <a:srgbClr val="000000"/>
                </a:solidFill>
                <a:latin typeface="Calibri"/>
                <a:ea typeface="Calibri"/>
                <a:cs typeface="Calibri"/>
              </a:defRPr>
            </a:lvl4pPr>
            <a:lvl5pPr algn="l">
              <a:defRPr sz="2250" b="1">
                <a:solidFill>
                  <a:srgbClr val="000000"/>
                </a:solidFill>
                <a:latin typeface="Calibri"/>
                <a:ea typeface="Calibri"/>
                <a:cs typeface="Calibri"/>
              </a:defRPr>
            </a:lvl5pPr>
            <a:lvl6pPr algn="l">
              <a:defRPr sz="2250" b="1">
                <a:solidFill>
                  <a:srgbClr val="000000"/>
                </a:solidFill>
                <a:latin typeface="Calibri"/>
                <a:ea typeface="Calibri"/>
                <a:cs typeface="Calibri"/>
              </a:defRPr>
            </a:lvl6pPr>
            <a:lvl7pPr algn="l">
              <a:defRPr sz="2250" b="1">
                <a:solidFill>
                  <a:srgbClr val="000000"/>
                </a:solidFill>
                <a:latin typeface="Calibri"/>
                <a:ea typeface="Calibri"/>
                <a:cs typeface="Calibri"/>
              </a:defRPr>
            </a:lvl7pPr>
            <a:lvl8pPr algn="l">
              <a:defRPr sz="2250" b="1">
                <a:solidFill>
                  <a:srgbClr val="000000"/>
                </a:solidFill>
                <a:latin typeface="Calibri"/>
                <a:ea typeface="Calibri"/>
                <a:cs typeface="Calibri"/>
              </a:defRPr>
            </a:lvl8pPr>
            <a:lvl9pPr algn="l">
              <a:defRPr sz="2250" b="1">
                <a:solidFill>
                  <a:srgbClr val="000000"/>
                </a:solidFill>
                <a:latin typeface="Calibri"/>
                <a:ea typeface="Calibri"/>
                <a:cs typeface="Calibri"/>
              </a:defRPr>
            </a:lvl9pPr>
          </a:lstStyle>
          <a:p xmlns:a="http://schemas.openxmlformats.org/drawingml/2006/main">
            <a:pPr algn="l">
              <a:defRPr sz="2250" b="1">
                <a:solidFill>
                  <a:srgbClr val="000000"/>
                </a:solidFill>
                <a:latin typeface="Calibri"/>
                <a:ea typeface="Calibri"/>
                <a:cs typeface="Calibri"/>
              </a:defRPr>
            </a:pPr>
            <a:r>
              <a:rPr sz="2250" b="1">
                <a:solidFill>
                  <a:srgbClr val="000000"/>
                </a:solidFill>
                <a:latin typeface="Calibri"/>
                <a:ea typeface="Calibri"/>
                <a:cs typeface="Calibri"/>
              </a:rPr>
              <a:t>What the image shows</a:t>
            </a:r>
          </a:p>
        </p:txBody>
      </p:sp>
      <p:sp>
        <p:nvSpPr>
          <p:cNvPr id="8" name="object-168">
            <a:extLst xmlns:a="http://schemas.openxmlformats.org/drawingml/2006/main">
              <a:ext uri="{FF2B5EF4-FFF2-40B4-BE49-F238E27FC236}">
                <a16:creationId xmlns:a16="http://schemas.microsoft.com/office/drawing/2014/main" id="{1AC31001-50E7-475B-AC0A-3784ADCE4140}"/>
              </a:ext>
            </a:extLst>
          </p:cNvPr>
          <p:cNvSpPr>
            <a:spLocks xmlns:a="http://schemas.openxmlformats.org/drawingml/2006/main" noGrp="1"/>
          </p:cNvSpPr>
          <p:nvPr/>
        </p:nvSpPr>
        <p:spPr>
          <a:xfrm xmlns:a="http://schemas.openxmlformats.org/drawingml/2006/main">
            <a:off x="8448675" y="2562225"/>
            <a:ext cx="3048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Predicted lane boxes and masks on six validation frames.</a:t>
            </a:r>
          </a:p>
          <a:p xmlns:a="http://schemas.openxmlformats.org/drawingml/2006/main">
            <a:r>
              <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Examples include shadows, underpasses and a truck occlusion.</a:t>
            </a:r>
          </a:p>
        </p:txBody>
      </p:sp>
      <p:sp>
        <p:nvSpPr>
          <p:cNvPr id="9" name="object-169">
            <a:extLst xmlns:a="http://schemas.openxmlformats.org/drawingml/2006/main">
              <a:ext uri="{FF2B5EF4-FFF2-40B4-BE49-F238E27FC236}">
                <a16:creationId xmlns:a16="http://schemas.microsoft.com/office/drawing/2014/main" id="{759B19BF-CEB8-41DC-9462-C76BBC788E56}"/>
              </a:ext>
            </a:extLst>
          </p:cNvPr>
          <p:cNvSpPr>
            <a:spLocks xmlns:a="http://schemas.openxmlformats.org/drawingml/2006/main" noGrp="1"/>
          </p:cNvSpPr>
          <p:nvPr/>
        </p:nvSpPr>
        <p:spPr>
          <a:xfrm xmlns:a="http://schemas.openxmlformats.org/drawingml/2006/main">
            <a:off x="8448675" y="5334000"/>
            <a:ext cx="3048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0000"/>
                </a:solidFill>
                <a:latin typeface="Calibri"/>
                <a:ea typeface="Calibri"/>
                <a:cs typeface="Calibri"/>
              </a:defRPr>
            </a:defPPr>
            <a:lvl1pPr algn="l">
              <a:defRPr sz="1875" b="1">
                <a:solidFill>
                  <a:srgbClr val="000000"/>
                </a:solidFill>
                <a:latin typeface="Calibri"/>
                <a:ea typeface="Calibri"/>
                <a:cs typeface="Calibri"/>
              </a:defRPr>
            </a:lvl1pPr>
            <a:lvl2pPr algn="l">
              <a:defRPr sz="1875" b="1">
                <a:solidFill>
                  <a:srgbClr val="000000"/>
                </a:solidFill>
                <a:latin typeface="Calibri"/>
                <a:ea typeface="Calibri"/>
                <a:cs typeface="Calibri"/>
              </a:defRPr>
            </a:lvl2pPr>
            <a:lvl3pPr algn="l">
              <a:defRPr sz="1875" b="1">
                <a:solidFill>
                  <a:srgbClr val="000000"/>
                </a:solidFill>
                <a:latin typeface="Calibri"/>
                <a:ea typeface="Calibri"/>
                <a:cs typeface="Calibri"/>
              </a:defRPr>
            </a:lvl3pPr>
            <a:lvl4pPr algn="l">
              <a:defRPr sz="1875" b="1">
                <a:solidFill>
                  <a:srgbClr val="000000"/>
                </a:solidFill>
                <a:latin typeface="Calibri"/>
                <a:ea typeface="Calibri"/>
                <a:cs typeface="Calibri"/>
              </a:defRPr>
            </a:lvl4pPr>
            <a:lvl5pPr algn="l">
              <a:defRPr sz="1875" b="1">
                <a:solidFill>
                  <a:srgbClr val="000000"/>
                </a:solidFill>
                <a:latin typeface="Calibri"/>
                <a:ea typeface="Calibri"/>
                <a:cs typeface="Calibri"/>
              </a:defRPr>
            </a:lvl5pPr>
            <a:lvl6pPr algn="l">
              <a:defRPr sz="1875" b="1">
                <a:solidFill>
                  <a:srgbClr val="000000"/>
                </a:solidFill>
                <a:latin typeface="Calibri"/>
                <a:ea typeface="Calibri"/>
                <a:cs typeface="Calibri"/>
              </a:defRPr>
            </a:lvl6pPr>
            <a:lvl7pPr algn="l">
              <a:defRPr sz="1875" b="1">
                <a:solidFill>
                  <a:srgbClr val="000000"/>
                </a:solidFill>
                <a:latin typeface="Calibri"/>
                <a:ea typeface="Calibri"/>
                <a:cs typeface="Calibri"/>
              </a:defRPr>
            </a:lvl7pPr>
            <a:lvl8pPr algn="l">
              <a:defRPr sz="1875" b="1">
                <a:solidFill>
                  <a:srgbClr val="000000"/>
                </a:solidFill>
                <a:latin typeface="Calibri"/>
                <a:ea typeface="Calibri"/>
                <a:cs typeface="Calibri"/>
              </a:defRPr>
            </a:lvl8pPr>
            <a:lvl9pPr algn="l">
              <a:defRPr sz="1875" b="1">
                <a:solidFill>
                  <a:srgbClr val="000000"/>
                </a:solidFill>
                <a:latin typeface="Calibri"/>
                <a:ea typeface="Calibri"/>
                <a:cs typeface="Calibri"/>
              </a:defRPr>
            </a:lvl9pPr>
          </a:lstStyle>
          <a:p xmlns:a="http://schemas.openxmlformats.org/drawingml/2006/main">
            <a:pPr algn="l">
              <a:defRPr sz="1875" b="1">
                <a:solidFill>
                  <a:srgbClr val="000000"/>
                </a:solidFill>
                <a:latin typeface="Calibri"/>
                <a:ea typeface="Calibri"/>
                <a:cs typeface="Calibri"/>
              </a:defRPr>
            </a:pPr>
            <a:r>
              <a:rPr sz="1875" b="1">
                <a:solidFill>
                  <a:srgbClr val="000000"/>
                </a:solidFill>
                <a:latin typeface="Calibri"/>
                <a:ea typeface="Calibri"/>
                <a:cs typeface="Calibri"/>
              </a:rPr>
              <a:t>Qualitative evidence complements the numerical metrics.</a:t>
            </a:r>
          </a:p>
        </p:txBody>
      </p:sp>
    </p:spTree>
    <p:extLst>
      <p:ext uri="{BB962C8B-B14F-4D97-AF65-F5344CB8AC3E}">
        <p14:creationId xmlns:p14="http://schemas.microsoft.com/office/powerpoint/2010/main" val="212766287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bject-170">
            <a:extLst xmlns:a="http://schemas.openxmlformats.org/drawingml/2006/main">
              <a:ext uri="{FF2B5EF4-FFF2-40B4-BE49-F238E27FC236}">
                <a16:creationId xmlns:a16="http://schemas.microsoft.com/office/drawing/2014/main" id="{0EE98B0A-F202-42F6-9399-2F676843F655}"/>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71">
            <a:extLst xmlns:a="http://schemas.openxmlformats.org/drawingml/2006/main">
              <a:ext uri="{FF2B5EF4-FFF2-40B4-BE49-F238E27FC236}">
                <a16:creationId xmlns:a16="http://schemas.microsoft.com/office/drawing/2014/main" id="{8C40CB29-2072-4B2E-98A0-8D997B4B7FB6}"/>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72">
            <a:extLst xmlns:a="http://schemas.openxmlformats.org/drawingml/2006/main">
              <a:ext uri="{FF2B5EF4-FFF2-40B4-BE49-F238E27FC236}">
                <a16:creationId xmlns:a16="http://schemas.microsoft.com/office/drawing/2014/main" id="{3EC5FF7D-6979-4348-9907-0C0054799395}"/>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Object prediction examples</a:t>
            </a:r>
          </a:p>
        </p:txBody>
      </p:sp>
      <p:sp>
        <p:nvSpPr>
          <p:cNvPr id="4" name="object-173">
            <a:extLst xmlns:a="http://schemas.openxmlformats.org/drawingml/2006/main">
              <a:ext uri="{FF2B5EF4-FFF2-40B4-BE49-F238E27FC236}">
                <a16:creationId xmlns:a16="http://schemas.microsoft.com/office/drawing/2014/main" id="{E21D1BE4-ED0B-4F2F-B499-B2F63E8EDF81}"/>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74">
            <a:extLst xmlns:a="http://schemas.openxmlformats.org/drawingml/2006/main">
              <a:ext uri="{FF2B5EF4-FFF2-40B4-BE49-F238E27FC236}">
                <a16:creationId xmlns:a16="http://schemas.microsoft.com/office/drawing/2014/main" id="{87078760-286A-4F31-9515-D12C01AE1978}"/>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18</a:t>
            </a:r>
          </a:p>
        </p:txBody>
      </p:sp>
      <p:pic>
        <p:nvPicPr>
          <p:cNvPr id="6" name="">
            <a:extLst xmlns:a="http://schemas.openxmlformats.org/drawingml/2006/main">
              <a:ext uri="{FF2B5EF4-FFF2-40B4-BE49-F238E27FC236}">
                <a16:creationId xmlns:a16="http://schemas.microsoft.com/office/drawing/2014/main" id="{2C4BC18C-B6B9-4B87-8243-CBA3AAAAA0EF}"/>
              </a:ext>
            </a:extLst>
          </p:cNvPr>
          <p:cNvPicPr>
            <a:picLocks xmlns:a="http://schemas.openxmlformats.org/drawingml/2006/main" noChangeAspect="1"/>
          </p:cNvPicPr>
          <p:nvPr/>
        </p:nvPicPr>
        <p:blipFill>
          <a:blip xmlns:r="http://schemas.openxmlformats.org/officeDocument/2006/relationships" xmlns:a="http://schemas.openxmlformats.org/drawingml/2006/main" r:embed="R5178064521974d39"/>
          <a:stretch xmlns:a="http://schemas.openxmlformats.org/drawingml/2006/main"/>
        </p:blipFill>
        <p:spPr>
          <a:xfrm xmlns:a="http://schemas.openxmlformats.org/drawingml/2006/main">
            <a:off x="1717276" y="1524000"/>
            <a:ext cx="5271297" cy="4724400"/>
          </a:xfrm>
          <a:prstGeom xmlns:a="http://schemas.openxmlformats.org/drawingml/2006/main" prst="rect">
            <a:avLst/>
          </a:prstGeom>
        </p:spPr>
      </p:pic>
      <p:sp>
        <p:nvSpPr>
          <p:cNvPr id="7" name="object-175">
            <a:extLst xmlns:a="http://schemas.openxmlformats.org/drawingml/2006/main">
              <a:ext uri="{FF2B5EF4-FFF2-40B4-BE49-F238E27FC236}">
                <a16:creationId xmlns:a16="http://schemas.microsoft.com/office/drawing/2014/main" id="{FF4879A7-AFCC-412A-8C3F-1831738B61C7}"/>
              </a:ext>
            </a:extLst>
          </p:cNvPr>
          <p:cNvSpPr>
            <a:spLocks xmlns:a="http://schemas.openxmlformats.org/drawingml/2006/main" noGrp="1"/>
          </p:cNvSpPr>
          <p:nvPr/>
        </p:nvSpPr>
        <p:spPr>
          <a:xfrm xmlns:a="http://schemas.openxmlformats.org/drawingml/2006/main">
            <a:off x="8448675" y="1828800"/>
            <a:ext cx="3048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000000"/>
                </a:solidFill>
                <a:latin typeface="Calibri"/>
                <a:ea typeface="Calibri"/>
                <a:cs typeface="Calibri"/>
              </a:defRPr>
            </a:defPPr>
            <a:lvl1pPr algn="l">
              <a:defRPr sz="2250" b="1">
                <a:solidFill>
                  <a:srgbClr val="000000"/>
                </a:solidFill>
                <a:latin typeface="Calibri"/>
                <a:ea typeface="Calibri"/>
                <a:cs typeface="Calibri"/>
              </a:defRPr>
            </a:lvl1pPr>
            <a:lvl2pPr algn="l">
              <a:defRPr sz="2250" b="1">
                <a:solidFill>
                  <a:srgbClr val="000000"/>
                </a:solidFill>
                <a:latin typeface="Calibri"/>
                <a:ea typeface="Calibri"/>
                <a:cs typeface="Calibri"/>
              </a:defRPr>
            </a:lvl2pPr>
            <a:lvl3pPr algn="l">
              <a:defRPr sz="2250" b="1">
                <a:solidFill>
                  <a:srgbClr val="000000"/>
                </a:solidFill>
                <a:latin typeface="Calibri"/>
                <a:ea typeface="Calibri"/>
                <a:cs typeface="Calibri"/>
              </a:defRPr>
            </a:lvl3pPr>
            <a:lvl4pPr algn="l">
              <a:defRPr sz="2250" b="1">
                <a:solidFill>
                  <a:srgbClr val="000000"/>
                </a:solidFill>
                <a:latin typeface="Calibri"/>
                <a:ea typeface="Calibri"/>
                <a:cs typeface="Calibri"/>
              </a:defRPr>
            </a:lvl4pPr>
            <a:lvl5pPr algn="l">
              <a:defRPr sz="2250" b="1">
                <a:solidFill>
                  <a:srgbClr val="000000"/>
                </a:solidFill>
                <a:latin typeface="Calibri"/>
                <a:ea typeface="Calibri"/>
                <a:cs typeface="Calibri"/>
              </a:defRPr>
            </a:lvl5pPr>
            <a:lvl6pPr algn="l">
              <a:defRPr sz="2250" b="1">
                <a:solidFill>
                  <a:srgbClr val="000000"/>
                </a:solidFill>
                <a:latin typeface="Calibri"/>
                <a:ea typeface="Calibri"/>
                <a:cs typeface="Calibri"/>
              </a:defRPr>
            </a:lvl6pPr>
            <a:lvl7pPr algn="l">
              <a:defRPr sz="2250" b="1">
                <a:solidFill>
                  <a:srgbClr val="000000"/>
                </a:solidFill>
                <a:latin typeface="Calibri"/>
                <a:ea typeface="Calibri"/>
                <a:cs typeface="Calibri"/>
              </a:defRPr>
            </a:lvl7pPr>
            <a:lvl8pPr algn="l">
              <a:defRPr sz="2250" b="1">
                <a:solidFill>
                  <a:srgbClr val="000000"/>
                </a:solidFill>
                <a:latin typeface="Calibri"/>
                <a:ea typeface="Calibri"/>
                <a:cs typeface="Calibri"/>
              </a:defRPr>
            </a:lvl8pPr>
            <a:lvl9pPr algn="l">
              <a:defRPr sz="2250" b="1">
                <a:solidFill>
                  <a:srgbClr val="000000"/>
                </a:solidFill>
                <a:latin typeface="Calibri"/>
                <a:ea typeface="Calibri"/>
                <a:cs typeface="Calibri"/>
              </a:defRPr>
            </a:lvl9pPr>
          </a:lstStyle>
          <a:p xmlns:a="http://schemas.openxmlformats.org/drawingml/2006/main">
            <a:pPr algn="l">
              <a:defRPr sz="2250" b="1">
                <a:solidFill>
                  <a:srgbClr val="000000"/>
                </a:solidFill>
                <a:latin typeface="Calibri"/>
                <a:ea typeface="Calibri"/>
                <a:cs typeface="Calibri"/>
              </a:defRPr>
            </a:pPr>
            <a:r>
              <a:rPr sz="2250" b="1">
                <a:solidFill>
                  <a:srgbClr val="000000"/>
                </a:solidFill>
                <a:latin typeface="Calibri"/>
                <a:ea typeface="Calibri"/>
                <a:cs typeface="Calibri"/>
              </a:rPr>
              <a:t>What the image shows</a:t>
            </a:r>
          </a:p>
        </p:txBody>
      </p:sp>
      <p:sp>
        <p:nvSpPr>
          <p:cNvPr id="8" name="object-176">
            <a:extLst xmlns:a="http://schemas.openxmlformats.org/drawingml/2006/main">
              <a:ext uri="{FF2B5EF4-FFF2-40B4-BE49-F238E27FC236}">
                <a16:creationId xmlns:a16="http://schemas.microsoft.com/office/drawing/2014/main" id="{7063D685-9066-4F44-B8BE-07EE5135937D}"/>
              </a:ext>
            </a:extLst>
          </p:cNvPr>
          <p:cNvSpPr>
            <a:spLocks xmlns:a="http://schemas.openxmlformats.org/drawingml/2006/main" noGrp="1"/>
          </p:cNvSpPr>
          <p:nvPr/>
        </p:nvSpPr>
        <p:spPr>
          <a:xfrm xmlns:a="http://schemas.openxmlformats.org/drawingml/2006/main">
            <a:off x="8448675" y="2562225"/>
            <a:ext cx="3048000" cy="2809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Bounding boxes, class names and confidence scores.</a:t>
            </a:r>
          </a:p>
          <a:p xmlns:a="http://schemas.openxmlformats.org/drawingml/2006/main">
            <a:r>
              <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The detector finds large objects well, but small objects and recall remain challenges.</a:t>
            </a:r>
          </a:p>
        </p:txBody>
      </p:sp>
      <p:sp>
        <p:nvSpPr>
          <p:cNvPr id="9" name="object-177">
            <a:extLst xmlns:a="http://schemas.openxmlformats.org/drawingml/2006/main">
              <a:ext uri="{FF2B5EF4-FFF2-40B4-BE49-F238E27FC236}">
                <a16:creationId xmlns:a16="http://schemas.microsoft.com/office/drawing/2014/main" id="{BFFBC2EE-694F-43EE-B6EE-87B17C4DF662}"/>
              </a:ext>
            </a:extLst>
          </p:cNvPr>
          <p:cNvSpPr>
            <a:spLocks xmlns:a="http://schemas.openxmlformats.org/drawingml/2006/main" noGrp="1"/>
          </p:cNvSpPr>
          <p:nvPr/>
        </p:nvSpPr>
        <p:spPr>
          <a:xfrm xmlns:a="http://schemas.openxmlformats.org/drawingml/2006/main">
            <a:off x="8448675" y="5534025"/>
            <a:ext cx="304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0000"/>
                </a:solidFill>
                <a:latin typeface="Calibri"/>
                <a:ea typeface="Calibri"/>
                <a:cs typeface="Calibri"/>
              </a:defRPr>
            </a:defPPr>
            <a:lvl1pPr algn="l">
              <a:defRPr sz="1875" b="1">
                <a:solidFill>
                  <a:srgbClr val="000000"/>
                </a:solidFill>
                <a:latin typeface="Calibri"/>
                <a:ea typeface="Calibri"/>
                <a:cs typeface="Calibri"/>
              </a:defRPr>
            </a:lvl1pPr>
            <a:lvl2pPr algn="l">
              <a:defRPr sz="1875" b="1">
                <a:solidFill>
                  <a:srgbClr val="000000"/>
                </a:solidFill>
                <a:latin typeface="Calibri"/>
                <a:ea typeface="Calibri"/>
                <a:cs typeface="Calibri"/>
              </a:defRPr>
            </a:lvl2pPr>
            <a:lvl3pPr algn="l">
              <a:defRPr sz="1875" b="1">
                <a:solidFill>
                  <a:srgbClr val="000000"/>
                </a:solidFill>
                <a:latin typeface="Calibri"/>
                <a:ea typeface="Calibri"/>
                <a:cs typeface="Calibri"/>
              </a:defRPr>
            </a:lvl3pPr>
            <a:lvl4pPr algn="l">
              <a:defRPr sz="1875" b="1">
                <a:solidFill>
                  <a:srgbClr val="000000"/>
                </a:solidFill>
                <a:latin typeface="Calibri"/>
                <a:ea typeface="Calibri"/>
                <a:cs typeface="Calibri"/>
              </a:defRPr>
            </a:lvl4pPr>
            <a:lvl5pPr algn="l">
              <a:defRPr sz="1875" b="1">
                <a:solidFill>
                  <a:srgbClr val="000000"/>
                </a:solidFill>
                <a:latin typeface="Calibri"/>
                <a:ea typeface="Calibri"/>
                <a:cs typeface="Calibri"/>
              </a:defRPr>
            </a:lvl5pPr>
            <a:lvl6pPr algn="l">
              <a:defRPr sz="1875" b="1">
                <a:solidFill>
                  <a:srgbClr val="000000"/>
                </a:solidFill>
                <a:latin typeface="Calibri"/>
                <a:ea typeface="Calibri"/>
                <a:cs typeface="Calibri"/>
              </a:defRPr>
            </a:lvl6pPr>
            <a:lvl7pPr algn="l">
              <a:defRPr sz="1875" b="1">
                <a:solidFill>
                  <a:srgbClr val="000000"/>
                </a:solidFill>
                <a:latin typeface="Calibri"/>
                <a:ea typeface="Calibri"/>
                <a:cs typeface="Calibri"/>
              </a:defRPr>
            </a:lvl7pPr>
            <a:lvl8pPr algn="l">
              <a:defRPr sz="1875" b="1">
                <a:solidFill>
                  <a:srgbClr val="000000"/>
                </a:solidFill>
                <a:latin typeface="Calibri"/>
                <a:ea typeface="Calibri"/>
                <a:cs typeface="Calibri"/>
              </a:defRPr>
            </a:lvl8pPr>
            <a:lvl9pPr algn="l">
              <a:defRPr sz="1875" b="1">
                <a:solidFill>
                  <a:srgbClr val="000000"/>
                </a:solidFill>
                <a:latin typeface="Calibri"/>
                <a:ea typeface="Calibri"/>
                <a:cs typeface="Calibri"/>
              </a:defRPr>
            </a:lvl9pPr>
          </a:lstStyle>
          <a:p xmlns:a="http://schemas.openxmlformats.org/drawingml/2006/main">
            <a:pPr algn="l">
              <a:defRPr sz="1875" b="1">
                <a:solidFill>
                  <a:srgbClr val="000000"/>
                </a:solidFill>
                <a:latin typeface="Calibri"/>
                <a:ea typeface="Calibri"/>
                <a:cs typeface="Calibri"/>
              </a:defRPr>
            </a:pPr>
            <a:r>
              <a:rPr sz="1875" b="1">
                <a:solidFill>
                  <a:srgbClr val="000000"/>
                </a:solidFill>
                <a:latin typeface="Calibri"/>
                <a:ea typeface="Calibri"/>
                <a:cs typeface="Calibri"/>
              </a:rPr>
              <a:t>Test images remain separate from training.</a:t>
            </a:r>
          </a:p>
        </p:txBody>
      </p:sp>
    </p:spTree>
    <p:extLst>
      <p:ext uri="{BB962C8B-B14F-4D97-AF65-F5344CB8AC3E}">
        <p14:creationId xmlns:p14="http://schemas.microsoft.com/office/powerpoint/2010/main" val="118339777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178">
            <a:extLst xmlns:a="http://schemas.openxmlformats.org/drawingml/2006/main">
              <a:ext uri="{FF2B5EF4-FFF2-40B4-BE49-F238E27FC236}">
                <a16:creationId xmlns:a16="http://schemas.microsoft.com/office/drawing/2014/main" id="{3433E6E5-4B05-487A-9188-38CC086A3904}"/>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79">
            <a:extLst xmlns:a="http://schemas.openxmlformats.org/drawingml/2006/main">
              <a:ext uri="{FF2B5EF4-FFF2-40B4-BE49-F238E27FC236}">
                <a16:creationId xmlns:a16="http://schemas.microsoft.com/office/drawing/2014/main" id="{914A9EEE-FD02-43F6-8CAE-069B03D75C72}"/>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80">
            <a:extLst xmlns:a="http://schemas.openxmlformats.org/drawingml/2006/main">
              <a:ext uri="{FF2B5EF4-FFF2-40B4-BE49-F238E27FC236}">
                <a16:creationId xmlns:a16="http://schemas.microsoft.com/office/drawing/2014/main" id="{DEB5DE2D-B18F-4537-90D4-A021E87F197C}"/>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Prototype visualization</a:t>
            </a:r>
          </a:p>
        </p:txBody>
      </p:sp>
      <p:sp>
        <p:nvSpPr>
          <p:cNvPr id="4" name="object-181">
            <a:extLst xmlns:a="http://schemas.openxmlformats.org/drawingml/2006/main">
              <a:ext uri="{FF2B5EF4-FFF2-40B4-BE49-F238E27FC236}">
                <a16:creationId xmlns:a16="http://schemas.microsoft.com/office/drawing/2014/main" id="{7D07841B-1905-499C-A698-A040ECB983EC}"/>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82">
            <a:extLst xmlns:a="http://schemas.openxmlformats.org/drawingml/2006/main">
              <a:ext uri="{FF2B5EF4-FFF2-40B4-BE49-F238E27FC236}">
                <a16:creationId xmlns:a16="http://schemas.microsoft.com/office/drawing/2014/main" id="{4549ABC9-E547-48DD-960D-02F83E938F15}"/>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19</a:t>
            </a:r>
          </a:p>
        </p:txBody>
      </p:sp>
      <p:pic>
        <p:nvPicPr>
          <p:cNvPr id="6" name="">
            <a:extLst xmlns:a="http://schemas.openxmlformats.org/drawingml/2006/main">
              <a:ext uri="{FF2B5EF4-FFF2-40B4-BE49-F238E27FC236}">
                <a16:creationId xmlns:a16="http://schemas.microsoft.com/office/drawing/2014/main" id="{B82C555E-F54D-4056-A551-B4CC528B95CC}"/>
              </a:ext>
            </a:extLst>
          </p:cNvPr>
          <p:cNvPicPr>
            <a:picLocks xmlns:a="http://schemas.openxmlformats.org/drawingml/2006/main" noChangeAspect="1"/>
          </p:cNvPicPr>
          <p:nvPr/>
        </p:nvPicPr>
        <p:blipFill>
          <a:blip xmlns:r="http://schemas.openxmlformats.org/officeDocument/2006/relationships" xmlns:a="http://schemas.openxmlformats.org/drawingml/2006/main" r:embed="R4dd6ab442cac42bd"/>
          <a:stretch xmlns:a="http://schemas.openxmlformats.org/drawingml/2006/main"/>
        </p:blipFill>
        <p:spPr>
          <a:xfrm xmlns:a="http://schemas.openxmlformats.org/drawingml/2006/main">
            <a:off x="1873704" y="1657350"/>
            <a:ext cx="8444593" cy="3867150"/>
          </a:xfrm>
          <a:prstGeom xmlns:a="http://schemas.openxmlformats.org/drawingml/2006/main" prst="rect">
            <a:avLst/>
          </a:prstGeom>
        </p:spPr>
      </p:pic>
      <p:sp>
        <p:nvSpPr>
          <p:cNvPr id="7" name="object-183">
            <a:extLst xmlns:a="http://schemas.openxmlformats.org/drawingml/2006/main">
              <a:ext uri="{FF2B5EF4-FFF2-40B4-BE49-F238E27FC236}">
                <a16:creationId xmlns:a16="http://schemas.microsoft.com/office/drawing/2014/main" id="{DFD2F57D-B7DA-41A6-99E1-65395B54C266}"/>
              </a:ext>
            </a:extLst>
          </p:cNvPr>
          <p:cNvSpPr>
            <a:spLocks xmlns:a="http://schemas.openxmlformats.org/drawingml/2006/main" noGrp="1"/>
          </p:cNvSpPr>
          <p:nvPr/>
        </p:nvSpPr>
        <p:spPr>
          <a:xfrm xmlns:a="http://schemas.openxmlformats.org/drawingml/2006/main">
            <a:off x="685800" y="5819775"/>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000000"/>
                </a:solidFill>
                <a:latin typeface="Calibri"/>
                <a:ea typeface="Calibri"/>
                <a:cs typeface="Calibri"/>
              </a:defRPr>
            </a:defPPr>
            <a:lvl1pPr algn="l">
              <a:defRPr sz="1950" b="1">
                <a:solidFill>
                  <a:srgbClr val="000000"/>
                </a:solidFill>
                <a:latin typeface="Calibri"/>
                <a:ea typeface="Calibri"/>
                <a:cs typeface="Calibri"/>
              </a:defRPr>
            </a:lvl1pPr>
            <a:lvl2pPr algn="l">
              <a:defRPr sz="1950" b="1">
                <a:solidFill>
                  <a:srgbClr val="000000"/>
                </a:solidFill>
                <a:latin typeface="Calibri"/>
                <a:ea typeface="Calibri"/>
                <a:cs typeface="Calibri"/>
              </a:defRPr>
            </a:lvl2pPr>
            <a:lvl3pPr algn="l">
              <a:defRPr sz="1950" b="1">
                <a:solidFill>
                  <a:srgbClr val="000000"/>
                </a:solidFill>
                <a:latin typeface="Calibri"/>
                <a:ea typeface="Calibri"/>
                <a:cs typeface="Calibri"/>
              </a:defRPr>
            </a:lvl3pPr>
            <a:lvl4pPr algn="l">
              <a:defRPr sz="1950" b="1">
                <a:solidFill>
                  <a:srgbClr val="000000"/>
                </a:solidFill>
                <a:latin typeface="Calibri"/>
                <a:ea typeface="Calibri"/>
                <a:cs typeface="Calibri"/>
              </a:defRPr>
            </a:lvl4pPr>
            <a:lvl5pPr algn="l">
              <a:defRPr sz="1950" b="1">
                <a:solidFill>
                  <a:srgbClr val="000000"/>
                </a:solidFill>
                <a:latin typeface="Calibri"/>
                <a:ea typeface="Calibri"/>
                <a:cs typeface="Calibri"/>
              </a:defRPr>
            </a:lvl5pPr>
            <a:lvl6pPr algn="l">
              <a:defRPr sz="1950" b="1">
                <a:solidFill>
                  <a:srgbClr val="000000"/>
                </a:solidFill>
                <a:latin typeface="Calibri"/>
                <a:ea typeface="Calibri"/>
                <a:cs typeface="Calibri"/>
              </a:defRPr>
            </a:lvl6pPr>
            <a:lvl7pPr algn="l">
              <a:defRPr sz="1950" b="1">
                <a:solidFill>
                  <a:srgbClr val="000000"/>
                </a:solidFill>
                <a:latin typeface="Calibri"/>
                <a:ea typeface="Calibri"/>
                <a:cs typeface="Calibri"/>
              </a:defRPr>
            </a:lvl7pPr>
            <a:lvl8pPr algn="l">
              <a:defRPr sz="1950" b="1">
                <a:solidFill>
                  <a:srgbClr val="000000"/>
                </a:solidFill>
                <a:latin typeface="Calibri"/>
                <a:ea typeface="Calibri"/>
                <a:cs typeface="Calibri"/>
              </a:defRPr>
            </a:lvl8pPr>
            <a:lvl9pPr algn="l">
              <a:defRPr sz="1950" b="1">
                <a:solidFill>
                  <a:srgbClr val="000000"/>
                </a:solidFill>
                <a:latin typeface="Calibri"/>
                <a:ea typeface="Calibri"/>
                <a:cs typeface="Calibri"/>
              </a:defRPr>
            </a:lvl9pPr>
          </a:lstStyle>
          <a:p xmlns:a="http://schemas.openxmlformats.org/drawingml/2006/main">
            <a:pPr algn="l">
              <a:defRPr sz="1950" b="1">
                <a:solidFill>
                  <a:srgbClr val="000000"/>
                </a:solidFill>
                <a:latin typeface="Calibri"/>
                <a:ea typeface="Calibri"/>
                <a:cs typeface="Calibri"/>
              </a:defRPr>
            </a:pPr>
            <a:r>
              <a:rPr sz="1950" b="1">
                <a:solidFill>
                  <a:srgbClr val="000000"/>
                </a:solidFill>
                <a:latin typeface="Calibri"/>
                <a:ea typeface="Calibri"/>
                <a:cs typeface="Calibri"/>
              </a:rPr>
              <a:t>Display demonstration only. Speed and pedal indicators do not establish vehicle control.</a:t>
            </a:r>
          </a:p>
        </p:txBody>
      </p:sp>
    </p:spTree>
    <p:extLst>
      <p:ext uri="{BB962C8B-B14F-4D97-AF65-F5344CB8AC3E}">
        <p14:creationId xmlns:p14="http://schemas.microsoft.com/office/powerpoint/2010/main" val="2797477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bject-184">
            <a:extLst xmlns:a="http://schemas.openxmlformats.org/drawingml/2006/main">
              <a:ext uri="{FF2B5EF4-FFF2-40B4-BE49-F238E27FC236}">
                <a16:creationId xmlns:a16="http://schemas.microsoft.com/office/drawing/2014/main" id="{A11F7DF3-70A2-438F-9931-2A2017C9E612}"/>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85">
            <a:extLst xmlns:a="http://schemas.openxmlformats.org/drawingml/2006/main">
              <a:ext uri="{FF2B5EF4-FFF2-40B4-BE49-F238E27FC236}">
                <a16:creationId xmlns:a16="http://schemas.microsoft.com/office/drawing/2014/main" id="{A8AE060C-E0D2-40BD-9C21-B30949CB83AB}"/>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86">
            <a:extLst xmlns:a="http://schemas.openxmlformats.org/drawingml/2006/main">
              <a:ext uri="{FF2B5EF4-FFF2-40B4-BE49-F238E27FC236}">
                <a16:creationId xmlns:a16="http://schemas.microsoft.com/office/drawing/2014/main" id="{8AB4F0EA-D931-450D-9528-E121AC7D1B6D}"/>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Latency and model footprint</a:t>
            </a:r>
          </a:p>
        </p:txBody>
      </p:sp>
      <p:sp>
        <p:nvSpPr>
          <p:cNvPr id="4" name="object-187">
            <a:extLst xmlns:a="http://schemas.openxmlformats.org/drawingml/2006/main">
              <a:ext uri="{FF2B5EF4-FFF2-40B4-BE49-F238E27FC236}">
                <a16:creationId xmlns:a16="http://schemas.microsoft.com/office/drawing/2014/main" id="{6B396BCE-1763-4342-B943-89FABE31839B}"/>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88">
            <a:extLst xmlns:a="http://schemas.openxmlformats.org/drawingml/2006/main">
              <a:ext uri="{FF2B5EF4-FFF2-40B4-BE49-F238E27FC236}">
                <a16:creationId xmlns:a16="http://schemas.microsoft.com/office/drawing/2014/main" id="{4A1815CB-7A24-43A0-9DD8-A52AD5CD3409}"/>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Separate framework timings on a Tesla T4</a:t>
            </a:r>
          </a:p>
        </p:txBody>
      </p:sp>
      <p:sp>
        <p:nvSpPr>
          <p:cNvPr id="6" name="object-189">
            <a:extLst xmlns:a="http://schemas.openxmlformats.org/drawingml/2006/main">
              <a:ext uri="{FF2B5EF4-FFF2-40B4-BE49-F238E27FC236}">
                <a16:creationId xmlns:a16="http://schemas.microsoft.com/office/drawing/2014/main" id="{CC0E6C20-016A-4CE7-9341-7E27F8FA384F}"/>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20</a:t>
            </a:r>
          </a:p>
        </p:txBody>
      </p:sp>
      <p:graphicFrame>
        <p:nvGraphicFramePr>
          <p:cNvPr id="7" name="">
            <a:extLst xmlns:a="http://schemas.openxmlformats.org/drawingml/2006/main">
              <a:ext uri="{FF2B5EF4-FFF2-40B4-BE49-F238E27FC236}">
                <a16:creationId xmlns:a16="http://schemas.microsoft.com/office/drawing/2014/main" id="{C95C90E1-ECF9-4844-8638-3CC4E4810CED}"/>
              </a:ext>
            </a:extLst>
          </p:cNvPr>
          <p:cNvGraphicFramePr/>
          <p:nvPr/>
        </p:nvGraphicFramePr>
        <p:xfrm>
          <a:off xmlns:a="http://schemas.openxmlformats.org/drawingml/2006/main" x="685800" y="1828800"/>
          <a:ext xmlns:a="http://schemas.openxmlformats.org/drawingml/2006/main" cx="10820400" cy="2514600"/>
        </p:xfrm>
        <a:graphic xmlns:a="http://schemas.openxmlformats.org/drawingml/2006/main">
          <a:graphicData uri="http://schemas.openxmlformats.org/drawingml/2006/table">
            <a:tbl>
              <a:tblPr/>
              <a:tblGrid>
                <a:gridCol w="4003548"/>
                <a:gridCol w="2272284"/>
                <a:gridCol w="2272284"/>
                <a:gridCol w="2272284"/>
              </a:tblGrid>
              <a:tr h="628650">
                <a:tc>
                  <a:txBody>
                    <a:bodyPr wrap="square" lIns="66675" tIns="66675" rIns="66675" bIns="66675">
                      <a:noAutofit/>
                    </a:bodyPr>
                    <a:lstStyle/>
                    <a:p>
                      <a:pPr algn="l"/>
                      <a:r>
                        <a:rPr sz="2175" b="1">
                          <a:solidFill>
                            <a:srgbClr val="FFFFFF"/>
                          </a:solidFill>
                          <a:latin typeface="Calibri"/>
                          <a:ea typeface="Calibri"/>
                          <a:cs typeface="Calibri"/>
                        </a:rPr>
                        <a:t>Timing mode</a:t>
                      </a:r>
                    </a:p>
                  </a:txBody>
                  <a:tcPr marL="91440" marR="91440" marT="45720" marB="4572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2175" b="1">
                          <a:solidFill>
                            <a:srgbClr val="FFFFFF"/>
                          </a:solidFill>
                          <a:latin typeface="Calibri"/>
                          <a:ea typeface="Calibri"/>
                          <a:cs typeface="Calibri"/>
                        </a:rPr>
                        <a:t>Detection</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2175" b="1">
                          <a:solidFill>
                            <a:srgbClr val="FFFFFF"/>
                          </a:solidFill>
                          <a:latin typeface="Calibri"/>
                          <a:ea typeface="Calibri"/>
                          <a:cs typeface="Calibri"/>
                        </a:rPr>
                        <a:t>Lane</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2175" b="1">
                          <a:solidFill>
                            <a:srgbClr val="FFFFFF"/>
                          </a:solidFill>
                          <a:latin typeface="Calibri"/>
                          <a:ea typeface="Calibri"/>
                          <a:cs typeface="Calibri"/>
                        </a:rPr>
                        <a:t>Combined</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628650">
                <a:tc>
                  <a:txBody>
                    <a:bodyPr wrap="square" lIns="66675" tIns="66675" rIns="66675" bIns="66675">
                      <a:noAutofit/>
                    </a:bodyPr>
                    <a:lstStyle/>
                    <a:p>
                      <a:pPr algn="l"/>
                      <a:r>
                        <a:rPr sz="2175" b="0">
                          <a:solidFill>
                            <a:srgbClr val="000000"/>
                          </a:solidFill>
                          <a:latin typeface="Calibri"/>
                          <a:ea typeface="Calibri"/>
                          <a:cs typeface="Calibri"/>
                        </a:rPr>
                        <a:t>Batch-16 evaluation</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2175" b="0">
                          <a:solidFill>
                            <a:srgbClr val="000000"/>
                          </a:solidFill>
                          <a:latin typeface="Calibri"/>
                          <a:ea typeface="Calibri"/>
                          <a:cs typeface="Calibri"/>
                        </a:rPr>
                        <a:t>11.1 ms</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2175" b="0">
                          <a:solidFill>
                            <a:srgbClr val="000000"/>
                          </a:solidFill>
                          <a:latin typeface="Calibri"/>
                          <a:ea typeface="Calibri"/>
                          <a:cs typeface="Calibri"/>
                        </a:rPr>
                        <a:t>11.8 ms</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2175" b="0">
                          <a:solidFill>
                            <a:srgbClr val="000000"/>
                          </a:solidFill>
                          <a:latin typeface="Calibri"/>
                          <a:ea typeface="Calibri"/>
                          <a:cs typeface="Calibri"/>
                        </a:rPr>
                        <a:t>22.9 ms</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628650">
                <a:tc>
                  <a:txBody>
                    <a:bodyPr wrap="square" lIns="66675" tIns="66675" rIns="66675" bIns="66675">
                      <a:noAutofit/>
                    </a:bodyPr>
                    <a:lstStyle/>
                    <a:p>
                      <a:pPr algn="l"/>
                      <a:r>
                        <a:rPr sz="2175" b="0">
                          <a:solidFill>
                            <a:srgbClr val="000000"/>
                          </a:solidFill>
                          <a:latin typeface="Calibri"/>
                          <a:ea typeface="Calibri"/>
                          <a:cs typeface="Calibri"/>
                        </a:rPr>
                        <a:t>Single-image prediction</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2175" b="0">
                          <a:solidFill>
                            <a:srgbClr val="000000"/>
                          </a:solidFill>
                          <a:latin typeface="Calibri"/>
                          <a:ea typeface="Calibri"/>
                          <a:cs typeface="Calibri"/>
                        </a:rPr>
                        <a:t>17.0 ms</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2175" b="0">
                          <a:solidFill>
                            <a:srgbClr val="000000"/>
                          </a:solidFill>
                          <a:latin typeface="Calibri"/>
                          <a:ea typeface="Calibri"/>
                          <a:cs typeface="Calibri"/>
                        </a:rPr>
                        <a:t>14.3 ms</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2175" b="0">
                          <a:solidFill>
                            <a:srgbClr val="000000"/>
                          </a:solidFill>
                          <a:latin typeface="Calibri"/>
                          <a:ea typeface="Calibri"/>
                          <a:cs typeface="Calibri"/>
                        </a:rPr>
                        <a:t>31.3 ms</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628650">
                <a:tc>
                  <a:txBody>
                    <a:bodyPr wrap="square" lIns="66675" tIns="66675" rIns="66675" bIns="66675">
                      <a:noAutofit/>
                    </a:bodyPr>
                    <a:lstStyle/>
                    <a:p>
                      <a:pPr algn="l"/>
                      <a:r>
                        <a:rPr sz="2175" b="0">
                          <a:solidFill>
                            <a:srgbClr val="000000"/>
                          </a:solidFill>
                          <a:latin typeface="Calibri"/>
                          <a:ea typeface="Calibri"/>
                          <a:cs typeface="Calibri"/>
                        </a:rPr>
                        <a:t>Saved weights</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2175" b="0">
                          <a:solidFill>
                            <a:srgbClr val="000000"/>
                          </a:solidFill>
                          <a:latin typeface="Calibri"/>
                          <a:ea typeface="Calibri"/>
                          <a:cs typeface="Calibri"/>
                        </a:rPr>
                        <a:t>19.2 MB</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2175" b="0">
                          <a:solidFill>
                            <a:srgbClr val="000000"/>
                          </a:solidFill>
                          <a:latin typeface="Calibri"/>
                          <a:ea typeface="Calibri"/>
                          <a:cs typeface="Calibri"/>
                        </a:rPr>
                        <a:t>20.5 MB</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2175" b="0">
                          <a:solidFill>
                            <a:srgbClr val="000000"/>
                          </a:solidFill>
                          <a:latin typeface="Calibri"/>
                          <a:ea typeface="Calibri"/>
                          <a:cs typeface="Calibri"/>
                        </a:rPr>
                        <a:t>39.7 MB</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bl>
          </a:graphicData>
        </a:graphic>
      </p:graphicFrame>
      <p:sp>
        <p:nvSpPr>
          <p:cNvPr id="8" name="object-190">
            <a:extLst xmlns:a="http://schemas.openxmlformats.org/drawingml/2006/main">
              <a:ext uri="{FF2B5EF4-FFF2-40B4-BE49-F238E27FC236}">
                <a16:creationId xmlns:a16="http://schemas.microsoft.com/office/drawing/2014/main" id="{07C160EB-B65C-4D72-BE78-4DF683880C4B}"/>
              </a:ext>
            </a:extLst>
          </p:cNvPr>
          <p:cNvSpPr>
            <a:spLocks xmlns:a="http://schemas.openxmlformats.org/drawingml/2006/main" noGrp="1"/>
          </p:cNvSpPr>
          <p:nvPr/>
        </p:nvSpPr>
        <p:spPr>
          <a:xfrm xmlns:a="http://schemas.openxmlformats.org/drawingml/2006/main">
            <a:off x="685800" y="4791075"/>
            <a:ext cx="5143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000000"/>
                </a:solidFill>
                <a:latin typeface="Calibri"/>
                <a:ea typeface="Calibri"/>
                <a:cs typeface="Calibri"/>
              </a:defRPr>
            </a:defPPr>
            <a:lvl1pPr algn="l">
              <a:defRPr sz="4650" b="1">
                <a:solidFill>
                  <a:srgbClr val="000000"/>
                </a:solidFill>
                <a:latin typeface="Calibri"/>
                <a:ea typeface="Calibri"/>
                <a:cs typeface="Calibri"/>
              </a:defRPr>
            </a:lvl1pPr>
            <a:lvl2pPr algn="l">
              <a:defRPr sz="4650" b="1">
                <a:solidFill>
                  <a:srgbClr val="000000"/>
                </a:solidFill>
                <a:latin typeface="Calibri"/>
                <a:ea typeface="Calibri"/>
                <a:cs typeface="Calibri"/>
              </a:defRPr>
            </a:lvl2pPr>
            <a:lvl3pPr algn="l">
              <a:defRPr sz="4650" b="1">
                <a:solidFill>
                  <a:srgbClr val="000000"/>
                </a:solidFill>
                <a:latin typeface="Calibri"/>
                <a:ea typeface="Calibri"/>
                <a:cs typeface="Calibri"/>
              </a:defRPr>
            </a:lvl3pPr>
            <a:lvl4pPr algn="l">
              <a:defRPr sz="4650" b="1">
                <a:solidFill>
                  <a:srgbClr val="000000"/>
                </a:solidFill>
                <a:latin typeface="Calibri"/>
                <a:ea typeface="Calibri"/>
                <a:cs typeface="Calibri"/>
              </a:defRPr>
            </a:lvl4pPr>
            <a:lvl5pPr algn="l">
              <a:defRPr sz="4650" b="1">
                <a:solidFill>
                  <a:srgbClr val="000000"/>
                </a:solidFill>
                <a:latin typeface="Calibri"/>
                <a:ea typeface="Calibri"/>
                <a:cs typeface="Calibri"/>
              </a:defRPr>
            </a:lvl5pPr>
            <a:lvl6pPr algn="l">
              <a:defRPr sz="4650" b="1">
                <a:solidFill>
                  <a:srgbClr val="000000"/>
                </a:solidFill>
                <a:latin typeface="Calibri"/>
                <a:ea typeface="Calibri"/>
                <a:cs typeface="Calibri"/>
              </a:defRPr>
            </a:lvl6pPr>
            <a:lvl7pPr algn="l">
              <a:defRPr sz="4650" b="1">
                <a:solidFill>
                  <a:srgbClr val="000000"/>
                </a:solidFill>
                <a:latin typeface="Calibri"/>
                <a:ea typeface="Calibri"/>
                <a:cs typeface="Calibri"/>
              </a:defRPr>
            </a:lvl7pPr>
            <a:lvl8pPr algn="l">
              <a:defRPr sz="4650" b="1">
                <a:solidFill>
                  <a:srgbClr val="000000"/>
                </a:solidFill>
                <a:latin typeface="Calibri"/>
                <a:ea typeface="Calibri"/>
                <a:cs typeface="Calibri"/>
              </a:defRPr>
            </a:lvl8pPr>
            <a:lvl9pPr algn="l">
              <a:defRPr sz="4650" b="1">
                <a:solidFill>
                  <a:srgbClr val="000000"/>
                </a:solidFill>
                <a:latin typeface="Calibri"/>
                <a:ea typeface="Calibri"/>
                <a:cs typeface="Calibri"/>
              </a:defRPr>
            </a:lvl9pPr>
          </a:lstStyle>
          <a:p xmlns:a="http://schemas.openxmlformats.org/drawingml/2006/main">
            <a:pPr algn="l">
              <a:defRPr sz="4650" b="1">
                <a:solidFill>
                  <a:srgbClr val="000000"/>
                </a:solidFill>
                <a:latin typeface="Calibri"/>
                <a:ea typeface="Calibri"/>
                <a:cs typeface="Calibri"/>
              </a:defRPr>
            </a:pPr>
            <a:r>
              <a:rPr sz="4650" b="1">
                <a:solidFill>
                  <a:srgbClr val="000000"/>
                </a:solidFill>
                <a:latin typeface="Calibri"/>
                <a:ea typeface="Calibri"/>
                <a:cs typeface="Calibri"/>
              </a:rPr>
              <a:t>32–44 FPS</a:t>
            </a:r>
          </a:p>
        </p:txBody>
      </p:sp>
      <p:sp>
        <p:nvSpPr>
          <p:cNvPr id="9" name="object-191">
            <a:extLst xmlns:a="http://schemas.openxmlformats.org/drawingml/2006/main">
              <a:ext uri="{FF2B5EF4-FFF2-40B4-BE49-F238E27FC236}">
                <a16:creationId xmlns:a16="http://schemas.microsoft.com/office/drawing/2014/main" id="{BAE1B109-D410-4338-AB15-5ACFD58EB1B6}"/>
              </a:ext>
            </a:extLst>
          </p:cNvPr>
          <p:cNvSpPr>
            <a:spLocks xmlns:a="http://schemas.openxmlformats.org/drawingml/2006/main" noGrp="1"/>
          </p:cNvSpPr>
          <p:nvPr/>
        </p:nvSpPr>
        <p:spPr>
          <a:xfrm xmlns:a="http://schemas.openxmlformats.org/drawingml/2006/main">
            <a:off x="6172200" y="4848225"/>
            <a:ext cx="5334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Calibri"/>
                <a:ea typeface="Calibri"/>
                <a:cs typeface="Calibri"/>
              </a:defRPr>
            </a:defPPr>
            <a:lvl1pPr algn="l">
              <a:defRPr sz="2250" b="0">
                <a:solidFill>
                  <a:srgbClr val="000000"/>
                </a:solidFill>
                <a:latin typeface="Calibri"/>
                <a:ea typeface="Calibri"/>
                <a:cs typeface="Calibri"/>
              </a:defRPr>
            </a:lvl1pPr>
            <a:lvl2pPr algn="l">
              <a:defRPr sz="2250" b="0">
                <a:solidFill>
                  <a:srgbClr val="000000"/>
                </a:solidFill>
                <a:latin typeface="Calibri"/>
                <a:ea typeface="Calibri"/>
                <a:cs typeface="Calibri"/>
              </a:defRPr>
            </a:lvl2pPr>
            <a:lvl3pPr algn="l">
              <a:defRPr sz="2250" b="0">
                <a:solidFill>
                  <a:srgbClr val="000000"/>
                </a:solidFill>
                <a:latin typeface="Calibri"/>
                <a:ea typeface="Calibri"/>
                <a:cs typeface="Calibri"/>
              </a:defRPr>
            </a:lvl3pPr>
            <a:lvl4pPr algn="l">
              <a:defRPr sz="2250" b="0">
                <a:solidFill>
                  <a:srgbClr val="000000"/>
                </a:solidFill>
                <a:latin typeface="Calibri"/>
                <a:ea typeface="Calibri"/>
                <a:cs typeface="Calibri"/>
              </a:defRPr>
            </a:lvl4pPr>
            <a:lvl5pPr algn="l">
              <a:defRPr sz="2250" b="0">
                <a:solidFill>
                  <a:srgbClr val="000000"/>
                </a:solidFill>
                <a:latin typeface="Calibri"/>
                <a:ea typeface="Calibri"/>
                <a:cs typeface="Calibri"/>
              </a:defRPr>
            </a:lvl5pPr>
            <a:lvl6pPr algn="l">
              <a:defRPr sz="2250" b="0">
                <a:solidFill>
                  <a:srgbClr val="000000"/>
                </a:solidFill>
                <a:latin typeface="Calibri"/>
                <a:ea typeface="Calibri"/>
                <a:cs typeface="Calibri"/>
              </a:defRPr>
            </a:lvl6pPr>
            <a:lvl7pPr algn="l">
              <a:defRPr sz="2250" b="0">
                <a:solidFill>
                  <a:srgbClr val="000000"/>
                </a:solidFill>
                <a:latin typeface="Calibri"/>
                <a:ea typeface="Calibri"/>
                <a:cs typeface="Calibri"/>
              </a:defRPr>
            </a:lvl7pPr>
            <a:lvl8pPr algn="l">
              <a:defRPr sz="2250" b="0">
                <a:solidFill>
                  <a:srgbClr val="000000"/>
                </a:solidFill>
                <a:latin typeface="Calibri"/>
                <a:ea typeface="Calibri"/>
                <a:cs typeface="Calibri"/>
              </a:defRPr>
            </a:lvl8pPr>
            <a:lvl9pPr algn="l">
              <a:defRPr sz="2250" b="0">
                <a:solidFill>
                  <a:srgbClr val="000000"/>
                </a:solidFill>
                <a:latin typeface="Calibri"/>
                <a:ea typeface="Calibri"/>
                <a:cs typeface="Calibri"/>
              </a:defRPr>
            </a:lvl9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Projected throughput for the two YOLO modules only</a:t>
            </a:r>
          </a:p>
        </p:txBody>
      </p:sp>
      <p:sp>
        <p:nvSpPr>
          <p:cNvPr id="10" name="object-192">
            <a:extLst xmlns:a="http://schemas.openxmlformats.org/drawingml/2006/main">
              <a:ext uri="{FF2B5EF4-FFF2-40B4-BE49-F238E27FC236}">
                <a16:creationId xmlns:a16="http://schemas.microsoft.com/office/drawing/2014/main" id="{82F0339B-D1CC-4EDA-9223-B3F66EDD9B3F}"/>
              </a:ext>
            </a:extLst>
          </p:cNvPr>
          <p:cNvSpPr>
            <a:spLocks xmlns:a="http://schemas.openxmlformats.org/drawingml/2006/main" noGrp="1"/>
          </p:cNvSpPr>
          <p:nvPr/>
        </p:nvSpPr>
        <p:spPr>
          <a:xfrm xmlns:a="http://schemas.openxmlformats.org/drawingml/2006/main">
            <a:off x="685800" y="59340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0000"/>
                </a:solidFill>
                <a:latin typeface="Calibri"/>
                <a:ea typeface="Calibri"/>
                <a:cs typeface="Calibri"/>
              </a:defRPr>
            </a:defPPr>
            <a:lvl1pPr algn="l">
              <a:defRPr sz="1875" b="1">
                <a:solidFill>
                  <a:srgbClr val="000000"/>
                </a:solidFill>
                <a:latin typeface="Calibri"/>
                <a:ea typeface="Calibri"/>
                <a:cs typeface="Calibri"/>
              </a:defRPr>
            </a:lvl1pPr>
            <a:lvl2pPr algn="l">
              <a:defRPr sz="1875" b="1">
                <a:solidFill>
                  <a:srgbClr val="000000"/>
                </a:solidFill>
                <a:latin typeface="Calibri"/>
                <a:ea typeface="Calibri"/>
                <a:cs typeface="Calibri"/>
              </a:defRPr>
            </a:lvl2pPr>
            <a:lvl3pPr algn="l">
              <a:defRPr sz="1875" b="1">
                <a:solidFill>
                  <a:srgbClr val="000000"/>
                </a:solidFill>
                <a:latin typeface="Calibri"/>
                <a:ea typeface="Calibri"/>
                <a:cs typeface="Calibri"/>
              </a:defRPr>
            </a:lvl3pPr>
            <a:lvl4pPr algn="l">
              <a:defRPr sz="1875" b="1">
                <a:solidFill>
                  <a:srgbClr val="000000"/>
                </a:solidFill>
                <a:latin typeface="Calibri"/>
                <a:ea typeface="Calibri"/>
                <a:cs typeface="Calibri"/>
              </a:defRPr>
            </a:lvl4pPr>
            <a:lvl5pPr algn="l">
              <a:defRPr sz="1875" b="1">
                <a:solidFill>
                  <a:srgbClr val="000000"/>
                </a:solidFill>
                <a:latin typeface="Calibri"/>
                <a:ea typeface="Calibri"/>
                <a:cs typeface="Calibri"/>
              </a:defRPr>
            </a:lvl5pPr>
            <a:lvl6pPr algn="l">
              <a:defRPr sz="1875" b="1">
                <a:solidFill>
                  <a:srgbClr val="000000"/>
                </a:solidFill>
                <a:latin typeface="Calibri"/>
                <a:ea typeface="Calibri"/>
                <a:cs typeface="Calibri"/>
              </a:defRPr>
            </a:lvl6pPr>
            <a:lvl7pPr algn="l">
              <a:defRPr sz="1875" b="1">
                <a:solidFill>
                  <a:srgbClr val="000000"/>
                </a:solidFill>
                <a:latin typeface="Calibri"/>
                <a:ea typeface="Calibri"/>
                <a:cs typeface="Calibri"/>
              </a:defRPr>
            </a:lvl7pPr>
            <a:lvl8pPr algn="l">
              <a:defRPr sz="1875" b="1">
                <a:solidFill>
                  <a:srgbClr val="000000"/>
                </a:solidFill>
                <a:latin typeface="Calibri"/>
                <a:ea typeface="Calibri"/>
                <a:cs typeface="Calibri"/>
              </a:defRPr>
            </a:lvl8pPr>
            <a:lvl9pPr algn="l">
              <a:defRPr sz="1875" b="1">
                <a:solidFill>
                  <a:srgbClr val="000000"/>
                </a:solidFill>
                <a:latin typeface="Calibri"/>
                <a:ea typeface="Calibri"/>
                <a:cs typeface="Calibri"/>
              </a:defRPr>
            </a:lvl9pPr>
          </a:lstStyle>
          <a:p xmlns:a="http://schemas.openxmlformats.org/drawingml/2006/main">
            <a:pPr algn="l">
              <a:defRPr sz="1875" b="1">
                <a:solidFill>
                  <a:srgbClr val="000000"/>
                </a:solidFill>
                <a:latin typeface="Calibri"/>
                <a:ea typeface="Calibri"/>
                <a:cs typeface="Calibri"/>
              </a:defRPr>
            </a:pPr>
            <a:r>
              <a:rPr sz="1875" b="1">
                <a:solidFill>
                  <a:srgbClr val="000000"/>
                </a:solidFill>
                <a:latin typeface="Calibri"/>
                <a:ea typeface="Calibri"/>
                <a:cs typeface="Calibri"/>
              </a:rPr>
              <a:t>Full pipeline FPS was not measured. Capture, steering, display and control I/O are excluded.</a:t>
            </a:r>
          </a:p>
        </p:txBody>
      </p:sp>
    </p:spTree>
    <p:extLst>
      <p:ext uri="{BB962C8B-B14F-4D97-AF65-F5344CB8AC3E}">
        <p14:creationId xmlns:p14="http://schemas.microsoft.com/office/powerpoint/2010/main" val="38505616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object-193">
            <a:extLst xmlns:a="http://schemas.openxmlformats.org/drawingml/2006/main">
              <a:ext uri="{FF2B5EF4-FFF2-40B4-BE49-F238E27FC236}">
                <a16:creationId xmlns:a16="http://schemas.microsoft.com/office/drawing/2014/main" id="{78C2EE0F-FDA0-4CAB-8103-BB5F483B2190}"/>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94">
            <a:extLst xmlns:a="http://schemas.openxmlformats.org/drawingml/2006/main">
              <a:ext uri="{FF2B5EF4-FFF2-40B4-BE49-F238E27FC236}">
                <a16:creationId xmlns:a16="http://schemas.microsoft.com/office/drawing/2014/main" id="{44117E22-49EE-4D48-839D-7A82FAD7B36B}"/>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95">
            <a:extLst xmlns:a="http://schemas.openxmlformats.org/drawingml/2006/main">
              <a:ext uri="{FF2B5EF4-FFF2-40B4-BE49-F238E27FC236}">
                <a16:creationId xmlns:a16="http://schemas.microsoft.com/office/drawing/2014/main" id="{D8AE08AD-CED4-4ACF-80EF-C31A7C519045}"/>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Challenges, applications and next steps</a:t>
            </a:r>
          </a:p>
        </p:txBody>
      </p:sp>
      <p:sp>
        <p:nvSpPr>
          <p:cNvPr id="4" name="object-196">
            <a:extLst xmlns:a="http://schemas.openxmlformats.org/drawingml/2006/main">
              <a:ext uri="{FF2B5EF4-FFF2-40B4-BE49-F238E27FC236}">
                <a16:creationId xmlns:a16="http://schemas.microsoft.com/office/drawing/2014/main" id="{B0D4D267-3B69-4E60-BB93-D8A586760486}"/>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97">
            <a:extLst xmlns:a="http://schemas.openxmlformats.org/drawingml/2006/main">
              <a:ext uri="{FF2B5EF4-FFF2-40B4-BE49-F238E27FC236}">
                <a16:creationId xmlns:a16="http://schemas.microsoft.com/office/drawing/2014/main" id="{DC478851-067E-45A2-8222-AC21FB1FD466}"/>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21</a:t>
            </a:r>
          </a:p>
        </p:txBody>
      </p:sp>
      <p:sp>
        <p:nvSpPr>
          <p:cNvPr id="6" name="object-198">
            <a:extLst xmlns:a="http://schemas.openxmlformats.org/drawingml/2006/main">
              <a:ext uri="{FF2B5EF4-FFF2-40B4-BE49-F238E27FC236}">
                <a16:creationId xmlns:a16="http://schemas.microsoft.com/office/drawing/2014/main" id="{9EE7CC4A-979E-419F-9163-BEF3E2912477}"/>
              </a:ext>
            </a:extLst>
          </p:cNvPr>
          <p:cNvSpPr>
            <a:spLocks xmlns:a="http://schemas.openxmlformats.org/drawingml/2006/main" noGrp="1"/>
          </p:cNvSpPr>
          <p:nvPr/>
        </p:nvSpPr>
        <p:spPr>
          <a:xfrm xmlns:a="http://schemas.openxmlformats.org/drawingml/2006/main">
            <a:off x="685800" y="1685925"/>
            <a:ext cx="5095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Calibri"/>
                <a:ea typeface="Calibri"/>
                <a:cs typeface="Calibri"/>
              </a:defRPr>
            </a:defPPr>
            <a:lvl1pPr algn="l">
              <a:defRPr sz="2400" b="1">
                <a:solidFill>
                  <a:srgbClr val="000000"/>
                </a:solidFill>
                <a:latin typeface="Calibri"/>
                <a:ea typeface="Calibri"/>
                <a:cs typeface="Calibri"/>
              </a:defRPr>
            </a:lvl1pPr>
            <a:lvl2pPr algn="l">
              <a:defRPr sz="2400" b="1">
                <a:solidFill>
                  <a:srgbClr val="000000"/>
                </a:solidFill>
                <a:latin typeface="Calibri"/>
                <a:ea typeface="Calibri"/>
                <a:cs typeface="Calibri"/>
              </a:defRPr>
            </a:lvl2pPr>
            <a:lvl3pPr algn="l">
              <a:defRPr sz="2400" b="1">
                <a:solidFill>
                  <a:srgbClr val="000000"/>
                </a:solidFill>
                <a:latin typeface="Calibri"/>
                <a:ea typeface="Calibri"/>
                <a:cs typeface="Calibri"/>
              </a:defRPr>
            </a:lvl3pPr>
            <a:lvl4pPr algn="l">
              <a:defRPr sz="2400" b="1">
                <a:solidFill>
                  <a:srgbClr val="000000"/>
                </a:solidFill>
                <a:latin typeface="Calibri"/>
                <a:ea typeface="Calibri"/>
                <a:cs typeface="Calibri"/>
              </a:defRPr>
            </a:lvl4pPr>
            <a:lvl5pPr algn="l">
              <a:defRPr sz="2400" b="1">
                <a:solidFill>
                  <a:srgbClr val="000000"/>
                </a:solidFill>
                <a:latin typeface="Calibri"/>
                <a:ea typeface="Calibri"/>
                <a:cs typeface="Calibri"/>
              </a:defRPr>
            </a:lvl5pPr>
            <a:lvl6pPr algn="l">
              <a:defRPr sz="2400" b="1">
                <a:solidFill>
                  <a:srgbClr val="000000"/>
                </a:solidFill>
                <a:latin typeface="Calibri"/>
                <a:ea typeface="Calibri"/>
                <a:cs typeface="Calibri"/>
              </a:defRPr>
            </a:lvl6pPr>
            <a:lvl7pPr algn="l">
              <a:defRPr sz="2400" b="1">
                <a:solidFill>
                  <a:srgbClr val="000000"/>
                </a:solidFill>
                <a:latin typeface="Calibri"/>
                <a:ea typeface="Calibri"/>
                <a:cs typeface="Calibri"/>
              </a:defRPr>
            </a:lvl7pPr>
            <a:lvl8pPr algn="l">
              <a:defRPr sz="2400" b="1">
                <a:solidFill>
                  <a:srgbClr val="000000"/>
                </a:solidFill>
                <a:latin typeface="Calibri"/>
                <a:ea typeface="Calibri"/>
                <a:cs typeface="Calibri"/>
              </a:defRPr>
            </a:lvl8pPr>
            <a:lvl9pPr algn="l">
              <a:defRPr sz="2400" b="1">
                <a:solidFill>
                  <a:srgbClr val="000000"/>
                </a:solidFill>
                <a:latin typeface="Calibri"/>
                <a:ea typeface="Calibri"/>
                <a:cs typeface="Calibri"/>
              </a:defRPr>
            </a:lvl9pPr>
          </a:lstStyle>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Current limitations</a:t>
            </a:r>
          </a:p>
        </p:txBody>
      </p:sp>
      <p:sp>
        <p:nvSpPr>
          <p:cNvPr id="7" name="object-199">
            <a:extLst xmlns:a="http://schemas.openxmlformats.org/drawingml/2006/main">
              <a:ext uri="{FF2B5EF4-FFF2-40B4-BE49-F238E27FC236}">
                <a16:creationId xmlns:a16="http://schemas.microsoft.com/office/drawing/2014/main" id="{1C6AF1D2-A700-4E23-9731-A92956DCA89A}"/>
              </a:ext>
            </a:extLst>
          </p:cNvPr>
          <p:cNvSpPr>
            <a:spLocks xmlns:a="http://schemas.openxmlformats.org/drawingml/2006/main" noGrp="1"/>
          </p:cNvSpPr>
          <p:nvPr/>
        </p:nvSpPr>
        <p:spPr>
          <a:xfrm xmlns:a="http://schemas.openxmlformats.org/drawingml/2006/main">
            <a:off x="685800" y="238125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B95827"/>
                </a:solidFill>
                <a:latin typeface="Calibri"/>
                <a:ea typeface="Calibri"/>
                <a:cs typeface="Calibri"/>
              </a:defRPr>
            </a:defPPr>
            <a:lvl1pPr algn="l">
              <a:defRPr sz="1950" b="1">
                <a:solidFill>
                  <a:srgbClr val="B95827"/>
                </a:solidFill>
                <a:latin typeface="Calibri"/>
                <a:ea typeface="Calibri"/>
                <a:cs typeface="Calibri"/>
              </a:defRPr>
            </a:lvl1pPr>
            <a:lvl2pPr algn="l">
              <a:defRPr sz="1950" b="1">
                <a:solidFill>
                  <a:srgbClr val="B95827"/>
                </a:solidFill>
                <a:latin typeface="Calibri"/>
                <a:ea typeface="Calibri"/>
                <a:cs typeface="Calibri"/>
              </a:defRPr>
            </a:lvl2pPr>
            <a:lvl3pPr algn="l">
              <a:defRPr sz="1950" b="1">
                <a:solidFill>
                  <a:srgbClr val="B95827"/>
                </a:solidFill>
                <a:latin typeface="Calibri"/>
                <a:ea typeface="Calibri"/>
                <a:cs typeface="Calibri"/>
              </a:defRPr>
            </a:lvl3pPr>
            <a:lvl4pPr algn="l">
              <a:defRPr sz="1950" b="1">
                <a:solidFill>
                  <a:srgbClr val="B95827"/>
                </a:solidFill>
                <a:latin typeface="Calibri"/>
                <a:ea typeface="Calibri"/>
                <a:cs typeface="Calibri"/>
              </a:defRPr>
            </a:lvl4pPr>
            <a:lvl5pPr algn="l">
              <a:defRPr sz="1950" b="1">
                <a:solidFill>
                  <a:srgbClr val="B95827"/>
                </a:solidFill>
                <a:latin typeface="Calibri"/>
                <a:ea typeface="Calibri"/>
                <a:cs typeface="Calibri"/>
              </a:defRPr>
            </a:lvl5pPr>
            <a:lvl6pPr algn="l">
              <a:defRPr sz="1950" b="1">
                <a:solidFill>
                  <a:srgbClr val="B95827"/>
                </a:solidFill>
                <a:latin typeface="Calibri"/>
                <a:ea typeface="Calibri"/>
                <a:cs typeface="Calibri"/>
              </a:defRPr>
            </a:lvl6pPr>
            <a:lvl7pPr algn="l">
              <a:defRPr sz="1950" b="1">
                <a:solidFill>
                  <a:srgbClr val="B95827"/>
                </a:solidFill>
                <a:latin typeface="Calibri"/>
                <a:ea typeface="Calibri"/>
                <a:cs typeface="Calibri"/>
              </a:defRPr>
            </a:lvl7pPr>
            <a:lvl8pPr algn="l">
              <a:defRPr sz="1950" b="1">
                <a:solidFill>
                  <a:srgbClr val="B95827"/>
                </a:solidFill>
                <a:latin typeface="Calibri"/>
                <a:ea typeface="Calibri"/>
                <a:cs typeface="Calibri"/>
              </a:defRPr>
            </a:lvl8pPr>
            <a:lvl9pPr algn="l">
              <a:defRPr sz="1950" b="1">
                <a:solidFill>
                  <a:srgbClr val="B95827"/>
                </a:solidFill>
                <a:latin typeface="Calibri"/>
                <a:ea typeface="Calibri"/>
                <a:cs typeface="Calibri"/>
              </a:defRPr>
            </a:lvl9pPr>
          </a:lstStyle>
          <a:p xmlns:a="http://schemas.openxmlformats.org/drawingml/2006/main">
            <a:pPr algn="l">
              <a:defRPr sz="1950" b="1">
                <a:solidFill>
                  <a:srgbClr val="B95827"/>
                </a:solidFill>
                <a:latin typeface="Calibri"/>
                <a:ea typeface="Calibri"/>
                <a:cs typeface="Calibri"/>
              </a:defRPr>
            </a:pPr>
            <a:r>
              <a:rPr sz="1950" b="1">
                <a:solidFill>
                  <a:srgbClr val="B95827"/>
                </a:solidFill>
                <a:latin typeface="Calibri"/>
                <a:ea typeface="Calibri"/>
                <a:cs typeface="Calibri"/>
              </a:rPr>
              <a:t>01</a:t>
            </a:r>
          </a:p>
        </p:txBody>
      </p:sp>
      <p:sp>
        <p:nvSpPr>
          <p:cNvPr id="8" name="object-200">
            <a:extLst xmlns:a="http://schemas.openxmlformats.org/drawingml/2006/main">
              <a:ext uri="{FF2B5EF4-FFF2-40B4-BE49-F238E27FC236}">
                <a16:creationId xmlns:a16="http://schemas.microsoft.com/office/drawing/2014/main" id="{4C1A4288-1ADC-415A-851F-B363BF004206}"/>
              </a:ext>
            </a:extLst>
          </p:cNvPr>
          <p:cNvSpPr>
            <a:spLocks xmlns:a="http://schemas.openxmlformats.org/drawingml/2006/main" noGrp="1"/>
          </p:cNvSpPr>
          <p:nvPr/>
        </p:nvSpPr>
        <p:spPr>
          <a:xfrm xmlns:a="http://schemas.openxmlformats.org/drawingml/2006/main">
            <a:off x="1409700" y="2381250"/>
            <a:ext cx="43719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Steering trails simple constant baselines.</a:t>
            </a:r>
          </a:p>
        </p:txBody>
      </p:sp>
      <p:sp>
        <p:nvSpPr>
          <p:cNvPr id="9" name="object-201">
            <a:extLst xmlns:a="http://schemas.openxmlformats.org/drawingml/2006/main">
              <a:ext uri="{FF2B5EF4-FFF2-40B4-BE49-F238E27FC236}">
                <a16:creationId xmlns:a16="http://schemas.microsoft.com/office/drawing/2014/main" id="{B710711A-5A65-4F78-9955-6CC24EDC3657}"/>
              </a:ext>
            </a:extLst>
          </p:cNvPr>
          <p:cNvSpPr>
            <a:spLocks xmlns:a="http://schemas.openxmlformats.org/drawingml/2006/main" noGrp="1"/>
          </p:cNvSpPr>
          <p:nvPr/>
        </p:nvSpPr>
        <p:spPr>
          <a:xfrm xmlns:a="http://schemas.openxmlformats.org/drawingml/2006/main">
            <a:off x="685800" y="331470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B95827"/>
                </a:solidFill>
                <a:latin typeface="Calibri"/>
                <a:ea typeface="Calibri"/>
                <a:cs typeface="Calibri"/>
              </a:defRPr>
            </a:defPPr>
            <a:lvl1pPr algn="l">
              <a:defRPr sz="1950" b="1">
                <a:solidFill>
                  <a:srgbClr val="B95827"/>
                </a:solidFill>
                <a:latin typeface="Calibri"/>
                <a:ea typeface="Calibri"/>
                <a:cs typeface="Calibri"/>
              </a:defRPr>
            </a:lvl1pPr>
            <a:lvl2pPr algn="l">
              <a:defRPr sz="1950" b="1">
                <a:solidFill>
                  <a:srgbClr val="B95827"/>
                </a:solidFill>
                <a:latin typeface="Calibri"/>
                <a:ea typeface="Calibri"/>
                <a:cs typeface="Calibri"/>
              </a:defRPr>
            </a:lvl2pPr>
            <a:lvl3pPr algn="l">
              <a:defRPr sz="1950" b="1">
                <a:solidFill>
                  <a:srgbClr val="B95827"/>
                </a:solidFill>
                <a:latin typeface="Calibri"/>
                <a:ea typeface="Calibri"/>
                <a:cs typeface="Calibri"/>
              </a:defRPr>
            </a:lvl3pPr>
            <a:lvl4pPr algn="l">
              <a:defRPr sz="1950" b="1">
                <a:solidFill>
                  <a:srgbClr val="B95827"/>
                </a:solidFill>
                <a:latin typeface="Calibri"/>
                <a:ea typeface="Calibri"/>
                <a:cs typeface="Calibri"/>
              </a:defRPr>
            </a:lvl4pPr>
            <a:lvl5pPr algn="l">
              <a:defRPr sz="1950" b="1">
                <a:solidFill>
                  <a:srgbClr val="B95827"/>
                </a:solidFill>
                <a:latin typeface="Calibri"/>
                <a:ea typeface="Calibri"/>
                <a:cs typeface="Calibri"/>
              </a:defRPr>
            </a:lvl5pPr>
            <a:lvl6pPr algn="l">
              <a:defRPr sz="1950" b="1">
                <a:solidFill>
                  <a:srgbClr val="B95827"/>
                </a:solidFill>
                <a:latin typeface="Calibri"/>
                <a:ea typeface="Calibri"/>
                <a:cs typeface="Calibri"/>
              </a:defRPr>
            </a:lvl6pPr>
            <a:lvl7pPr algn="l">
              <a:defRPr sz="1950" b="1">
                <a:solidFill>
                  <a:srgbClr val="B95827"/>
                </a:solidFill>
                <a:latin typeface="Calibri"/>
                <a:ea typeface="Calibri"/>
                <a:cs typeface="Calibri"/>
              </a:defRPr>
            </a:lvl7pPr>
            <a:lvl8pPr algn="l">
              <a:defRPr sz="1950" b="1">
                <a:solidFill>
                  <a:srgbClr val="B95827"/>
                </a:solidFill>
                <a:latin typeface="Calibri"/>
                <a:ea typeface="Calibri"/>
                <a:cs typeface="Calibri"/>
              </a:defRPr>
            </a:lvl8pPr>
            <a:lvl9pPr algn="l">
              <a:defRPr sz="1950" b="1">
                <a:solidFill>
                  <a:srgbClr val="B95827"/>
                </a:solidFill>
                <a:latin typeface="Calibri"/>
                <a:ea typeface="Calibri"/>
                <a:cs typeface="Calibri"/>
              </a:defRPr>
            </a:lvl9pPr>
          </a:lstStyle>
          <a:p xmlns:a="http://schemas.openxmlformats.org/drawingml/2006/main">
            <a:pPr algn="l">
              <a:defRPr sz="1950" b="1">
                <a:solidFill>
                  <a:srgbClr val="B95827"/>
                </a:solidFill>
                <a:latin typeface="Calibri"/>
                <a:ea typeface="Calibri"/>
                <a:cs typeface="Calibri"/>
              </a:defRPr>
            </a:pPr>
            <a:r>
              <a:rPr sz="1950" b="1">
                <a:solidFill>
                  <a:srgbClr val="B95827"/>
                </a:solidFill>
                <a:latin typeface="Calibri"/>
                <a:ea typeface="Calibri"/>
                <a:cs typeface="Calibri"/>
              </a:rPr>
              <a:t>02</a:t>
            </a:r>
          </a:p>
        </p:txBody>
      </p:sp>
      <p:sp>
        <p:nvSpPr>
          <p:cNvPr id="10" name="object-202">
            <a:extLst xmlns:a="http://schemas.openxmlformats.org/drawingml/2006/main">
              <a:ext uri="{FF2B5EF4-FFF2-40B4-BE49-F238E27FC236}">
                <a16:creationId xmlns:a16="http://schemas.microsoft.com/office/drawing/2014/main" id="{E2DF2646-EEB1-406A-A87F-555E1A80205B}"/>
              </a:ext>
            </a:extLst>
          </p:cNvPr>
          <p:cNvSpPr>
            <a:spLocks xmlns:a="http://schemas.openxmlformats.org/drawingml/2006/main" noGrp="1"/>
          </p:cNvSpPr>
          <p:nvPr/>
        </p:nvSpPr>
        <p:spPr>
          <a:xfrm xmlns:a="http://schemas.openxmlformats.org/drawingml/2006/main">
            <a:off x="1409700" y="3314700"/>
            <a:ext cx="43719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Lane scores use synthetic masks.</a:t>
            </a:r>
          </a:p>
        </p:txBody>
      </p:sp>
      <p:sp>
        <p:nvSpPr>
          <p:cNvPr id="11" name="object-203">
            <a:extLst xmlns:a="http://schemas.openxmlformats.org/drawingml/2006/main">
              <a:ext uri="{FF2B5EF4-FFF2-40B4-BE49-F238E27FC236}">
                <a16:creationId xmlns:a16="http://schemas.microsoft.com/office/drawing/2014/main" id="{A143F9E7-0119-4586-AC4E-1D74142BB0A7}"/>
              </a:ext>
            </a:extLst>
          </p:cNvPr>
          <p:cNvSpPr>
            <a:spLocks xmlns:a="http://schemas.openxmlformats.org/drawingml/2006/main" noGrp="1"/>
          </p:cNvSpPr>
          <p:nvPr/>
        </p:nvSpPr>
        <p:spPr>
          <a:xfrm xmlns:a="http://schemas.openxmlformats.org/drawingml/2006/main">
            <a:off x="685800" y="424815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B95827"/>
                </a:solidFill>
                <a:latin typeface="Calibri"/>
                <a:ea typeface="Calibri"/>
                <a:cs typeface="Calibri"/>
              </a:defRPr>
            </a:defPPr>
            <a:lvl1pPr algn="l">
              <a:defRPr sz="1950" b="1">
                <a:solidFill>
                  <a:srgbClr val="B95827"/>
                </a:solidFill>
                <a:latin typeface="Calibri"/>
                <a:ea typeface="Calibri"/>
                <a:cs typeface="Calibri"/>
              </a:defRPr>
            </a:lvl1pPr>
            <a:lvl2pPr algn="l">
              <a:defRPr sz="1950" b="1">
                <a:solidFill>
                  <a:srgbClr val="B95827"/>
                </a:solidFill>
                <a:latin typeface="Calibri"/>
                <a:ea typeface="Calibri"/>
                <a:cs typeface="Calibri"/>
              </a:defRPr>
            </a:lvl2pPr>
            <a:lvl3pPr algn="l">
              <a:defRPr sz="1950" b="1">
                <a:solidFill>
                  <a:srgbClr val="B95827"/>
                </a:solidFill>
                <a:latin typeface="Calibri"/>
                <a:ea typeface="Calibri"/>
                <a:cs typeface="Calibri"/>
              </a:defRPr>
            </a:lvl3pPr>
            <a:lvl4pPr algn="l">
              <a:defRPr sz="1950" b="1">
                <a:solidFill>
                  <a:srgbClr val="B95827"/>
                </a:solidFill>
                <a:latin typeface="Calibri"/>
                <a:ea typeface="Calibri"/>
                <a:cs typeface="Calibri"/>
              </a:defRPr>
            </a:lvl4pPr>
            <a:lvl5pPr algn="l">
              <a:defRPr sz="1950" b="1">
                <a:solidFill>
                  <a:srgbClr val="B95827"/>
                </a:solidFill>
                <a:latin typeface="Calibri"/>
                <a:ea typeface="Calibri"/>
                <a:cs typeface="Calibri"/>
              </a:defRPr>
            </a:lvl5pPr>
            <a:lvl6pPr algn="l">
              <a:defRPr sz="1950" b="1">
                <a:solidFill>
                  <a:srgbClr val="B95827"/>
                </a:solidFill>
                <a:latin typeface="Calibri"/>
                <a:ea typeface="Calibri"/>
                <a:cs typeface="Calibri"/>
              </a:defRPr>
            </a:lvl6pPr>
            <a:lvl7pPr algn="l">
              <a:defRPr sz="1950" b="1">
                <a:solidFill>
                  <a:srgbClr val="B95827"/>
                </a:solidFill>
                <a:latin typeface="Calibri"/>
                <a:ea typeface="Calibri"/>
                <a:cs typeface="Calibri"/>
              </a:defRPr>
            </a:lvl7pPr>
            <a:lvl8pPr algn="l">
              <a:defRPr sz="1950" b="1">
                <a:solidFill>
                  <a:srgbClr val="B95827"/>
                </a:solidFill>
                <a:latin typeface="Calibri"/>
                <a:ea typeface="Calibri"/>
                <a:cs typeface="Calibri"/>
              </a:defRPr>
            </a:lvl8pPr>
            <a:lvl9pPr algn="l">
              <a:defRPr sz="1950" b="1">
                <a:solidFill>
                  <a:srgbClr val="B95827"/>
                </a:solidFill>
                <a:latin typeface="Calibri"/>
                <a:ea typeface="Calibri"/>
                <a:cs typeface="Calibri"/>
              </a:defRPr>
            </a:lvl9pPr>
          </a:lstStyle>
          <a:p xmlns:a="http://schemas.openxmlformats.org/drawingml/2006/main">
            <a:pPr algn="l">
              <a:defRPr sz="1950" b="1">
                <a:solidFill>
                  <a:srgbClr val="B95827"/>
                </a:solidFill>
                <a:latin typeface="Calibri"/>
                <a:ea typeface="Calibri"/>
                <a:cs typeface="Calibri"/>
              </a:defRPr>
            </a:pPr>
            <a:r>
              <a:rPr sz="1950" b="1">
                <a:solidFill>
                  <a:srgbClr val="B95827"/>
                </a:solidFill>
                <a:latin typeface="Calibri"/>
                <a:ea typeface="Calibri"/>
                <a:cs typeface="Calibri"/>
              </a:rPr>
              <a:t>03</a:t>
            </a:r>
          </a:p>
        </p:txBody>
      </p:sp>
      <p:sp>
        <p:nvSpPr>
          <p:cNvPr id="12" name="object-204">
            <a:extLst xmlns:a="http://schemas.openxmlformats.org/drawingml/2006/main">
              <a:ext uri="{FF2B5EF4-FFF2-40B4-BE49-F238E27FC236}">
                <a16:creationId xmlns:a16="http://schemas.microsoft.com/office/drawing/2014/main" id="{B5CECC9C-135C-450D-A7D3-14853742F0EB}"/>
              </a:ext>
            </a:extLst>
          </p:cNvPr>
          <p:cNvSpPr>
            <a:spLocks xmlns:a="http://schemas.openxmlformats.org/drawingml/2006/main" noGrp="1"/>
          </p:cNvSpPr>
          <p:nvPr/>
        </p:nvSpPr>
        <p:spPr>
          <a:xfrm xmlns:a="http://schemas.openxmlformats.org/drawingml/2006/main">
            <a:off x="1409700" y="4248150"/>
            <a:ext cx="43719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Independent-drive and closed-loop tests remain outstanding.</a:t>
            </a:r>
          </a:p>
        </p:txBody>
      </p:sp>
      <p:sp>
        <p:nvSpPr>
          <p:cNvPr id="13" name="object-205">
            <a:extLst xmlns:a="http://schemas.openxmlformats.org/drawingml/2006/main">
              <a:ext uri="{FF2B5EF4-FFF2-40B4-BE49-F238E27FC236}">
                <a16:creationId xmlns:a16="http://schemas.microsoft.com/office/drawing/2014/main" id="{B8079AA3-3A85-4052-A21E-5B382ED294C5}"/>
              </a:ext>
            </a:extLst>
          </p:cNvPr>
          <p:cNvSpPr>
            <a:spLocks xmlns:a="http://schemas.openxmlformats.org/drawingml/2006/main" noGrp="1"/>
          </p:cNvSpPr>
          <p:nvPr/>
        </p:nvSpPr>
        <p:spPr>
          <a:xfrm xmlns:a="http://schemas.openxmlformats.org/drawingml/2006/main">
            <a:off x="6543675" y="1685925"/>
            <a:ext cx="49625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Calibri"/>
                <a:ea typeface="Calibri"/>
                <a:cs typeface="Calibri"/>
              </a:defRPr>
            </a:defPPr>
            <a:lvl1pPr algn="l">
              <a:defRPr sz="2400" b="1">
                <a:solidFill>
                  <a:srgbClr val="000000"/>
                </a:solidFill>
                <a:latin typeface="Calibri"/>
                <a:ea typeface="Calibri"/>
                <a:cs typeface="Calibri"/>
              </a:defRPr>
            </a:lvl1pPr>
            <a:lvl2pPr algn="l">
              <a:defRPr sz="2400" b="1">
                <a:solidFill>
                  <a:srgbClr val="000000"/>
                </a:solidFill>
                <a:latin typeface="Calibri"/>
                <a:ea typeface="Calibri"/>
                <a:cs typeface="Calibri"/>
              </a:defRPr>
            </a:lvl2pPr>
            <a:lvl3pPr algn="l">
              <a:defRPr sz="2400" b="1">
                <a:solidFill>
                  <a:srgbClr val="000000"/>
                </a:solidFill>
                <a:latin typeface="Calibri"/>
                <a:ea typeface="Calibri"/>
                <a:cs typeface="Calibri"/>
              </a:defRPr>
            </a:lvl3pPr>
            <a:lvl4pPr algn="l">
              <a:defRPr sz="2400" b="1">
                <a:solidFill>
                  <a:srgbClr val="000000"/>
                </a:solidFill>
                <a:latin typeface="Calibri"/>
                <a:ea typeface="Calibri"/>
                <a:cs typeface="Calibri"/>
              </a:defRPr>
            </a:lvl4pPr>
            <a:lvl5pPr algn="l">
              <a:defRPr sz="2400" b="1">
                <a:solidFill>
                  <a:srgbClr val="000000"/>
                </a:solidFill>
                <a:latin typeface="Calibri"/>
                <a:ea typeface="Calibri"/>
                <a:cs typeface="Calibri"/>
              </a:defRPr>
            </a:lvl5pPr>
            <a:lvl6pPr algn="l">
              <a:defRPr sz="2400" b="1">
                <a:solidFill>
                  <a:srgbClr val="000000"/>
                </a:solidFill>
                <a:latin typeface="Calibri"/>
                <a:ea typeface="Calibri"/>
                <a:cs typeface="Calibri"/>
              </a:defRPr>
            </a:lvl6pPr>
            <a:lvl7pPr algn="l">
              <a:defRPr sz="2400" b="1">
                <a:solidFill>
                  <a:srgbClr val="000000"/>
                </a:solidFill>
                <a:latin typeface="Calibri"/>
                <a:ea typeface="Calibri"/>
                <a:cs typeface="Calibri"/>
              </a:defRPr>
            </a:lvl7pPr>
            <a:lvl8pPr algn="l">
              <a:defRPr sz="2400" b="1">
                <a:solidFill>
                  <a:srgbClr val="000000"/>
                </a:solidFill>
                <a:latin typeface="Calibri"/>
                <a:ea typeface="Calibri"/>
                <a:cs typeface="Calibri"/>
              </a:defRPr>
            </a:lvl8pPr>
            <a:lvl9pPr algn="l">
              <a:defRPr sz="2400" b="1">
                <a:solidFill>
                  <a:srgbClr val="000000"/>
                </a:solidFill>
                <a:latin typeface="Calibri"/>
                <a:ea typeface="Calibri"/>
                <a:cs typeface="Calibri"/>
              </a:defRPr>
            </a:lvl9pPr>
          </a:lstStyle>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Research applications</a:t>
            </a:r>
          </a:p>
        </p:txBody>
      </p:sp>
      <p:sp>
        <p:nvSpPr>
          <p:cNvPr id="14" name="object-206">
            <a:extLst xmlns:a="http://schemas.openxmlformats.org/drawingml/2006/main">
              <a:ext uri="{FF2B5EF4-FFF2-40B4-BE49-F238E27FC236}">
                <a16:creationId xmlns:a16="http://schemas.microsoft.com/office/drawing/2014/main" id="{FBE3EBA6-2D21-4765-9805-23072E3080AE}"/>
              </a:ext>
            </a:extLst>
          </p:cNvPr>
          <p:cNvSpPr>
            <a:spLocks xmlns:a="http://schemas.openxmlformats.org/drawingml/2006/main" noGrp="1"/>
          </p:cNvSpPr>
          <p:nvPr/>
        </p:nvSpPr>
        <p:spPr>
          <a:xfrm xmlns:a="http://schemas.openxmlformats.org/drawingml/2006/main">
            <a:off x="6543675" y="2419350"/>
            <a:ext cx="49625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Component benchmarking</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Lane annotation experiments</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Perception and visualization teaching</a:t>
            </a:r>
          </a:p>
        </p:txBody>
      </p:sp>
      <p:sp>
        <p:nvSpPr>
          <p:cNvPr id="15" name="object-207">
            <a:extLst xmlns:a="http://schemas.openxmlformats.org/drawingml/2006/main">
              <a:ext uri="{FF2B5EF4-FFF2-40B4-BE49-F238E27FC236}">
                <a16:creationId xmlns:a16="http://schemas.microsoft.com/office/drawing/2014/main" id="{1508D7D7-272A-47D9-88C3-66E856567A0C}"/>
              </a:ext>
            </a:extLst>
          </p:cNvPr>
          <p:cNvSpPr>
            <a:spLocks xmlns:a="http://schemas.openxmlformats.org/drawingml/2006/main" noGrp="1"/>
          </p:cNvSpPr>
          <p:nvPr/>
        </p:nvSpPr>
        <p:spPr>
          <a:xfrm xmlns:a="http://schemas.openxmlformats.org/drawingml/2006/main">
            <a:off x="6543675" y="4276725"/>
            <a:ext cx="4962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Calibri"/>
                <a:ea typeface="Calibri"/>
                <a:cs typeface="Calibri"/>
              </a:defRPr>
            </a:defPPr>
            <a:lvl1pPr algn="l">
              <a:defRPr sz="2400" b="1">
                <a:solidFill>
                  <a:srgbClr val="000000"/>
                </a:solidFill>
                <a:latin typeface="Calibri"/>
                <a:ea typeface="Calibri"/>
                <a:cs typeface="Calibri"/>
              </a:defRPr>
            </a:lvl1pPr>
            <a:lvl2pPr algn="l">
              <a:defRPr sz="2400" b="1">
                <a:solidFill>
                  <a:srgbClr val="000000"/>
                </a:solidFill>
                <a:latin typeface="Calibri"/>
                <a:ea typeface="Calibri"/>
                <a:cs typeface="Calibri"/>
              </a:defRPr>
            </a:lvl2pPr>
            <a:lvl3pPr algn="l">
              <a:defRPr sz="2400" b="1">
                <a:solidFill>
                  <a:srgbClr val="000000"/>
                </a:solidFill>
                <a:latin typeface="Calibri"/>
                <a:ea typeface="Calibri"/>
                <a:cs typeface="Calibri"/>
              </a:defRPr>
            </a:lvl3pPr>
            <a:lvl4pPr algn="l">
              <a:defRPr sz="2400" b="1">
                <a:solidFill>
                  <a:srgbClr val="000000"/>
                </a:solidFill>
                <a:latin typeface="Calibri"/>
                <a:ea typeface="Calibri"/>
                <a:cs typeface="Calibri"/>
              </a:defRPr>
            </a:lvl4pPr>
            <a:lvl5pPr algn="l">
              <a:defRPr sz="2400" b="1">
                <a:solidFill>
                  <a:srgbClr val="000000"/>
                </a:solidFill>
                <a:latin typeface="Calibri"/>
                <a:ea typeface="Calibri"/>
                <a:cs typeface="Calibri"/>
              </a:defRPr>
            </a:lvl5pPr>
            <a:lvl6pPr algn="l">
              <a:defRPr sz="2400" b="1">
                <a:solidFill>
                  <a:srgbClr val="000000"/>
                </a:solidFill>
                <a:latin typeface="Calibri"/>
                <a:ea typeface="Calibri"/>
                <a:cs typeface="Calibri"/>
              </a:defRPr>
            </a:lvl6pPr>
            <a:lvl7pPr algn="l">
              <a:defRPr sz="2400" b="1">
                <a:solidFill>
                  <a:srgbClr val="000000"/>
                </a:solidFill>
                <a:latin typeface="Calibri"/>
                <a:ea typeface="Calibri"/>
                <a:cs typeface="Calibri"/>
              </a:defRPr>
            </a:lvl7pPr>
            <a:lvl8pPr algn="l">
              <a:defRPr sz="2400" b="1">
                <a:solidFill>
                  <a:srgbClr val="000000"/>
                </a:solidFill>
                <a:latin typeface="Calibri"/>
                <a:ea typeface="Calibri"/>
                <a:cs typeface="Calibri"/>
              </a:defRPr>
            </a:lvl8pPr>
            <a:lvl9pPr algn="l">
              <a:defRPr sz="2400" b="1">
                <a:solidFill>
                  <a:srgbClr val="000000"/>
                </a:solidFill>
                <a:latin typeface="Calibri"/>
                <a:ea typeface="Calibri"/>
                <a:cs typeface="Calibri"/>
              </a:defRPr>
            </a:lvl9pPr>
          </a:lstStyle>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Next steps</a:t>
            </a:r>
          </a:p>
        </p:txBody>
      </p:sp>
      <p:sp>
        <p:nvSpPr>
          <p:cNvPr id="16" name="object-208">
            <a:extLst xmlns:a="http://schemas.openxmlformats.org/drawingml/2006/main">
              <a:ext uri="{FF2B5EF4-FFF2-40B4-BE49-F238E27FC236}">
                <a16:creationId xmlns:a16="http://schemas.microsoft.com/office/drawing/2014/main" id="{87F4533E-FF6E-4B51-8A5E-5BC808072CC9}"/>
              </a:ext>
            </a:extLst>
          </p:cNvPr>
          <p:cNvSpPr>
            <a:spLocks xmlns:a="http://schemas.openxmlformats.org/drawingml/2006/main" noGrp="1"/>
          </p:cNvSpPr>
          <p:nvPr/>
        </p:nvSpPr>
        <p:spPr>
          <a:xfrm xmlns:a="http://schemas.openxmlformats.org/drawingml/2006/main">
            <a:off x="6543675" y="4924425"/>
            <a:ext cx="49625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Official lane metrics, new driving data and controlled simulator evaluation</a:t>
            </a:r>
          </a:p>
        </p:txBody>
      </p:sp>
    </p:spTree>
    <p:extLst>
      <p:ext uri="{BB962C8B-B14F-4D97-AF65-F5344CB8AC3E}">
        <p14:creationId xmlns:p14="http://schemas.microsoft.com/office/powerpoint/2010/main" val="160876712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object-209">
            <a:extLst xmlns:a="http://schemas.openxmlformats.org/drawingml/2006/main">
              <a:ext uri="{FF2B5EF4-FFF2-40B4-BE49-F238E27FC236}">
                <a16:creationId xmlns:a16="http://schemas.microsoft.com/office/drawing/2014/main" id="{01CA8B17-38DE-4188-9ED8-291B4B944B0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10">
            <a:extLst xmlns:a="http://schemas.openxmlformats.org/drawingml/2006/main">
              <a:ext uri="{FF2B5EF4-FFF2-40B4-BE49-F238E27FC236}">
                <a16:creationId xmlns:a16="http://schemas.microsoft.com/office/drawing/2014/main" id="{3EF0C06E-DABD-4296-B8AC-F4AFB808B3A9}"/>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11">
            <a:extLst xmlns:a="http://schemas.openxmlformats.org/drawingml/2006/main">
              <a:ext uri="{FF2B5EF4-FFF2-40B4-BE49-F238E27FC236}">
                <a16:creationId xmlns:a16="http://schemas.microsoft.com/office/drawing/2014/main" id="{7BCE0B71-2312-433C-85F6-225CE48D07BA}"/>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Conclusion and proof of work</a:t>
            </a:r>
          </a:p>
        </p:txBody>
      </p:sp>
      <p:sp>
        <p:nvSpPr>
          <p:cNvPr id="4" name="object-212">
            <a:extLst xmlns:a="http://schemas.openxmlformats.org/drawingml/2006/main">
              <a:ext uri="{FF2B5EF4-FFF2-40B4-BE49-F238E27FC236}">
                <a16:creationId xmlns:a16="http://schemas.microsoft.com/office/drawing/2014/main" id="{27A83873-8950-4E2B-94AF-D0D5AEBC3EE3}"/>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13">
            <a:extLst xmlns:a="http://schemas.openxmlformats.org/drawingml/2006/main">
              <a:ext uri="{FF2B5EF4-FFF2-40B4-BE49-F238E27FC236}">
                <a16:creationId xmlns:a16="http://schemas.microsoft.com/office/drawing/2014/main" id="{A50A3C6F-B8E8-4A73-A825-1E050DE8A232}"/>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22</a:t>
            </a:r>
          </a:p>
        </p:txBody>
      </p:sp>
      <p:sp>
        <p:nvSpPr>
          <p:cNvPr id="6" name="object-214">
            <a:extLst xmlns:a="http://schemas.openxmlformats.org/drawingml/2006/main">
              <a:ext uri="{FF2B5EF4-FFF2-40B4-BE49-F238E27FC236}">
                <a16:creationId xmlns:a16="http://schemas.microsoft.com/office/drawing/2014/main" id="{C02B2A6A-79E8-4CF4-BA8E-CE8587C7823D}"/>
              </a:ext>
            </a:extLst>
          </p:cNvPr>
          <p:cNvSpPr>
            <a:spLocks xmlns:a="http://schemas.openxmlformats.org/drawingml/2006/main" noGrp="1"/>
          </p:cNvSpPr>
          <p:nvPr/>
        </p:nvSpPr>
        <p:spPr>
          <a:xfrm xmlns:a="http://schemas.openxmlformats.org/drawingml/2006/main">
            <a:off x="800100" y="18192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5827"/>
                </a:solidFill>
                <a:latin typeface="Calibri"/>
                <a:ea typeface="Calibri"/>
                <a:cs typeface="Calibri"/>
              </a:defRPr>
            </a:defPPr>
            <a:lvl1pPr algn="l">
              <a:defRPr sz="2325" b="1">
                <a:solidFill>
                  <a:srgbClr val="B95827"/>
                </a:solidFill>
                <a:latin typeface="Calibri"/>
                <a:ea typeface="Calibri"/>
                <a:cs typeface="Calibri"/>
              </a:defRPr>
            </a:lvl1pPr>
            <a:lvl2pPr algn="l">
              <a:defRPr sz="2325" b="1">
                <a:solidFill>
                  <a:srgbClr val="B95827"/>
                </a:solidFill>
                <a:latin typeface="Calibri"/>
                <a:ea typeface="Calibri"/>
                <a:cs typeface="Calibri"/>
              </a:defRPr>
            </a:lvl2pPr>
            <a:lvl3pPr algn="l">
              <a:defRPr sz="2325" b="1">
                <a:solidFill>
                  <a:srgbClr val="B95827"/>
                </a:solidFill>
                <a:latin typeface="Calibri"/>
                <a:ea typeface="Calibri"/>
                <a:cs typeface="Calibri"/>
              </a:defRPr>
            </a:lvl3pPr>
            <a:lvl4pPr algn="l">
              <a:defRPr sz="2325" b="1">
                <a:solidFill>
                  <a:srgbClr val="B95827"/>
                </a:solidFill>
                <a:latin typeface="Calibri"/>
                <a:ea typeface="Calibri"/>
                <a:cs typeface="Calibri"/>
              </a:defRPr>
            </a:lvl4pPr>
            <a:lvl5pPr algn="l">
              <a:defRPr sz="2325" b="1">
                <a:solidFill>
                  <a:srgbClr val="B95827"/>
                </a:solidFill>
                <a:latin typeface="Calibri"/>
                <a:ea typeface="Calibri"/>
                <a:cs typeface="Calibri"/>
              </a:defRPr>
            </a:lvl5pPr>
            <a:lvl6pPr algn="l">
              <a:defRPr sz="2325" b="1">
                <a:solidFill>
                  <a:srgbClr val="B95827"/>
                </a:solidFill>
                <a:latin typeface="Calibri"/>
                <a:ea typeface="Calibri"/>
                <a:cs typeface="Calibri"/>
              </a:defRPr>
            </a:lvl6pPr>
            <a:lvl7pPr algn="l">
              <a:defRPr sz="2325" b="1">
                <a:solidFill>
                  <a:srgbClr val="B95827"/>
                </a:solidFill>
                <a:latin typeface="Calibri"/>
                <a:ea typeface="Calibri"/>
                <a:cs typeface="Calibri"/>
              </a:defRPr>
            </a:lvl7pPr>
            <a:lvl8pPr algn="l">
              <a:defRPr sz="2325" b="1">
                <a:solidFill>
                  <a:srgbClr val="B95827"/>
                </a:solidFill>
                <a:latin typeface="Calibri"/>
                <a:ea typeface="Calibri"/>
                <a:cs typeface="Calibri"/>
              </a:defRPr>
            </a:lvl8pPr>
            <a:lvl9pPr algn="l">
              <a:defRPr sz="2325" b="1">
                <a:solidFill>
                  <a:srgbClr val="B95827"/>
                </a:solidFill>
                <a:latin typeface="Calibri"/>
                <a:ea typeface="Calibri"/>
                <a:cs typeface="Calibri"/>
              </a:defRPr>
            </a:lvl9pPr>
          </a:lstStyle>
          <a:p xmlns:a="http://schemas.openxmlformats.org/drawingml/2006/main">
            <a:pPr algn="l">
              <a:defRPr sz="2325" b="1">
                <a:solidFill>
                  <a:srgbClr val="B95827"/>
                </a:solidFill>
                <a:latin typeface="Calibri"/>
                <a:ea typeface="Calibri"/>
                <a:cs typeface="Calibri"/>
              </a:defRPr>
            </a:pPr>
            <a:r>
              <a:rPr sz="2325" b="1">
                <a:solidFill>
                  <a:srgbClr val="B95827"/>
                </a:solidFill>
                <a:latin typeface="Calibri"/>
                <a:ea typeface="Calibri"/>
                <a:cs typeface="Calibri"/>
              </a:rPr>
              <a:t>01</a:t>
            </a:r>
          </a:p>
        </p:txBody>
      </p:sp>
      <p:sp>
        <p:nvSpPr>
          <p:cNvPr id="7" name="object-215">
            <a:extLst xmlns:a="http://schemas.openxmlformats.org/drawingml/2006/main">
              <a:ext uri="{FF2B5EF4-FFF2-40B4-BE49-F238E27FC236}">
                <a16:creationId xmlns:a16="http://schemas.microsoft.com/office/drawing/2014/main" id="{351F3A69-3581-46D4-990C-B56A8DB11B88}"/>
              </a:ext>
            </a:extLst>
          </p:cNvPr>
          <p:cNvSpPr>
            <a:spLocks xmlns:a="http://schemas.openxmlformats.org/drawingml/2006/main" noGrp="1"/>
          </p:cNvSpPr>
          <p:nvPr/>
        </p:nvSpPr>
        <p:spPr>
          <a:xfrm xmlns:a="http://schemas.openxmlformats.org/drawingml/2006/main">
            <a:off x="1524000" y="1819275"/>
            <a:ext cx="98488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000000"/>
                </a:solidFill>
                <a:latin typeface="Calibri"/>
                <a:ea typeface="Calibri"/>
                <a:cs typeface="Calibri"/>
              </a:defRPr>
            </a:defPPr>
            <a:lvl1pPr algn="l">
              <a:defRPr sz="2325" b="0">
                <a:solidFill>
                  <a:srgbClr val="000000"/>
                </a:solidFill>
                <a:latin typeface="Calibri"/>
                <a:ea typeface="Calibri"/>
                <a:cs typeface="Calibri"/>
              </a:defRPr>
            </a:lvl1pPr>
            <a:lvl2pPr algn="l">
              <a:defRPr sz="2325" b="0">
                <a:solidFill>
                  <a:srgbClr val="000000"/>
                </a:solidFill>
                <a:latin typeface="Calibri"/>
                <a:ea typeface="Calibri"/>
                <a:cs typeface="Calibri"/>
              </a:defRPr>
            </a:lvl2pPr>
            <a:lvl3pPr algn="l">
              <a:defRPr sz="2325" b="0">
                <a:solidFill>
                  <a:srgbClr val="000000"/>
                </a:solidFill>
                <a:latin typeface="Calibri"/>
                <a:ea typeface="Calibri"/>
                <a:cs typeface="Calibri"/>
              </a:defRPr>
            </a:lvl3pPr>
            <a:lvl4pPr algn="l">
              <a:defRPr sz="2325" b="0">
                <a:solidFill>
                  <a:srgbClr val="000000"/>
                </a:solidFill>
                <a:latin typeface="Calibri"/>
                <a:ea typeface="Calibri"/>
                <a:cs typeface="Calibri"/>
              </a:defRPr>
            </a:lvl4pPr>
            <a:lvl5pPr algn="l">
              <a:defRPr sz="2325" b="0">
                <a:solidFill>
                  <a:srgbClr val="000000"/>
                </a:solidFill>
                <a:latin typeface="Calibri"/>
                <a:ea typeface="Calibri"/>
                <a:cs typeface="Calibri"/>
              </a:defRPr>
            </a:lvl5pPr>
            <a:lvl6pPr algn="l">
              <a:defRPr sz="2325" b="0">
                <a:solidFill>
                  <a:srgbClr val="000000"/>
                </a:solidFill>
                <a:latin typeface="Calibri"/>
                <a:ea typeface="Calibri"/>
                <a:cs typeface="Calibri"/>
              </a:defRPr>
            </a:lvl6pPr>
            <a:lvl7pPr algn="l">
              <a:defRPr sz="2325" b="0">
                <a:solidFill>
                  <a:srgbClr val="000000"/>
                </a:solidFill>
                <a:latin typeface="Calibri"/>
                <a:ea typeface="Calibri"/>
                <a:cs typeface="Calibri"/>
              </a:defRPr>
            </a:lvl7pPr>
            <a:lvl8pPr algn="l">
              <a:defRPr sz="2325" b="0">
                <a:solidFill>
                  <a:srgbClr val="000000"/>
                </a:solidFill>
                <a:latin typeface="Calibri"/>
                <a:ea typeface="Calibri"/>
                <a:cs typeface="Calibri"/>
              </a:defRPr>
            </a:lvl8pPr>
            <a:lvl9pPr algn="l">
              <a:defRPr sz="2325" b="0">
                <a:solidFill>
                  <a:srgbClr val="000000"/>
                </a:solidFill>
                <a:latin typeface="Calibri"/>
                <a:ea typeface="Calibri"/>
                <a:cs typeface="Calibri"/>
              </a:defRPr>
            </a:lvl9pPr>
          </a:lstStyle>
          <a:p xmlns:a="http://schemas.openxmlformats.org/drawingml/2006/main">
            <a:pPr algn="l">
              <a:defRPr sz="2325" b="0">
                <a:solidFill>
                  <a:srgbClr val="000000"/>
                </a:solidFill>
                <a:latin typeface="Calibri"/>
                <a:ea typeface="Calibri"/>
                <a:cs typeface="Calibri"/>
              </a:defRPr>
            </a:pPr>
            <a:r>
              <a:rPr sz="2325" b="0">
                <a:solidFill>
                  <a:srgbClr val="000000"/>
                </a:solidFill>
                <a:latin typeface="Calibri"/>
                <a:ea typeface="Calibri"/>
                <a:cs typeface="Calibri"/>
              </a:rPr>
              <a:t>AutoDrive integrates detection, lane segmentation and steering prediction.</a:t>
            </a:r>
          </a:p>
        </p:txBody>
      </p:sp>
      <p:sp>
        <p:nvSpPr>
          <p:cNvPr id="8" name="object-216">
            <a:extLst xmlns:a="http://schemas.openxmlformats.org/drawingml/2006/main">
              <a:ext uri="{FF2B5EF4-FFF2-40B4-BE49-F238E27FC236}">
                <a16:creationId xmlns:a16="http://schemas.microsoft.com/office/drawing/2014/main" id="{725BCC66-E2CA-4AA4-A691-4FE2453346DA}"/>
              </a:ext>
            </a:extLst>
          </p:cNvPr>
          <p:cNvSpPr>
            <a:spLocks xmlns:a="http://schemas.openxmlformats.org/drawingml/2006/main" noGrp="1"/>
          </p:cNvSpPr>
          <p:nvPr/>
        </p:nvSpPr>
        <p:spPr>
          <a:xfrm xmlns:a="http://schemas.openxmlformats.org/drawingml/2006/main">
            <a:off x="800100" y="287655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5827"/>
                </a:solidFill>
                <a:latin typeface="Calibri"/>
                <a:ea typeface="Calibri"/>
                <a:cs typeface="Calibri"/>
              </a:defRPr>
            </a:defPPr>
            <a:lvl1pPr algn="l">
              <a:defRPr sz="2325" b="1">
                <a:solidFill>
                  <a:srgbClr val="B95827"/>
                </a:solidFill>
                <a:latin typeface="Calibri"/>
                <a:ea typeface="Calibri"/>
                <a:cs typeface="Calibri"/>
              </a:defRPr>
            </a:lvl1pPr>
            <a:lvl2pPr algn="l">
              <a:defRPr sz="2325" b="1">
                <a:solidFill>
                  <a:srgbClr val="B95827"/>
                </a:solidFill>
                <a:latin typeface="Calibri"/>
                <a:ea typeface="Calibri"/>
                <a:cs typeface="Calibri"/>
              </a:defRPr>
            </a:lvl2pPr>
            <a:lvl3pPr algn="l">
              <a:defRPr sz="2325" b="1">
                <a:solidFill>
                  <a:srgbClr val="B95827"/>
                </a:solidFill>
                <a:latin typeface="Calibri"/>
                <a:ea typeface="Calibri"/>
                <a:cs typeface="Calibri"/>
              </a:defRPr>
            </a:lvl3pPr>
            <a:lvl4pPr algn="l">
              <a:defRPr sz="2325" b="1">
                <a:solidFill>
                  <a:srgbClr val="B95827"/>
                </a:solidFill>
                <a:latin typeface="Calibri"/>
                <a:ea typeface="Calibri"/>
                <a:cs typeface="Calibri"/>
              </a:defRPr>
            </a:lvl4pPr>
            <a:lvl5pPr algn="l">
              <a:defRPr sz="2325" b="1">
                <a:solidFill>
                  <a:srgbClr val="B95827"/>
                </a:solidFill>
                <a:latin typeface="Calibri"/>
                <a:ea typeface="Calibri"/>
                <a:cs typeface="Calibri"/>
              </a:defRPr>
            </a:lvl5pPr>
            <a:lvl6pPr algn="l">
              <a:defRPr sz="2325" b="1">
                <a:solidFill>
                  <a:srgbClr val="B95827"/>
                </a:solidFill>
                <a:latin typeface="Calibri"/>
                <a:ea typeface="Calibri"/>
                <a:cs typeface="Calibri"/>
              </a:defRPr>
            </a:lvl6pPr>
            <a:lvl7pPr algn="l">
              <a:defRPr sz="2325" b="1">
                <a:solidFill>
                  <a:srgbClr val="B95827"/>
                </a:solidFill>
                <a:latin typeface="Calibri"/>
                <a:ea typeface="Calibri"/>
                <a:cs typeface="Calibri"/>
              </a:defRPr>
            </a:lvl7pPr>
            <a:lvl8pPr algn="l">
              <a:defRPr sz="2325" b="1">
                <a:solidFill>
                  <a:srgbClr val="B95827"/>
                </a:solidFill>
                <a:latin typeface="Calibri"/>
                <a:ea typeface="Calibri"/>
                <a:cs typeface="Calibri"/>
              </a:defRPr>
            </a:lvl8pPr>
            <a:lvl9pPr algn="l">
              <a:defRPr sz="2325" b="1">
                <a:solidFill>
                  <a:srgbClr val="B95827"/>
                </a:solidFill>
                <a:latin typeface="Calibri"/>
                <a:ea typeface="Calibri"/>
                <a:cs typeface="Calibri"/>
              </a:defRPr>
            </a:lvl9pPr>
          </a:lstStyle>
          <a:p xmlns:a="http://schemas.openxmlformats.org/drawingml/2006/main">
            <a:pPr algn="l">
              <a:defRPr sz="2325" b="1">
                <a:solidFill>
                  <a:srgbClr val="B95827"/>
                </a:solidFill>
                <a:latin typeface="Calibri"/>
                <a:ea typeface="Calibri"/>
                <a:cs typeface="Calibri"/>
              </a:defRPr>
            </a:pPr>
            <a:r>
              <a:rPr sz="2325" b="1">
                <a:solidFill>
                  <a:srgbClr val="B95827"/>
                </a:solidFill>
                <a:latin typeface="Calibri"/>
                <a:ea typeface="Calibri"/>
                <a:cs typeface="Calibri"/>
              </a:rPr>
              <a:t>02</a:t>
            </a:r>
          </a:p>
        </p:txBody>
      </p:sp>
      <p:sp>
        <p:nvSpPr>
          <p:cNvPr id="9" name="object-217">
            <a:extLst xmlns:a="http://schemas.openxmlformats.org/drawingml/2006/main">
              <a:ext uri="{FF2B5EF4-FFF2-40B4-BE49-F238E27FC236}">
                <a16:creationId xmlns:a16="http://schemas.microsoft.com/office/drawing/2014/main" id="{2AE54248-B38D-4A83-81BF-C608ABA57597}"/>
              </a:ext>
            </a:extLst>
          </p:cNvPr>
          <p:cNvSpPr>
            <a:spLocks xmlns:a="http://schemas.openxmlformats.org/drawingml/2006/main" noGrp="1"/>
          </p:cNvSpPr>
          <p:nvPr/>
        </p:nvSpPr>
        <p:spPr>
          <a:xfrm xmlns:a="http://schemas.openxmlformats.org/drawingml/2006/main">
            <a:off x="1524000" y="2876550"/>
            <a:ext cx="98488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000000"/>
                </a:solidFill>
                <a:latin typeface="Calibri"/>
                <a:ea typeface="Calibri"/>
                <a:cs typeface="Calibri"/>
              </a:defRPr>
            </a:defPPr>
            <a:lvl1pPr algn="l">
              <a:defRPr sz="2325" b="0">
                <a:solidFill>
                  <a:srgbClr val="000000"/>
                </a:solidFill>
                <a:latin typeface="Calibri"/>
                <a:ea typeface="Calibri"/>
                <a:cs typeface="Calibri"/>
              </a:defRPr>
            </a:lvl1pPr>
            <a:lvl2pPr algn="l">
              <a:defRPr sz="2325" b="0">
                <a:solidFill>
                  <a:srgbClr val="000000"/>
                </a:solidFill>
                <a:latin typeface="Calibri"/>
                <a:ea typeface="Calibri"/>
                <a:cs typeface="Calibri"/>
              </a:defRPr>
            </a:lvl2pPr>
            <a:lvl3pPr algn="l">
              <a:defRPr sz="2325" b="0">
                <a:solidFill>
                  <a:srgbClr val="000000"/>
                </a:solidFill>
                <a:latin typeface="Calibri"/>
                <a:ea typeface="Calibri"/>
                <a:cs typeface="Calibri"/>
              </a:defRPr>
            </a:lvl3pPr>
            <a:lvl4pPr algn="l">
              <a:defRPr sz="2325" b="0">
                <a:solidFill>
                  <a:srgbClr val="000000"/>
                </a:solidFill>
                <a:latin typeface="Calibri"/>
                <a:ea typeface="Calibri"/>
                <a:cs typeface="Calibri"/>
              </a:defRPr>
            </a:lvl4pPr>
            <a:lvl5pPr algn="l">
              <a:defRPr sz="2325" b="0">
                <a:solidFill>
                  <a:srgbClr val="000000"/>
                </a:solidFill>
                <a:latin typeface="Calibri"/>
                <a:ea typeface="Calibri"/>
                <a:cs typeface="Calibri"/>
              </a:defRPr>
            </a:lvl5pPr>
            <a:lvl6pPr algn="l">
              <a:defRPr sz="2325" b="0">
                <a:solidFill>
                  <a:srgbClr val="000000"/>
                </a:solidFill>
                <a:latin typeface="Calibri"/>
                <a:ea typeface="Calibri"/>
                <a:cs typeface="Calibri"/>
              </a:defRPr>
            </a:lvl6pPr>
            <a:lvl7pPr algn="l">
              <a:defRPr sz="2325" b="0">
                <a:solidFill>
                  <a:srgbClr val="000000"/>
                </a:solidFill>
                <a:latin typeface="Calibri"/>
                <a:ea typeface="Calibri"/>
                <a:cs typeface="Calibri"/>
              </a:defRPr>
            </a:lvl7pPr>
            <a:lvl8pPr algn="l">
              <a:defRPr sz="2325" b="0">
                <a:solidFill>
                  <a:srgbClr val="000000"/>
                </a:solidFill>
                <a:latin typeface="Calibri"/>
                <a:ea typeface="Calibri"/>
                <a:cs typeface="Calibri"/>
              </a:defRPr>
            </a:lvl8pPr>
            <a:lvl9pPr algn="l">
              <a:defRPr sz="2325" b="0">
                <a:solidFill>
                  <a:srgbClr val="000000"/>
                </a:solidFill>
                <a:latin typeface="Calibri"/>
                <a:ea typeface="Calibri"/>
                <a:cs typeface="Calibri"/>
              </a:defRPr>
            </a:lvl9pPr>
          </a:lstStyle>
          <a:p xmlns:a="http://schemas.openxmlformats.org/drawingml/2006/main">
            <a:pPr algn="l">
              <a:defRPr sz="2325" b="0">
                <a:solidFill>
                  <a:srgbClr val="000000"/>
                </a:solidFill>
                <a:latin typeface="Calibri"/>
                <a:ea typeface="Calibri"/>
                <a:cs typeface="Calibri"/>
              </a:defRPr>
            </a:pPr>
            <a:r>
              <a:rPr sz="2325" b="0">
                <a:solidFill>
                  <a:srgbClr val="000000"/>
                </a:solidFill>
                <a:latin typeface="Calibri"/>
                <a:ea typeface="Calibri"/>
                <a:cs typeface="Calibri"/>
              </a:rPr>
              <a:t>Perception results are useful, while steering reliability remains unresolved.</a:t>
            </a:r>
          </a:p>
        </p:txBody>
      </p:sp>
      <p:sp>
        <p:nvSpPr>
          <p:cNvPr id="10" name="object-218">
            <a:extLst xmlns:a="http://schemas.openxmlformats.org/drawingml/2006/main">
              <a:ext uri="{FF2B5EF4-FFF2-40B4-BE49-F238E27FC236}">
                <a16:creationId xmlns:a16="http://schemas.microsoft.com/office/drawing/2014/main" id="{09A8AF0C-E9F5-4180-8D2E-0344F7BB3406}"/>
              </a:ext>
            </a:extLst>
          </p:cNvPr>
          <p:cNvSpPr>
            <a:spLocks xmlns:a="http://schemas.openxmlformats.org/drawingml/2006/main" noGrp="1"/>
          </p:cNvSpPr>
          <p:nvPr/>
        </p:nvSpPr>
        <p:spPr>
          <a:xfrm xmlns:a="http://schemas.openxmlformats.org/drawingml/2006/main">
            <a:off x="800100" y="393382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5827"/>
                </a:solidFill>
                <a:latin typeface="Calibri"/>
                <a:ea typeface="Calibri"/>
                <a:cs typeface="Calibri"/>
              </a:defRPr>
            </a:defPPr>
            <a:lvl1pPr algn="l">
              <a:defRPr sz="2325" b="1">
                <a:solidFill>
                  <a:srgbClr val="B95827"/>
                </a:solidFill>
                <a:latin typeface="Calibri"/>
                <a:ea typeface="Calibri"/>
                <a:cs typeface="Calibri"/>
              </a:defRPr>
            </a:lvl1pPr>
            <a:lvl2pPr algn="l">
              <a:defRPr sz="2325" b="1">
                <a:solidFill>
                  <a:srgbClr val="B95827"/>
                </a:solidFill>
                <a:latin typeface="Calibri"/>
                <a:ea typeface="Calibri"/>
                <a:cs typeface="Calibri"/>
              </a:defRPr>
            </a:lvl2pPr>
            <a:lvl3pPr algn="l">
              <a:defRPr sz="2325" b="1">
                <a:solidFill>
                  <a:srgbClr val="B95827"/>
                </a:solidFill>
                <a:latin typeface="Calibri"/>
                <a:ea typeface="Calibri"/>
                <a:cs typeface="Calibri"/>
              </a:defRPr>
            </a:lvl3pPr>
            <a:lvl4pPr algn="l">
              <a:defRPr sz="2325" b="1">
                <a:solidFill>
                  <a:srgbClr val="B95827"/>
                </a:solidFill>
                <a:latin typeface="Calibri"/>
                <a:ea typeface="Calibri"/>
                <a:cs typeface="Calibri"/>
              </a:defRPr>
            </a:lvl4pPr>
            <a:lvl5pPr algn="l">
              <a:defRPr sz="2325" b="1">
                <a:solidFill>
                  <a:srgbClr val="B95827"/>
                </a:solidFill>
                <a:latin typeface="Calibri"/>
                <a:ea typeface="Calibri"/>
                <a:cs typeface="Calibri"/>
              </a:defRPr>
            </a:lvl5pPr>
            <a:lvl6pPr algn="l">
              <a:defRPr sz="2325" b="1">
                <a:solidFill>
                  <a:srgbClr val="B95827"/>
                </a:solidFill>
                <a:latin typeface="Calibri"/>
                <a:ea typeface="Calibri"/>
                <a:cs typeface="Calibri"/>
              </a:defRPr>
            </a:lvl6pPr>
            <a:lvl7pPr algn="l">
              <a:defRPr sz="2325" b="1">
                <a:solidFill>
                  <a:srgbClr val="B95827"/>
                </a:solidFill>
                <a:latin typeface="Calibri"/>
                <a:ea typeface="Calibri"/>
                <a:cs typeface="Calibri"/>
              </a:defRPr>
            </a:lvl7pPr>
            <a:lvl8pPr algn="l">
              <a:defRPr sz="2325" b="1">
                <a:solidFill>
                  <a:srgbClr val="B95827"/>
                </a:solidFill>
                <a:latin typeface="Calibri"/>
                <a:ea typeface="Calibri"/>
                <a:cs typeface="Calibri"/>
              </a:defRPr>
            </a:lvl8pPr>
            <a:lvl9pPr algn="l">
              <a:defRPr sz="2325" b="1">
                <a:solidFill>
                  <a:srgbClr val="B95827"/>
                </a:solidFill>
                <a:latin typeface="Calibri"/>
                <a:ea typeface="Calibri"/>
                <a:cs typeface="Calibri"/>
              </a:defRPr>
            </a:lvl9pPr>
          </a:lstStyle>
          <a:p xmlns:a="http://schemas.openxmlformats.org/drawingml/2006/main">
            <a:pPr algn="l">
              <a:defRPr sz="2325" b="1">
                <a:solidFill>
                  <a:srgbClr val="B95827"/>
                </a:solidFill>
                <a:latin typeface="Calibri"/>
                <a:ea typeface="Calibri"/>
                <a:cs typeface="Calibri"/>
              </a:defRPr>
            </a:pPr>
            <a:r>
              <a:rPr sz="2325" b="1">
                <a:solidFill>
                  <a:srgbClr val="B95827"/>
                </a:solidFill>
                <a:latin typeface="Calibri"/>
                <a:ea typeface="Calibri"/>
                <a:cs typeface="Calibri"/>
              </a:rPr>
              <a:t>03</a:t>
            </a:r>
          </a:p>
        </p:txBody>
      </p:sp>
      <p:sp>
        <p:nvSpPr>
          <p:cNvPr id="11" name="object-219">
            <a:extLst xmlns:a="http://schemas.openxmlformats.org/drawingml/2006/main">
              <a:ext uri="{FF2B5EF4-FFF2-40B4-BE49-F238E27FC236}">
                <a16:creationId xmlns:a16="http://schemas.microsoft.com/office/drawing/2014/main" id="{3DF287CC-6F7B-44CB-8AA1-A6FF4496077F}"/>
              </a:ext>
            </a:extLst>
          </p:cNvPr>
          <p:cNvSpPr>
            <a:spLocks xmlns:a="http://schemas.openxmlformats.org/drawingml/2006/main" noGrp="1"/>
          </p:cNvSpPr>
          <p:nvPr/>
        </p:nvSpPr>
        <p:spPr>
          <a:xfrm xmlns:a="http://schemas.openxmlformats.org/drawingml/2006/main">
            <a:off x="1524000" y="3933825"/>
            <a:ext cx="98488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000000"/>
                </a:solidFill>
                <a:latin typeface="Calibri"/>
                <a:ea typeface="Calibri"/>
                <a:cs typeface="Calibri"/>
              </a:defRPr>
            </a:defPPr>
            <a:lvl1pPr algn="l">
              <a:defRPr sz="2325" b="0">
                <a:solidFill>
                  <a:srgbClr val="000000"/>
                </a:solidFill>
                <a:latin typeface="Calibri"/>
                <a:ea typeface="Calibri"/>
                <a:cs typeface="Calibri"/>
              </a:defRPr>
            </a:lvl1pPr>
            <a:lvl2pPr algn="l">
              <a:defRPr sz="2325" b="0">
                <a:solidFill>
                  <a:srgbClr val="000000"/>
                </a:solidFill>
                <a:latin typeface="Calibri"/>
                <a:ea typeface="Calibri"/>
                <a:cs typeface="Calibri"/>
              </a:defRPr>
            </a:lvl2pPr>
            <a:lvl3pPr algn="l">
              <a:defRPr sz="2325" b="0">
                <a:solidFill>
                  <a:srgbClr val="000000"/>
                </a:solidFill>
                <a:latin typeface="Calibri"/>
                <a:ea typeface="Calibri"/>
                <a:cs typeface="Calibri"/>
              </a:defRPr>
            </a:lvl3pPr>
            <a:lvl4pPr algn="l">
              <a:defRPr sz="2325" b="0">
                <a:solidFill>
                  <a:srgbClr val="000000"/>
                </a:solidFill>
                <a:latin typeface="Calibri"/>
                <a:ea typeface="Calibri"/>
                <a:cs typeface="Calibri"/>
              </a:defRPr>
            </a:lvl4pPr>
            <a:lvl5pPr algn="l">
              <a:defRPr sz="2325" b="0">
                <a:solidFill>
                  <a:srgbClr val="000000"/>
                </a:solidFill>
                <a:latin typeface="Calibri"/>
                <a:ea typeface="Calibri"/>
                <a:cs typeface="Calibri"/>
              </a:defRPr>
            </a:lvl5pPr>
            <a:lvl6pPr algn="l">
              <a:defRPr sz="2325" b="0">
                <a:solidFill>
                  <a:srgbClr val="000000"/>
                </a:solidFill>
                <a:latin typeface="Calibri"/>
                <a:ea typeface="Calibri"/>
                <a:cs typeface="Calibri"/>
              </a:defRPr>
            </a:lvl6pPr>
            <a:lvl7pPr algn="l">
              <a:defRPr sz="2325" b="0">
                <a:solidFill>
                  <a:srgbClr val="000000"/>
                </a:solidFill>
                <a:latin typeface="Calibri"/>
                <a:ea typeface="Calibri"/>
                <a:cs typeface="Calibri"/>
              </a:defRPr>
            </a:lvl7pPr>
            <a:lvl8pPr algn="l">
              <a:defRPr sz="2325" b="0">
                <a:solidFill>
                  <a:srgbClr val="000000"/>
                </a:solidFill>
                <a:latin typeface="Calibri"/>
                <a:ea typeface="Calibri"/>
                <a:cs typeface="Calibri"/>
              </a:defRPr>
            </a:lvl8pPr>
            <a:lvl9pPr algn="l">
              <a:defRPr sz="2325" b="0">
                <a:solidFill>
                  <a:srgbClr val="000000"/>
                </a:solidFill>
                <a:latin typeface="Calibri"/>
                <a:ea typeface="Calibri"/>
                <a:cs typeface="Calibri"/>
              </a:defRPr>
            </a:lvl9pPr>
          </a:lstStyle>
          <a:p xmlns:a="http://schemas.openxmlformats.org/drawingml/2006/main">
            <a:pPr algn="l">
              <a:defRPr sz="2325" b="0">
                <a:solidFill>
                  <a:srgbClr val="000000"/>
                </a:solidFill>
                <a:latin typeface="Calibri"/>
                <a:ea typeface="Calibri"/>
                <a:cs typeface="Calibri"/>
              </a:defRPr>
            </a:pPr>
            <a:r>
              <a:rPr sz="2325" b="0">
                <a:solidFill>
                  <a:srgbClr val="000000"/>
                </a:solidFill>
                <a:latin typeface="Calibri"/>
                <a:ea typeface="Calibri"/>
                <a:cs typeface="Calibri"/>
              </a:rPr>
              <a:t>The implementation and experiment artifacts support reproducibility.</a:t>
            </a:r>
          </a:p>
        </p:txBody>
      </p:sp>
      <p:sp>
        <p:nvSpPr>
          <p:cNvPr id="12" name="object-220">
            <a:extLst xmlns:a="http://schemas.openxmlformats.org/drawingml/2006/main">
              <a:ext uri="{FF2B5EF4-FFF2-40B4-BE49-F238E27FC236}">
                <a16:creationId xmlns:a16="http://schemas.microsoft.com/office/drawing/2014/main" id="{1392274F-3F1A-43F8-B2E0-871C7C3BCBFC}"/>
              </a:ext>
            </a:extLst>
          </p:cNvPr>
          <p:cNvSpPr>
            <a:spLocks xmlns:a="http://schemas.openxmlformats.org/drawingml/2006/main" noGrp="1"/>
          </p:cNvSpPr>
          <p:nvPr/>
        </p:nvSpPr>
        <p:spPr>
          <a:xfrm xmlns:a="http://schemas.openxmlformats.org/drawingml/2006/main">
            <a:off x="685800" y="5238750"/>
            <a:ext cx="108204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Calibri"/>
                <a:ea typeface="Calibri"/>
                <a:cs typeface="Calibri"/>
              </a:defRPr>
            </a:defPPr>
            <a:lvl1pPr algn="l">
              <a:defRPr sz="3000" b="1">
                <a:solidFill>
                  <a:srgbClr val="000000"/>
                </a:solidFill>
                <a:latin typeface="Calibri"/>
                <a:ea typeface="Calibri"/>
                <a:cs typeface="Calibri"/>
              </a:defRPr>
            </a:lvl1pPr>
            <a:lvl2pPr algn="l">
              <a:defRPr sz="3000" b="1">
                <a:solidFill>
                  <a:srgbClr val="000000"/>
                </a:solidFill>
                <a:latin typeface="Calibri"/>
                <a:ea typeface="Calibri"/>
                <a:cs typeface="Calibri"/>
              </a:defRPr>
            </a:lvl2pPr>
            <a:lvl3pPr algn="l">
              <a:defRPr sz="3000" b="1">
                <a:solidFill>
                  <a:srgbClr val="000000"/>
                </a:solidFill>
                <a:latin typeface="Calibri"/>
                <a:ea typeface="Calibri"/>
                <a:cs typeface="Calibri"/>
              </a:defRPr>
            </a:lvl3pPr>
            <a:lvl4pPr algn="l">
              <a:defRPr sz="3000" b="1">
                <a:solidFill>
                  <a:srgbClr val="000000"/>
                </a:solidFill>
                <a:latin typeface="Calibri"/>
                <a:ea typeface="Calibri"/>
                <a:cs typeface="Calibri"/>
              </a:defRPr>
            </a:lvl4pPr>
            <a:lvl5pPr algn="l">
              <a:defRPr sz="3000" b="1">
                <a:solidFill>
                  <a:srgbClr val="000000"/>
                </a:solidFill>
                <a:latin typeface="Calibri"/>
                <a:ea typeface="Calibri"/>
                <a:cs typeface="Calibri"/>
              </a:defRPr>
            </a:lvl5pPr>
            <a:lvl6pPr algn="l">
              <a:defRPr sz="3000" b="1">
                <a:solidFill>
                  <a:srgbClr val="000000"/>
                </a:solidFill>
                <a:latin typeface="Calibri"/>
                <a:ea typeface="Calibri"/>
                <a:cs typeface="Calibri"/>
              </a:defRPr>
            </a:lvl6pPr>
            <a:lvl7pPr algn="l">
              <a:defRPr sz="3000" b="1">
                <a:solidFill>
                  <a:srgbClr val="000000"/>
                </a:solidFill>
                <a:latin typeface="Calibri"/>
                <a:ea typeface="Calibri"/>
                <a:cs typeface="Calibri"/>
              </a:defRPr>
            </a:lvl7pPr>
            <a:lvl8pPr algn="l">
              <a:defRPr sz="3000" b="1">
                <a:solidFill>
                  <a:srgbClr val="000000"/>
                </a:solidFill>
                <a:latin typeface="Calibri"/>
                <a:ea typeface="Calibri"/>
                <a:cs typeface="Calibri"/>
              </a:defRPr>
            </a:lvl8pPr>
            <a:lvl9pPr algn="l">
              <a:defRPr sz="3000" b="1">
                <a:solidFill>
                  <a:srgbClr val="000000"/>
                </a:solidFill>
                <a:latin typeface="Calibri"/>
                <a:ea typeface="Calibri"/>
                <a:cs typeface="Calibri"/>
              </a:defRPr>
            </a:lvl9pPr>
          </a:lstStyle>
          <a:p xmlns:a="http://schemas.openxmlformats.org/drawingml/2006/main">
            <a:pPr algn="l">
              <a:defRPr sz="3000" b="1">
                <a:solidFill>
                  <a:srgbClr val="000000"/>
                </a:solidFill>
                <a:latin typeface="Calibri"/>
                <a:ea typeface="Calibri"/>
                <a:cs typeface="Calibri"/>
              </a:defRPr>
            </a:pPr>
            <a:r>
              <a:rPr sz="3000" b="1">
                <a:solidFill>
                  <a:srgbClr val="000000"/>
                </a:solidFill>
                <a:latin typeface="Calibri"/>
                <a:ea typeface="Calibri"/>
                <a:cs typeface="Calibri"/>
                <a:hlinkClick xmlns:r="http://schemas.openxmlformats.org/officeDocument/2006/relationships" r:id="R479e723a214b4292"/>
              </a:rPr>
              <a:t>github.com/HA2345567/Autodrive</a:t>
            </a:r>
          </a:p>
        </p:txBody>
      </p:sp>
      <p:sp>
        <p:nvSpPr>
          <p:cNvPr id="13" name="object-221">
            <a:extLst xmlns:a="http://schemas.openxmlformats.org/drawingml/2006/main">
              <a:ext uri="{FF2B5EF4-FFF2-40B4-BE49-F238E27FC236}">
                <a16:creationId xmlns:a16="http://schemas.microsoft.com/office/drawing/2014/main" id="{28AE97A0-334F-4744-AD8A-2A776F6449D1}"/>
              </a:ext>
            </a:extLst>
          </p:cNvPr>
          <p:cNvSpPr>
            <a:spLocks xmlns:a="http://schemas.openxmlformats.org/drawingml/2006/main" noGrp="1"/>
          </p:cNvSpPr>
          <p:nvPr/>
        </p:nvSpPr>
        <p:spPr>
          <a:xfrm xmlns:a="http://schemas.openxmlformats.org/drawingml/2006/main">
            <a:off x="685800" y="5924550"/>
            <a:ext cx="108204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Thank you. Questions are welcome.</a:t>
            </a:r>
          </a:p>
        </p:txBody>
      </p:sp>
    </p:spTree>
    <p:extLst>
      <p:ext uri="{BB962C8B-B14F-4D97-AF65-F5344CB8AC3E}">
        <p14:creationId xmlns:p14="http://schemas.microsoft.com/office/powerpoint/2010/main" val="121514163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bject-222">
            <a:extLst xmlns:a="http://schemas.openxmlformats.org/drawingml/2006/main">
              <a:ext uri="{FF2B5EF4-FFF2-40B4-BE49-F238E27FC236}">
                <a16:creationId xmlns:a16="http://schemas.microsoft.com/office/drawing/2014/main" id="{C121B661-3DA0-4FBA-ABD7-2FA82B457CED}"/>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23">
            <a:extLst xmlns:a="http://schemas.openxmlformats.org/drawingml/2006/main">
              <a:ext uri="{FF2B5EF4-FFF2-40B4-BE49-F238E27FC236}">
                <a16:creationId xmlns:a16="http://schemas.microsoft.com/office/drawing/2014/main" id="{1BB767AB-3E4B-4DEB-9289-FAA5A438BCF5}"/>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24">
            <a:extLst xmlns:a="http://schemas.openxmlformats.org/drawingml/2006/main">
              <a:ext uri="{FF2B5EF4-FFF2-40B4-BE49-F238E27FC236}">
                <a16:creationId xmlns:a16="http://schemas.microsoft.com/office/drawing/2014/main" id="{CEC3C81C-AAD9-4B27-94BB-9154AED7C84D}"/>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References</a:t>
            </a:r>
          </a:p>
        </p:txBody>
      </p:sp>
      <p:sp>
        <p:nvSpPr>
          <p:cNvPr id="4" name="object-225">
            <a:extLst xmlns:a="http://schemas.openxmlformats.org/drawingml/2006/main">
              <a:ext uri="{FF2B5EF4-FFF2-40B4-BE49-F238E27FC236}">
                <a16:creationId xmlns:a16="http://schemas.microsoft.com/office/drawing/2014/main" id="{D6C6DD24-6F67-486F-8E82-2ED2D94AE209}"/>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26">
            <a:extLst xmlns:a="http://schemas.openxmlformats.org/drawingml/2006/main">
              <a:ext uri="{FF2B5EF4-FFF2-40B4-BE49-F238E27FC236}">
                <a16:creationId xmlns:a16="http://schemas.microsoft.com/office/drawing/2014/main" id="{EE51D2FB-76AC-46B4-9B32-9D4618240623}"/>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23</a:t>
            </a:r>
          </a:p>
        </p:txBody>
      </p:sp>
      <p:sp>
        <p:nvSpPr>
          <p:cNvPr id="6" name="object-227">
            <a:extLst xmlns:a="http://schemas.openxmlformats.org/drawingml/2006/main">
              <a:ext uri="{FF2B5EF4-FFF2-40B4-BE49-F238E27FC236}">
                <a16:creationId xmlns:a16="http://schemas.microsoft.com/office/drawing/2014/main" id="{86C64096-8176-481E-B38E-436F0BA71787}"/>
              </a:ext>
            </a:extLst>
          </p:cNvPr>
          <p:cNvSpPr>
            <a:spLocks xmlns:a="http://schemas.openxmlformats.org/drawingml/2006/main" noGrp="1"/>
          </p:cNvSpPr>
          <p:nvPr/>
        </p:nvSpPr>
        <p:spPr>
          <a:xfrm xmlns:a="http://schemas.openxmlformats.org/drawingml/2006/main">
            <a:off x="685800" y="16573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[1]  Bojarski et al. End to End Learning for Self-Driving Cars. arXiv:1604.07316, 2016.</a:t>
            </a:r>
          </a:p>
        </p:txBody>
      </p:sp>
      <p:sp>
        <p:nvSpPr>
          <p:cNvPr id="7" name="object-228">
            <a:extLst xmlns:a="http://schemas.openxmlformats.org/drawingml/2006/main">
              <a:ext uri="{FF2B5EF4-FFF2-40B4-BE49-F238E27FC236}">
                <a16:creationId xmlns:a16="http://schemas.microsoft.com/office/drawing/2014/main" id="{00E889B3-9E29-4004-8722-017B4B31FE00}"/>
              </a:ext>
            </a:extLst>
          </p:cNvPr>
          <p:cNvSpPr>
            <a:spLocks xmlns:a="http://schemas.openxmlformats.org/drawingml/2006/main" noGrp="1"/>
          </p:cNvSpPr>
          <p:nvPr/>
        </p:nvSpPr>
        <p:spPr>
          <a:xfrm xmlns:a="http://schemas.openxmlformats.org/drawingml/2006/main">
            <a:off x="685800" y="2371725"/>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[2]  Jocher and Qiu. Ultralytics YOLO11. Ultralytics repository, 2024.</a:t>
            </a:r>
          </a:p>
        </p:txBody>
      </p:sp>
      <p:sp>
        <p:nvSpPr>
          <p:cNvPr id="8" name="object-229">
            <a:extLst xmlns:a="http://schemas.openxmlformats.org/drawingml/2006/main">
              <a:ext uri="{FF2B5EF4-FFF2-40B4-BE49-F238E27FC236}">
                <a16:creationId xmlns:a16="http://schemas.microsoft.com/office/drawing/2014/main" id="{FC69A9BC-FD9A-4ED4-93C2-1FEABAB7E1ED}"/>
              </a:ext>
            </a:extLst>
          </p:cNvPr>
          <p:cNvSpPr>
            <a:spLocks xmlns:a="http://schemas.openxmlformats.org/drawingml/2006/main" noGrp="1"/>
          </p:cNvSpPr>
          <p:nvPr/>
        </p:nvSpPr>
        <p:spPr>
          <a:xfrm xmlns:a="http://schemas.openxmlformats.org/drawingml/2006/main">
            <a:off x="685800" y="30861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[3]  TuSimple. TuSimple Lane Detection Benchmark. Dataset and evaluation code, 2017.</a:t>
            </a:r>
          </a:p>
        </p:txBody>
      </p:sp>
      <p:sp>
        <p:nvSpPr>
          <p:cNvPr id="9" name="object-230">
            <a:extLst xmlns:a="http://schemas.openxmlformats.org/drawingml/2006/main">
              <a:ext uri="{FF2B5EF4-FFF2-40B4-BE49-F238E27FC236}">
                <a16:creationId xmlns:a16="http://schemas.microsoft.com/office/drawing/2014/main" id="{FBAEEB4F-72F7-4BB6-93BE-FA9C64A90E9C}"/>
              </a:ext>
            </a:extLst>
          </p:cNvPr>
          <p:cNvSpPr>
            <a:spLocks xmlns:a="http://schemas.openxmlformats.org/drawingml/2006/main" noGrp="1"/>
          </p:cNvSpPr>
          <p:nvPr/>
        </p:nvSpPr>
        <p:spPr>
          <a:xfrm xmlns:a="http://schemas.openxmlformats.org/drawingml/2006/main">
            <a:off x="685800" y="3800475"/>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[4]  Lin et al. Microsoft COCO: Common Objects in Context. ECCV, 2014.</a:t>
            </a:r>
          </a:p>
        </p:txBody>
      </p:sp>
      <p:sp>
        <p:nvSpPr>
          <p:cNvPr id="10" name="object-231">
            <a:extLst xmlns:a="http://schemas.openxmlformats.org/drawingml/2006/main">
              <a:ext uri="{FF2B5EF4-FFF2-40B4-BE49-F238E27FC236}">
                <a16:creationId xmlns:a16="http://schemas.microsoft.com/office/drawing/2014/main" id="{15053564-1367-4C67-80D0-F2FE6521734C}"/>
              </a:ext>
            </a:extLst>
          </p:cNvPr>
          <p:cNvSpPr>
            <a:spLocks xmlns:a="http://schemas.openxmlformats.org/drawingml/2006/main" noGrp="1"/>
          </p:cNvSpPr>
          <p:nvPr/>
        </p:nvSpPr>
        <p:spPr>
          <a:xfrm xmlns:a="http://schemas.openxmlformats.org/drawingml/2006/main">
            <a:off x="685800" y="45148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[5]  Neven et al. Towards End-to-End Lane Detection: An Instance Segmentation Approach. IV, 2018.</a:t>
            </a:r>
          </a:p>
        </p:txBody>
      </p:sp>
      <p:sp>
        <p:nvSpPr>
          <p:cNvPr id="11" name="object-232">
            <a:extLst xmlns:a="http://schemas.openxmlformats.org/drawingml/2006/main">
              <a:ext uri="{FF2B5EF4-FFF2-40B4-BE49-F238E27FC236}">
                <a16:creationId xmlns:a16="http://schemas.microsoft.com/office/drawing/2014/main" id="{D2591942-1344-463D-8053-5390E98A488C}"/>
              </a:ext>
            </a:extLst>
          </p:cNvPr>
          <p:cNvSpPr>
            <a:spLocks xmlns:a="http://schemas.openxmlformats.org/drawingml/2006/main" noGrp="1"/>
          </p:cNvSpPr>
          <p:nvPr/>
        </p:nvSpPr>
        <p:spPr>
          <a:xfrm xmlns:a="http://schemas.openxmlformats.org/drawingml/2006/main">
            <a:off x="685800" y="5229225"/>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[6]  AutoDrive Research Team. AutoDrive research paper and implementation repository.</a:t>
            </a:r>
          </a:p>
        </p:txBody>
      </p:sp>
    </p:spTree>
    <p:extLst>
      <p:ext uri="{BB962C8B-B14F-4D97-AF65-F5344CB8AC3E}">
        <p14:creationId xmlns:p14="http://schemas.microsoft.com/office/powerpoint/2010/main" val="82289799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233">
            <a:extLst xmlns:a="http://schemas.openxmlformats.org/drawingml/2006/main">
              <a:ext uri="{FF2B5EF4-FFF2-40B4-BE49-F238E27FC236}">
                <a16:creationId xmlns:a16="http://schemas.microsoft.com/office/drawing/2014/main" id="{00FF9231-E424-4B90-88B6-D7EDE7A78B80}"/>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34">
            <a:extLst xmlns:a="http://schemas.openxmlformats.org/drawingml/2006/main">
              <a:ext uri="{FF2B5EF4-FFF2-40B4-BE49-F238E27FC236}">
                <a16:creationId xmlns:a16="http://schemas.microsoft.com/office/drawing/2014/main" id="{9F772D6C-8988-4967-BD72-7CFE21607C18}"/>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35">
            <a:extLst xmlns:a="http://schemas.openxmlformats.org/drawingml/2006/main">
              <a:ext uri="{FF2B5EF4-FFF2-40B4-BE49-F238E27FC236}">
                <a16:creationId xmlns:a16="http://schemas.microsoft.com/office/drawing/2014/main" id="{A696CF8E-0B21-4A4C-9B15-DBD1009EB347}"/>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A  COCO-10 dataset counts</a:t>
            </a:r>
          </a:p>
        </p:txBody>
      </p:sp>
      <p:sp>
        <p:nvSpPr>
          <p:cNvPr id="4" name="object-236">
            <a:extLst xmlns:a="http://schemas.openxmlformats.org/drawingml/2006/main">
              <a:ext uri="{FF2B5EF4-FFF2-40B4-BE49-F238E27FC236}">
                <a16:creationId xmlns:a16="http://schemas.microsoft.com/office/drawing/2014/main" id="{AAF6439A-4DE7-4224-8F94-AA0816082635}"/>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37">
            <a:extLst xmlns:a="http://schemas.openxmlformats.org/drawingml/2006/main">
              <a:ext uri="{FF2B5EF4-FFF2-40B4-BE49-F238E27FC236}">
                <a16:creationId xmlns:a16="http://schemas.microsoft.com/office/drawing/2014/main" id="{5A621D37-6DB3-49BA-9C85-4305B4A4DF20}"/>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Instances per class. Image split: 8,080 train / 975 validation / 525 test</a:t>
            </a:r>
          </a:p>
        </p:txBody>
      </p:sp>
      <p:sp>
        <p:nvSpPr>
          <p:cNvPr id="6" name="object-238">
            <a:extLst xmlns:a="http://schemas.openxmlformats.org/drawingml/2006/main">
              <a:ext uri="{FF2B5EF4-FFF2-40B4-BE49-F238E27FC236}">
                <a16:creationId xmlns:a16="http://schemas.microsoft.com/office/drawing/2014/main" id="{EB4882D3-1AF3-4778-9394-73D5AD36EBFA}"/>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24</a:t>
            </a:r>
          </a:p>
        </p:txBody>
      </p:sp>
      <p:graphicFrame>
        <p:nvGraphicFramePr>
          <p:cNvPr id="7" name="">
            <a:extLst xmlns:a="http://schemas.openxmlformats.org/drawingml/2006/main">
              <a:ext uri="{FF2B5EF4-FFF2-40B4-BE49-F238E27FC236}">
                <a16:creationId xmlns:a16="http://schemas.microsoft.com/office/drawing/2014/main" id="{02B38F4A-3D91-4FD8-B714-A546DB4C5968}"/>
              </a:ext>
            </a:extLst>
          </p:cNvPr>
          <p:cNvGraphicFramePr/>
          <p:nvPr/>
        </p:nvGraphicFramePr>
        <p:xfrm>
          <a:off xmlns:a="http://schemas.openxmlformats.org/drawingml/2006/main" x="685800" y="1809750"/>
          <a:ext xmlns:a="http://schemas.openxmlformats.org/drawingml/2006/main" cx="10820400" cy="4305300"/>
        </p:xfrm>
        <a:graphic xmlns:a="http://schemas.openxmlformats.org/drawingml/2006/main">
          <a:graphicData uri="http://schemas.openxmlformats.org/drawingml/2006/table">
            <a:tbl>
              <a:tblPr/>
              <a:tblGrid>
                <a:gridCol w="2488692"/>
                <a:gridCol w="2380488"/>
                <a:gridCol w="1839468"/>
                <a:gridCol w="2055876"/>
                <a:gridCol w="2055876"/>
              </a:tblGrid>
              <a:tr h="358775">
                <a:tc>
                  <a:txBody>
                    <a:bodyPr wrap="square" lIns="66675" tIns="66675" rIns="66675" bIns="66675">
                      <a:noAutofit/>
                    </a:bodyPr>
                    <a:lstStyle/>
                    <a:p>
                      <a:pPr algn="l"/>
                      <a:r>
                        <a:rPr sz="1725" b="1">
                          <a:solidFill>
                            <a:srgbClr val="FFFFFF"/>
                          </a:solidFill>
                          <a:latin typeface="Calibri"/>
                          <a:ea typeface="Calibri"/>
                          <a:cs typeface="Calibri"/>
                        </a:rPr>
                        <a:t>Class</a:t>
                      </a:r>
                    </a:p>
                  </a:txBody>
                  <a:tcPr marL="91440" marR="91440" marT="45720" marB="4572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725" b="1">
                          <a:solidFill>
                            <a:srgbClr val="FFFFFF"/>
                          </a:solidFill>
                          <a:latin typeface="Calibri"/>
                          <a:ea typeface="Calibri"/>
                          <a:cs typeface="Calibri"/>
                        </a:rPr>
                        <a:t>Train instances</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725" b="1">
                          <a:solidFill>
                            <a:srgbClr val="FFFFFF"/>
                          </a:solidFill>
                          <a:latin typeface="Calibri"/>
                          <a:ea typeface="Calibri"/>
                          <a:cs typeface="Calibri"/>
                        </a:rPr>
                        <a:t>Train share</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725" b="1">
                          <a:solidFill>
                            <a:srgbClr val="FFFFFF"/>
                          </a:solidFill>
                          <a:latin typeface="Calibri"/>
                          <a:ea typeface="Calibri"/>
                          <a:cs typeface="Calibri"/>
                        </a:rPr>
                        <a:t>Val instances</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725" b="1">
                          <a:solidFill>
                            <a:srgbClr val="FFFFFF"/>
                          </a:solidFill>
                          <a:latin typeface="Calibri"/>
                          <a:ea typeface="Calibri"/>
                          <a:cs typeface="Calibri"/>
                        </a:rPr>
                        <a:t>Test instances</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358775">
                <a:tc>
                  <a:txBody>
                    <a:bodyPr wrap="square" lIns="66675" tIns="66675" rIns="66675" bIns="66675">
                      <a:noAutofit/>
                    </a:bodyPr>
                    <a:lstStyle/>
                    <a:p>
                      <a:pPr algn="l"/>
                      <a:r>
                        <a:rPr sz="1725" b="0">
                          <a:solidFill>
                            <a:srgbClr val="000000"/>
                          </a:solidFill>
                          <a:latin typeface="Calibri"/>
                          <a:ea typeface="Calibri"/>
                          <a:cs typeface="Calibri"/>
                        </a:rPr>
                        <a:t>person</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24,661</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43.8%</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2,728</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1,567</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358775">
                <a:tc>
                  <a:txBody>
                    <a:bodyPr wrap="square" lIns="66675" tIns="66675" rIns="66675" bIns="66675">
                      <a:noAutofit/>
                    </a:bodyPr>
                    <a:lstStyle/>
                    <a:p>
                      <a:pPr algn="l"/>
                      <a:r>
                        <a:rPr sz="1725" b="0">
                          <a:solidFill>
                            <a:srgbClr val="000000"/>
                          </a:solidFill>
                          <a:latin typeface="Calibri"/>
                          <a:ea typeface="Calibri"/>
                          <a:cs typeface="Calibri"/>
                        </a:rPr>
                        <a:t>bicycle</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2,887</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5.1%</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210</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104</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358775">
                <a:tc>
                  <a:txBody>
                    <a:bodyPr wrap="square" lIns="66675" tIns="66675" rIns="66675" bIns="66675">
                      <a:noAutofit/>
                    </a:bodyPr>
                    <a:lstStyle/>
                    <a:p>
                      <a:pPr algn="l"/>
                      <a:r>
                        <a:rPr sz="1725" b="0">
                          <a:solidFill>
                            <a:srgbClr val="000000"/>
                          </a:solidFill>
                          <a:latin typeface="Calibri"/>
                          <a:ea typeface="Calibri"/>
                          <a:cs typeface="Calibri"/>
                        </a:rPr>
                        <a:t>car</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12,443</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22.1%</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1,276</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642</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358775">
                <a:tc>
                  <a:txBody>
                    <a:bodyPr wrap="square" lIns="66675" tIns="66675" rIns="66675" bIns="66675">
                      <a:noAutofit/>
                    </a:bodyPr>
                    <a:lstStyle/>
                    <a:p>
                      <a:pPr algn="l"/>
                      <a:r>
                        <a:rPr sz="1725" b="0">
                          <a:solidFill>
                            <a:srgbClr val="000000"/>
                          </a:solidFill>
                          <a:latin typeface="Calibri"/>
                          <a:ea typeface="Calibri"/>
                          <a:cs typeface="Calibri"/>
                        </a:rPr>
                        <a:t>motorcycle</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3,054</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5.4%</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220</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147</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358775">
                <a:tc>
                  <a:txBody>
                    <a:bodyPr wrap="square" lIns="66675" tIns="66675" rIns="66675" bIns="66675">
                      <a:noAutofit/>
                    </a:bodyPr>
                    <a:lstStyle/>
                    <a:p>
                      <a:pPr algn="l"/>
                      <a:r>
                        <a:rPr sz="1725" b="0">
                          <a:solidFill>
                            <a:srgbClr val="000000"/>
                          </a:solidFill>
                          <a:latin typeface="Calibri"/>
                          <a:ea typeface="Calibri"/>
                          <a:cs typeface="Calibri"/>
                        </a:rPr>
                        <a:t>bus</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2,188</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3.9%</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169</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114</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358775">
                <a:tc>
                  <a:txBody>
                    <a:bodyPr wrap="square" lIns="66675" tIns="66675" rIns="66675" bIns="66675">
                      <a:noAutofit/>
                    </a:bodyPr>
                    <a:lstStyle/>
                    <a:p>
                      <a:pPr algn="l"/>
                      <a:r>
                        <a:rPr sz="1725" b="0">
                          <a:solidFill>
                            <a:srgbClr val="000000"/>
                          </a:solidFill>
                          <a:latin typeface="Calibri"/>
                          <a:ea typeface="Calibri"/>
                          <a:cs typeface="Calibri"/>
                        </a:rPr>
                        <a:t>truck</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2,914</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5.2%</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267</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147</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358775">
                <a:tc>
                  <a:txBody>
                    <a:bodyPr wrap="square" lIns="66675" tIns="66675" rIns="66675" bIns="66675">
                      <a:noAutofit/>
                    </a:bodyPr>
                    <a:lstStyle/>
                    <a:p>
                      <a:pPr algn="l"/>
                      <a:r>
                        <a:rPr sz="1725" b="0">
                          <a:solidFill>
                            <a:srgbClr val="000000"/>
                          </a:solidFill>
                          <a:latin typeface="Calibri"/>
                          <a:ea typeface="Calibri"/>
                          <a:cs typeface="Calibri"/>
                        </a:rPr>
                        <a:t>traffic light</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4,768</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8.5%</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403</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231</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358775">
                <a:tc>
                  <a:txBody>
                    <a:bodyPr wrap="square" lIns="66675" tIns="66675" rIns="66675" bIns="66675">
                      <a:noAutofit/>
                    </a:bodyPr>
                    <a:lstStyle/>
                    <a:p>
                      <a:pPr algn="l"/>
                      <a:r>
                        <a:rPr sz="1725" b="0">
                          <a:solidFill>
                            <a:srgbClr val="000000"/>
                          </a:solidFill>
                          <a:latin typeface="Calibri"/>
                          <a:ea typeface="Calibri"/>
                          <a:cs typeface="Calibri"/>
                        </a:rPr>
                        <a:t>stop sign</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1,118</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2.0%</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53</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22</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358775">
                <a:tc>
                  <a:txBody>
                    <a:bodyPr wrap="square" lIns="66675" tIns="66675" rIns="66675" bIns="66675">
                      <a:noAutofit/>
                    </a:bodyPr>
                    <a:lstStyle/>
                    <a:p>
                      <a:pPr algn="l"/>
                      <a:r>
                        <a:rPr sz="1725" b="0">
                          <a:solidFill>
                            <a:srgbClr val="000000"/>
                          </a:solidFill>
                          <a:latin typeface="Calibri"/>
                          <a:ea typeface="Calibri"/>
                          <a:cs typeface="Calibri"/>
                        </a:rPr>
                        <a:t>dog</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1,221</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2.2%</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146</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72</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358775">
                <a:tc>
                  <a:txBody>
                    <a:bodyPr wrap="square" lIns="66675" tIns="66675" rIns="66675" bIns="66675">
                      <a:noAutofit/>
                    </a:bodyPr>
                    <a:lstStyle/>
                    <a:p>
                      <a:pPr algn="l"/>
                      <a:r>
                        <a:rPr sz="1725" b="0">
                          <a:solidFill>
                            <a:srgbClr val="000000"/>
                          </a:solidFill>
                          <a:latin typeface="Calibri"/>
                          <a:ea typeface="Calibri"/>
                          <a:cs typeface="Calibri"/>
                        </a:rPr>
                        <a:t>cat</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1,013</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1.8%</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132</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70</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358775">
                <a:tc>
                  <a:txBody>
                    <a:bodyPr wrap="square" lIns="66675" tIns="66675" rIns="66675" bIns="66675">
                      <a:noAutofit/>
                    </a:bodyPr>
                    <a:lstStyle/>
                    <a:p>
                      <a:pPr algn="l"/>
                      <a:r>
                        <a:rPr sz="1725" b="0">
                          <a:solidFill>
                            <a:srgbClr val="000000"/>
                          </a:solidFill>
                          <a:latin typeface="Calibri"/>
                          <a:ea typeface="Calibri"/>
                          <a:cs typeface="Calibri"/>
                        </a:rPr>
                        <a:t>Total</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56,267</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100%</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5,604</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3,116</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bl>
          </a:graphicData>
        </a:graphic>
      </p:graphicFrame>
    </p:spTree>
    <p:extLst>
      <p:ext uri="{BB962C8B-B14F-4D97-AF65-F5344CB8AC3E}">
        <p14:creationId xmlns:p14="http://schemas.microsoft.com/office/powerpoint/2010/main" val="184228458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239">
            <a:extLst xmlns:a="http://schemas.openxmlformats.org/drawingml/2006/main">
              <a:ext uri="{FF2B5EF4-FFF2-40B4-BE49-F238E27FC236}">
                <a16:creationId xmlns:a16="http://schemas.microsoft.com/office/drawing/2014/main" id="{34DB6969-004D-457C-83B5-2F2B2B8FD81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40">
            <a:extLst xmlns:a="http://schemas.openxmlformats.org/drawingml/2006/main">
              <a:ext uri="{FF2B5EF4-FFF2-40B4-BE49-F238E27FC236}">
                <a16:creationId xmlns:a16="http://schemas.microsoft.com/office/drawing/2014/main" id="{3F943CF4-C8C8-4E0C-BAF9-6974ACED48BA}"/>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41">
            <a:extLst xmlns:a="http://schemas.openxmlformats.org/drawingml/2006/main">
              <a:ext uri="{FF2B5EF4-FFF2-40B4-BE49-F238E27FC236}">
                <a16:creationId xmlns:a16="http://schemas.microsoft.com/office/drawing/2014/main" id="{FB456CA3-8B6A-464E-A4E6-4BFDD898F88F}"/>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B  Per-class detection results</a:t>
            </a:r>
          </a:p>
        </p:txBody>
      </p:sp>
      <p:sp>
        <p:nvSpPr>
          <p:cNvPr id="4" name="object-242">
            <a:extLst xmlns:a="http://schemas.openxmlformats.org/drawingml/2006/main">
              <a:ext uri="{FF2B5EF4-FFF2-40B4-BE49-F238E27FC236}">
                <a16:creationId xmlns:a16="http://schemas.microsoft.com/office/drawing/2014/main" id="{CBA2B462-CE34-4DB9-B9C7-5051BC710C36}"/>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43">
            <a:extLst xmlns:a="http://schemas.openxmlformats.org/drawingml/2006/main">
              <a:ext uri="{FF2B5EF4-FFF2-40B4-BE49-F238E27FC236}">
                <a16:creationId xmlns:a16="http://schemas.microsoft.com/office/drawing/2014/main" id="{00B6DE63-E1F0-4483-A35C-DE2B4BD1F984}"/>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Held-out test results. Validation AP50–95 is shown for comparison.</a:t>
            </a:r>
          </a:p>
        </p:txBody>
      </p:sp>
      <p:sp>
        <p:nvSpPr>
          <p:cNvPr id="6" name="object-244">
            <a:extLst xmlns:a="http://schemas.openxmlformats.org/drawingml/2006/main">
              <a:ext uri="{FF2B5EF4-FFF2-40B4-BE49-F238E27FC236}">
                <a16:creationId xmlns:a16="http://schemas.microsoft.com/office/drawing/2014/main" id="{68E3BC5C-87B5-4BA2-BB79-A8894769A701}"/>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25</a:t>
            </a:r>
          </a:p>
        </p:txBody>
      </p:sp>
      <p:graphicFrame>
        <p:nvGraphicFramePr>
          <p:cNvPr id="7" name="">
            <a:extLst xmlns:a="http://schemas.openxmlformats.org/drawingml/2006/main">
              <a:ext uri="{FF2B5EF4-FFF2-40B4-BE49-F238E27FC236}">
                <a16:creationId xmlns:a16="http://schemas.microsoft.com/office/drawing/2014/main" id="{37240D06-A583-4647-A1E2-8C746FF6DED2}"/>
              </a:ext>
            </a:extLst>
          </p:cNvPr>
          <p:cNvGraphicFramePr/>
          <p:nvPr/>
        </p:nvGraphicFramePr>
        <p:xfrm>
          <a:off xmlns:a="http://schemas.openxmlformats.org/drawingml/2006/main" x="685800" y="1800225"/>
          <a:ext xmlns:a="http://schemas.openxmlformats.org/drawingml/2006/main" cx="10820400" cy="4324350"/>
        </p:xfrm>
        <a:graphic xmlns:a="http://schemas.openxmlformats.org/drawingml/2006/main">
          <a:graphicData uri="http://schemas.openxmlformats.org/drawingml/2006/table">
            <a:tbl>
              <a:tblPr/>
              <a:tblGrid>
                <a:gridCol w="2121647"/>
                <a:gridCol w="1272988"/>
                <a:gridCol w="1272988"/>
                <a:gridCol w="1485153"/>
                <a:gridCol w="1697318"/>
                <a:gridCol w="1697318"/>
                <a:gridCol w="1272988"/>
              </a:tblGrid>
              <a:tr h="393123">
                <a:tc>
                  <a:txBody>
                    <a:bodyPr wrap="square" lIns="66675" tIns="66675" rIns="66675" bIns="66675">
                      <a:noAutofit/>
                    </a:bodyPr>
                    <a:lstStyle/>
                    <a:p>
                      <a:pPr algn="l"/>
                      <a:r>
                        <a:rPr sz="1575" b="1">
                          <a:solidFill>
                            <a:srgbClr val="FFFFFF"/>
                          </a:solidFill>
                          <a:latin typeface="Calibri"/>
                          <a:ea typeface="Calibri"/>
                          <a:cs typeface="Calibri"/>
                        </a:rPr>
                        <a:t>Class</a:t>
                      </a:r>
                    </a:p>
                  </a:txBody>
                  <a:tcPr marL="91440" marR="91440" marT="45720" marB="4572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575" b="1">
                          <a:solidFill>
                            <a:srgbClr val="FFFFFF"/>
                          </a:solidFill>
                          <a:latin typeface="Calibri"/>
                          <a:ea typeface="Calibri"/>
                          <a:cs typeface="Calibri"/>
                        </a:rPr>
                        <a:t>Test P</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575" b="1">
                          <a:solidFill>
                            <a:srgbClr val="FFFFFF"/>
                          </a:solidFill>
                          <a:latin typeface="Calibri"/>
                          <a:ea typeface="Calibri"/>
                          <a:cs typeface="Calibri"/>
                        </a:rPr>
                        <a:t>Test R</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575" b="1">
                          <a:solidFill>
                            <a:srgbClr val="FFFFFF"/>
                          </a:solidFill>
                          <a:latin typeface="Calibri"/>
                          <a:ea typeface="Calibri"/>
                          <a:cs typeface="Calibri"/>
                        </a:rPr>
                        <a:t>Test AP50</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575" b="1">
                          <a:solidFill>
                            <a:srgbClr val="FFFFFF"/>
                          </a:solidFill>
                          <a:latin typeface="Calibri"/>
                          <a:ea typeface="Calibri"/>
                          <a:cs typeface="Calibri"/>
                        </a:rPr>
                        <a:t>Test AP50-95</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575" b="1">
                          <a:solidFill>
                            <a:srgbClr val="FFFFFF"/>
                          </a:solidFill>
                          <a:latin typeface="Calibri"/>
                          <a:ea typeface="Calibri"/>
                          <a:cs typeface="Calibri"/>
                        </a:rPr>
                        <a:t>Val AP50-95</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575" b="1">
                          <a:solidFill>
                            <a:srgbClr val="FFFFFF"/>
                          </a:solidFill>
                          <a:latin typeface="Calibri"/>
                          <a:ea typeface="Calibri"/>
                          <a:cs typeface="Calibri"/>
                        </a:rPr>
                        <a:t>Test inst.</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393123">
                <a:tc>
                  <a:txBody>
                    <a:bodyPr wrap="square" lIns="66675" tIns="66675" rIns="66675" bIns="66675">
                      <a:noAutofit/>
                    </a:bodyPr>
                    <a:lstStyle/>
                    <a:p>
                      <a:pPr algn="l"/>
                      <a:r>
                        <a:rPr sz="1575" b="0">
                          <a:solidFill>
                            <a:srgbClr val="000000"/>
                          </a:solidFill>
                          <a:latin typeface="Calibri"/>
                          <a:ea typeface="Calibri"/>
                          <a:cs typeface="Calibri"/>
                        </a:rPr>
                        <a:t>person</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0.812</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0.613</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0.717</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0.457</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0.469</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1,567</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393123">
                <a:tc>
                  <a:txBody>
                    <a:bodyPr wrap="square" lIns="66675" tIns="66675" rIns="66675" bIns="66675">
                      <a:noAutofit/>
                    </a:bodyPr>
                    <a:lstStyle/>
                    <a:p>
                      <a:pPr algn="l"/>
                      <a:r>
                        <a:rPr sz="1575" b="0">
                          <a:solidFill>
                            <a:srgbClr val="000000"/>
                          </a:solidFill>
                          <a:latin typeface="Calibri"/>
                          <a:ea typeface="Calibri"/>
                          <a:cs typeface="Calibri"/>
                        </a:rPr>
                        <a:t>bicycle</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0.686</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0.399</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0.498</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0.270</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0.311</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104</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393123">
                <a:tc>
                  <a:txBody>
                    <a:bodyPr wrap="square" lIns="66675" tIns="66675" rIns="66675" bIns="66675">
                      <a:noAutofit/>
                    </a:bodyPr>
                    <a:lstStyle/>
                    <a:p>
                      <a:pPr algn="l"/>
                      <a:r>
                        <a:rPr sz="1575" b="0">
                          <a:solidFill>
                            <a:srgbClr val="000000"/>
                          </a:solidFill>
                          <a:latin typeface="Calibri"/>
                          <a:ea typeface="Calibri"/>
                          <a:cs typeface="Calibri"/>
                        </a:rPr>
                        <a:t>car</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0.763</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0.607</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0.680</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0.456</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0.406</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642</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393123">
                <a:tc>
                  <a:txBody>
                    <a:bodyPr wrap="square" lIns="66675" tIns="66675" rIns="66675" bIns="66675">
                      <a:noAutofit/>
                    </a:bodyPr>
                    <a:lstStyle/>
                    <a:p>
                      <a:pPr algn="l"/>
                      <a:r>
                        <a:rPr sz="1575" b="0">
                          <a:solidFill>
                            <a:srgbClr val="000000"/>
                          </a:solidFill>
                          <a:latin typeface="Calibri"/>
                          <a:ea typeface="Calibri"/>
                          <a:cs typeface="Calibri"/>
                        </a:rPr>
                        <a:t>motorcycle</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0.802</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0.633</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0.771</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0.472</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0.422</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147</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393123">
                <a:tc>
                  <a:txBody>
                    <a:bodyPr wrap="square" lIns="66675" tIns="66675" rIns="66675" bIns="66675">
                      <a:noAutofit/>
                    </a:bodyPr>
                    <a:lstStyle/>
                    <a:p>
                      <a:pPr algn="l"/>
                      <a:r>
                        <a:rPr sz="1575" b="0">
                          <a:solidFill>
                            <a:srgbClr val="000000"/>
                          </a:solidFill>
                          <a:latin typeface="Calibri"/>
                          <a:ea typeface="Calibri"/>
                          <a:cs typeface="Calibri"/>
                        </a:rPr>
                        <a:t>bus</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0.842</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0.711</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0.791</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0.662</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0.669</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114</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393123">
                <a:tc>
                  <a:txBody>
                    <a:bodyPr wrap="square" lIns="66675" tIns="66675" rIns="66675" bIns="66675">
                      <a:noAutofit/>
                    </a:bodyPr>
                    <a:lstStyle/>
                    <a:p>
                      <a:pPr algn="l"/>
                      <a:r>
                        <a:rPr sz="1575" b="0">
                          <a:solidFill>
                            <a:srgbClr val="000000"/>
                          </a:solidFill>
                          <a:latin typeface="Calibri"/>
                          <a:ea typeface="Calibri"/>
                          <a:cs typeface="Calibri"/>
                        </a:rPr>
                        <a:t>truck</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0.561</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0.463</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0.521</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0.331</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0.347</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147</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393123">
                <a:tc>
                  <a:txBody>
                    <a:bodyPr wrap="square" lIns="66675" tIns="66675" rIns="66675" bIns="66675">
                      <a:noAutofit/>
                    </a:bodyPr>
                    <a:lstStyle/>
                    <a:p>
                      <a:pPr algn="l"/>
                      <a:r>
                        <a:rPr sz="1575" b="0">
                          <a:solidFill>
                            <a:srgbClr val="000000"/>
                          </a:solidFill>
                          <a:latin typeface="Calibri"/>
                          <a:ea typeface="Calibri"/>
                          <a:cs typeface="Calibri"/>
                        </a:rPr>
                        <a:t>traffic light</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0.636</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0.476</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0.494</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0.265</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0.271</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231</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393123">
                <a:tc>
                  <a:txBody>
                    <a:bodyPr wrap="square" lIns="66675" tIns="66675" rIns="66675" bIns="66675">
                      <a:noAutofit/>
                    </a:bodyPr>
                    <a:lstStyle/>
                    <a:p>
                      <a:pPr algn="l"/>
                      <a:r>
                        <a:rPr sz="1575" b="0">
                          <a:solidFill>
                            <a:srgbClr val="000000"/>
                          </a:solidFill>
                          <a:latin typeface="Calibri"/>
                          <a:ea typeface="Calibri"/>
                          <a:cs typeface="Calibri"/>
                        </a:rPr>
                        <a:t>stop sign</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0.488</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0.607</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0.619</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0.556</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0.736</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22</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393123">
                <a:tc>
                  <a:txBody>
                    <a:bodyPr wrap="square" lIns="66675" tIns="66675" rIns="66675" bIns="66675">
                      <a:noAutofit/>
                    </a:bodyPr>
                    <a:lstStyle/>
                    <a:p>
                      <a:pPr algn="l"/>
                      <a:r>
                        <a:rPr sz="1575" b="0">
                          <a:solidFill>
                            <a:srgbClr val="000000"/>
                          </a:solidFill>
                          <a:latin typeface="Calibri"/>
                          <a:ea typeface="Calibri"/>
                          <a:cs typeface="Calibri"/>
                        </a:rPr>
                        <a:t>dog</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0.651</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0.806</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0.771</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0.596</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0.558</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75" b="0">
                          <a:solidFill>
                            <a:srgbClr val="000000"/>
                          </a:solidFill>
                          <a:latin typeface="Calibri"/>
                          <a:ea typeface="Calibri"/>
                          <a:cs typeface="Calibri"/>
                        </a:rPr>
                        <a:t>72</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393123">
                <a:tc>
                  <a:txBody>
                    <a:bodyPr wrap="square" lIns="66675" tIns="66675" rIns="66675" bIns="66675">
                      <a:noAutofit/>
                    </a:bodyPr>
                    <a:lstStyle/>
                    <a:p>
                      <a:pPr algn="l"/>
                      <a:r>
                        <a:rPr sz="1575" b="0">
                          <a:solidFill>
                            <a:srgbClr val="000000"/>
                          </a:solidFill>
                          <a:latin typeface="Calibri"/>
                          <a:ea typeface="Calibri"/>
                          <a:cs typeface="Calibri"/>
                        </a:rPr>
                        <a:t>cat</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0.882</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0.829</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0.861</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0.645</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0.667</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75" b="0">
                          <a:solidFill>
                            <a:srgbClr val="000000"/>
                          </a:solidFill>
                          <a:latin typeface="Calibri"/>
                          <a:ea typeface="Calibri"/>
                          <a:cs typeface="Calibri"/>
                        </a:rPr>
                        <a:t>70</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bl>
          </a:graphicData>
        </a:graphic>
      </p:graphicFrame>
    </p:spTree>
    <p:extLst>
      <p:ext uri="{BB962C8B-B14F-4D97-AF65-F5344CB8AC3E}">
        <p14:creationId xmlns:p14="http://schemas.microsoft.com/office/powerpoint/2010/main" val="174857533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bject-245">
            <a:extLst xmlns:a="http://schemas.openxmlformats.org/drawingml/2006/main">
              <a:ext uri="{FF2B5EF4-FFF2-40B4-BE49-F238E27FC236}">
                <a16:creationId xmlns:a16="http://schemas.microsoft.com/office/drawing/2014/main" id="{098FF7ED-D13D-4990-96EC-E6E472958652}"/>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46">
            <a:extLst xmlns:a="http://schemas.openxmlformats.org/drawingml/2006/main">
              <a:ext uri="{FF2B5EF4-FFF2-40B4-BE49-F238E27FC236}">
                <a16:creationId xmlns:a16="http://schemas.microsoft.com/office/drawing/2014/main" id="{1E0A8919-5E80-43F4-B8DC-31DBC97B0334}"/>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47">
            <a:extLst xmlns:a="http://schemas.openxmlformats.org/drawingml/2006/main">
              <a:ext uri="{FF2B5EF4-FFF2-40B4-BE49-F238E27FC236}">
                <a16:creationId xmlns:a16="http://schemas.microsoft.com/office/drawing/2014/main" id="{5C0C471A-A56A-4EFD-BE69-A54E1D7BB649}"/>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C  Full perception metrics</a:t>
            </a:r>
          </a:p>
        </p:txBody>
      </p:sp>
      <p:sp>
        <p:nvSpPr>
          <p:cNvPr id="4" name="object-248">
            <a:extLst xmlns:a="http://schemas.openxmlformats.org/drawingml/2006/main">
              <a:ext uri="{FF2B5EF4-FFF2-40B4-BE49-F238E27FC236}">
                <a16:creationId xmlns:a16="http://schemas.microsoft.com/office/drawing/2014/main" id="{B7881109-C77B-4A34-85D4-65022E5DE003}"/>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49">
            <a:extLst xmlns:a="http://schemas.openxmlformats.org/drawingml/2006/main">
              <a:ext uri="{FF2B5EF4-FFF2-40B4-BE49-F238E27FC236}">
                <a16:creationId xmlns:a16="http://schemas.microsoft.com/office/drawing/2014/main" id="{4FF0C20E-92C0-4142-9467-2EA1D8EE389E}"/>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Detection uses a held-out test. Lane results use validation only.</a:t>
            </a:r>
          </a:p>
        </p:txBody>
      </p:sp>
      <p:sp>
        <p:nvSpPr>
          <p:cNvPr id="6" name="object-250">
            <a:extLst xmlns:a="http://schemas.openxmlformats.org/drawingml/2006/main">
              <a:ext uri="{FF2B5EF4-FFF2-40B4-BE49-F238E27FC236}">
                <a16:creationId xmlns:a16="http://schemas.microsoft.com/office/drawing/2014/main" id="{4CFB6A6F-65ED-4D7C-84C8-1442D8C650FE}"/>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26</a:t>
            </a:r>
          </a:p>
        </p:txBody>
      </p:sp>
      <p:graphicFrame>
        <p:nvGraphicFramePr>
          <p:cNvPr id="7" name="">
            <a:extLst xmlns:a="http://schemas.openxmlformats.org/drawingml/2006/main">
              <a:ext uri="{FF2B5EF4-FFF2-40B4-BE49-F238E27FC236}">
                <a16:creationId xmlns:a16="http://schemas.microsoft.com/office/drawing/2014/main" id="{8832FF87-8FB4-4D80-9EF8-FD926988303D}"/>
              </a:ext>
            </a:extLst>
          </p:cNvPr>
          <p:cNvGraphicFramePr/>
          <p:nvPr/>
        </p:nvGraphicFramePr>
        <p:xfrm>
          <a:off xmlns:a="http://schemas.openxmlformats.org/drawingml/2006/main" x="685800" y="1809750"/>
          <a:ext xmlns:a="http://schemas.openxmlformats.org/drawingml/2006/main" cx="10820400" cy="1466850"/>
        </p:xfrm>
        <a:graphic xmlns:a="http://schemas.openxmlformats.org/drawingml/2006/main">
          <a:graphicData uri="http://schemas.openxmlformats.org/drawingml/2006/table">
            <a:tbl>
              <a:tblPr/>
              <a:tblGrid>
                <a:gridCol w="2705100"/>
                <a:gridCol w="1082040"/>
                <a:gridCol w="1298448"/>
                <a:gridCol w="1190244"/>
                <a:gridCol w="1082040"/>
                <a:gridCol w="1082040"/>
                <a:gridCol w="1298448"/>
                <a:gridCol w="1082040"/>
              </a:tblGrid>
              <a:tr h="366713">
                <a:tc>
                  <a:txBody>
                    <a:bodyPr wrap="square" lIns="66675" tIns="66675" rIns="66675" bIns="66675">
                      <a:noAutofit/>
                    </a:bodyPr>
                    <a:lstStyle/>
                    <a:p>
                      <a:pPr algn="l"/>
                      <a:r>
                        <a:rPr sz="1500" b="1">
                          <a:solidFill>
                            <a:srgbClr val="FFFFFF"/>
                          </a:solidFill>
                          <a:latin typeface="Calibri"/>
                          <a:ea typeface="Calibri"/>
                          <a:cs typeface="Calibri"/>
                        </a:rPr>
                        <a:t>Split</a:t>
                      </a:r>
                    </a:p>
                  </a:txBody>
                  <a:tcPr marL="91440" marR="91440" marT="45720" marB="4572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500" b="1">
                          <a:solidFill>
                            <a:srgbClr val="FFFFFF"/>
                          </a:solidFill>
                          <a:latin typeface="Calibri"/>
                          <a:ea typeface="Calibri"/>
                          <a:cs typeface="Calibri"/>
                        </a:rPr>
                        <a:t>Images</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500" b="1">
                          <a:solidFill>
                            <a:srgbClr val="FFFFFF"/>
                          </a:solidFill>
                          <a:latin typeface="Calibri"/>
                          <a:ea typeface="Calibri"/>
                          <a:cs typeface="Calibri"/>
                        </a:rPr>
                        <a:t>Instances</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500" b="1">
                          <a:solidFill>
                            <a:srgbClr val="FFFFFF"/>
                          </a:solidFill>
                          <a:latin typeface="Calibri"/>
                          <a:ea typeface="Calibri"/>
                          <a:cs typeface="Calibri"/>
                        </a:rPr>
                        <a:t>Precision</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500" b="1">
                          <a:solidFill>
                            <a:srgbClr val="FFFFFF"/>
                          </a:solidFill>
                          <a:latin typeface="Calibri"/>
                          <a:ea typeface="Calibri"/>
                          <a:cs typeface="Calibri"/>
                        </a:rPr>
                        <a:t>Recall</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500" b="1">
                          <a:solidFill>
                            <a:srgbClr val="FFFFFF"/>
                          </a:solidFill>
                          <a:latin typeface="Calibri"/>
                          <a:ea typeface="Calibri"/>
                          <a:cs typeface="Calibri"/>
                        </a:rPr>
                        <a:t>mAP50</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500" b="1">
                          <a:solidFill>
                            <a:srgbClr val="FFFFFF"/>
                          </a:solidFill>
                          <a:latin typeface="Calibri"/>
                          <a:ea typeface="Calibri"/>
                          <a:cs typeface="Calibri"/>
                        </a:rPr>
                        <a:t>mAP50-95</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500" b="1">
                          <a:solidFill>
                            <a:srgbClr val="FFFFFF"/>
                          </a:solidFill>
                          <a:latin typeface="Calibri"/>
                          <a:ea typeface="Calibri"/>
                          <a:cs typeface="Calibri"/>
                        </a:rPr>
                        <a:t>mAP75</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366713">
                <a:tc>
                  <a:txBody>
                    <a:bodyPr wrap="square" lIns="66675" tIns="66675" rIns="66675" bIns="66675">
                      <a:noAutofit/>
                    </a:bodyPr>
                    <a:lstStyle/>
                    <a:p>
                      <a:pPr algn="l"/>
                      <a:r>
                        <a:rPr sz="1500" b="0">
                          <a:solidFill>
                            <a:srgbClr val="000000"/>
                          </a:solidFill>
                          <a:latin typeface="Calibri"/>
                          <a:ea typeface="Calibri"/>
                          <a:cs typeface="Calibri"/>
                        </a:rPr>
                        <a:t>Epoch-1 reference (val)</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975</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5,604</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0.575</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0.498</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0.510</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0.331</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366713">
                <a:tc>
                  <a:txBody>
                    <a:bodyPr wrap="square" lIns="66675" tIns="66675" rIns="66675" bIns="66675">
                      <a:noAutofit/>
                    </a:bodyPr>
                    <a:lstStyle/>
                    <a:p>
                      <a:pPr algn="l"/>
                      <a:r>
                        <a:rPr sz="1500" b="0">
                          <a:solidFill>
                            <a:srgbClr val="000000"/>
                          </a:solidFill>
                          <a:latin typeface="Calibri"/>
                          <a:ea typeface="Calibri"/>
                          <a:cs typeface="Calibri"/>
                        </a:rPr>
                        <a:t>Validation</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975</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5,604</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0.724</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0.621</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0.688</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0.486</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0.518</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366713">
                <a:tc>
                  <a:txBody>
                    <a:bodyPr wrap="square" lIns="66675" tIns="66675" rIns="66675" bIns="66675">
                      <a:noAutofit/>
                    </a:bodyPr>
                    <a:lstStyle/>
                    <a:p>
                      <a:pPr algn="l"/>
                      <a:r>
                        <a:rPr sz="1500" b="0">
                          <a:solidFill>
                            <a:srgbClr val="000000"/>
                          </a:solidFill>
                          <a:latin typeface="Calibri"/>
                          <a:ea typeface="Calibri"/>
                          <a:cs typeface="Calibri"/>
                        </a:rPr>
                        <a:t>Test (held out)</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525</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3,116</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0.712</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0.614</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0.672</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0.471</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0.511</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bl>
          </a:graphicData>
        </a:graphic>
      </p:graphicFrame>
      <p:sp>
        <p:nvSpPr>
          <p:cNvPr id="8" name="object-251">
            <a:extLst xmlns:a="http://schemas.openxmlformats.org/drawingml/2006/main">
              <a:ext uri="{FF2B5EF4-FFF2-40B4-BE49-F238E27FC236}">
                <a16:creationId xmlns:a16="http://schemas.microsoft.com/office/drawing/2014/main" id="{1114ABCF-F0A0-4D7A-BA55-8C2854E2165C}"/>
              </a:ext>
            </a:extLst>
          </p:cNvPr>
          <p:cNvSpPr>
            <a:spLocks xmlns:a="http://schemas.openxmlformats.org/drawingml/2006/main" noGrp="1"/>
          </p:cNvSpPr>
          <p:nvPr/>
        </p:nvSpPr>
        <p:spPr>
          <a:xfrm xmlns:a="http://schemas.openxmlformats.org/drawingml/2006/main">
            <a:off x="685800" y="3476625"/>
            <a:ext cx="1082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000000"/>
                </a:solidFill>
                <a:latin typeface="Calibri"/>
                <a:ea typeface="Calibri"/>
                <a:cs typeface="Calibri"/>
              </a:defRPr>
            </a:defPPr>
            <a:lvl1pPr algn="l">
              <a:defRPr sz="2025" b="1">
                <a:solidFill>
                  <a:srgbClr val="000000"/>
                </a:solidFill>
                <a:latin typeface="Calibri"/>
                <a:ea typeface="Calibri"/>
                <a:cs typeface="Calibri"/>
              </a:defRPr>
            </a:lvl1pPr>
            <a:lvl2pPr algn="l">
              <a:defRPr sz="2025" b="1">
                <a:solidFill>
                  <a:srgbClr val="000000"/>
                </a:solidFill>
                <a:latin typeface="Calibri"/>
                <a:ea typeface="Calibri"/>
                <a:cs typeface="Calibri"/>
              </a:defRPr>
            </a:lvl2pPr>
            <a:lvl3pPr algn="l">
              <a:defRPr sz="2025" b="1">
                <a:solidFill>
                  <a:srgbClr val="000000"/>
                </a:solidFill>
                <a:latin typeface="Calibri"/>
                <a:ea typeface="Calibri"/>
                <a:cs typeface="Calibri"/>
              </a:defRPr>
            </a:lvl3pPr>
            <a:lvl4pPr algn="l">
              <a:defRPr sz="2025" b="1">
                <a:solidFill>
                  <a:srgbClr val="000000"/>
                </a:solidFill>
                <a:latin typeface="Calibri"/>
                <a:ea typeface="Calibri"/>
                <a:cs typeface="Calibri"/>
              </a:defRPr>
            </a:lvl4pPr>
            <a:lvl5pPr algn="l">
              <a:defRPr sz="2025" b="1">
                <a:solidFill>
                  <a:srgbClr val="000000"/>
                </a:solidFill>
                <a:latin typeface="Calibri"/>
                <a:ea typeface="Calibri"/>
                <a:cs typeface="Calibri"/>
              </a:defRPr>
            </a:lvl5pPr>
            <a:lvl6pPr algn="l">
              <a:defRPr sz="2025" b="1">
                <a:solidFill>
                  <a:srgbClr val="000000"/>
                </a:solidFill>
                <a:latin typeface="Calibri"/>
                <a:ea typeface="Calibri"/>
                <a:cs typeface="Calibri"/>
              </a:defRPr>
            </a:lvl6pPr>
            <a:lvl7pPr algn="l">
              <a:defRPr sz="2025" b="1">
                <a:solidFill>
                  <a:srgbClr val="000000"/>
                </a:solidFill>
                <a:latin typeface="Calibri"/>
                <a:ea typeface="Calibri"/>
                <a:cs typeface="Calibri"/>
              </a:defRPr>
            </a:lvl7pPr>
            <a:lvl8pPr algn="l">
              <a:defRPr sz="2025" b="1">
                <a:solidFill>
                  <a:srgbClr val="000000"/>
                </a:solidFill>
                <a:latin typeface="Calibri"/>
                <a:ea typeface="Calibri"/>
                <a:cs typeface="Calibri"/>
              </a:defRPr>
            </a:lvl8pPr>
            <a:lvl9pPr algn="l">
              <a:defRPr sz="2025" b="1">
                <a:solidFill>
                  <a:srgbClr val="000000"/>
                </a:solidFill>
                <a:latin typeface="Calibri"/>
                <a:ea typeface="Calibri"/>
                <a:cs typeface="Calibri"/>
              </a:defRPr>
            </a:lvl9pPr>
          </a:lstStyle>
          <a:p xmlns:a="http://schemas.openxmlformats.org/drawingml/2006/main">
            <a:pPr algn="l">
              <a:defRPr sz="2025" b="1">
                <a:solidFill>
                  <a:srgbClr val="000000"/>
                </a:solidFill>
                <a:latin typeface="Calibri"/>
                <a:ea typeface="Calibri"/>
                <a:cs typeface="Calibri"/>
              </a:defRPr>
            </a:pPr>
            <a:r>
              <a:rPr sz="2025" b="1">
                <a:solidFill>
                  <a:srgbClr val="000000"/>
                </a:solidFill>
                <a:latin typeface="Calibri"/>
                <a:ea typeface="Calibri"/>
                <a:cs typeface="Calibri"/>
              </a:rPr>
              <a:t>Lane segmentation</a:t>
            </a:r>
          </a:p>
        </p:txBody>
      </p:sp>
      <p:graphicFrame>
        <p:nvGraphicFramePr>
          <p:cNvPr id="9" name="">
            <a:extLst xmlns:a="http://schemas.openxmlformats.org/drawingml/2006/main">
              <a:ext uri="{FF2B5EF4-FFF2-40B4-BE49-F238E27FC236}">
                <a16:creationId xmlns:a16="http://schemas.microsoft.com/office/drawing/2014/main" id="{EF984AEF-1620-4FA2-8C97-CD80213AE362}"/>
              </a:ext>
            </a:extLst>
          </p:cNvPr>
          <p:cNvGraphicFramePr/>
          <p:nvPr/>
        </p:nvGraphicFramePr>
        <p:xfrm>
          <a:off xmlns:a="http://schemas.openxmlformats.org/drawingml/2006/main" x="685800" y="3895725"/>
          <a:ext xmlns:a="http://schemas.openxmlformats.org/drawingml/2006/main" cx="10820400" cy="2400300"/>
        </p:xfrm>
        <a:graphic xmlns:a="http://schemas.openxmlformats.org/drawingml/2006/main">
          <a:graphicData uri="http://schemas.openxmlformats.org/drawingml/2006/table">
            <a:tbl>
              <a:tblPr/>
              <a:tblGrid>
                <a:gridCol w="2488692"/>
                <a:gridCol w="2705100"/>
                <a:gridCol w="2813304"/>
                <a:gridCol w="2813304"/>
              </a:tblGrid>
              <a:tr h="266700">
                <a:tc>
                  <a:txBody>
                    <a:bodyPr wrap="square" lIns="66675" tIns="66675" rIns="66675" bIns="66675">
                      <a:noAutofit/>
                    </a:bodyPr>
                    <a:lstStyle/>
                    <a:p>
                      <a:pPr algn="l"/>
                      <a:r>
                        <a:rPr sz="1500" b="1">
                          <a:solidFill>
                            <a:srgbClr val="FFFFFF"/>
                          </a:solidFill>
                          <a:latin typeface="Calibri"/>
                          <a:ea typeface="Calibri"/>
                          <a:cs typeface="Calibri"/>
                        </a:rPr>
                        <a:t>Metric</a:t>
                      </a:r>
                    </a:p>
                  </a:txBody>
                  <a:tcPr marL="91440" marR="91440" marT="45720" marB="4572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500" b="1">
                          <a:solidFill>
                            <a:srgbClr val="FFFFFF"/>
                          </a:solidFill>
                          <a:latin typeface="Calibri"/>
                          <a:ea typeface="Calibri"/>
                          <a:cs typeface="Calibri"/>
                        </a:rPr>
                        <a:t>Epoch-1 reference</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500" b="1">
                          <a:solidFill>
                            <a:srgbClr val="FFFFFF"/>
                          </a:solidFill>
                          <a:latin typeface="Calibri"/>
                          <a:ea typeface="Calibri"/>
                          <a:cs typeface="Calibri"/>
                        </a:rPr>
                        <a:t>End of training (best.pt)</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500" b="1">
                          <a:solidFill>
                            <a:srgbClr val="FFFFFF"/>
                          </a:solidFill>
                          <a:latin typeface="Calibri"/>
                          <a:ea typeface="Calibri"/>
                          <a:cs typeface="Calibri"/>
                        </a:rPr>
                        <a:t>Standalone re-evaluation</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266700">
                <a:tc>
                  <a:txBody>
                    <a:bodyPr wrap="square" lIns="66675" tIns="66675" rIns="66675" bIns="66675">
                      <a:noAutofit/>
                    </a:bodyPr>
                    <a:lstStyle/>
                    <a:p>
                      <a:pPr algn="l"/>
                      <a:r>
                        <a:rPr sz="1500" b="0">
                          <a:solidFill>
                            <a:srgbClr val="000000"/>
                          </a:solidFill>
                          <a:latin typeface="Calibri"/>
                          <a:ea typeface="Calibri"/>
                          <a:cs typeface="Calibri"/>
                        </a:rPr>
                        <a:t>Box P</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0.955</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0.976</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0.976</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66700">
                <a:tc>
                  <a:txBody>
                    <a:bodyPr wrap="square" lIns="66675" tIns="66675" rIns="66675" bIns="66675">
                      <a:noAutofit/>
                    </a:bodyPr>
                    <a:lstStyle/>
                    <a:p>
                      <a:pPr algn="l"/>
                      <a:r>
                        <a:rPr sz="1500" b="0">
                          <a:solidFill>
                            <a:srgbClr val="000000"/>
                          </a:solidFill>
                          <a:latin typeface="Calibri"/>
                          <a:ea typeface="Calibri"/>
                          <a:cs typeface="Calibri"/>
                        </a:rPr>
                        <a:t>Box R</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0.953</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0.974</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0.974</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266700">
                <a:tc>
                  <a:txBody>
                    <a:bodyPr wrap="square" lIns="66675" tIns="66675" rIns="66675" bIns="66675">
                      <a:noAutofit/>
                    </a:bodyPr>
                    <a:lstStyle/>
                    <a:p>
                      <a:pPr algn="l"/>
                      <a:r>
                        <a:rPr sz="1500" b="0">
                          <a:solidFill>
                            <a:srgbClr val="000000"/>
                          </a:solidFill>
                          <a:latin typeface="Calibri"/>
                          <a:ea typeface="Calibri"/>
                          <a:cs typeface="Calibri"/>
                        </a:rPr>
                        <a:t>Box mAP50</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0.974</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0.992</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0.992</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66700">
                <a:tc>
                  <a:txBody>
                    <a:bodyPr wrap="square" lIns="66675" tIns="66675" rIns="66675" bIns="66675">
                      <a:noAutofit/>
                    </a:bodyPr>
                    <a:lstStyle/>
                    <a:p>
                      <a:pPr algn="l"/>
                      <a:r>
                        <a:rPr sz="1500" b="0">
                          <a:solidFill>
                            <a:srgbClr val="000000"/>
                          </a:solidFill>
                          <a:latin typeface="Calibri"/>
                          <a:ea typeface="Calibri"/>
                          <a:cs typeface="Calibri"/>
                        </a:rPr>
                        <a:t>Box mAP50-95</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0.672</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0.831</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0.831</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266700">
                <a:tc>
                  <a:txBody>
                    <a:bodyPr wrap="square" lIns="66675" tIns="66675" rIns="66675" bIns="66675">
                      <a:noAutofit/>
                    </a:bodyPr>
                    <a:lstStyle/>
                    <a:p>
                      <a:pPr algn="l"/>
                      <a:r>
                        <a:rPr sz="1500" b="0">
                          <a:solidFill>
                            <a:srgbClr val="000000"/>
                          </a:solidFill>
                          <a:latin typeface="Calibri"/>
                          <a:ea typeface="Calibri"/>
                          <a:cs typeface="Calibri"/>
                        </a:rPr>
                        <a:t>Mask P</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0.744</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0.918</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0.925</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66700">
                <a:tc>
                  <a:txBody>
                    <a:bodyPr wrap="square" lIns="66675" tIns="66675" rIns="66675" bIns="66675">
                      <a:noAutofit/>
                    </a:bodyPr>
                    <a:lstStyle/>
                    <a:p>
                      <a:pPr algn="l"/>
                      <a:r>
                        <a:rPr sz="1500" b="0">
                          <a:solidFill>
                            <a:srgbClr val="000000"/>
                          </a:solidFill>
                          <a:latin typeface="Calibri"/>
                          <a:ea typeface="Calibri"/>
                          <a:cs typeface="Calibri"/>
                        </a:rPr>
                        <a:t>Mask R</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0.735</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0.916</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0.923</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266700">
                <a:tc>
                  <a:txBody>
                    <a:bodyPr wrap="square" lIns="66675" tIns="66675" rIns="66675" bIns="66675">
                      <a:noAutofit/>
                    </a:bodyPr>
                    <a:lstStyle/>
                    <a:p>
                      <a:pPr algn="l"/>
                      <a:r>
                        <a:rPr sz="1500" b="0">
                          <a:solidFill>
                            <a:srgbClr val="000000"/>
                          </a:solidFill>
                          <a:latin typeface="Calibri"/>
                          <a:ea typeface="Calibri"/>
                          <a:cs typeface="Calibri"/>
                        </a:rPr>
                        <a:t>Mask mAP50</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0.595</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0.877</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500" b="0">
                          <a:solidFill>
                            <a:srgbClr val="000000"/>
                          </a:solidFill>
                          <a:latin typeface="Calibri"/>
                          <a:ea typeface="Calibri"/>
                          <a:cs typeface="Calibri"/>
                        </a:rPr>
                        <a:t>0.890</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66700">
                <a:tc>
                  <a:txBody>
                    <a:bodyPr wrap="square" lIns="66675" tIns="66675" rIns="66675" bIns="66675">
                      <a:noAutofit/>
                    </a:bodyPr>
                    <a:lstStyle/>
                    <a:p>
                      <a:pPr algn="l"/>
                      <a:r>
                        <a:rPr sz="1500" b="0">
                          <a:solidFill>
                            <a:srgbClr val="000000"/>
                          </a:solidFill>
                          <a:latin typeface="Calibri"/>
                          <a:ea typeface="Calibri"/>
                          <a:cs typeface="Calibri"/>
                        </a:rPr>
                        <a:t>Mask mAP50-95</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0.173</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0.363</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500" b="0">
                          <a:solidFill>
                            <a:srgbClr val="000000"/>
                          </a:solidFill>
                          <a:latin typeface="Calibri"/>
                          <a:ea typeface="Calibri"/>
                          <a:cs typeface="Calibri"/>
                        </a:rPr>
                        <a:t>0.389</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bl>
          </a:graphicData>
        </a:graphic>
      </p:graphicFrame>
    </p:spTree>
    <p:extLst>
      <p:ext uri="{BB962C8B-B14F-4D97-AF65-F5344CB8AC3E}">
        <p14:creationId xmlns:p14="http://schemas.microsoft.com/office/powerpoint/2010/main" val="19297986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bject-252">
            <a:extLst xmlns:a="http://schemas.openxmlformats.org/drawingml/2006/main">
              <a:ext uri="{FF2B5EF4-FFF2-40B4-BE49-F238E27FC236}">
                <a16:creationId xmlns:a16="http://schemas.microsoft.com/office/drawing/2014/main" id="{E8204011-DD43-4760-A6EA-4CCF5B6051BB}"/>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53">
            <a:extLst xmlns:a="http://schemas.openxmlformats.org/drawingml/2006/main">
              <a:ext uri="{FF2B5EF4-FFF2-40B4-BE49-F238E27FC236}">
                <a16:creationId xmlns:a16="http://schemas.microsoft.com/office/drawing/2014/main" id="{1FE30B38-63C8-4D5E-A7B7-D622249A8AF4}"/>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54">
            <a:extLst xmlns:a="http://schemas.openxmlformats.org/drawingml/2006/main">
              <a:ext uri="{FF2B5EF4-FFF2-40B4-BE49-F238E27FC236}">
                <a16:creationId xmlns:a16="http://schemas.microsoft.com/office/drawing/2014/main" id="{AC659ED1-0EF4-4EA9-99B7-E828D1726799}"/>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D  Complete steering metrics</a:t>
            </a:r>
          </a:p>
        </p:txBody>
      </p:sp>
      <p:sp>
        <p:nvSpPr>
          <p:cNvPr id="4" name="object-255">
            <a:extLst xmlns:a="http://schemas.openxmlformats.org/drawingml/2006/main">
              <a:ext uri="{FF2B5EF4-FFF2-40B4-BE49-F238E27FC236}">
                <a16:creationId xmlns:a16="http://schemas.microsoft.com/office/drawing/2014/main" id="{B9A28220-F6CB-4EF7-9A9D-3EB691F1DFB0}"/>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56">
            <a:extLst xmlns:a="http://schemas.openxmlformats.org/drawingml/2006/main">
              <a:ext uri="{FF2B5EF4-FFF2-40B4-BE49-F238E27FC236}">
                <a16:creationId xmlns:a16="http://schemas.microsoft.com/office/drawing/2014/main" id="{91772B2B-2A0D-4011-A7F1-EE2B5923190D}"/>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All four models below use the same 9,082-frame validation partition.</a:t>
            </a:r>
          </a:p>
        </p:txBody>
      </p:sp>
      <p:sp>
        <p:nvSpPr>
          <p:cNvPr id="6" name="object-257">
            <a:extLst xmlns:a="http://schemas.openxmlformats.org/drawingml/2006/main">
              <a:ext uri="{FF2B5EF4-FFF2-40B4-BE49-F238E27FC236}">
                <a16:creationId xmlns:a16="http://schemas.microsoft.com/office/drawing/2014/main" id="{04B377C3-7A1F-4033-87ED-708B8BFB75EB}"/>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27</a:t>
            </a:r>
          </a:p>
        </p:txBody>
      </p:sp>
      <p:graphicFrame>
        <p:nvGraphicFramePr>
          <p:cNvPr id="7" name="">
            <a:extLst xmlns:a="http://schemas.openxmlformats.org/drawingml/2006/main">
              <a:ext uri="{FF2B5EF4-FFF2-40B4-BE49-F238E27FC236}">
                <a16:creationId xmlns:a16="http://schemas.microsoft.com/office/drawing/2014/main" id="{3531FDC9-507D-4853-8484-3EB8C5B17C28}"/>
              </a:ext>
            </a:extLst>
          </p:cNvPr>
          <p:cNvGraphicFramePr/>
          <p:nvPr/>
        </p:nvGraphicFramePr>
        <p:xfrm>
          <a:off xmlns:a="http://schemas.openxmlformats.org/drawingml/2006/main" x="685800" y="1828800"/>
          <a:ext xmlns:a="http://schemas.openxmlformats.org/drawingml/2006/main" cx="10820400" cy="2371725"/>
        </p:xfrm>
        <a:graphic xmlns:a="http://schemas.openxmlformats.org/drawingml/2006/main">
          <a:graphicData uri="http://schemas.openxmlformats.org/drawingml/2006/table">
            <a:tbl>
              <a:tblPr/>
              <a:tblGrid>
                <a:gridCol w="3046520"/>
                <a:gridCol w="1365682"/>
                <a:gridCol w="1365682"/>
                <a:gridCol w="1365682"/>
                <a:gridCol w="1050524"/>
                <a:gridCol w="1155577"/>
                <a:gridCol w="1470734"/>
              </a:tblGrid>
              <a:tr h="474345">
                <a:tc>
                  <a:txBody>
                    <a:bodyPr wrap="square" lIns="66675" tIns="66675" rIns="66675" bIns="66675">
                      <a:noAutofit/>
                    </a:bodyPr>
                    <a:lstStyle/>
                    <a:p>
                      <a:pPr algn="l"/>
                      <a:r>
                        <a:rPr sz="1650" b="1">
                          <a:solidFill>
                            <a:srgbClr val="FFFFFF"/>
                          </a:solidFill>
                          <a:latin typeface="Calibri"/>
                          <a:ea typeface="Calibri"/>
                          <a:cs typeface="Calibri"/>
                        </a:rPr>
                        <a:t>Model</a:t>
                      </a:r>
                    </a:p>
                  </a:txBody>
                  <a:tcPr marL="91440" marR="91440" marT="45720" marB="4572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650" b="1">
                          <a:solidFill>
                            <a:srgbClr val="FFFFFF"/>
                          </a:solidFill>
                          <a:latin typeface="Calibri"/>
                          <a:ea typeface="Calibri"/>
                          <a:cs typeface="Calibri"/>
                        </a:rPr>
                        <a:t>MAE °</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650" b="1">
                          <a:solidFill>
                            <a:srgbClr val="FFFFFF"/>
                          </a:solidFill>
                          <a:latin typeface="Calibri"/>
                          <a:ea typeface="Calibri"/>
                          <a:cs typeface="Calibri"/>
                        </a:rPr>
                        <a:t>RMSE °</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650" b="1">
                          <a:solidFill>
                            <a:srgbClr val="FFFFFF"/>
                          </a:solidFill>
                          <a:latin typeface="Calibri"/>
                          <a:ea typeface="Calibri"/>
                          <a:cs typeface="Calibri"/>
                        </a:rPr>
                        <a:t>Bias °</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650" b="1">
                          <a:solidFill>
                            <a:srgbClr val="FFFFFF"/>
                          </a:solidFill>
                          <a:latin typeface="Calibri"/>
                          <a:ea typeface="Calibri"/>
                          <a:cs typeface="Calibri"/>
                        </a:rPr>
                        <a:t>R²</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650" b="1">
                          <a:solidFill>
                            <a:srgbClr val="FFFFFF"/>
                          </a:solidFill>
                          <a:latin typeface="Calibri"/>
                          <a:ea typeface="Calibri"/>
                          <a:cs typeface="Calibri"/>
                        </a:rPr>
                        <a:t>Pearson r</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650" b="1">
                          <a:solidFill>
                            <a:srgbClr val="FFFFFF"/>
                          </a:solidFill>
                          <a:latin typeface="Calibri"/>
                          <a:ea typeface="Calibri"/>
                          <a:cs typeface="Calibri"/>
                        </a:rPr>
                        <a:t>Within ±5°</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474345">
                <a:tc>
                  <a:txBody>
                    <a:bodyPr wrap="square" lIns="66675" tIns="66675" rIns="66675" bIns="66675">
                      <a:noAutofit/>
                    </a:bodyPr>
                    <a:lstStyle/>
                    <a:p>
                      <a:pPr algn="l"/>
                      <a:r>
                        <a:rPr sz="1650" b="0">
                          <a:solidFill>
                            <a:srgbClr val="000000"/>
                          </a:solidFill>
                          <a:latin typeface="Calibri"/>
                          <a:ea typeface="Calibri"/>
                          <a:cs typeface="Calibri"/>
                        </a:rPr>
                        <a:t>Original CNN (RGB)</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650" b="0">
                          <a:solidFill>
                            <a:srgbClr val="000000"/>
                          </a:solidFill>
                          <a:latin typeface="Calibri"/>
                          <a:ea typeface="Calibri"/>
                          <a:cs typeface="Calibri"/>
                        </a:rPr>
                        <a:t>23.2570</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650" b="0">
                          <a:solidFill>
                            <a:srgbClr val="000000"/>
                          </a:solidFill>
                          <a:latin typeface="Calibri"/>
                          <a:ea typeface="Calibri"/>
                          <a:cs typeface="Calibri"/>
                        </a:rPr>
                        <a:t>33.6313</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650" b="0">
                          <a:solidFill>
                            <a:srgbClr val="000000"/>
                          </a:solidFill>
                          <a:latin typeface="Calibri"/>
                          <a:ea typeface="Calibri"/>
                          <a:cs typeface="Calibri"/>
                        </a:rPr>
                        <a:t>+21.4106</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650" b="0">
                          <a:solidFill>
                            <a:srgbClr val="000000"/>
                          </a:solidFill>
                          <a:latin typeface="Calibri"/>
                          <a:ea typeface="Calibri"/>
                          <a:cs typeface="Calibri"/>
                        </a:rPr>
                        <a:t>-0.8067</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650" b="0">
                          <a:solidFill>
                            <a:srgbClr val="000000"/>
                          </a:solidFill>
                          <a:latin typeface="Calibri"/>
                          <a:ea typeface="Calibri"/>
                          <a:cs typeface="Calibri"/>
                        </a:rPr>
                        <a:t>0.0508</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650" b="0">
                          <a:solidFill>
                            <a:srgbClr val="000000"/>
                          </a:solidFill>
                          <a:latin typeface="Calibri"/>
                          <a:ea typeface="Calibri"/>
                          <a:cs typeface="Calibri"/>
                        </a:rPr>
                        <a:t>9.82%</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474345">
                <a:tc>
                  <a:txBody>
                    <a:bodyPr wrap="square" lIns="66675" tIns="66675" rIns="66675" bIns="66675">
                      <a:noAutofit/>
                    </a:bodyPr>
                    <a:lstStyle/>
                    <a:p>
                      <a:pPr algn="l"/>
                      <a:r>
                        <a:rPr sz="1650" b="0">
                          <a:solidFill>
                            <a:srgbClr val="000000"/>
                          </a:solidFill>
                          <a:latin typeface="Calibri"/>
                          <a:ea typeface="Calibri"/>
                          <a:cs typeface="Calibri"/>
                        </a:rPr>
                        <a:t>Frozen CNN + Huber</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650" b="0">
                          <a:solidFill>
                            <a:srgbClr val="000000"/>
                          </a:solidFill>
                          <a:latin typeface="Calibri"/>
                          <a:ea typeface="Calibri"/>
                          <a:cs typeface="Calibri"/>
                        </a:rPr>
                        <a:t>14.6822</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650" b="0">
                          <a:solidFill>
                            <a:srgbClr val="000000"/>
                          </a:solidFill>
                          <a:latin typeface="Calibri"/>
                          <a:ea typeface="Calibri"/>
                          <a:cs typeface="Calibri"/>
                        </a:rPr>
                        <a:t>26.6395</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650" b="0">
                          <a:solidFill>
                            <a:srgbClr val="000000"/>
                          </a:solidFill>
                          <a:latin typeface="Calibri"/>
                          <a:ea typeface="Calibri"/>
                          <a:cs typeface="Calibri"/>
                        </a:rPr>
                        <a:t>+3.1230</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650" b="0">
                          <a:solidFill>
                            <a:srgbClr val="000000"/>
                          </a:solidFill>
                          <a:latin typeface="Calibri"/>
                          <a:ea typeface="Calibri"/>
                          <a:cs typeface="Calibri"/>
                        </a:rPr>
                        <a:t>-0.1336</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650" b="0">
                          <a:solidFill>
                            <a:srgbClr val="000000"/>
                          </a:solidFill>
                          <a:latin typeface="Calibri"/>
                          <a:ea typeface="Calibri"/>
                          <a:cs typeface="Calibri"/>
                        </a:rPr>
                        <a:t>0.1682</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650" b="0">
                          <a:solidFill>
                            <a:srgbClr val="000000"/>
                          </a:solidFill>
                          <a:latin typeface="Calibri"/>
                          <a:ea typeface="Calibri"/>
                          <a:cs typeface="Calibri"/>
                        </a:rPr>
                        <a:t>31.35%</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474345">
                <a:tc>
                  <a:txBody>
                    <a:bodyPr wrap="square" lIns="66675" tIns="66675" rIns="66675" bIns="66675">
                      <a:noAutofit/>
                    </a:bodyPr>
                    <a:lstStyle/>
                    <a:p>
                      <a:pPr algn="l"/>
                      <a:r>
                        <a:rPr sz="1650" b="0">
                          <a:solidFill>
                            <a:srgbClr val="000000"/>
                          </a:solidFill>
                          <a:latin typeface="Calibri"/>
                          <a:ea typeface="Calibri"/>
                          <a:cs typeface="Calibri"/>
                        </a:rPr>
                        <a:t>Training-mean constant</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650" b="0">
                          <a:solidFill>
                            <a:srgbClr val="000000"/>
                          </a:solidFill>
                          <a:latin typeface="Calibri"/>
                          <a:ea typeface="Calibri"/>
                          <a:cs typeface="Calibri"/>
                        </a:rPr>
                        <a:t>12.4793</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650" b="0">
                          <a:solidFill>
                            <a:srgbClr val="000000"/>
                          </a:solidFill>
                          <a:latin typeface="Calibri"/>
                          <a:ea typeface="Calibri"/>
                          <a:cs typeface="Calibri"/>
                        </a:rPr>
                        <a:t>25.0502</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650" b="0">
                          <a:solidFill>
                            <a:srgbClr val="000000"/>
                          </a:solidFill>
                          <a:latin typeface="Calibri"/>
                          <a:ea typeface="Calibri"/>
                          <a:cs typeface="Calibri"/>
                        </a:rPr>
                        <a:t>+1.2196</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650" b="0">
                          <a:solidFill>
                            <a:srgbClr val="000000"/>
                          </a:solidFill>
                          <a:latin typeface="Calibri"/>
                          <a:ea typeface="Calibri"/>
                          <a:cs typeface="Calibri"/>
                        </a:rPr>
                        <a:t>-0.0024</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650" b="0">
                          <a:solidFill>
                            <a:srgbClr val="000000"/>
                          </a:solidFill>
                          <a:latin typeface="Calibri"/>
                          <a:ea typeface="Calibri"/>
                          <a:cs typeface="Calibri"/>
                        </a:rPr>
                        <a:t>Undefined</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650" b="0">
                          <a:solidFill>
                            <a:srgbClr val="000000"/>
                          </a:solidFill>
                          <a:latin typeface="Calibri"/>
                          <a:ea typeface="Calibri"/>
                          <a:cs typeface="Calibri"/>
                        </a:rPr>
                        <a:t>42.57%</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474345">
                <a:tc>
                  <a:txBody>
                    <a:bodyPr wrap="square" lIns="66675" tIns="66675" rIns="66675" bIns="66675">
                      <a:noAutofit/>
                    </a:bodyPr>
                    <a:lstStyle/>
                    <a:p>
                      <a:pPr algn="l"/>
                      <a:r>
                        <a:rPr sz="1650" b="0">
                          <a:solidFill>
                            <a:srgbClr val="000000"/>
                          </a:solidFill>
                          <a:latin typeface="Calibri"/>
                          <a:ea typeface="Calibri"/>
                          <a:cs typeface="Calibri"/>
                        </a:rPr>
                        <a:t>Training-median constant</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650" b="0">
                          <a:solidFill>
                            <a:srgbClr val="000000"/>
                          </a:solidFill>
                          <a:latin typeface="Calibri"/>
                          <a:ea typeface="Calibri"/>
                          <a:cs typeface="Calibri"/>
                        </a:rPr>
                        <a:t>12.6900</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650" b="0">
                          <a:solidFill>
                            <a:srgbClr val="000000"/>
                          </a:solidFill>
                          <a:latin typeface="Calibri"/>
                          <a:ea typeface="Calibri"/>
                          <a:cs typeface="Calibri"/>
                        </a:rPr>
                        <a:t>25.0212</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650" b="0">
                          <a:solidFill>
                            <a:srgbClr val="000000"/>
                          </a:solidFill>
                          <a:latin typeface="Calibri"/>
                          <a:ea typeface="Calibri"/>
                          <a:cs typeface="Calibri"/>
                        </a:rPr>
                        <a:t>-0.1859</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650" b="0">
                          <a:solidFill>
                            <a:srgbClr val="000000"/>
                          </a:solidFill>
                          <a:latin typeface="Calibri"/>
                          <a:ea typeface="Calibri"/>
                          <a:cs typeface="Calibri"/>
                        </a:rPr>
                        <a:t>-0.0001</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650" b="0">
                          <a:solidFill>
                            <a:srgbClr val="000000"/>
                          </a:solidFill>
                          <a:latin typeface="Calibri"/>
                          <a:ea typeface="Calibri"/>
                          <a:cs typeface="Calibri"/>
                        </a:rPr>
                        <a:t>Undefined</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650" b="0">
                          <a:solidFill>
                            <a:srgbClr val="000000"/>
                          </a:solidFill>
                          <a:latin typeface="Calibri"/>
                          <a:ea typeface="Calibri"/>
                          <a:cs typeface="Calibri"/>
                        </a:rPr>
                        <a:t>41.62%</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bl>
          </a:graphicData>
        </a:graphic>
      </p:graphicFrame>
      <p:sp>
        <p:nvSpPr>
          <p:cNvPr id="8" name="object-258">
            <a:extLst xmlns:a="http://schemas.openxmlformats.org/drawingml/2006/main">
              <a:ext uri="{FF2B5EF4-FFF2-40B4-BE49-F238E27FC236}">
                <a16:creationId xmlns:a16="http://schemas.microsoft.com/office/drawing/2014/main" id="{C4BAF78D-A622-4CB7-B326-B49EB3103A88}"/>
              </a:ext>
            </a:extLst>
          </p:cNvPr>
          <p:cNvSpPr>
            <a:spLocks xmlns:a="http://schemas.openxmlformats.org/drawingml/2006/main" noGrp="1"/>
          </p:cNvSpPr>
          <p:nvPr/>
        </p:nvSpPr>
        <p:spPr>
          <a:xfrm xmlns:a="http://schemas.openxmlformats.org/drawingml/2006/main">
            <a:off x="685800" y="4514850"/>
            <a:ext cx="108204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00000"/>
                </a:solidFill>
                <a:latin typeface="Calibri"/>
                <a:ea typeface="Calibri"/>
                <a:cs typeface="Calibri"/>
              </a:defRPr>
            </a:defPPr>
            <a:lvl1pPr algn="l">
              <a:defRPr sz="2100" b="1">
                <a:solidFill>
                  <a:srgbClr val="000000"/>
                </a:solidFill>
                <a:latin typeface="Calibri"/>
                <a:ea typeface="Calibri"/>
                <a:cs typeface="Calibri"/>
              </a:defRPr>
            </a:lvl1pPr>
            <a:lvl2pPr algn="l">
              <a:defRPr sz="2100" b="1">
                <a:solidFill>
                  <a:srgbClr val="000000"/>
                </a:solidFill>
                <a:latin typeface="Calibri"/>
                <a:ea typeface="Calibri"/>
                <a:cs typeface="Calibri"/>
              </a:defRPr>
            </a:lvl2pPr>
            <a:lvl3pPr algn="l">
              <a:defRPr sz="2100" b="1">
                <a:solidFill>
                  <a:srgbClr val="000000"/>
                </a:solidFill>
                <a:latin typeface="Calibri"/>
                <a:ea typeface="Calibri"/>
                <a:cs typeface="Calibri"/>
              </a:defRPr>
            </a:lvl3pPr>
            <a:lvl4pPr algn="l">
              <a:defRPr sz="2100" b="1">
                <a:solidFill>
                  <a:srgbClr val="000000"/>
                </a:solidFill>
                <a:latin typeface="Calibri"/>
                <a:ea typeface="Calibri"/>
                <a:cs typeface="Calibri"/>
              </a:defRPr>
            </a:lvl4pPr>
            <a:lvl5pPr algn="l">
              <a:defRPr sz="2100" b="1">
                <a:solidFill>
                  <a:srgbClr val="000000"/>
                </a:solidFill>
                <a:latin typeface="Calibri"/>
                <a:ea typeface="Calibri"/>
                <a:cs typeface="Calibri"/>
              </a:defRPr>
            </a:lvl5pPr>
            <a:lvl6pPr algn="l">
              <a:defRPr sz="2100" b="1">
                <a:solidFill>
                  <a:srgbClr val="000000"/>
                </a:solidFill>
                <a:latin typeface="Calibri"/>
                <a:ea typeface="Calibri"/>
                <a:cs typeface="Calibri"/>
              </a:defRPr>
            </a:lvl6pPr>
            <a:lvl7pPr algn="l">
              <a:defRPr sz="2100" b="1">
                <a:solidFill>
                  <a:srgbClr val="000000"/>
                </a:solidFill>
                <a:latin typeface="Calibri"/>
                <a:ea typeface="Calibri"/>
                <a:cs typeface="Calibri"/>
              </a:defRPr>
            </a:lvl7pPr>
            <a:lvl8pPr algn="l">
              <a:defRPr sz="2100" b="1">
                <a:solidFill>
                  <a:srgbClr val="000000"/>
                </a:solidFill>
                <a:latin typeface="Calibri"/>
                <a:ea typeface="Calibri"/>
                <a:cs typeface="Calibri"/>
              </a:defRPr>
            </a:lvl8pPr>
            <a:lvl9pPr algn="l">
              <a:defRPr sz="2100" b="1">
                <a:solidFill>
                  <a:srgbClr val="000000"/>
                </a:solidFill>
                <a:latin typeface="Calibri"/>
                <a:ea typeface="Calibri"/>
                <a:cs typeface="Calibri"/>
              </a:defRPr>
            </a:lvl9pPr>
          </a:lstStyle>
          <a:p xmlns:a="http://schemas.openxmlformats.org/drawingml/2006/main">
            <a:pPr algn="l">
              <a:defRPr sz="2100" b="1">
                <a:solidFill>
                  <a:srgbClr val="000000"/>
                </a:solidFill>
                <a:latin typeface="Calibri"/>
                <a:ea typeface="Calibri"/>
                <a:cs typeface="Calibri"/>
              </a:defRPr>
            </a:pPr>
            <a:r>
              <a:rPr sz="2100" b="1">
                <a:solidFill>
                  <a:srgbClr val="000000"/>
                </a:solidFill>
                <a:latin typeface="Calibri"/>
                <a:ea typeface="Calibri"/>
                <a:cs typeface="Calibri"/>
              </a:rPr>
              <a:t>Legacy BGR audit: 505 frames sampled every 18 rows</a:t>
            </a:r>
          </a:p>
        </p:txBody>
      </p:sp>
      <p:sp>
        <p:nvSpPr>
          <p:cNvPr id="9" name="object-259">
            <a:extLst xmlns:a="http://schemas.openxmlformats.org/drawingml/2006/main">
              <a:ext uri="{FF2B5EF4-FFF2-40B4-BE49-F238E27FC236}">
                <a16:creationId xmlns:a16="http://schemas.microsoft.com/office/drawing/2014/main" id="{8071E546-9D83-4F2C-8699-770E3E93468E}"/>
              </a:ext>
            </a:extLst>
          </p:cNvPr>
          <p:cNvSpPr>
            <a:spLocks xmlns:a="http://schemas.openxmlformats.org/drawingml/2006/main" noGrp="1"/>
          </p:cNvSpPr>
          <p:nvPr/>
        </p:nvSpPr>
        <p:spPr>
          <a:xfrm xmlns:a="http://schemas.openxmlformats.org/drawingml/2006/main">
            <a:off x="685800" y="5038725"/>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Calibri"/>
                <a:ea typeface="Calibri"/>
                <a:cs typeface="Calibri"/>
              </a:defRPr>
            </a:defPPr>
            <a:lvl1pPr algn="l">
              <a:defRPr sz="2025" b="0">
                <a:solidFill>
                  <a:srgbClr val="000000"/>
                </a:solidFill>
                <a:latin typeface="Calibri"/>
                <a:ea typeface="Calibri"/>
                <a:cs typeface="Calibri"/>
              </a:defRPr>
            </a:lvl1pPr>
            <a:lvl2pPr algn="l">
              <a:defRPr sz="2025" b="0">
                <a:solidFill>
                  <a:srgbClr val="000000"/>
                </a:solidFill>
                <a:latin typeface="Calibri"/>
                <a:ea typeface="Calibri"/>
                <a:cs typeface="Calibri"/>
              </a:defRPr>
            </a:lvl2pPr>
            <a:lvl3pPr algn="l">
              <a:defRPr sz="2025" b="0">
                <a:solidFill>
                  <a:srgbClr val="000000"/>
                </a:solidFill>
                <a:latin typeface="Calibri"/>
                <a:ea typeface="Calibri"/>
                <a:cs typeface="Calibri"/>
              </a:defRPr>
            </a:lvl3pPr>
            <a:lvl4pPr algn="l">
              <a:defRPr sz="2025" b="0">
                <a:solidFill>
                  <a:srgbClr val="000000"/>
                </a:solidFill>
                <a:latin typeface="Calibri"/>
                <a:ea typeface="Calibri"/>
                <a:cs typeface="Calibri"/>
              </a:defRPr>
            </a:lvl4pPr>
            <a:lvl5pPr algn="l">
              <a:defRPr sz="2025" b="0">
                <a:solidFill>
                  <a:srgbClr val="000000"/>
                </a:solidFill>
                <a:latin typeface="Calibri"/>
                <a:ea typeface="Calibri"/>
                <a:cs typeface="Calibri"/>
              </a:defRPr>
            </a:lvl5pPr>
            <a:lvl6pPr algn="l">
              <a:defRPr sz="2025" b="0">
                <a:solidFill>
                  <a:srgbClr val="000000"/>
                </a:solidFill>
                <a:latin typeface="Calibri"/>
                <a:ea typeface="Calibri"/>
                <a:cs typeface="Calibri"/>
              </a:defRPr>
            </a:lvl6pPr>
            <a:lvl7pPr algn="l">
              <a:defRPr sz="2025" b="0">
                <a:solidFill>
                  <a:srgbClr val="000000"/>
                </a:solidFill>
                <a:latin typeface="Calibri"/>
                <a:ea typeface="Calibri"/>
                <a:cs typeface="Calibri"/>
              </a:defRPr>
            </a:lvl7pPr>
            <a:lvl8pPr algn="l">
              <a:defRPr sz="2025" b="0">
                <a:solidFill>
                  <a:srgbClr val="000000"/>
                </a:solidFill>
                <a:latin typeface="Calibri"/>
                <a:ea typeface="Calibri"/>
                <a:cs typeface="Calibri"/>
              </a:defRPr>
            </a:lvl8pPr>
            <a:lvl9pPr algn="l">
              <a:defRPr sz="2025" b="0">
                <a:solidFill>
                  <a:srgbClr val="000000"/>
                </a:solidFill>
                <a:latin typeface="Calibri"/>
                <a:ea typeface="Calibri"/>
                <a:cs typeface="Calibri"/>
              </a:defRPr>
            </a:lvl9pPr>
          </a:lstStyle>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MAE 22.9616°    RMSE 33.2350°    Bias +20.9977°</a:t>
            </a:r>
          </a:p>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R² −0.8769    Pearson r −0.0404    Within ±5° 9.11%</a:t>
            </a:r>
          </a:p>
        </p:txBody>
      </p:sp>
    </p:spTree>
    <p:extLst>
      <p:ext uri="{BB962C8B-B14F-4D97-AF65-F5344CB8AC3E}">
        <p14:creationId xmlns:p14="http://schemas.microsoft.com/office/powerpoint/2010/main" val="144015503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bject-260">
            <a:extLst xmlns:a="http://schemas.openxmlformats.org/drawingml/2006/main">
              <a:ext uri="{FF2B5EF4-FFF2-40B4-BE49-F238E27FC236}">
                <a16:creationId xmlns:a16="http://schemas.microsoft.com/office/drawing/2014/main" id="{9F1656AC-AAEB-4E53-AF3F-C373CC052415}"/>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61">
            <a:extLst xmlns:a="http://schemas.openxmlformats.org/drawingml/2006/main">
              <a:ext uri="{FF2B5EF4-FFF2-40B4-BE49-F238E27FC236}">
                <a16:creationId xmlns:a16="http://schemas.microsoft.com/office/drawing/2014/main" id="{97D63C2A-2E2B-42E5-8195-65D1C4D7A668}"/>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62">
            <a:extLst xmlns:a="http://schemas.openxmlformats.org/drawingml/2006/main">
              <a:ext uri="{FF2B5EF4-FFF2-40B4-BE49-F238E27FC236}">
                <a16:creationId xmlns:a16="http://schemas.microsoft.com/office/drawing/2014/main" id="{C9664C34-E01C-45FB-87D6-D7115BF96E8A}"/>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E  Recorded experimental comparisons</a:t>
            </a:r>
          </a:p>
        </p:txBody>
      </p:sp>
      <p:sp>
        <p:nvSpPr>
          <p:cNvPr id="4" name="object-263">
            <a:extLst xmlns:a="http://schemas.openxmlformats.org/drawingml/2006/main">
              <a:ext uri="{FF2B5EF4-FFF2-40B4-BE49-F238E27FC236}">
                <a16:creationId xmlns:a16="http://schemas.microsoft.com/office/drawing/2014/main" id="{DD87C1E8-19EB-42A3-899D-C79A8F13A602}"/>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64">
            <a:extLst xmlns:a="http://schemas.openxmlformats.org/drawingml/2006/main">
              <a:ext uri="{FF2B5EF4-FFF2-40B4-BE49-F238E27FC236}">
                <a16:creationId xmlns:a16="http://schemas.microsoft.com/office/drawing/2014/main" id="{D179A018-0B7D-41A2-A73E-AE7FC1A09FB7}"/>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Saved notebook outputs. These are not controlled ablation results.</a:t>
            </a:r>
          </a:p>
        </p:txBody>
      </p:sp>
      <p:sp>
        <p:nvSpPr>
          <p:cNvPr id="6" name="object-265">
            <a:extLst xmlns:a="http://schemas.openxmlformats.org/drawingml/2006/main">
              <a:ext uri="{FF2B5EF4-FFF2-40B4-BE49-F238E27FC236}">
                <a16:creationId xmlns:a16="http://schemas.microsoft.com/office/drawing/2014/main" id="{3E21D864-0259-4F54-BF34-A9C5BF73ECA1}"/>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28</a:t>
            </a:r>
          </a:p>
        </p:txBody>
      </p:sp>
      <p:graphicFrame>
        <p:nvGraphicFramePr>
          <p:cNvPr id="7" name="">
            <a:extLst xmlns:a="http://schemas.openxmlformats.org/drawingml/2006/main">
              <a:ext uri="{FF2B5EF4-FFF2-40B4-BE49-F238E27FC236}">
                <a16:creationId xmlns:a16="http://schemas.microsoft.com/office/drawing/2014/main" id="{FB035605-27F1-44E1-A03C-BCD49D85B21D}"/>
              </a:ext>
            </a:extLst>
          </p:cNvPr>
          <p:cNvGraphicFramePr/>
          <p:nvPr/>
        </p:nvGraphicFramePr>
        <p:xfrm>
          <a:off xmlns:a="http://schemas.openxmlformats.org/drawingml/2006/main" x="685800" y="1866900"/>
          <a:ext xmlns:a="http://schemas.openxmlformats.org/drawingml/2006/main" cx="10820400" cy="3771900"/>
        </p:xfrm>
        <a:graphic xmlns:a="http://schemas.openxmlformats.org/drawingml/2006/main">
          <a:graphicData uri="http://schemas.openxmlformats.org/drawingml/2006/table">
            <a:tbl>
              <a:tblPr/>
              <a:tblGrid>
                <a:gridCol w="3462528"/>
                <a:gridCol w="3137916"/>
                <a:gridCol w="1406652"/>
                <a:gridCol w="1406652"/>
                <a:gridCol w="1406652"/>
              </a:tblGrid>
              <a:tr h="538843">
                <a:tc>
                  <a:txBody>
                    <a:bodyPr wrap="square" lIns="66675" tIns="66675" rIns="66675" bIns="66675">
                      <a:noAutofit/>
                    </a:bodyPr>
                    <a:lstStyle/>
                    <a:p>
                      <a:pPr algn="l"/>
                      <a:r>
                        <a:rPr sz="1725" b="1">
                          <a:solidFill>
                            <a:srgbClr val="FFFFFF"/>
                          </a:solidFill>
                          <a:latin typeface="Calibri"/>
                          <a:ea typeface="Calibri"/>
                          <a:cs typeface="Calibri"/>
                        </a:rPr>
                        <a:t>Comparison</a:t>
                      </a:r>
                    </a:p>
                  </a:txBody>
                  <a:tcPr marL="91440" marR="91440" marT="45720" marB="4572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725" b="1">
                          <a:solidFill>
                            <a:srgbClr val="FFFFFF"/>
                          </a:solidFill>
                          <a:latin typeface="Calibri"/>
                          <a:ea typeface="Calibri"/>
                          <a:cs typeface="Calibri"/>
                        </a:rPr>
                        <a:t>Metric</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725" b="1">
                          <a:solidFill>
                            <a:srgbClr val="FFFFFF"/>
                          </a:solidFill>
                          <a:latin typeface="Calibri"/>
                          <a:ea typeface="Calibri"/>
                          <a:cs typeface="Calibri"/>
                        </a:rPr>
                        <a:t>Reference</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725" b="1">
                          <a:solidFill>
                            <a:srgbClr val="FFFFFF"/>
                          </a:solidFill>
                          <a:latin typeface="Calibri"/>
                          <a:ea typeface="Calibri"/>
                          <a:cs typeface="Calibri"/>
                        </a:rPr>
                        <a:t>Observed</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725" b="1">
                          <a:solidFill>
                            <a:srgbClr val="FFFFFF"/>
                          </a:solidFill>
                          <a:latin typeface="Calibri"/>
                          <a:ea typeface="Calibri"/>
                          <a:cs typeface="Calibri"/>
                        </a:rPr>
                        <a:t>Change</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538843">
                <a:tc>
                  <a:txBody>
                    <a:bodyPr wrap="square" lIns="66675" tIns="66675" rIns="66675" bIns="66675">
                      <a:noAutofit/>
                    </a:bodyPr>
                    <a:lstStyle/>
                    <a:p>
                      <a:pPr algn="l"/>
                      <a:r>
                        <a:rPr sz="1725" b="0">
                          <a:solidFill>
                            <a:srgbClr val="000000"/>
                          </a:solidFill>
                          <a:latin typeface="Calibri"/>
                          <a:ea typeface="Calibri"/>
                          <a:cs typeface="Calibri"/>
                        </a:rPr>
                        <a:t>Detection: epoch 1 to 50</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Validation mAP50-95</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0.331</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0.482</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+0.151</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538843">
                <a:tc>
                  <a:txBody>
                    <a:bodyPr wrap="square" lIns="66675" tIns="66675" rIns="66675" bIns="66675">
                      <a:noAutofit/>
                    </a:bodyPr>
                    <a:lstStyle/>
                    <a:p>
                      <a:pPr algn="l"/>
                      <a:r>
                        <a:rPr sz="1725" b="0">
                          <a:solidFill>
                            <a:srgbClr val="000000"/>
                          </a:solidFill>
                          <a:latin typeface="Calibri"/>
                          <a:ea typeface="Calibri"/>
                          <a:cs typeface="Calibri"/>
                        </a:rPr>
                        <a:t>Lane: epoch 1 to 60</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Box mAP50-95</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0.672</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0.831</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+0.159</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538843">
                <a:tc>
                  <a:txBody>
                    <a:bodyPr wrap="square" lIns="66675" tIns="66675" rIns="66675" bIns="66675">
                      <a:noAutofit/>
                    </a:bodyPr>
                    <a:lstStyle/>
                    <a:p>
                      <a:pPr algn="l"/>
                      <a:r>
                        <a:rPr sz="1725" b="0">
                          <a:solidFill>
                            <a:srgbClr val="000000"/>
                          </a:solidFill>
                          <a:latin typeface="Calibri"/>
                          <a:ea typeface="Calibri"/>
                          <a:cs typeface="Calibri"/>
                        </a:rPr>
                        <a:t>Lane: epoch 1 to 60</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Mask mAP50-95</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0.173</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0.363</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+0.190</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538843">
                <a:tc>
                  <a:txBody>
                    <a:bodyPr wrap="square" lIns="66675" tIns="66675" rIns="66675" bIns="66675">
                      <a:noAutofit/>
                    </a:bodyPr>
                    <a:lstStyle/>
                    <a:p>
                      <a:pPr algn="l"/>
                      <a:r>
                        <a:rPr sz="1725" b="0">
                          <a:solidFill>
                            <a:srgbClr val="000000"/>
                          </a:solidFill>
                          <a:latin typeface="Calibri"/>
                          <a:ea typeface="Calibri"/>
                          <a:cs typeface="Calibri"/>
                        </a:rPr>
                        <a:t>Lane: checkpoint re-evaluation</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Mask mAP50-95</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0.363</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0.389</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+0.026</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538843">
                <a:tc>
                  <a:txBody>
                    <a:bodyPr wrap="square" lIns="66675" tIns="66675" rIns="66675" bIns="66675">
                      <a:noAutofit/>
                    </a:bodyPr>
                    <a:lstStyle/>
                    <a:p>
                      <a:pPr algn="l"/>
                      <a:r>
                        <a:rPr sz="1725" b="0">
                          <a:solidFill>
                            <a:srgbClr val="000000"/>
                          </a:solidFill>
                          <a:latin typeface="Calibri"/>
                          <a:ea typeface="Calibri"/>
                          <a:cs typeface="Calibri"/>
                        </a:rPr>
                        <a:t>Detection: validation to test</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mAP50-95</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0.4855</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0.4711</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725" b="0">
                          <a:solidFill>
                            <a:srgbClr val="000000"/>
                          </a:solidFill>
                          <a:latin typeface="Calibri"/>
                          <a:ea typeface="Calibri"/>
                          <a:cs typeface="Calibri"/>
                        </a:rPr>
                        <a:t>-0.0144</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538843">
                <a:tc>
                  <a:txBody>
                    <a:bodyPr wrap="square" lIns="66675" tIns="66675" rIns="66675" bIns="66675">
                      <a:noAutofit/>
                    </a:bodyPr>
                    <a:lstStyle/>
                    <a:p>
                      <a:pPr algn="l"/>
                      <a:r>
                        <a:rPr sz="1725" b="0">
                          <a:solidFill>
                            <a:srgbClr val="000000"/>
                          </a:solidFill>
                          <a:latin typeface="Calibri"/>
                          <a:ea typeface="Calibri"/>
                          <a:cs typeface="Calibri"/>
                        </a:rPr>
                        <a:t>Detection: validation to test</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mAP50</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0.6883</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0.6723</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725" b="0">
                          <a:solidFill>
                            <a:srgbClr val="000000"/>
                          </a:solidFill>
                          <a:latin typeface="Calibri"/>
                          <a:ea typeface="Calibri"/>
                          <a:cs typeface="Calibri"/>
                        </a:rPr>
                        <a:t>-0.0160</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bl>
          </a:graphicData>
        </a:graphic>
      </p:graphicFrame>
      <p:sp>
        <p:nvSpPr>
          <p:cNvPr id="8" name="object-266">
            <a:extLst xmlns:a="http://schemas.openxmlformats.org/drawingml/2006/main">
              <a:ext uri="{FF2B5EF4-FFF2-40B4-BE49-F238E27FC236}">
                <a16:creationId xmlns:a16="http://schemas.microsoft.com/office/drawing/2014/main" id="{1E32E5D2-F876-4452-918F-3DB9147308E7}"/>
              </a:ext>
            </a:extLst>
          </p:cNvPr>
          <p:cNvSpPr>
            <a:spLocks xmlns:a="http://schemas.openxmlformats.org/drawingml/2006/main" noGrp="1"/>
          </p:cNvSpPr>
          <p:nvPr/>
        </p:nvSpPr>
        <p:spPr>
          <a:xfrm xmlns:a="http://schemas.openxmlformats.org/drawingml/2006/main">
            <a:off x="685800" y="59055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000000"/>
                </a:solidFill>
                <a:latin typeface="Calibri"/>
                <a:ea typeface="Calibri"/>
                <a:cs typeface="Calibri"/>
              </a:defRPr>
            </a:defPPr>
            <a:lvl1pPr algn="l">
              <a:defRPr sz="1875" b="0">
                <a:solidFill>
                  <a:srgbClr val="000000"/>
                </a:solidFill>
                <a:latin typeface="Calibri"/>
                <a:ea typeface="Calibri"/>
                <a:cs typeface="Calibri"/>
              </a:defRPr>
            </a:lvl1pPr>
            <a:lvl2pPr algn="l">
              <a:defRPr sz="1875" b="0">
                <a:solidFill>
                  <a:srgbClr val="000000"/>
                </a:solidFill>
                <a:latin typeface="Calibri"/>
                <a:ea typeface="Calibri"/>
                <a:cs typeface="Calibri"/>
              </a:defRPr>
            </a:lvl2pPr>
            <a:lvl3pPr algn="l">
              <a:defRPr sz="1875" b="0">
                <a:solidFill>
                  <a:srgbClr val="000000"/>
                </a:solidFill>
                <a:latin typeface="Calibri"/>
                <a:ea typeface="Calibri"/>
                <a:cs typeface="Calibri"/>
              </a:defRPr>
            </a:lvl3pPr>
            <a:lvl4pPr algn="l">
              <a:defRPr sz="1875" b="0">
                <a:solidFill>
                  <a:srgbClr val="000000"/>
                </a:solidFill>
                <a:latin typeface="Calibri"/>
                <a:ea typeface="Calibri"/>
                <a:cs typeface="Calibri"/>
              </a:defRPr>
            </a:lvl4pPr>
            <a:lvl5pPr algn="l">
              <a:defRPr sz="1875" b="0">
                <a:solidFill>
                  <a:srgbClr val="000000"/>
                </a:solidFill>
                <a:latin typeface="Calibri"/>
                <a:ea typeface="Calibri"/>
                <a:cs typeface="Calibri"/>
              </a:defRPr>
            </a:lvl5pPr>
            <a:lvl6pPr algn="l">
              <a:defRPr sz="1875" b="0">
                <a:solidFill>
                  <a:srgbClr val="000000"/>
                </a:solidFill>
                <a:latin typeface="Calibri"/>
                <a:ea typeface="Calibri"/>
                <a:cs typeface="Calibri"/>
              </a:defRPr>
            </a:lvl6pPr>
            <a:lvl7pPr algn="l">
              <a:defRPr sz="1875" b="0">
                <a:solidFill>
                  <a:srgbClr val="000000"/>
                </a:solidFill>
                <a:latin typeface="Calibri"/>
                <a:ea typeface="Calibri"/>
                <a:cs typeface="Calibri"/>
              </a:defRPr>
            </a:lvl7pPr>
            <a:lvl8pPr algn="l">
              <a:defRPr sz="1875" b="0">
                <a:solidFill>
                  <a:srgbClr val="000000"/>
                </a:solidFill>
                <a:latin typeface="Calibri"/>
                <a:ea typeface="Calibri"/>
                <a:cs typeface="Calibri"/>
              </a:defRPr>
            </a:lvl8pPr>
            <a:lvl9pPr algn="l">
              <a:defRPr sz="1875" b="0">
                <a:solidFill>
                  <a:srgbClr val="000000"/>
                </a:solidFill>
                <a:latin typeface="Calibri"/>
                <a:ea typeface="Calibri"/>
                <a:cs typeface="Calibri"/>
              </a:defRPr>
            </a:lvl9pPr>
          </a:lstStyle>
          <a:p xmlns:a="http://schemas.openxmlformats.org/drawingml/2006/main">
            <a:pPr algn="l">
              <a:defRPr sz="1875" b="0">
                <a:solidFill>
                  <a:srgbClr val="000000"/>
                </a:solidFill>
                <a:latin typeface="Calibri"/>
                <a:ea typeface="Calibri"/>
                <a:cs typeface="Calibri"/>
              </a:defRPr>
            </a:pPr>
            <a:r>
              <a:rPr sz="1875" b="0">
                <a:solidFill>
                  <a:srgbClr val="000000"/>
                </a:solidFill>
                <a:latin typeface="Calibri"/>
                <a:ea typeface="Calibri"/>
                <a:cs typeface="Calibri"/>
              </a:rPr>
              <a:t>Deltas use the precision printed in the source notebooks.</a:t>
            </a:r>
          </a:p>
        </p:txBody>
      </p:sp>
    </p:spTree>
    <p:extLst>
      <p:ext uri="{BB962C8B-B14F-4D97-AF65-F5344CB8AC3E}">
        <p14:creationId xmlns:p14="http://schemas.microsoft.com/office/powerpoint/2010/main" val="76151707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267">
            <a:extLst xmlns:a="http://schemas.openxmlformats.org/drawingml/2006/main">
              <a:ext uri="{FF2B5EF4-FFF2-40B4-BE49-F238E27FC236}">
                <a16:creationId xmlns:a16="http://schemas.microsoft.com/office/drawing/2014/main" id="{CDDA134C-5493-490B-811E-A61F22486F22}"/>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68">
            <a:extLst xmlns:a="http://schemas.openxmlformats.org/drawingml/2006/main">
              <a:ext uri="{FF2B5EF4-FFF2-40B4-BE49-F238E27FC236}">
                <a16:creationId xmlns:a16="http://schemas.microsoft.com/office/drawing/2014/main" id="{33E62349-93C6-437C-B1BE-799D492EACD1}"/>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69">
            <a:extLst xmlns:a="http://schemas.openxmlformats.org/drawingml/2006/main">
              <a:ext uri="{FF2B5EF4-FFF2-40B4-BE49-F238E27FC236}">
                <a16:creationId xmlns:a16="http://schemas.microsoft.com/office/drawing/2014/main" id="{BEB3D3CA-E913-42C9-B8A7-5C073386CD66}"/>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F  Training hyperparameters</a:t>
            </a:r>
          </a:p>
        </p:txBody>
      </p:sp>
      <p:sp>
        <p:nvSpPr>
          <p:cNvPr id="4" name="object-270">
            <a:extLst xmlns:a="http://schemas.openxmlformats.org/drawingml/2006/main">
              <a:ext uri="{FF2B5EF4-FFF2-40B4-BE49-F238E27FC236}">
                <a16:creationId xmlns:a16="http://schemas.microsoft.com/office/drawing/2014/main" id="{E2C3D18D-93B7-4E25-A696-B2C39A9353EF}"/>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71">
            <a:extLst xmlns:a="http://schemas.openxmlformats.org/drawingml/2006/main">
              <a:ext uri="{FF2B5EF4-FFF2-40B4-BE49-F238E27FC236}">
                <a16:creationId xmlns:a16="http://schemas.microsoft.com/office/drawing/2014/main" id="{2673AE4C-6394-4306-8650-79D790C0B2A7}"/>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Original module training configuration from the recorded runs</a:t>
            </a:r>
          </a:p>
        </p:txBody>
      </p:sp>
      <p:sp>
        <p:nvSpPr>
          <p:cNvPr id="6" name="object-272">
            <a:extLst xmlns:a="http://schemas.openxmlformats.org/drawingml/2006/main">
              <a:ext uri="{FF2B5EF4-FFF2-40B4-BE49-F238E27FC236}">
                <a16:creationId xmlns:a16="http://schemas.microsoft.com/office/drawing/2014/main" id="{D12AD934-080C-42C5-AEC8-887ABE4D1CB6}"/>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29</a:t>
            </a:r>
          </a:p>
        </p:txBody>
      </p:sp>
      <p:graphicFrame>
        <p:nvGraphicFramePr>
          <p:cNvPr id="7" name="">
            <a:extLst xmlns:a="http://schemas.openxmlformats.org/drawingml/2006/main">
              <a:ext uri="{FF2B5EF4-FFF2-40B4-BE49-F238E27FC236}">
                <a16:creationId xmlns:a16="http://schemas.microsoft.com/office/drawing/2014/main" id="{AC2CA9C0-DF5A-4A82-B80F-CBE1E06C7771}"/>
              </a:ext>
            </a:extLst>
          </p:cNvPr>
          <p:cNvGraphicFramePr/>
          <p:nvPr/>
        </p:nvGraphicFramePr>
        <p:xfrm>
          <a:off xmlns:a="http://schemas.openxmlformats.org/drawingml/2006/main" x="685800" y="1771650"/>
          <a:ext xmlns:a="http://schemas.openxmlformats.org/drawingml/2006/main" cx="10820400" cy="4552950"/>
        </p:xfrm>
        <a:graphic xmlns:a="http://schemas.openxmlformats.org/drawingml/2006/main">
          <a:graphicData uri="http://schemas.openxmlformats.org/drawingml/2006/table">
            <a:tbl>
              <a:tblPr/>
              <a:tblGrid>
                <a:gridCol w="2596896"/>
                <a:gridCol w="2705100"/>
                <a:gridCol w="2813304"/>
                <a:gridCol w="2705100"/>
              </a:tblGrid>
              <a:tr h="252942">
                <a:tc>
                  <a:txBody>
                    <a:bodyPr wrap="square" lIns="66675" tIns="66675" rIns="66675" bIns="66675">
                      <a:noAutofit/>
                    </a:bodyPr>
                    <a:lstStyle/>
                    <a:p>
                      <a:pPr algn="l"/>
                      <a:r>
                        <a:rPr sz="1350" b="1">
                          <a:solidFill>
                            <a:srgbClr val="FFFFFF"/>
                          </a:solidFill>
                          <a:latin typeface="Calibri"/>
                          <a:ea typeface="Calibri"/>
                          <a:cs typeface="Calibri"/>
                        </a:rPr>
                        <a:t>Parameter</a:t>
                      </a:r>
                    </a:p>
                  </a:txBody>
                  <a:tcPr marL="91440" marR="91440" marT="45720" marB="4572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350" b="1">
                          <a:solidFill>
                            <a:srgbClr val="FFFFFF"/>
                          </a:solidFill>
                          <a:latin typeface="Calibri"/>
                          <a:ea typeface="Calibri"/>
                          <a:cs typeface="Calibri"/>
                        </a:rPr>
                        <a:t>Detection (YOLO11s)</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350" b="1">
                          <a:solidFill>
                            <a:srgbClr val="FFFFFF"/>
                          </a:solidFill>
                          <a:latin typeface="Calibri"/>
                          <a:ea typeface="Calibri"/>
                          <a:cs typeface="Calibri"/>
                        </a:rPr>
                        <a:t>Lane (YOLO11s-seg)</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350" b="1">
                          <a:solidFill>
                            <a:srgbClr val="FFFFFF"/>
                          </a:solidFill>
                          <a:latin typeface="Calibri"/>
                          <a:ea typeface="Calibri"/>
                          <a:cs typeface="Calibri"/>
                        </a:rPr>
                        <a:t>Steering (DAVE-2)</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252942">
                <a:tc>
                  <a:txBody>
                    <a:bodyPr wrap="square" lIns="66675" tIns="66675" rIns="66675" bIns="66675">
                      <a:noAutofit/>
                    </a:bodyPr>
                    <a:lstStyle/>
                    <a:p>
                      <a:pPr algn="l"/>
                      <a:r>
                        <a:rPr sz="1350" b="0">
                          <a:solidFill>
                            <a:srgbClr val="000000"/>
                          </a:solidFill>
                          <a:latin typeface="Calibri"/>
                          <a:ea typeface="Calibri"/>
                          <a:cs typeface="Calibri"/>
                        </a:rPr>
                        <a:t>Initial weights</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yolo11s.pt (COCO)</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yolo11s-seg.pt</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Random initialization</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r>
                        <a:rPr sz="1350" b="0">
                          <a:solidFill>
                            <a:srgbClr val="000000"/>
                          </a:solidFill>
                          <a:latin typeface="Calibri"/>
                          <a:ea typeface="Calibri"/>
                          <a:cs typeface="Calibri"/>
                        </a:rPr>
                        <a:t>Epochs / patience</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50 / 15</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60 / 20</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30 / none</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r>
                        <a:rPr sz="1350" b="0">
                          <a:solidFill>
                            <a:srgbClr val="000000"/>
                          </a:solidFill>
                          <a:latin typeface="Calibri"/>
                          <a:ea typeface="Calibri"/>
                          <a:cs typeface="Calibri"/>
                        </a:rPr>
                        <a:t>Batch size</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16</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16</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100</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r>
                        <a:rPr sz="1350" b="0">
                          <a:solidFill>
                            <a:srgbClr val="000000"/>
                          </a:solidFill>
                          <a:latin typeface="Calibri"/>
                          <a:ea typeface="Calibri"/>
                          <a:cs typeface="Calibri"/>
                        </a:rPr>
                        <a:t>Input size</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640×640</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640×640</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66×200</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r>
                        <a:rPr sz="1350" b="0">
                          <a:solidFill>
                            <a:srgbClr val="000000"/>
                          </a:solidFill>
                          <a:latin typeface="Calibri"/>
                          <a:ea typeface="Calibri"/>
                          <a:cs typeface="Calibri"/>
                        </a:rPr>
                        <a:t>Optimiser</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auto</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auto</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Adam</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r>
                        <a:rPr sz="1350" b="0">
                          <a:solidFill>
                            <a:srgbClr val="000000"/>
                          </a:solidFill>
                          <a:latin typeface="Calibri"/>
                          <a:ea typeface="Calibri"/>
                          <a:cs typeface="Calibri"/>
                        </a:rPr>
                        <a:t>Loss</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CIoU + BCE + DFL</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CIoU + BCE + DFL + mask</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MSE</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r>
                        <a:rPr sz="1350" b="0">
                          <a:solidFill>
                            <a:srgbClr val="000000"/>
                          </a:solidFill>
                          <a:latin typeface="Calibri"/>
                          <a:ea typeface="Calibri"/>
                          <a:cs typeface="Calibri"/>
                        </a:rPr>
                        <a:t>LR schedule</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cosine, 3 warm-up ep.</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linear, 3 warm-up ep.</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Fixed 1e-4</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r>
                        <a:rPr sz="1350" b="0">
                          <a:solidFill>
                            <a:srgbClr val="000000"/>
                          </a:solidFill>
                          <a:latin typeface="Calibri"/>
                          <a:ea typeface="Calibri"/>
                          <a:cs typeface="Calibri"/>
                        </a:rPr>
                        <a:t>Weight decay</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5×10−4</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5×10−4</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L2 0.001</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r>
                        <a:rPr sz="1350" b="0">
                          <a:solidFill>
                            <a:srgbClr val="000000"/>
                          </a:solidFill>
                          <a:latin typeface="Calibri"/>
                          <a:ea typeface="Calibri"/>
                          <a:cs typeface="Calibri"/>
                        </a:rPr>
                        <a:t>Mosaic</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1.0 (off last 10 ep.)</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0.0</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r>
                        <a:rPr sz="1350" b="0">
                          <a:solidFill>
                            <a:srgbClr val="000000"/>
                          </a:solidFill>
                          <a:latin typeface="Calibri"/>
                          <a:ea typeface="Calibri"/>
                          <a:cs typeface="Calibri"/>
                        </a:rPr>
                        <a:t>Flip / scale / translate</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0.5 / 0.5 / 0.1</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0.5 / 0.4 / 0.1</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None</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r>
                        <a:rPr sz="1350" b="0">
                          <a:solidFill>
                            <a:srgbClr val="000000"/>
                          </a:solidFill>
                          <a:latin typeface="Calibri"/>
                          <a:ea typeface="Calibri"/>
                          <a:cs typeface="Calibri"/>
                        </a:rPr>
                        <a:t>HSV (h, s, v)</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0.015, 0.7, 0.4</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0.015, 0.7, 0.4</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r>
                        <a:rPr sz="1350" b="0">
                          <a:solidFill>
                            <a:srgbClr val="000000"/>
                          </a:solidFill>
                          <a:latin typeface="Calibri"/>
                          <a:ea typeface="Calibri"/>
                          <a:cs typeface="Calibri"/>
                        </a:rPr>
                        <a:t>Rotation / shear / perspective</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default</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0 / 0 / 0</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r>
                        <a:rPr sz="1350" b="0">
                          <a:solidFill>
                            <a:srgbClr val="000000"/>
                          </a:solidFill>
                          <a:latin typeface="Calibri"/>
                          <a:ea typeface="Calibri"/>
                          <a:cs typeface="Calibri"/>
                        </a:rPr>
                        <a:t>mask_ratio</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2</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r>
                        <a:rPr sz="1350" b="0">
                          <a:solidFill>
                            <a:srgbClr val="000000"/>
                          </a:solidFill>
                          <a:latin typeface="Calibri"/>
                          <a:ea typeface="Calibri"/>
                          <a:cs typeface="Calibri"/>
                        </a:rPr>
                        <a:t>Dropout</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0</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0</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Keep probability 0.5</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r>
                        <a:rPr sz="1350" b="0">
                          <a:solidFill>
                            <a:srgbClr val="000000"/>
                          </a:solidFill>
                          <a:latin typeface="Calibri"/>
                          <a:ea typeface="Calibri"/>
                          <a:cs typeface="Calibri"/>
                        </a:rPr>
                        <a:t>Seed / deterministic</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0 / yes</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0 / yes</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Not set</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r>
                        <a:rPr sz="1350" b="0">
                          <a:solidFill>
                            <a:srgbClr val="000000"/>
                          </a:solidFill>
                          <a:latin typeface="Calibri"/>
                          <a:ea typeface="Calibri"/>
                          <a:cs typeface="Calibri"/>
                        </a:rPr>
                        <a:t>Mixed precision</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yes</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yes</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350" b="0">
                          <a:solidFill>
                            <a:srgbClr val="000000"/>
                          </a:solidFill>
                          <a:latin typeface="Calibri"/>
                          <a:ea typeface="Calibri"/>
                          <a:cs typeface="Calibri"/>
                        </a:rPr>
                        <a:t>No</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r>
                        <a:rPr sz="1350" b="0">
                          <a:solidFill>
                            <a:srgbClr val="000000"/>
                          </a:solidFill>
                          <a:latin typeface="Calibri"/>
                          <a:ea typeface="Calibri"/>
                          <a:cs typeface="Calibri"/>
                        </a:rPr>
                        <a:t>Training time (T4)</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2.14 h</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2.31 h</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350" b="0">
                          <a:solidFill>
                            <a:srgbClr val="000000"/>
                          </a:solidFill>
                          <a:latin typeface="Calibri"/>
                          <a:ea typeface="Calibri"/>
                          <a:cs typeface="Calibri"/>
                        </a:rPr>
                        <a:t>Not recorded</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bl>
          </a:graphicData>
        </a:graphic>
      </p:graphicFrame>
    </p:spTree>
    <p:extLst>
      <p:ext uri="{BB962C8B-B14F-4D97-AF65-F5344CB8AC3E}">
        <p14:creationId xmlns:p14="http://schemas.microsoft.com/office/powerpoint/2010/main" val="173505311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273">
            <a:extLst xmlns:a="http://schemas.openxmlformats.org/drawingml/2006/main">
              <a:ext uri="{FF2B5EF4-FFF2-40B4-BE49-F238E27FC236}">
                <a16:creationId xmlns:a16="http://schemas.microsoft.com/office/drawing/2014/main" id="{C229D94C-6FFE-45C8-8274-0CC7DB8ECF94}"/>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74">
            <a:extLst xmlns:a="http://schemas.openxmlformats.org/drawingml/2006/main">
              <a:ext uri="{FF2B5EF4-FFF2-40B4-BE49-F238E27FC236}">
                <a16:creationId xmlns:a16="http://schemas.microsoft.com/office/drawing/2014/main" id="{B907FE7A-881C-44F0-914D-17093541BF04}"/>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75">
            <a:extLst xmlns:a="http://schemas.openxmlformats.org/drawingml/2006/main">
              <a:ext uri="{FF2B5EF4-FFF2-40B4-BE49-F238E27FC236}">
                <a16:creationId xmlns:a16="http://schemas.microsoft.com/office/drawing/2014/main" id="{35E66AFE-0308-4DD9-9701-D6E49C3CF3C0}"/>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G  Steering experiment protocol</a:t>
            </a:r>
          </a:p>
        </p:txBody>
      </p:sp>
      <p:sp>
        <p:nvSpPr>
          <p:cNvPr id="4" name="object-276">
            <a:extLst xmlns:a="http://schemas.openxmlformats.org/drawingml/2006/main">
              <a:ext uri="{FF2B5EF4-FFF2-40B4-BE49-F238E27FC236}">
                <a16:creationId xmlns:a16="http://schemas.microsoft.com/office/drawing/2014/main" id="{7E5C8253-AF56-4AC6-AD95-01074275A871}"/>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77">
            <a:extLst xmlns:a="http://schemas.openxmlformats.org/drawingml/2006/main">
              <a:ext uri="{FF2B5EF4-FFF2-40B4-BE49-F238E27FC236}">
                <a16:creationId xmlns:a16="http://schemas.microsoft.com/office/drawing/2014/main" id="{0C9B767C-6B72-4F69-A410-9692C60AD83D}"/>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Development selection stays within the original training partition.</a:t>
            </a:r>
          </a:p>
        </p:txBody>
      </p:sp>
      <p:sp>
        <p:nvSpPr>
          <p:cNvPr id="6" name="object-278">
            <a:extLst xmlns:a="http://schemas.openxmlformats.org/drawingml/2006/main">
              <a:ext uri="{FF2B5EF4-FFF2-40B4-BE49-F238E27FC236}">
                <a16:creationId xmlns:a16="http://schemas.microsoft.com/office/drawing/2014/main" id="{009CA045-B661-44C8-963B-B218419D65B2}"/>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30</a:t>
            </a:r>
          </a:p>
        </p:txBody>
      </p:sp>
      <p:graphicFrame>
        <p:nvGraphicFramePr>
          <p:cNvPr id="7" name="">
            <a:extLst xmlns:a="http://schemas.openxmlformats.org/drawingml/2006/main">
              <a:ext uri="{FF2B5EF4-FFF2-40B4-BE49-F238E27FC236}">
                <a16:creationId xmlns:a16="http://schemas.microsoft.com/office/drawing/2014/main" id="{8A5BF7D5-DB1C-42BC-B394-7C9E088369BA}"/>
              </a:ext>
            </a:extLst>
          </p:cNvPr>
          <p:cNvGraphicFramePr/>
          <p:nvPr/>
        </p:nvGraphicFramePr>
        <p:xfrm>
          <a:off xmlns:a="http://schemas.openxmlformats.org/drawingml/2006/main" x="685800" y="1809750"/>
          <a:ext xmlns:a="http://schemas.openxmlformats.org/drawingml/2006/main" cx="10820400" cy="4314825"/>
        </p:xfrm>
        <a:graphic xmlns:a="http://schemas.openxmlformats.org/drawingml/2006/main">
          <a:graphicData uri="http://schemas.openxmlformats.org/drawingml/2006/table">
            <a:tbl>
              <a:tblPr/>
              <a:tblGrid>
                <a:gridCol w="4003548"/>
                <a:gridCol w="6816852"/>
              </a:tblGrid>
              <a:tr h="431483">
                <a:tc>
                  <a:txBody>
                    <a:bodyPr wrap="square" lIns="66675" tIns="66675" rIns="66675" bIns="66675">
                      <a:noAutofit/>
                    </a:bodyPr>
                    <a:lstStyle/>
                    <a:p>
                      <a:pPr algn="l"/>
                      <a:r>
                        <a:rPr sz="1650" b="1">
                          <a:solidFill>
                            <a:srgbClr val="FFFFFF"/>
                          </a:solidFill>
                          <a:latin typeface="Calibri"/>
                          <a:ea typeface="Calibri"/>
                          <a:cs typeface="Calibri"/>
                        </a:rPr>
                        <a:t>Item</a:t>
                      </a:r>
                    </a:p>
                  </a:txBody>
                  <a:tcPr marL="91440" marR="91440" marT="45720" marB="4572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650" b="1">
                          <a:solidFill>
                            <a:srgbClr val="FFFFFF"/>
                          </a:solidFill>
                          <a:latin typeface="Calibri"/>
                          <a:ea typeface="Calibri"/>
                          <a:cs typeface="Calibri"/>
                        </a:rPr>
                        <a:t>Recorded value</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431483">
                <a:tc>
                  <a:txBody>
                    <a:bodyPr wrap="square" lIns="66675" tIns="66675" rIns="66675" bIns="66675">
                      <a:noAutofit/>
                    </a:bodyPr>
                    <a:lstStyle/>
                    <a:p>
                      <a:pPr algn="l"/>
                      <a:r>
                        <a:rPr sz="1650" b="0">
                          <a:solidFill>
                            <a:srgbClr val="000000"/>
                          </a:solidFill>
                          <a:latin typeface="Calibri"/>
                          <a:ea typeface="Calibri"/>
                          <a:cs typeface="Calibri"/>
                        </a:rPr>
                        <a:t>Sampled training rows</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650" b="0">
                          <a:solidFill>
                            <a:srgbClr val="000000"/>
                          </a:solidFill>
                          <a:latin typeface="Calibri"/>
                          <a:ea typeface="Calibri"/>
                          <a:cs typeface="Calibri"/>
                        </a:rPr>
                        <a:t>9,081, selecting every fourth row</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431483">
                <a:tc>
                  <a:txBody>
                    <a:bodyPr wrap="square" lIns="66675" tIns="66675" rIns="66675" bIns="66675">
                      <a:noAutofit/>
                    </a:bodyPr>
                    <a:lstStyle/>
                    <a:p>
                      <a:pPr algn="l"/>
                      <a:r>
                        <a:rPr sz="1650" b="0">
                          <a:solidFill>
                            <a:srgbClr val="000000"/>
                          </a:solidFill>
                          <a:latin typeface="Calibri"/>
                          <a:ea typeface="Calibri"/>
                          <a:cs typeface="Calibri"/>
                        </a:rPr>
                        <a:t>Inner chronological split</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650" b="0">
                          <a:solidFill>
                            <a:srgbClr val="000000"/>
                          </a:solidFill>
                          <a:latin typeface="Calibri"/>
                          <a:ea typeface="Calibri"/>
                          <a:cs typeface="Calibri"/>
                        </a:rPr>
                        <a:t>7,265 fit / 1,816 development</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431483">
                <a:tc>
                  <a:txBody>
                    <a:bodyPr wrap="square" lIns="66675" tIns="66675" rIns="66675" bIns="66675">
                      <a:noAutofit/>
                    </a:bodyPr>
                    <a:lstStyle/>
                    <a:p>
                      <a:pPr algn="l"/>
                      <a:r>
                        <a:rPr sz="1650" b="0">
                          <a:solidFill>
                            <a:srgbClr val="000000"/>
                          </a:solidFill>
                          <a:latin typeface="Calibri"/>
                          <a:ea typeface="Calibri"/>
                          <a:cs typeface="Calibri"/>
                        </a:rPr>
                        <a:t>Candidate configurations</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650" b="0">
                          <a:solidFill>
                            <a:srgbClr val="000000"/>
                          </a:solidFill>
                          <a:latin typeface="Calibri"/>
                          <a:ea typeface="Calibri"/>
                          <a:cs typeface="Calibri"/>
                        </a:rPr>
                        <a:t>5 squared-error penalties + 4 Huber configurations</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431483">
                <a:tc>
                  <a:txBody>
                    <a:bodyPr wrap="square" lIns="66675" tIns="66675" rIns="66675" bIns="66675">
                      <a:noAutofit/>
                    </a:bodyPr>
                    <a:lstStyle/>
                    <a:p>
                      <a:pPr algn="l"/>
                      <a:r>
                        <a:rPr sz="1650" b="0">
                          <a:solidFill>
                            <a:srgbClr val="000000"/>
                          </a:solidFill>
                          <a:latin typeface="Calibri"/>
                          <a:ea typeface="Calibri"/>
                          <a:cs typeface="Calibri"/>
                        </a:rPr>
                        <a:t>Selected readout</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650" b="0">
                          <a:solidFill>
                            <a:srgbClr val="000000"/>
                          </a:solidFill>
                          <a:latin typeface="Calibri"/>
                          <a:ea typeface="Calibri"/>
                          <a:cs typeface="Calibri"/>
                        </a:rPr>
                        <a:t>Huber threshold 10°, penalty α = 100</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431483">
                <a:tc>
                  <a:txBody>
                    <a:bodyPr wrap="square" lIns="66675" tIns="66675" rIns="66675" bIns="66675">
                      <a:noAutofit/>
                    </a:bodyPr>
                    <a:lstStyle/>
                    <a:p>
                      <a:pPr algn="l"/>
                      <a:r>
                        <a:rPr sz="1650" b="0">
                          <a:solidFill>
                            <a:srgbClr val="000000"/>
                          </a:solidFill>
                          <a:latin typeface="Calibri"/>
                          <a:ea typeface="Calibri"/>
                          <a:cs typeface="Calibri"/>
                        </a:rPr>
                        <a:t>Final optimization</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650" b="0">
                          <a:solidFill>
                            <a:srgbClr val="000000"/>
                          </a:solidFill>
                          <a:latin typeface="Calibri"/>
                          <a:ea typeface="Calibri"/>
                          <a:cs typeface="Calibri"/>
                        </a:rPr>
                        <a:t>96 L-BFGS-B iterations</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431483">
                <a:tc>
                  <a:txBody>
                    <a:bodyPr wrap="square" lIns="66675" tIns="66675" rIns="66675" bIns="66675">
                      <a:noAutofit/>
                    </a:bodyPr>
                    <a:lstStyle/>
                    <a:p>
                      <a:pPr algn="l"/>
                      <a:r>
                        <a:rPr sz="1650" b="0">
                          <a:solidFill>
                            <a:srgbClr val="000000"/>
                          </a:solidFill>
                          <a:latin typeface="Calibri"/>
                          <a:ea typeface="Calibri"/>
                          <a:cs typeface="Calibri"/>
                        </a:rPr>
                        <a:t>Bootstrap</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650" b="0">
                          <a:solidFill>
                            <a:srgbClr val="000000"/>
                          </a:solidFill>
                          <a:latin typeface="Calibri"/>
                          <a:ea typeface="Calibri"/>
                          <a:cs typeface="Calibri"/>
                        </a:rPr>
                        <a:t>100-frame blocks, 1,000 replicates, seed 20261021</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431483">
                <a:tc>
                  <a:txBody>
                    <a:bodyPr wrap="square" lIns="66675" tIns="66675" rIns="66675" bIns="66675">
                      <a:noAutofit/>
                    </a:bodyPr>
                    <a:lstStyle/>
                    <a:p>
                      <a:pPr algn="l"/>
                      <a:r>
                        <a:rPr sz="1650" b="0">
                          <a:solidFill>
                            <a:srgbClr val="000000"/>
                          </a:solidFill>
                          <a:latin typeface="Calibri"/>
                          <a:ea typeface="Calibri"/>
                          <a:cs typeface="Calibri"/>
                        </a:rPr>
                        <a:t>MAE 95% interval</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650" b="0">
                          <a:solidFill>
                            <a:srgbClr val="000000"/>
                          </a:solidFill>
                          <a:latin typeface="Calibri"/>
                          <a:ea typeface="Calibri"/>
                          <a:cs typeface="Calibri"/>
                        </a:rPr>
                        <a:t>11.631° to 18.629°</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431483">
                <a:tc>
                  <a:txBody>
                    <a:bodyPr wrap="square" lIns="66675" tIns="66675" rIns="66675" bIns="66675">
                      <a:noAutofit/>
                    </a:bodyPr>
                    <a:lstStyle/>
                    <a:p>
                      <a:pPr algn="l"/>
                      <a:r>
                        <a:rPr sz="1650" b="0">
                          <a:solidFill>
                            <a:srgbClr val="000000"/>
                          </a:solidFill>
                          <a:latin typeface="Calibri"/>
                          <a:ea typeface="Calibri"/>
                          <a:cs typeface="Calibri"/>
                        </a:rPr>
                        <a:t>RMSE 95% interval</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650" b="0">
                          <a:solidFill>
                            <a:srgbClr val="000000"/>
                          </a:solidFill>
                          <a:latin typeface="Calibri"/>
                          <a:ea typeface="Calibri"/>
                          <a:cs typeface="Calibri"/>
                        </a:rPr>
                        <a:t>18.241° to 35.675°</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431483">
                <a:tc>
                  <a:txBody>
                    <a:bodyPr wrap="square" lIns="66675" tIns="66675" rIns="66675" bIns="66675">
                      <a:noAutofit/>
                    </a:bodyPr>
                    <a:lstStyle/>
                    <a:p>
                      <a:pPr algn="l"/>
                      <a:r>
                        <a:rPr sz="1650" b="0">
                          <a:solidFill>
                            <a:srgbClr val="000000"/>
                          </a:solidFill>
                          <a:latin typeface="Calibri"/>
                          <a:ea typeface="Calibri"/>
                          <a:cs typeface="Calibri"/>
                        </a:rPr>
                        <a:t>Paired MAE reduction interval</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650" b="0">
                          <a:solidFill>
                            <a:srgbClr val="000000"/>
                          </a:solidFill>
                          <a:latin typeface="Calibri"/>
                          <a:ea typeface="Calibri"/>
                          <a:cs typeface="Calibri"/>
                        </a:rPr>
                        <a:t>6.849° to 10.250° versus original RGB CNN</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bl>
          </a:graphicData>
        </a:graphic>
      </p:graphicFrame>
    </p:spTree>
    <p:extLst>
      <p:ext uri="{BB962C8B-B14F-4D97-AF65-F5344CB8AC3E}">
        <p14:creationId xmlns:p14="http://schemas.microsoft.com/office/powerpoint/2010/main" val="187850170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279">
            <a:extLst xmlns:a="http://schemas.openxmlformats.org/drawingml/2006/main">
              <a:ext uri="{FF2B5EF4-FFF2-40B4-BE49-F238E27FC236}">
                <a16:creationId xmlns:a16="http://schemas.microsoft.com/office/drawing/2014/main" id="{0752CAC7-06D5-415F-89AD-FD9EC5B0862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80">
            <a:extLst xmlns:a="http://schemas.openxmlformats.org/drawingml/2006/main">
              <a:ext uri="{FF2B5EF4-FFF2-40B4-BE49-F238E27FC236}">
                <a16:creationId xmlns:a16="http://schemas.microsoft.com/office/drawing/2014/main" id="{912FCD15-C119-4CF6-B492-29043B1C3700}"/>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81">
            <a:extLst xmlns:a="http://schemas.openxmlformats.org/drawingml/2006/main">
              <a:ext uri="{FF2B5EF4-FFF2-40B4-BE49-F238E27FC236}">
                <a16:creationId xmlns:a16="http://schemas.microsoft.com/office/drawing/2014/main" id="{32A195D2-2C5E-4697-9D85-B6BE40331FC4}"/>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H  Reference architecture counts</a:t>
            </a:r>
          </a:p>
        </p:txBody>
      </p:sp>
      <p:sp>
        <p:nvSpPr>
          <p:cNvPr id="4" name="object-282">
            <a:extLst xmlns:a="http://schemas.openxmlformats.org/drawingml/2006/main">
              <a:ext uri="{FF2B5EF4-FFF2-40B4-BE49-F238E27FC236}">
                <a16:creationId xmlns:a16="http://schemas.microsoft.com/office/drawing/2014/main" id="{761B611E-08B8-448F-B0E2-86A6FC0E1276}"/>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83">
            <a:extLst xmlns:a="http://schemas.openxmlformats.org/drawingml/2006/main">
              <a:ext uri="{FF2B5EF4-FFF2-40B4-BE49-F238E27FC236}">
                <a16:creationId xmlns:a16="http://schemas.microsoft.com/office/drawing/2014/main" id="{58350B8B-3D98-4E85-8DC6-C78B44BC588B}"/>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Canonical DAVE-2 reference. The local saved CNN has 1,595,511 parameters.</a:t>
            </a:r>
          </a:p>
        </p:txBody>
      </p:sp>
      <p:sp>
        <p:nvSpPr>
          <p:cNvPr id="6" name="object-284">
            <a:extLst xmlns:a="http://schemas.openxmlformats.org/drawingml/2006/main">
              <a:ext uri="{FF2B5EF4-FFF2-40B4-BE49-F238E27FC236}">
                <a16:creationId xmlns:a16="http://schemas.microsoft.com/office/drawing/2014/main" id="{DA558AAA-1677-4FF4-AE53-ECEBEA67D99C}"/>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31</a:t>
            </a:r>
          </a:p>
        </p:txBody>
      </p:sp>
      <p:graphicFrame>
        <p:nvGraphicFramePr>
          <p:cNvPr id="7" name="">
            <a:extLst xmlns:a="http://schemas.openxmlformats.org/drawingml/2006/main">
              <a:ext uri="{FF2B5EF4-FFF2-40B4-BE49-F238E27FC236}">
                <a16:creationId xmlns:a16="http://schemas.microsoft.com/office/drawing/2014/main" id="{0D30C363-0E12-42BC-AF9C-579619468C6D}"/>
              </a:ext>
            </a:extLst>
          </p:cNvPr>
          <p:cNvGraphicFramePr/>
          <p:nvPr/>
        </p:nvGraphicFramePr>
        <p:xfrm>
          <a:off xmlns:a="http://schemas.openxmlformats.org/drawingml/2006/main" x="685800" y="1781175"/>
          <a:ext xmlns:a="http://schemas.openxmlformats.org/drawingml/2006/main" cx="10820400" cy="4514850"/>
        </p:xfrm>
        <a:graphic xmlns:a="http://schemas.openxmlformats.org/drawingml/2006/main">
          <a:graphicData uri="http://schemas.openxmlformats.org/drawingml/2006/table">
            <a:tbl>
              <a:tblPr/>
              <a:tblGrid>
                <a:gridCol w="4977384"/>
                <a:gridCol w="2055876"/>
                <a:gridCol w="3787140"/>
              </a:tblGrid>
              <a:tr h="282178">
                <a:tc>
                  <a:txBody>
                    <a:bodyPr wrap="square" lIns="66675" tIns="66675" rIns="66675" bIns="66675">
                      <a:noAutofit/>
                    </a:bodyPr>
                    <a:lstStyle/>
                    <a:p>
                      <a:pPr algn="l"/>
                      <a:r>
                        <a:rPr sz="1425" b="1">
                          <a:solidFill>
                            <a:srgbClr val="FFFFFF"/>
                          </a:solidFill>
                          <a:latin typeface="Calibri"/>
                          <a:ea typeface="Calibri"/>
                          <a:cs typeface="Calibri"/>
                        </a:rPr>
                        <a:t>Layer</a:t>
                      </a:r>
                    </a:p>
                  </a:txBody>
                  <a:tcPr marL="91440" marR="91440" marT="45720" marB="4572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425" b="1">
                          <a:solidFill>
                            <a:srgbClr val="FFFFFF"/>
                          </a:solidFill>
                          <a:latin typeface="Calibri"/>
                          <a:ea typeface="Calibri"/>
                          <a:cs typeface="Calibri"/>
                        </a:rPr>
                        <a:t>Parameters</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r>
                        <a:rPr sz="1425" b="1">
                          <a:solidFill>
                            <a:srgbClr val="FFFFFF"/>
                          </a:solidFill>
                          <a:latin typeface="Calibri"/>
                          <a:ea typeface="Calibri"/>
                          <a:cs typeface="Calibri"/>
                        </a:rPr>
                        <a:t>Output</a:t>
                      </a:r>
                    </a:p>
                  </a:txBody>
                  <a:tcPr marL="91440" marR="91440" marT="45720" marB="4572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282178">
                <a:tc>
                  <a:txBody>
                    <a:bodyPr wrap="square" lIns="66675" tIns="66675" rIns="66675" bIns="66675">
                      <a:noAutofit/>
                    </a:bodyPr>
                    <a:lstStyle/>
                    <a:p>
                      <a:pPr algn="l"/>
                      <a:r>
                        <a:rPr sz="1425" b="0">
                          <a:solidFill>
                            <a:srgbClr val="000000"/>
                          </a:solidFill>
                          <a:latin typeface="Calibri"/>
                          <a:ea typeface="Calibri"/>
                          <a:cs typeface="Calibri"/>
                        </a:rPr>
                        <a:t>Input (YUV)</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425" b="0">
                          <a:solidFill>
                            <a:srgbClr val="000000"/>
                          </a:solidFill>
                          <a:latin typeface="Calibri"/>
                          <a:ea typeface="Calibri"/>
                          <a:cs typeface="Calibri"/>
                        </a:rPr>
                        <a:t>–</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425" b="0">
                          <a:solidFill>
                            <a:srgbClr val="000000"/>
                          </a:solidFill>
                          <a:latin typeface="Calibri"/>
                          <a:ea typeface="Calibri"/>
                          <a:cs typeface="Calibri"/>
                        </a:rPr>
                        <a:t>66×200×3</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r>
                        <a:rPr sz="1425" b="0">
                          <a:solidFill>
                            <a:srgbClr val="000000"/>
                          </a:solidFill>
                          <a:latin typeface="Calibri"/>
                          <a:ea typeface="Calibri"/>
                          <a:cs typeface="Calibri"/>
                        </a:rPr>
                        <a:t>Normalisation</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425" b="0">
                          <a:solidFill>
                            <a:srgbClr val="000000"/>
                          </a:solidFill>
                          <a:latin typeface="Calibri"/>
                          <a:ea typeface="Calibri"/>
                          <a:cs typeface="Calibri"/>
                        </a:rPr>
                        <a:t>–</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425" b="0">
                          <a:solidFill>
                            <a:srgbClr val="000000"/>
                          </a:solidFill>
                          <a:latin typeface="Calibri"/>
                          <a:ea typeface="Calibri"/>
                          <a:cs typeface="Calibri"/>
                        </a:rPr>
                        <a:t>66×200×3</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r>
                        <a:rPr sz="1425" b="0">
                          <a:solidFill>
                            <a:srgbClr val="000000"/>
                          </a:solidFill>
                          <a:latin typeface="Calibri"/>
                          <a:ea typeface="Calibri"/>
                          <a:cs typeface="Calibri"/>
                        </a:rPr>
                        <a:t>Conv1: 24 filters, 5×5, stride 2</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425" b="0">
                          <a:solidFill>
                            <a:srgbClr val="000000"/>
                          </a:solidFill>
                          <a:latin typeface="Calibri"/>
                          <a:ea typeface="Calibri"/>
                          <a:cs typeface="Calibri"/>
                        </a:rPr>
                        <a:t>1,824</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425" b="0">
                          <a:solidFill>
                            <a:srgbClr val="000000"/>
                          </a:solidFill>
                          <a:latin typeface="Calibri"/>
                          <a:ea typeface="Calibri"/>
                          <a:cs typeface="Calibri"/>
                        </a:rPr>
                        <a:t>31×98×24</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r>
                        <a:rPr sz="1425" b="0">
                          <a:solidFill>
                            <a:srgbClr val="000000"/>
                          </a:solidFill>
                          <a:latin typeface="Calibri"/>
                          <a:ea typeface="Calibri"/>
                          <a:cs typeface="Calibri"/>
                        </a:rPr>
                        <a:t>Conv2: 36 filters, 5×5, stride 2</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425" b="0">
                          <a:solidFill>
                            <a:srgbClr val="000000"/>
                          </a:solidFill>
                          <a:latin typeface="Calibri"/>
                          <a:ea typeface="Calibri"/>
                          <a:cs typeface="Calibri"/>
                        </a:rPr>
                        <a:t>21,636</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425" b="0">
                          <a:solidFill>
                            <a:srgbClr val="000000"/>
                          </a:solidFill>
                          <a:latin typeface="Calibri"/>
                          <a:ea typeface="Calibri"/>
                          <a:cs typeface="Calibri"/>
                        </a:rPr>
                        <a:t>14×47×36</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r>
                        <a:rPr sz="1425" b="0">
                          <a:solidFill>
                            <a:srgbClr val="000000"/>
                          </a:solidFill>
                          <a:latin typeface="Calibri"/>
                          <a:ea typeface="Calibri"/>
                          <a:cs typeface="Calibri"/>
                        </a:rPr>
                        <a:t>Conv3: 48 filters, 5×5, stride 2</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425" b="0">
                          <a:solidFill>
                            <a:srgbClr val="000000"/>
                          </a:solidFill>
                          <a:latin typeface="Calibri"/>
                          <a:ea typeface="Calibri"/>
                          <a:cs typeface="Calibri"/>
                        </a:rPr>
                        <a:t>43,248</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425" b="0">
                          <a:solidFill>
                            <a:srgbClr val="000000"/>
                          </a:solidFill>
                          <a:latin typeface="Calibri"/>
                          <a:ea typeface="Calibri"/>
                          <a:cs typeface="Calibri"/>
                        </a:rPr>
                        <a:t>5×22×48</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r>
                        <a:rPr sz="1425" b="0">
                          <a:solidFill>
                            <a:srgbClr val="000000"/>
                          </a:solidFill>
                          <a:latin typeface="Calibri"/>
                          <a:ea typeface="Calibri"/>
                          <a:cs typeface="Calibri"/>
                        </a:rPr>
                        <a:t>Conv4: 64 filters, 3×3</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425" b="0">
                          <a:solidFill>
                            <a:srgbClr val="000000"/>
                          </a:solidFill>
                          <a:latin typeface="Calibri"/>
                          <a:ea typeface="Calibri"/>
                          <a:cs typeface="Calibri"/>
                        </a:rPr>
                        <a:t>27,712</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425" b="0">
                          <a:solidFill>
                            <a:srgbClr val="000000"/>
                          </a:solidFill>
                          <a:latin typeface="Calibri"/>
                          <a:ea typeface="Calibri"/>
                          <a:cs typeface="Calibri"/>
                        </a:rPr>
                        <a:t>3×20×64</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r>
                        <a:rPr sz="1425" b="0">
                          <a:solidFill>
                            <a:srgbClr val="000000"/>
                          </a:solidFill>
                          <a:latin typeface="Calibri"/>
                          <a:ea typeface="Calibri"/>
                          <a:cs typeface="Calibri"/>
                        </a:rPr>
                        <a:t>Conv5: 64 filters, 3×3</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425" b="0">
                          <a:solidFill>
                            <a:srgbClr val="000000"/>
                          </a:solidFill>
                          <a:latin typeface="Calibri"/>
                          <a:ea typeface="Calibri"/>
                          <a:cs typeface="Calibri"/>
                        </a:rPr>
                        <a:t>36,928</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425" b="0">
                          <a:solidFill>
                            <a:srgbClr val="000000"/>
                          </a:solidFill>
                          <a:latin typeface="Calibri"/>
                          <a:ea typeface="Calibri"/>
                          <a:cs typeface="Calibri"/>
                        </a:rPr>
                        <a:t>1×18×64</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r>
                        <a:rPr sz="1425" b="0">
                          <a:solidFill>
                            <a:srgbClr val="000000"/>
                          </a:solidFill>
                          <a:latin typeface="Calibri"/>
                          <a:ea typeface="Calibri"/>
                          <a:cs typeface="Calibri"/>
                        </a:rPr>
                        <a:t>Flatten</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425" b="0">
                          <a:solidFill>
                            <a:srgbClr val="000000"/>
                          </a:solidFill>
                          <a:latin typeface="Calibri"/>
                          <a:ea typeface="Calibri"/>
                          <a:cs typeface="Calibri"/>
                        </a:rPr>
                        <a:t>–</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425" b="0">
                          <a:solidFill>
                            <a:srgbClr val="000000"/>
                          </a:solidFill>
                          <a:latin typeface="Calibri"/>
                          <a:ea typeface="Calibri"/>
                          <a:cs typeface="Calibri"/>
                        </a:rPr>
                        <a:t>1,152</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r>
                        <a:rPr sz="1425" b="0">
                          <a:solidFill>
                            <a:srgbClr val="000000"/>
                          </a:solidFill>
                          <a:latin typeface="Calibri"/>
                          <a:ea typeface="Calibri"/>
                          <a:cs typeface="Calibri"/>
                        </a:rPr>
                        <a:t>FC 100</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425" b="0">
                          <a:solidFill>
                            <a:srgbClr val="000000"/>
                          </a:solidFill>
                          <a:latin typeface="Calibri"/>
                          <a:ea typeface="Calibri"/>
                          <a:cs typeface="Calibri"/>
                        </a:rPr>
                        <a:t>115,300</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425" b="0">
                          <a:solidFill>
                            <a:srgbClr val="000000"/>
                          </a:solidFill>
                          <a:latin typeface="Calibri"/>
                          <a:ea typeface="Calibri"/>
                          <a:cs typeface="Calibri"/>
                        </a:rPr>
                        <a:t>100</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r>
                        <a:rPr sz="1425" b="0">
                          <a:solidFill>
                            <a:srgbClr val="000000"/>
                          </a:solidFill>
                          <a:latin typeface="Calibri"/>
                          <a:ea typeface="Calibri"/>
                          <a:cs typeface="Calibri"/>
                        </a:rPr>
                        <a:t>FC 50</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425" b="0">
                          <a:solidFill>
                            <a:srgbClr val="000000"/>
                          </a:solidFill>
                          <a:latin typeface="Calibri"/>
                          <a:ea typeface="Calibri"/>
                          <a:cs typeface="Calibri"/>
                        </a:rPr>
                        <a:t>5,050</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425" b="0">
                          <a:solidFill>
                            <a:srgbClr val="000000"/>
                          </a:solidFill>
                          <a:latin typeface="Calibri"/>
                          <a:ea typeface="Calibri"/>
                          <a:cs typeface="Calibri"/>
                        </a:rPr>
                        <a:t>50</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r>
                        <a:rPr sz="1425" b="0">
                          <a:solidFill>
                            <a:srgbClr val="000000"/>
                          </a:solidFill>
                          <a:latin typeface="Calibri"/>
                          <a:ea typeface="Calibri"/>
                          <a:cs typeface="Calibri"/>
                        </a:rPr>
                        <a:t>FC 10</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425" b="0">
                          <a:solidFill>
                            <a:srgbClr val="000000"/>
                          </a:solidFill>
                          <a:latin typeface="Calibri"/>
                          <a:ea typeface="Calibri"/>
                          <a:cs typeface="Calibri"/>
                        </a:rPr>
                        <a:t>510</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425" b="0">
                          <a:solidFill>
                            <a:srgbClr val="000000"/>
                          </a:solidFill>
                          <a:latin typeface="Calibri"/>
                          <a:ea typeface="Calibri"/>
                          <a:cs typeface="Calibri"/>
                        </a:rPr>
                        <a:t>10</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r>
                        <a:rPr sz="1425" b="0">
                          <a:solidFill>
                            <a:srgbClr val="000000"/>
                          </a:solidFill>
                          <a:latin typeface="Calibri"/>
                          <a:ea typeface="Calibri"/>
                          <a:cs typeface="Calibri"/>
                        </a:rPr>
                        <a:t>Output (steering)</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425" b="0">
                          <a:solidFill>
                            <a:srgbClr val="000000"/>
                          </a:solidFill>
                          <a:latin typeface="Calibri"/>
                          <a:ea typeface="Calibri"/>
                          <a:cs typeface="Calibri"/>
                        </a:rPr>
                        <a:t>11</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425" b="0">
                          <a:solidFill>
                            <a:srgbClr val="000000"/>
                          </a:solidFill>
                          <a:latin typeface="Calibri"/>
                          <a:ea typeface="Calibri"/>
                          <a:cs typeface="Calibri"/>
                        </a:rPr>
                        <a:t>1</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r>
                        <a:rPr sz="1425" b="0">
                          <a:solidFill>
                            <a:srgbClr val="000000"/>
                          </a:solidFill>
                          <a:latin typeface="Calibri"/>
                          <a:ea typeface="Calibri"/>
                          <a:cs typeface="Calibri"/>
                        </a:rPr>
                        <a:t>Total DAVE-2</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425" b="0">
                          <a:solidFill>
                            <a:srgbClr val="000000"/>
                          </a:solidFill>
                          <a:latin typeface="Calibri"/>
                          <a:ea typeface="Calibri"/>
                          <a:cs typeface="Calibri"/>
                        </a:rPr>
                        <a:t>252,219</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r>
                        <a:rPr sz="1425" b="0">
                          <a:solidFill>
                            <a:srgbClr val="000000"/>
                          </a:solidFill>
                          <a:latin typeface="Calibri"/>
                          <a:ea typeface="Calibri"/>
                          <a:cs typeface="Calibri"/>
                        </a:rPr>
                        <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r>
                        <a:rPr sz="1425" b="0">
                          <a:solidFill>
                            <a:srgbClr val="000000"/>
                          </a:solidFill>
                          <a:latin typeface="Calibri"/>
                          <a:ea typeface="Calibri"/>
                          <a:cs typeface="Calibri"/>
                        </a:rPr>
                        <a:t>YOLO11s detector (10 classes)</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425" b="0">
                          <a:solidFill>
                            <a:srgbClr val="000000"/>
                          </a:solidFill>
                          <a:latin typeface="Calibri"/>
                          <a:ea typeface="Calibri"/>
                          <a:cs typeface="Calibri"/>
                        </a:rPr>
                        <a:t>9,416,670</a:t>
                      </a:r>
                    </a:p>
                  </a:txBody>
                  <a:tcPr marL="91440" marR="91440" marT="45720" marB="4572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r>
                        <a:rPr sz="1425" b="0">
                          <a:solidFill>
                            <a:srgbClr val="000000"/>
                          </a:solidFill>
                          <a:latin typeface="Calibri"/>
                          <a:ea typeface="Calibri"/>
                          <a:cs typeface="Calibri"/>
                        </a:rPr>
                        <a:t>100 layers, 21.4 GFLOPs</a:t>
                      </a:r>
                    </a:p>
                  </a:txBody>
                  <a:tcPr marL="91440" marR="91440" marT="45720" marB="4572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r>
                        <a:rPr sz="1425" b="0">
                          <a:solidFill>
                            <a:srgbClr val="000000"/>
                          </a:solidFill>
                          <a:latin typeface="Calibri"/>
                          <a:ea typeface="Calibri"/>
                          <a:cs typeface="Calibri"/>
                        </a:rPr>
                        <a:t>YOLO11s-seg lane network (1 class)</a:t>
                      </a:r>
                    </a:p>
                  </a:txBody>
                  <a:tcPr marL="91440" marR="91440" marT="45720" marB="4572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425" b="0">
                          <a:solidFill>
                            <a:srgbClr val="000000"/>
                          </a:solidFill>
                          <a:latin typeface="Calibri"/>
                          <a:ea typeface="Calibri"/>
                          <a:cs typeface="Calibri"/>
                        </a:rPr>
                        <a:t>10,067,203</a:t>
                      </a:r>
                    </a:p>
                  </a:txBody>
                  <a:tcPr marL="91440" marR="91440" marT="45720" marB="4572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r>
                        <a:rPr sz="1425" b="0">
                          <a:solidFill>
                            <a:srgbClr val="000000"/>
                          </a:solidFill>
                          <a:latin typeface="Calibri"/>
                          <a:ea typeface="Calibri"/>
                          <a:cs typeface="Calibri"/>
                        </a:rPr>
                        <a:t>113 layers, 32.9 GFLOPs</a:t>
                      </a:r>
                    </a:p>
                  </a:txBody>
                  <a:tcPr marL="91440" marR="91440" marT="45720" marB="45720" anchor="ctr">
                    <a:lnR w="6668">
                      <a:solidFill>
                        <a:srgbClr val="D6C4BA"/>
                      </a:solidFill>
                      <a:prstDash val="solid"/>
                    </a:lnR>
                    <a:lnB w="6668">
                      <a:solidFill>
                        <a:srgbClr val="D6C4BA"/>
                      </a:solidFill>
                      <a:prstDash val="solid"/>
                    </a:lnB>
                    <a:solidFill>
                      <a:srgbClr val="F8EAE2"/>
                    </a:solidFill>
                  </a:tcPr>
                </a:tc>
              </a:tr>
            </a:tbl>
          </a:graphicData>
        </a:graphic>
      </p:graphicFrame>
    </p:spTree>
    <p:extLst>
      <p:ext uri="{BB962C8B-B14F-4D97-AF65-F5344CB8AC3E}">
        <p14:creationId xmlns:p14="http://schemas.microsoft.com/office/powerpoint/2010/main" val="16141052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2026-10-23T07:03:38.5090000Z</dcterms:created>
  <dcterms:modified xsi:type="dcterms:W3CDTF">2026-10-23T07:03:38.5100000Z</dcterms:modified>
</coreProperties>
</file>